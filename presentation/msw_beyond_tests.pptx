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>
        <p:scale>
          <a:sx n="78" d="100"/>
          <a:sy n="78" d="100"/>
        </p:scale>
        <p:origin x="78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57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5.png"/><Relationship Id="rId5" Type="http://schemas.openxmlformats.org/officeDocument/2006/relationships/image" Target="../media/image29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5.png"/><Relationship Id="rId10" Type="http://schemas.openxmlformats.org/officeDocument/2006/relationships/image" Target="../media/image37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.png"/><Relationship Id="rId10" Type="http://schemas.openxmlformats.org/officeDocument/2006/relationships/image" Target="../media/image59.png"/><Relationship Id="rId4" Type="http://schemas.openxmlformats.org/officeDocument/2006/relationships/image" Target="../media/image4.pn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image" Target="../media/image55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5.png"/><Relationship Id="rId4" Type="http://schemas.openxmlformats.org/officeDocument/2006/relationships/image" Target="../media/image68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2.png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2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89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2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5.png"/><Relationship Id="rId4" Type="http://schemas.openxmlformats.org/officeDocument/2006/relationships/image" Target="../media/image94.png"/><Relationship Id="rId9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80.png"/><Relationship Id="rId15" Type="http://schemas.openxmlformats.org/officeDocument/2006/relationships/image" Target="../media/image107.sv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Relationship Id="rId1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096305" y="0"/>
            <a:ext cx="6096305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668305" y="0"/>
            <a:ext cx="2286000" cy="228600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"/>
          <p:cNvSpPr/>
          <p:nvPr/>
        </p:nvSpPr>
        <p:spPr>
          <a:xfrm>
            <a:off x="-381305" y="5143500"/>
            <a:ext cx="1714500" cy="171450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381305" y="6362395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22</a:t>
            </a:r>
            <a:endParaRPr lang="en-US" sz="1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1864C9-6179-3E53-BC6A-C82F092DA4ED}"/>
              </a:ext>
            </a:extLst>
          </p:cNvPr>
          <p:cNvGrpSpPr/>
          <p:nvPr/>
        </p:nvGrpSpPr>
        <p:grpSpPr>
          <a:xfrm>
            <a:off x="5120640" y="868680"/>
            <a:ext cx="2033625" cy="460857"/>
            <a:chOff x="5120640" y="868680"/>
            <a:chExt cx="2033625" cy="460857"/>
          </a:xfrm>
        </p:grpSpPr>
        <p:sp>
          <p:nvSpPr>
            <p:cNvPr id="10" name="Shape 3"/>
            <p:cNvSpPr/>
            <p:nvPr/>
          </p:nvSpPr>
          <p:spPr>
            <a:xfrm>
              <a:off x="5120640" y="868680"/>
              <a:ext cx="1952244" cy="457200"/>
            </a:xfrm>
            <a:prstGeom prst="roundRect">
              <a:avLst>
                <a:gd name="adj" fmla="val 200000"/>
              </a:avLst>
            </a:prstGeom>
            <a:solidFill>
              <a:srgbClr val="000000">
                <a:alpha val="8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4"/>
            <p:cNvSpPr/>
            <p:nvPr/>
          </p:nvSpPr>
          <p:spPr>
            <a:xfrm>
              <a:off x="5411418" y="872337"/>
              <a:ext cx="1742847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304800" tIns="114300" rIns="304800" bIns="11430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Meet.js Poland </a:t>
              </a:r>
              <a:endParaRPr lang="en-US" sz="1200" dirty="0"/>
            </a:p>
          </p:txBody>
        </p:sp>
        <p:pic>
          <p:nvPicPr>
            <p:cNvPr id="12" name="Image 5" descr="preencoded.png"/>
            <p:cNvPicPr>
              <a:picLocks noChangeAspect="1"/>
            </p:cNvPicPr>
            <p:nvPr/>
          </p:nvPicPr>
          <p:blipFill>
            <a:blip r:embed="rId8"/>
            <a:srcRect t="-43" b="-43"/>
            <a:stretch/>
          </p:blipFill>
          <p:spPr>
            <a:xfrm>
              <a:off x="5425135" y="1021385"/>
              <a:ext cx="133502" cy="152705"/>
            </a:xfrm>
            <a:prstGeom prst="rect">
              <a:avLst/>
            </a:prstGeom>
          </p:spPr>
        </p:pic>
      </p:grpSp>
      <p:sp>
        <p:nvSpPr>
          <p:cNvPr id="13" name="Text 5"/>
          <p:cNvSpPr txBox="1"/>
          <p:nvPr/>
        </p:nvSpPr>
        <p:spPr>
          <a:xfrm>
            <a:off x="2898648" y="1630375"/>
            <a:ext cx="64008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50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MSW</a:t>
            </a:r>
            <a:endParaRPr lang="en-US" sz="7200" dirty="0"/>
          </a:p>
          <a:p>
            <a:pPr marL="0" indent="0" algn="ctr">
              <a:buNone/>
            </a:pPr>
            <a:r>
              <a:rPr lang="en-US" sz="7200" b="1" kern="0" spc="150" dirty="0">
                <a:solidFill>
                  <a:srgbClr val="2563E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BEYOND TESTS</a:t>
            </a:r>
            <a:endParaRPr lang="en-US" sz="7200" dirty="0"/>
          </a:p>
        </p:txBody>
      </p:sp>
      <p:sp>
        <p:nvSpPr>
          <p:cNvPr id="14" name="Text 6"/>
          <p:cNvSpPr txBox="1"/>
          <p:nvPr/>
        </p:nvSpPr>
        <p:spPr>
          <a:xfrm>
            <a:off x="2641702" y="3779215"/>
            <a:ext cx="69156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75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 Frontend Without Waiting for Backend</a:t>
            </a:r>
            <a:endParaRPr lang="en-US" sz="2100" dirty="0"/>
          </a:p>
        </p:txBody>
      </p:sp>
      <p:sp>
        <p:nvSpPr>
          <p:cNvPr id="15" name="Shape 7"/>
          <p:cNvSpPr/>
          <p:nvPr/>
        </p:nvSpPr>
        <p:spPr>
          <a:xfrm>
            <a:off x="4809744" y="4484218"/>
            <a:ext cx="933602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8344" y="4712818"/>
            <a:ext cx="476402" cy="47640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6009437" y="4798771"/>
            <a:ext cx="181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Shape 9"/>
          <p:cNvSpPr/>
          <p:nvPr/>
        </p:nvSpPr>
        <p:spPr>
          <a:xfrm>
            <a:off x="6449263" y="4484218"/>
            <a:ext cx="933602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77863" y="4712818"/>
            <a:ext cx="476402" cy="476402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2926994" y="5722315"/>
            <a:ext cx="6344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Mock Service Worker • Next.js • Frontend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69799" y="8229"/>
            <a:ext cx="12191695" cy="68580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B9CC0630-F88C-24E8-3A7A-3578479CFB1F}"/>
              </a:ext>
            </a:extLst>
          </p:cNvPr>
          <p:cNvGrpSpPr/>
          <p:nvPr/>
        </p:nvGrpSpPr>
        <p:grpSpPr>
          <a:xfrm>
            <a:off x="352044" y="304495"/>
            <a:ext cx="1495958" cy="362102"/>
            <a:chOff x="352044" y="304495"/>
            <a:chExt cx="1495958" cy="362102"/>
          </a:xfrm>
        </p:grpSpPr>
        <p:sp>
          <p:nvSpPr>
            <p:cNvPr id="4" name="Shape 1"/>
            <p:cNvSpPr/>
            <p:nvPr/>
          </p:nvSpPr>
          <p:spPr>
            <a:xfrm>
              <a:off x="381305" y="304495"/>
              <a:ext cx="1438351" cy="362102"/>
            </a:xfrm>
            <a:prstGeom prst="roundRect">
              <a:avLst>
                <a:gd name="adj" fmla="val 252526"/>
              </a:avLst>
            </a:prstGeom>
            <a:solidFill>
              <a:srgbClr val="000000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352044" y="304495"/>
              <a:ext cx="1495958" cy="3621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228600" tIns="76200" rIns="228600" bIns="762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MEET.JS POLAND</a:t>
              </a:r>
              <a:endParaRPr lang="en-US" sz="1000" dirty="0"/>
            </a:p>
          </p:txBody>
        </p:sp>
      </p:grpSp>
      <p:sp>
        <p:nvSpPr>
          <p:cNvPr id="6" name="Text 3"/>
          <p:cNvSpPr txBox="1"/>
          <p:nvPr/>
        </p:nvSpPr>
        <p:spPr>
          <a:xfrm>
            <a:off x="609905" y="1178662"/>
            <a:ext cx="535381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WHO THIS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TALK IS FOR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627071"/>
            <a:ext cx="52578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presentation is designed for frontend developers and teams who want to streamline their development workflow by eliminating backend dependencies.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100" y="381213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E6CFC3-2ACA-789A-2630-6C1DDBFF0E76}"/>
              </a:ext>
            </a:extLst>
          </p:cNvPr>
          <p:cNvGrpSpPr/>
          <p:nvPr/>
        </p:nvGrpSpPr>
        <p:grpSpPr>
          <a:xfrm>
            <a:off x="609905" y="3659429"/>
            <a:ext cx="5181905" cy="952805"/>
            <a:chOff x="609905" y="3659429"/>
            <a:chExt cx="5181905" cy="952805"/>
          </a:xfrm>
        </p:grpSpPr>
        <p:sp>
          <p:nvSpPr>
            <p:cNvPr id="8" name="Shape 5"/>
            <p:cNvSpPr/>
            <p:nvPr/>
          </p:nvSpPr>
          <p:spPr>
            <a:xfrm>
              <a:off x="609905" y="3659429"/>
              <a:ext cx="5181905" cy="952805"/>
            </a:xfrm>
            <a:prstGeom prst="roundRect">
              <a:avLst>
                <a:gd name="adj" fmla="val 15355"/>
              </a:avLst>
            </a:prstGeom>
            <a:solidFill>
              <a:srgbClr val="F7FA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609905" y="3659429"/>
              <a:ext cx="38405" cy="952805"/>
            </a:xfrm>
            <a:prstGeom prst="roundRect">
              <a:avLst>
                <a:gd name="adj" fmla="val 380950"/>
              </a:avLst>
            </a:prstGeom>
            <a:solidFill>
              <a:srgbClr val="3182CE"/>
            </a:solidFill>
            <a:ln w="12700">
              <a:solidFill>
                <a:srgbClr val="3182C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09828" y="3945636"/>
              <a:ext cx="237744" cy="190195"/>
            </a:xfrm>
            <a:prstGeom prst="rect">
              <a:avLst/>
            </a:prstGeom>
          </p:spPr>
        </p:pic>
        <p:sp>
          <p:nvSpPr>
            <p:cNvPr id="12" name="Text 8"/>
            <p:cNvSpPr txBox="1"/>
            <p:nvPr/>
          </p:nvSpPr>
          <p:spPr>
            <a:xfrm>
              <a:off x="1410005" y="3812134"/>
              <a:ext cx="4343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Target Audience</a:t>
              </a:r>
              <a:endParaRPr lang="en-US" sz="12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410005" y="4079138"/>
              <a:ext cx="430591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Frontend engineers, team leads, and developers working on UI components</a:t>
              </a:r>
              <a:endParaRPr lang="en-US" sz="1000" dirty="0"/>
            </a:p>
          </p:txBody>
        </p:sp>
      </p:grpSp>
      <p:sp>
        <p:nvSpPr>
          <p:cNvPr id="16" name="Shape 12"/>
          <p:cNvSpPr/>
          <p:nvPr/>
        </p:nvSpPr>
        <p:spPr>
          <a:xfrm>
            <a:off x="800100" y="491672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8D554E-26C8-1CA0-1163-C199EAF54FB7}"/>
              </a:ext>
            </a:extLst>
          </p:cNvPr>
          <p:cNvGrpSpPr/>
          <p:nvPr/>
        </p:nvGrpSpPr>
        <p:grpSpPr>
          <a:xfrm>
            <a:off x="609905" y="4764938"/>
            <a:ext cx="5181905" cy="761695"/>
            <a:chOff x="609905" y="4764938"/>
            <a:chExt cx="5181905" cy="761695"/>
          </a:xfrm>
        </p:grpSpPr>
        <p:sp>
          <p:nvSpPr>
            <p:cNvPr id="14" name="Shape 10"/>
            <p:cNvSpPr/>
            <p:nvPr/>
          </p:nvSpPr>
          <p:spPr>
            <a:xfrm>
              <a:off x="609905" y="4764938"/>
              <a:ext cx="5181905" cy="761695"/>
            </a:xfrm>
            <a:prstGeom prst="roundRect">
              <a:avLst>
                <a:gd name="adj" fmla="val 24010"/>
              </a:avLst>
            </a:prstGeom>
            <a:solidFill>
              <a:srgbClr val="F7FA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1"/>
            <p:cNvSpPr/>
            <p:nvPr/>
          </p:nvSpPr>
          <p:spPr>
            <a:xfrm>
              <a:off x="609905" y="4764938"/>
              <a:ext cx="38405" cy="761695"/>
            </a:xfrm>
            <a:prstGeom prst="roundRect">
              <a:avLst>
                <a:gd name="adj" fmla="val 476188"/>
              </a:avLst>
            </a:prstGeom>
            <a:solidFill>
              <a:srgbClr val="3182CE"/>
            </a:solidFill>
            <a:ln w="12700">
              <a:solidFill>
                <a:srgbClr val="3182C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rcRect l="-1648" r="-1648"/>
            <a:stretch/>
          </p:blipFill>
          <p:spPr>
            <a:xfrm>
              <a:off x="942746" y="5050231"/>
              <a:ext cx="171907" cy="190195"/>
            </a:xfrm>
            <a:prstGeom prst="rect">
              <a:avLst/>
            </a:prstGeom>
          </p:spPr>
        </p:pic>
        <p:sp>
          <p:nvSpPr>
            <p:cNvPr id="18" name="Text 13"/>
            <p:cNvSpPr txBox="1"/>
            <p:nvPr/>
          </p:nvSpPr>
          <p:spPr>
            <a:xfrm>
              <a:off x="1410005" y="4916729"/>
              <a:ext cx="36009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Development Context</a:t>
              </a:r>
              <a:endParaRPr lang="en-US" sz="1200" dirty="0"/>
            </a:p>
          </p:txBody>
        </p:sp>
        <p:sp>
          <p:nvSpPr>
            <p:cNvPr id="19" name="Text 14"/>
            <p:cNvSpPr txBox="1"/>
            <p:nvPr/>
          </p:nvSpPr>
          <p:spPr>
            <a:xfrm>
              <a:off x="1410005" y="5183734"/>
              <a:ext cx="412394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Teams shipping UI in parallel with backend development</a:t>
              </a:r>
              <a:endParaRPr lang="en-US" sz="10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6096305" y="0"/>
            <a:ext cx="6096305" cy="6858000"/>
          </a:xfrm>
          <a:prstGeom prst="roundRect">
            <a:avLst>
              <a:gd name="adj" fmla="val 37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A982F7-D1F0-F964-5BE2-1D0FB83F78EC}"/>
              </a:ext>
            </a:extLst>
          </p:cNvPr>
          <p:cNvGrpSpPr/>
          <p:nvPr/>
        </p:nvGrpSpPr>
        <p:grpSpPr>
          <a:xfrm>
            <a:off x="6400800" y="2066544"/>
            <a:ext cx="5721401" cy="2724912"/>
            <a:chOff x="6400800" y="2066544"/>
            <a:chExt cx="5721401" cy="2724912"/>
          </a:xfrm>
        </p:grpSpPr>
        <p:sp>
          <p:nvSpPr>
            <p:cNvPr id="21" name="Text 16"/>
            <p:cNvSpPr txBox="1"/>
            <p:nvPr/>
          </p:nvSpPr>
          <p:spPr>
            <a:xfrm>
              <a:off x="6400800" y="2066544"/>
              <a:ext cx="567751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Key Benefits</a:t>
              </a:r>
              <a:endParaRPr lang="en-US" sz="1800" dirty="0"/>
            </a:p>
          </p:txBody>
        </p:sp>
        <p:sp>
          <p:nvSpPr>
            <p:cNvPr id="22" name="Shape 17"/>
            <p:cNvSpPr/>
            <p:nvPr/>
          </p:nvSpPr>
          <p:spPr>
            <a:xfrm>
              <a:off x="6400800" y="2676449"/>
              <a:ext cx="75895" cy="75895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6590995" y="2600554"/>
              <a:ext cx="49441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Frontend engineers blocked by missing or unstable backend</a:t>
              </a:r>
              <a:endParaRPr lang="en-US" sz="1200" dirty="0"/>
            </a:p>
          </p:txBody>
        </p:sp>
        <p:sp>
          <p:nvSpPr>
            <p:cNvPr id="24" name="Shape 19"/>
            <p:cNvSpPr/>
            <p:nvPr/>
          </p:nvSpPr>
          <p:spPr>
            <a:xfrm>
              <a:off x="6400800" y="3057754"/>
              <a:ext cx="75895" cy="75895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6590995" y="2980944"/>
              <a:ext cx="46680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Teams shipping UI in parallel with backend development</a:t>
              </a:r>
              <a:endParaRPr lang="en-US" sz="120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6400800" y="3438144"/>
              <a:ext cx="75895" cy="75895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2"/>
            <p:cNvSpPr txBox="1"/>
            <p:nvPr/>
          </p:nvSpPr>
          <p:spPr>
            <a:xfrm>
              <a:off x="6590995" y="3362249"/>
              <a:ext cx="46488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Developers who want realistic scenarios, not fake mocks</a:t>
              </a:r>
              <a:endParaRPr lang="en-US" sz="1200" dirty="0"/>
            </a:p>
          </p:txBody>
        </p:sp>
        <p:sp>
          <p:nvSpPr>
            <p:cNvPr id="28" name="Shape 23"/>
            <p:cNvSpPr/>
            <p:nvPr/>
          </p:nvSpPr>
          <p:spPr>
            <a:xfrm>
              <a:off x="6400800" y="3819449"/>
              <a:ext cx="75895" cy="75895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6590995" y="3743554"/>
              <a:ext cx="359816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374151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Teams needing to validate integration early</a:t>
              </a:r>
              <a:endParaRPr lang="en-US" sz="1200" dirty="0"/>
            </a:p>
          </p:txBody>
        </p:sp>
        <p:sp>
          <p:nvSpPr>
            <p:cNvPr id="30" name="Shape 25"/>
            <p:cNvSpPr/>
            <p:nvPr/>
          </p:nvSpPr>
          <p:spPr>
            <a:xfrm>
              <a:off x="6400800" y="4276649"/>
              <a:ext cx="5562295" cy="514807"/>
            </a:xfrm>
            <a:prstGeom prst="roundRect">
              <a:avLst>
                <a:gd name="adj" fmla="val 52628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6562649" y="4438498"/>
              <a:ext cx="128107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Experience Level</a:t>
              </a:r>
              <a:endParaRPr lang="en-US" sz="10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10137953" y="4438498"/>
              <a:ext cx="198424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563EB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Intermediate to Advanced</a:t>
              </a:r>
              <a:endParaRPr lang="en-US" sz="1000" dirty="0"/>
            </a:p>
          </p:txBody>
        </p:sp>
      </p:grp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61695" y="6362395"/>
            <a:ext cx="438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495958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83410" y="323698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914400"/>
            <a:ext cx="111639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CORE PROBLEM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828800"/>
            <a:ext cx="73920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dependencies create bottlenecks in frontend development, blocking features and slowing down the development workflow.</a:t>
            </a:r>
            <a:endParaRPr lang="en-US" sz="1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87FF05-FBBA-88C4-F2C8-EB1251A874DF}"/>
              </a:ext>
            </a:extLst>
          </p:cNvPr>
          <p:cNvGrpSpPr/>
          <p:nvPr/>
        </p:nvGrpSpPr>
        <p:grpSpPr>
          <a:xfrm>
            <a:off x="609905" y="2718511"/>
            <a:ext cx="5372100" cy="1723644"/>
            <a:chOff x="609905" y="2718511"/>
            <a:chExt cx="5372100" cy="1723644"/>
          </a:xfrm>
        </p:grpSpPr>
        <p:sp>
          <p:nvSpPr>
            <p:cNvPr id="9" name="Shape 6"/>
            <p:cNvSpPr/>
            <p:nvPr/>
          </p:nvSpPr>
          <p:spPr>
            <a:xfrm>
              <a:off x="609905" y="2718511"/>
              <a:ext cx="5372100" cy="1723644"/>
            </a:xfrm>
            <a:prstGeom prst="roundRect">
              <a:avLst>
                <a:gd name="adj" fmla="val 703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789736" y="3003726"/>
              <a:ext cx="360883" cy="360630"/>
            </a:xfrm>
            <a:prstGeom prst="roundRect">
              <a:avLst>
                <a:gd name="adj" fmla="val 227080"/>
              </a:avLst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75081" y="3090672"/>
              <a:ext cx="190195" cy="190195"/>
            </a:xfrm>
            <a:prstGeom prst="rect">
              <a:avLst/>
            </a:prstGeom>
          </p:spPr>
        </p:pic>
        <p:sp>
          <p:nvSpPr>
            <p:cNvPr id="12" name="Text 8"/>
            <p:cNvSpPr txBox="1"/>
            <p:nvPr/>
          </p:nvSpPr>
          <p:spPr>
            <a:xfrm>
              <a:off x="1244498" y="2957170"/>
              <a:ext cx="4620463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A202C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Endpoint Not Ready This Sprint</a:t>
              </a:r>
              <a:endParaRPr lang="en-US" sz="13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244498" y="3284525"/>
              <a:ext cx="4582058" cy="657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5568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Backend endpoints are often not ready when frontend development starts, creating delays and blocking feature development.</a:t>
              </a:r>
              <a:endParaRPr lang="en-US" sz="11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1244498" y="4069080"/>
              <a:ext cx="75895" cy="75895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397203" y="4012387"/>
              <a:ext cx="14913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Backend: Not Ready</a:t>
              </a:r>
              <a:endParaRPr lang="en-US" sz="10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BFDD88-E339-975D-0CDA-7147347CA497}"/>
              </a:ext>
            </a:extLst>
          </p:cNvPr>
          <p:cNvGrpSpPr/>
          <p:nvPr/>
        </p:nvGrpSpPr>
        <p:grpSpPr>
          <a:xfrm>
            <a:off x="6210605" y="2718511"/>
            <a:ext cx="5372100" cy="1723644"/>
            <a:chOff x="6210605" y="2718511"/>
            <a:chExt cx="5372100" cy="1723644"/>
          </a:xfrm>
        </p:grpSpPr>
        <p:sp>
          <p:nvSpPr>
            <p:cNvPr id="16" name="Shape 12"/>
            <p:cNvSpPr/>
            <p:nvPr/>
          </p:nvSpPr>
          <p:spPr>
            <a:xfrm>
              <a:off x="6210605" y="2718511"/>
              <a:ext cx="5372100" cy="1723644"/>
            </a:xfrm>
            <a:prstGeom prst="roundRect">
              <a:avLst>
                <a:gd name="adj" fmla="val 7034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7">
              <a:extLst>
                <a:ext uri="{FF2B5EF4-FFF2-40B4-BE49-F238E27FC236}">
                  <a16:creationId xmlns:a16="http://schemas.microsoft.com/office/drawing/2014/main" id="{A82C6DF4-A14F-EA6C-CEC2-C25879037FEE}"/>
                </a:ext>
              </a:extLst>
            </p:cNvPr>
            <p:cNvSpPr/>
            <p:nvPr/>
          </p:nvSpPr>
          <p:spPr>
            <a:xfrm>
              <a:off x="6395008" y="3020785"/>
              <a:ext cx="360883" cy="360630"/>
            </a:xfrm>
            <a:prstGeom prst="roundRect">
              <a:avLst>
                <a:gd name="adj" fmla="val 227080"/>
              </a:avLst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480353" y="3090672"/>
              <a:ext cx="190195" cy="190195"/>
            </a:xfrm>
            <a:prstGeom prst="rect">
              <a:avLst/>
            </a:prstGeom>
          </p:spPr>
        </p:pic>
        <p:sp>
          <p:nvSpPr>
            <p:cNvPr id="19" name="Text 14"/>
            <p:cNvSpPr txBox="1"/>
            <p:nvPr/>
          </p:nvSpPr>
          <p:spPr>
            <a:xfrm>
              <a:off x="6856171" y="2957170"/>
              <a:ext cx="4610405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A202C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Shared Nonprod Unstable</a:t>
              </a:r>
              <a:endParaRPr lang="en-US" sz="1300" dirty="0"/>
            </a:p>
          </p:txBody>
        </p:sp>
        <p:sp>
          <p:nvSpPr>
            <p:cNvPr id="20" name="Text 15"/>
            <p:cNvSpPr txBox="1"/>
            <p:nvPr/>
          </p:nvSpPr>
          <p:spPr>
            <a:xfrm>
              <a:off x="6856171" y="3284525"/>
              <a:ext cx="4572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5568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Shared development environments are often unstable or rate-limited, causing intermittent failures and unreliable testing.</a:t>
              </a:r>
              <a:endParaRPr lang="en-US" sz="1100" dirty="0"/>
            </a:p>
          </p:txBody>
        </p:sp>
        <p:sp>
          <p:nvSpPr>
            <p:cNvPr id="21" name="Shape 16"/>
            <p:cNvSpPr/>
            <p:nvPr/>
          </p:nvSpPr>
          <p:spPr>
            <a:xfrm>
              <a:off x="6856171" y="3852367"/>
              <a:ext cx="75895" cy="75895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7008876" y="3794760"/>
              <a:ext cx="120152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Status: Unstable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23A91F-D0B7-A3A0-ADF1-42E7BB4641F6}"/>
              </a:ext>
            </a:extLst>
          </p:cNvPr>
          <p:cNvGrpSpPr/>
          <p:nvPr/>
        </p:nvGrpSpPr>
        <p:grpSpPr>
          <a:xfrm>
            <a:off x="609905" y="4669841"/>
            <a:ext cx="5372100" cy="1505102"/>
            <a:chOff x="609905" y="4669841"/>
            <a:chExt cx="5372100" cy="1505102"/>
          </a:xfrm>
        </p:grpSpPr>
        <p:sp>
          <p:nvSpPr>
            <p:cNvPr id="23" name="Shape 18"/>
            <p:cNvSpPr/>
            <p:nvPr/>
          </p:nvSpPr>
          <p:spPr>
            <a:xfrm>
              <a:off x="609905" y="4669841"/>
              <a:ext cx="5372100" cy="1505102"/>
            </a:xfrm>
            <a:prstGeom prst="roundRect">
              <a:avLst>
                <a:gd name="adj" fmla="val 9228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D38E4116-6978-4404-E9B8-86E1DE8B006C}"/>
                </a:ext>
              </a:extLst>
            </p:cNvPr>
            <p:cNvSpPr/>
            <p:nvPr/>
          </p:nvSpPr>
          <p:spPr>
            <a:xfrm>
              <a:off x="809548" y="4955869"/>
              <a:ext cx="360883" cy="360630"/>
            </a:xfrm>
            <a:prstGeom prst="roundRect">
              <a:avLst>
                <a:gd name="adj" fmla="val 227080"/>
              </a:avLst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25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18972" y="5041087"/>
              <a:ext cx="142646" cy="190195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1285646" y="4907585"/>
              <a:ext cx="457200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A202C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Contract Changes Mid-Feature</a:t>
              </a:r>
              <a:endParaRPr lang="en-US" sz="1300" dirty="0"/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1285646" y="5234940"/>
              <a:ext cx="453451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5568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API contracts change during development, requiring frontend code updates and causing integration issues.</a:t>
              </a:r>
              <a:endParaRPr lang="en-US" sz="1100" dirty="0"/>
            </a:p>
          </p:txBody>
        </p:sp>
        <p:sp>
          <p:nvSpPr>
            <p:cNvPr id="28" name="Shape 22"/>
            <p:cNvSpPr/>
            <p:nvPr/>
          </p:nvSpPr>
          <p:spPr>
            <a:xfrm>
              <a:off x="1285646" y="5802782"/>
              <a:ext cx="75895" cy="75895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1438351" y="5746090"/>
              <a:ext cx="13496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Contract: Updated</a:t>
              </a:r>
              <a:endParaRPr lang="en-US" sz="10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B621C1B-52BE-6ED2-3D03-FCE0F5487E1A}"/>
              </a:ext>
            </a:extLst>
          </p:cNvPr>
          <p:cNvGrpSpPr/>
          <p:nvPr/>
        </p:nvGrpSpPr>
        <p:grpSpPr>
          <a:xfrm>
            <a:off x="6210605" y="4669841"/>
            <a:ext cx="5372100" cy="1505102"/>
            <a:chOff x="6210605" y="4669841"/>
            <a:chExt cx="5372100" cy="1505102"/>
          </a:xfrm>
        </p:grpSpPr>
        <p:sp>
          <p:nvSpPr>
            <p:cNvPr id="30" name="Shape 24"/>
            <p:cNvSpPr/>
            <p:nvPr/>
          </p:nvSpPr>
          <p:spPr>
            <a:xfrm>
              <a:off x="6210605" y="4669841"/>
              <a:ext cx="5372100" cy="1505102"/>
            </a:xfrm>
            <a:prstGeom prst="roundRect">
              <a:avLst>
                <a:gd name="adj" fmla="val 9228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00E942B7-005D-F092-8205-630D2ABE1427}"/>
                </a:ext>
              </a:extLst>
            </p:cNvPr>
            <p:cNvSpPr/>
            <p:nvPr/>
          </p:nvSpPr>
          <p:spPr>
            <a:xfrm>
              <a:off x="6411468" y="4955869"/>
              <a:ext cx="360883" cy="360630"/>
            </a:xfrm>
            <a:prstGeom prst="roundRect">
              <a:avLst>
                <a:gd name="adj" fmla="val 227080"/>
              </a:avLst>
            </a:prstGeom>
            <a:solidFill>
              <a:srgbClr val="F7FA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4" descr="preencoded.png"/>
            <p:cNvPicPr>
              <a:picLocks noChangeAspect="1"/>
            </p:cNvPicPr>
            <p:nvPr/>
          </p:nvPicPr>
          <p:blipFill>
            <a:blip r:embed="rId6"/>
            <a:srcRect l="-1648" r="-1648"/>
            <a:stretch/>
          </p:blipFill>
          <p:spPr>
            <a:xfrm>
              <a:off x="6515100" y="5041087"/>
              <a:ext cx="171907" cy="190195"/>
            </a:xfrm>
            <a:prstGeom prst="rect">
              <a:avLst/>
            </a:prstGeom>
          </p:spPr>
        </p:pic>
        <p:sp>
          <p:nvSpPr>
            <p:cNvPr id="33" name="Text 26"/>
            <p:cNvSpPr txBox="1"/>
            <p:nvPr/>
          </p:nvSpPr>
          <p:spPr>
            <a:xfrm>
              <a:off x="6904634" y="4907585"/>
              <a:ext cx="456285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A202C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Frontend PRs Blocked</a:t>
              </a:r>
              <a:endParaRPr lang="en-US" sz="1300" dirty="0"/>
            </a:p>
          </p:txBody>
        </p:sp>
        <p:sp>
          <p:nvSpPr>
            <p:cNvPr id="34" name="Text 27"/>
            <p:cNvSpPr txBox="1"/>
            <p:nvPr/>
          </p:nvSpPr>
          <p:spPr>
            <a:xfrm>
              <a:off x="6904634" y="5234940"/>
              <a:ext cx="4524451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5568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Frontend pull requests are blocked by environment issues, preventing code review and deployment.</a:t>
              </a:r>
              <a:endParaRPr lang="en-US" sz="1100" dirty="0"/>
            </a:p>
          </p:txBody>
        </p:sp>
        <p:sp>
          <p:nvSpPr>
            <p:cNvPr id="35" name="Shape 28"/>
            <p:cNvSpPr/>
            <p:nvPr/>
          </p:nvSpPr>
          <p:spPr>
            <a:xfrm>
              <a:off x="6904634" y="5802782"/>
              <a:ext cx="75895" cy="75895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9"/>
            <p:cNvSpPr txBox="1"/>
            <p:nvPr/>
          </p:nvSpPr>
          <p:spPr>
            <a:xfrm>
              <a:off x="7057339" y="5746090"/>
              <a:ext cx="9528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PRs: Blocked</a:t>
              </a:r>
              <a:endParaRPr lang="en-US" sz="1000" dirty="0"/>
            </a:p>
          </p:txBody>
        </p:sp>
      </p:grpSp>
      <p:sp>
        <p:nvSpPr>
          <p:cNvPr id="46" name="Text 36"/>
          <p:cNvSpPr txBox="1"/>
          <p:nvPr/>
        </p:nvSpPr>
        <p:spPr>
          <a:xfrm>
            <a:off x="381305" y="6362395"/>
            <a:ext cx="438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/ 22</a:t>
            </a:r>
            <a:endParaRPr lang="en-US" sz="1000" dirty="0"/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68AA07C9-0E72-8E1D-EE2F-F674C90859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9B60D66B-4ED9-432B-6580-AA30F0D6A7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098" y="476402"/>
            <a:ext cx="4762195" cy="4762195"/>
          </a:xfrm>
          <a:prstGeom prst="ellipse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952805" y="2971800"/>
            <a:ext cx="3810305" cy="3810305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305" y="304495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9301" y="304495"/>
            <a:ext cx="166420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MEET.JS POLAND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914400"/>
            <a:ext cx="108585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75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USUALLY GOES WRONG</a:t>
            </a:r>
            <a:endParaRPr lang="en-US" sz="57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947672"/>
            <a:ext cx="8649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2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anti-patterns that slow down frontend development and create integration issues when working with backend APIs.</a:t>
            </a:r>
            <a:endParaRPr lang="en-US" sz="1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C25822-BD24-EA8C-4ACC-A2F192BA0B52}"/>
              </a:ext>
            </a:extLst>
          </p:cNvPr>
          <p:cNvGrpSpPr/>
          <p:nvPr/>
        </p:nvGrpSpPr>
        <p:grpSpPr>
          <a:xfrm>
            <a:off x="761695" y="2764231"/>
            <a:ext cx="5219395" cy="1123798"/>
            <a:chOff x="761695" y="2764231"/>
            <a:chExt cx="5219395" cy="1123798"/>
          </a:xfrm>
        </p:grpSpPr>
        <p:sp>
          <p:nvSpPr>
            <p:cNvPr id="12" name="Shape 7"/>
            <p:cNvSpPr/>
            <p:nvPr/>
          </p:nvSpPr>
          <p:spPr>
            <a:xfrm>
              <a:off x="761695" y="2764231"/>
              <a:ext cx="5219395" cy="1123798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8"/>
            <p:cNvSpPr/>
            <p:nvPr/>
          </p:nvSpPr>
          <p:spPr>
            <a:xfrm>
              <a:off x="761696" y="2764231"/>
              <a:ext cx="76199" cy="1123798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1239012" y="2894076"/>
              <a:ext cx="47055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 Hardcoded JSON in Components </a:t>
              </a:r>
              <a:endParaRPr lang="en-US" sz="1200" dirty="0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rcRect l="-1751" r="-1751"/>
            <a:stretch/>
          </p:blipFill>
          <p:spPr>
            <a:xfrm>
              <a:off x="952805" y="2907792"/>
              <a:ext cx="209398" cy="161849"/>
            </a:xfrm>
            <a:prstGeom prst="rect">
              <a:avLst/>
            </a:prstGeom>
          </p:spPr>
        </p:pic>
        <p:sp>
          <p:nvSpPr>
            <p:cNvPr id="16" name="Text 10"/>
            <p:cNvSpPr txBox="1"/>
            <p:nvPr/>
          </p:nvSpPr>
          <p:spPr>
            <a:xfrm>
              <a:off x="952805" y="3151937"/>
              <a:ext cx="4953305" cy="600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Mock data directly embedded in React components, making it difficult to update and maintain. Changes require modifying component code rather than mock data files.</a:t>
              </a:r>
              <a:endParaRPr lang="en-US" sz="1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EC017C-BE79-D400-5C0C-2A88F7ED237C}"/>
              </a:ext>
            </a:extLst>
          </p:cNvPr>
          <p:cNvGrpSpPr/>
          <p:nvPr/>
        </p:nvGrpSpPr>
        <p:grpSpPr>
          <a:xfrm>
            <a:off x="761695" y="4037990"/>
            <a:ext cx="5219395" cy="923544"/>
            <a:chOff x="761695" y="4037990"/>
            <a:chExt cx="5219395" cy="923544"/>
          </a:xfrm>
        </p:grpSpPr>
        <p:sp>
          <p:nvSpPr>
            <p:cNvPr id="17" name="Shape 11"/>
            <p:cNvSpPr/>
            <p:nvPr/>
          </p:nvSpPr>
          <p:spPr>
            <a:xfrm>
              <a:off x="761695" y="4037990"/>
              <a:ext cx="5219395" cy="92354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3"/>
            <p:cNvSpPr txBox="1"/>
            <p:nvPr/>
          </p:nvSpPr>
          <p:spPr>
            <a:xfrm>
              <a:off x="1172261" y="4166921"/>
              <a:ext cx="47722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 Different Mock Sources </a:t>
              </a:r>
              <a:endParaRPr lang="en-US" sz="1200" dirty="0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7"/>
            <a:srcRect l="-363" r="-363"/>
            <a:stretch/>
          </p:blipFill>
          <p:spPr>
            <a:xfrm>
              <a:off x="952805" y="4180637"/>
              <a:ext cx="142646" cy="161849"/>
            </a:xfrm>
            <a:prstGeom prst="rect">
              <a:avLst/>
            </a:prstGeom>
          </p:spPr>
        </p:pic>
        <p:sp>
          <p:nvSpPr>
            <p:cNvPr id="21" name="Text 14"/>
            <p:cNvSpPr txBox="1"/>
            <p:nvPr/>
          </p:nvSpPr>
          <p:spPr>
            <a:xfrm>
              <a:off x="952805" y="4424782"/>
              <a:ext cx="4953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Inconsistent mock data across dev, tests, and Storybook environments. Each environment has its own mock implementation, causing data drift.</a:t>
              </a:r>
              <a:endParaRPr lang="en-US" sz="1000" dirty="0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F11A20DF-1069-08C1-5629-7C7E48EE87D0}"/>
                </a:ext>
              </a:extLst>
            </p:cNvPr>
            <p:cNvSpPr/>
            <p:nvPr/>
          </p:nvSpPr>
          <p:spPr>
            <a:xfrm>
              <a:off x="762140" y="4037990"/>
              <a:ext cx="76199" cy="923544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8137BC-CC5B-1D51-5B20-9F5BC406C312}"/>
              </a:ext>
            </a:extLst>
          </p:cNvPr>
          <p:cNvGrpSpPr/>
          <p:nvPr/>
        </p:nvGrpSpPr>
        <p:grpSpPr>
          <a:xfrm>
            <a:off x="6205424" y="2764231"/>
            <a:ext cx="5224576" cy="923544"/>
            <a:chOff x="6205424" y="2764231"/>
            <a:chExt cx="5224576" cy="923544"/>
          </a:xfrm>
        </p:grpSpPr>
        <p:sp>
          <p:nvSpPr>
            <p:cNvPr id="22" name="Shape 15"/>
            <p:cNvSpPr/>
            <p:nvPr/>
          </p:nvSpPr>
          <p:spPr>
            <a:xfrm>
              <a:off x="6210605" y="2764231"/>
              <a:ext cx="5219395" cy="92354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7"/>
            <p:cNvSpPr txBox="1"/>
            <p:nvPr/>
          </p:nvSpPr>
          <p:spPr>
            <a:xfrm>
              <a:off x="6638544" y="2894076"/>
              <a:ext cx="475396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 Mock Shape Drifts </a:t>
              </a:r>
              <a:endParaRPr lang="en-US" sz="1200" dirty="0"/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400800" y="2907792"/>
              <a:ext cx="161849" cy="161849"/>
            </a:xfrm>
            <a:prstGeom prst="rect">
              <a:avLst/>
            </a:prstGeom>
          </p:spPr>
        </p:pic>
        <p:sp>
          <p:nvSpPr>
            <p:cNvPr id="26" name="Text 18"/>
            <p:cNvSpPr txBox="1"/>
            <p:nvPr/>
          </p:nvSpPr>
          <p:spPr>
            <a:xfrm>
              <a:off x="6400800" y="3151937"/>
              <a:ext cx="4953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Mock data structure diverges from real API responses over time. Frontend code becomes brittle when API contracts change.</a:t>
              </a:r>
              <a:endParaRPr lang="en-US" sz="1000" dirty="0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C7EAD436-86EA-289F-B884-8C10F83DCAEE}"/>
                </a:ext>
              </a:extLst>
            </p:cNvPr>
            <p:cNvSpPr/>
            <p:nvPr/>
          </p:nvSpPr>
          <p:spPr>
            <a:xfrm>
              <a:off x="6205424" y="2764231"/>
              <a:ext cx="76199" cy="923544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BA49B6-52E3-844B-EB60-3DEDDF35BFA2}"/>
              </a:ext>
            </a:extLst>
          </p:cNvPr>
          <p:cNvGrpSpPr/>
          <p:nvPr/>
        </p:nvGrpSpPr>
        <p:grpSpPr>
          <a:xfrm>
            <a:off x="6202238" y="3838651"/>
            <a:ext cx="5227762" cy="923544"/>
            <a:chOff x="6202238" y="3838651"/>
            <a:chExt cx="5227762" cy="923544"/>
          </a:xfrm>
        </p:grpSpPr>
        <p:sp>
          <p:nvSpPr>
            <p:cNvPr id="27" name="Shape 19"/>
            <p:cNvSpPr/>
            <p:nvPr/>
          </p:nvSpPr>
          <p:spPr>
            <a:xfrm>
              <a:off x="6210605" y="3838651"/>
              <a:ext cx="5219395" cy="923544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1"/>
            <p:cNvSpPr txBox="1"/>
            <p:nvPr/>
          </p:nvSpPr>
          <p:spPr>
            <a:xfrm>
              <a:off x="6638544" y="3968496"/>
              <a:ext cx="475396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 Late Integration Confidence </a:t>
              </a:r>
              <a:endParaRPr lang="en-US" sz="1200" dirty="0"/>
            </a:p>
          </p:txBody>
        </p:sp>
        <p:pic>
          <p:nvPicPr>
            <p:cNvPr id="30" name="Image 6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400800" y="3982212"/>
              <a:ext cx="161849" cy="161849"/>
            </a:xfrm>
            <a:prstGeom prst="rect">
              <a:avLst/>
            </a:prstGeom>
          </p:spPr>
        </p:pic>
        <p:sp>
          <p:nvSpPr>
            <p:cNvPr id="31" name="Text 22"/>
            <p:cNvSpPr txBox="1"/>
            <p:nvPr/>
          </p:nvSpPr>
          <p:spPr>
            <a:xfrm>
              <a:off x="6400800" y="4226357"/>
              <a:ext cx="4953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Integration testing happens too late in the development cycle. Bugs are discovered only when frontend connects to real backend.</a:t>
              </a:r>
              <a:endParaRPr lang="en-US" sz="1000" dirty="0"/>
            </a:p>
          </p:txBody>
        </p:sp>
        <p:sp>
          <p:nvSpPr>
            <p:cNvPr id="35" name="Shape 8">
              <a:extLst>
                <a:ext uri="{FF2B5EF4-FFF2-40B4-BE49-F238E27FC236}">
                  <a16:creationId xmlns:a16="http://schemas.microsoft.com/office/drawing/2014/main" id="{A2DB23D5-90D1-027A-2719-D355A43737F2}"/>
                </a:ext>
              </a:extLst>
            </p:cNvPr>
            <p:cNvSpPr/>
            <p:nvPr/>
          </p:nvSpPr>
          <p:spPr>
            <a:xfrm>
              <a:off x="6202238" y="3838651"/>
              <a:ext cx="76199" cy="923544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305" y="323698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659636" y="304495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827886" y="323698"/>
            <a:ext cx="918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914400"/>
            <a:ext cx="10858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TARGET STATE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737360"/>
            <a:ext cx="73920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ideal development setup where frontend development is decoupled from backend availability, with clear visibility into system state and runtime controls.</a:t>
            </a:r>
            <a:endParaRPr lang="en-US" sz="13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C6D8B38-8A9F-5B47-C3EE-BFF694A370C2}"/>
              </a:ext>
            </a:extLst>
          </p:cNvPr>
          <p:cNvGrpSpPr/>
          <p:nvPr/>
        </p:nvGrpSpPr>
        <p:grpSpPr>
          <a:xfrm>
            <a:off x="761695" y="2578608"/>
            <a:ext cx="5522976" cy="1569110"/>
            <a:chOff x="761695" y="2578608"/>
            <a:chExt cx="5522976" cy="1569110"/>
          </a:xfrm>
        </p:grpSpPr>
        <p:sp>
          <p:nvSpPr>
            <p:cNvPr id="11" name="Shape 6"/>
            <p:cNvSpPr/>
            <p:nvPr/>
          </p:nvSpPr>
          <p:spPr>
            <a:xfrm>
              <a:off x="761695" y="2578608"/>
              <a:ext cx="5219395" cy="156911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7"/>
            <p:cNvSpPr/>
            <p:nvPr/>
          </p:nvSpPr>
          <p:spPr>
            <a:xfrm>
              <a:off x="1000354" y="2816352"/>
              <a:ext cx="457200" cy="457200"/>
            </a:xfrm>
            <a:prstGeom prst="roundRect">
              <a:avLst>
                <a:gd name="adj" fmla="val 66667"/>
              </a:avLst>
            </a:prstGeom>
            <a:solidFill>
              <a:srgbClr val="DBEA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133856" y="2949854"/>
              <a:ext cx="190195" cy="190195"/>
            </a:xfrm>
            <a:prstGeom prst="rect">
              <a:avLst/>
            </a:prstGeom>
          </p:spPr>
        </p:pic>
        <p:sp>
          <p:nvSpPr>
            <p:cNvPr id="14" name="Text 8"/>
            <p:cNvSpPr txBox="1"/>
            <p:nvPr/>
          </p:nvSpPr>
          <p:spPr>
            <a:xfrm>
              <a:off x="1609344" y="2821838"/>
              <a:ext cx="206380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Real Integration Path</a:t>
              </a:r>
              <a:endParaRPr lang="en-US" sz="130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4742078" y="2816352"/>
              <a:ext cx="1009498" cy="276149"/>
            </a:xfrm>
            <a:prstGeom prst="roundRect">
              <a:avLst>
                <a:gd name="adj" fmla="val 331126"/>
              </a:avLst>
            </a:prstGeom>
            <a:solidFill>
              <a:srgbClr val="DCFCE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856378" y="2897734"/>
              <a:ext cx="114300" cy="114300"/>
            </a:xfrm>
            <a:prstGeom prst="rect">
              <a:avLst/>
            </a:prstGeom>
          </p:spPr>
        </p:pic>
        <p:sp>
          <p:nvSpPr>
            <p:cNvPr id="17" name="Text 10"/>
            <p:cNvSpPr txBox="1"/>
            <p:nvPr/>
          </p:nvSpPr>
          <p:spPr>
            <a:xfrm>
              <a:off x="5046574" y="2816352"/>
              <a:ext cx="6483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6653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Available</a:t>
              </a:r>
              <a:endParaRPr lang="en-US" sz="1000" dirty="0"/>
            </a:p>
          </p:txBody>
        </p:sp>
        <p:sp>
          <p:nvSpPr>
            <p:cNvPr id="18" name="Text 11"/>
            <p:cNvSpPr txBox="1"/>
            <p:nvPr/>
          </p:nvSpPr>
          <p:spPr>
            <a:xfrm>
              <a:off x="1609344" y="3169310"/>
              <a:ext cx="467532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One real integration path is always available for testing</a:t>
              </a:r>
              <a:endParaRPr lang="en-US" sz="1000" dirty="0"/>
            </a:p>
          </p:txBody>
        </p:sp>
        <p:sp>
          <p:nvSpPr>
            <p:cNvPr id="19" name="Text 12"/>
            <p:cNvSpPr txBox="1"/>
            <p:nvPr/>
          </p:nvSpPr>
          <p:spPr>
            <a:xfrm>
              <a:off x="1790395" y="3435401"/>
              <a:ext cx="4067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Can switch between real and mocked responses </a:t>
              </a:r>
              <a:endParaRPr lang="en-US" sz="900" dirty="0"/>
            </a:p>
          </p:txBody>
        </p:sp>
        <p:pic>
          <p:nvPicPr>
            <p:cNvPr id="49" name="Image 11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609344" y="3450031"/>
              <a:ext cx="114300" cy="1143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B0098-83C5-59CC-94B3-419A6B035671}"/>
              </a:ext>
            </a:extLst>
          </p:cNvPr>
          <p:cNvGrpSpPr/>
          <p:nvPr/>
        </p:nvGrpSpPr>
        <p:grpSpPr>
          <a:xfrm>
            <a:off x="6210605" y="2578608"/>
            <a:ext cx="5442509" cy="1569110"/>
            <a:chOff x="6210605" y="2578608"/>
            <a:chExt cx="5442509" cy="1569110"/>
          </a:xfrm>
        </p:grpSpPr>
        <p:sp>
          <p:nvSpPr>
            <p:cNvPr id="20" name="Shape 13"/>
            <p:cNvSpPr/>
            <p:nvPr/>
          </p:nvSpPr>
          <p:spPr>
            <a:xfrm>
              <a:off x="6210605" y="2578608"/>
              <a:ext cx="5219395" cy="156911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Shape 14"/>
            <p:cNvSpPr/>
            <p:nvPr/>
          </p:nvSpPr>
          <p:spPr>
            <a:xfrm>
              <a:off x="6448349" y="2816352"/>
              <a:ext cx="457200" cy="457200"/>
            </a:xfrm>
            <a:prstGeom prst="roundRect">
              <a:avLst>
                <a:gd name="adj" fmla="val 66667"/>
              </a:avLst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558077" y="2949854"/>
              <a:ext cx="237744" cy="190195"/>
            </a:xfrm>
            <a:prstGeom prst="rect">
              <a:avLst/>
            </a:prstGeom>
          </p:spPr>
        </p:pic>
        <p:sp>
          <p:nvSpPr>
            <p:cNvPr id="23" name="Text 15"/>
            <p:cNvSpPr txBox="1"/>
            <p:nvPr/>
          </p:nvSpPr>
          <p:spPr>
            <a:xfrm>
              <a:off x="7058254" y="2821838"/>
              <a:ext cx="264353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Network Boundary Mocking</a:t>
              </a:r>
              <a:endParaRPr lang="en-US" sz="1300" dirty="0"/>
            </a:p>
          </p:txBody>
        </p:sp>
        <p:sp>
          <p:nvSpPr>
            <p:cNvPr id="24" name="Shape 16"/>
            <p:cNvSpPr/>
            <p:nvPr/>
          </p:nvSpPr>
          <p:spPr>
            <a:xfrm>
              <a:off x="10379354" y="2816352"/>
              <a:ext cx="819302" cy="276149"/>
            </a:xfrm>
            <a:prstGeom prst="roundRect">
              <a:avLst>
                <a:gd name="adj" fmla="val 331126"/>
              </a:avLst>
            </a:prstGeom>
            <a:solidFill>
              <a:srgbClr val="DCFCE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0493654" y="2897734"/>
              <a:ext cx="114300" cy="114300"/>
            </a:xfrm>
            <a:prstGeom prst="rect">
              <a:avLst/>
            </a:prstGeom>
          </p:spPr>
        </p:pic>
        <p:sp>
          <p:nvSpPr>
            <p:cNvPr id="26" name="Text 17"/>
            <p:cNvSpPr txBox="1"/>
            <p:nvPr/>
          </p:nvSpPr>
          <p:spPr>
            <a:xfrm>
              <a:off x="10684764" y="2816352"/>
              <a:ext cx="4572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6653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Active</a:t>
              </a:r>
              <a:endParaRPr lang="en-US" sz="1000" dirty="0"/>
            </a:p>
          </p:txBody>
        </p:sp>
        <p:sp>
          <p:nvSpPr>
            <p:cNvPr id="27" name="Text 18"/>
            <p:cNvSpPr txBox="1"/>
            <p:nvPr/>
          </p:nvSpPr>
          <p:spPr>
            <a:xfrm>
              <a:off x="7058254" y="3169310"/>
              <a:ext cx="459486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Mocking happens at network boundary, not component layer</a:t>
              </a:r>
              <a:endParaRPr lang="en-US" sz="1000" dirty="0"/>
            </a:p>
          </p:txBody>
        </p:sp>
        <p:sp>
          <p:nvSpPr>
            <p:cNvPr id="28" name="Text 19"/>
            <p:cNvSpPr txBox="1"/>
            <p:nvPr/>
          </p:nvSpPr>
          <p:spPr>
            <a:xfrm>
              <a:off x="7239305" y="3435401"/>
              <a:ext cx="4067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Intercepts requests at the network level </a:t>
              </a:r>
              <a:endParaRPr lang="en-US" sz="900" dirty="0"/>
            </a:p>
          </p:txBody>
        </p:sp>
        <p:pic>
          <p:nvPicPr>
            <p:cNvPr id="50" name="Image 12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058254" y="3450031"/>
              <a:ext cx="114300" cy="1143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9A832C7-94DA-6B5C-095E-D05681491C68}"/>
              </a:ext>
            </a:extLst>
          </p:cNvPr>
          <p:cNvGrpSpPr/>
          <p:nvPr/>
        </p:nvGrpSpPr>
        <p:grpSpPr>
          <a:xfrm>
            <a:off x="761695" y="4374490"/>
            <a:ext cx="5219395" cy="1569110"/>
            <a:chOff x="761695" y="4660697"/>
            <a:chExt cx="5219395" cy="1569110"/>
          </a:xfrm>
        </p:grpSpPr>
        <p:sp>
          <p:nvSpPr>
            <p:cNvPr id="29" name="Shape 20"/>
            <p:cNvSpPr/>
            <p:nvPr/>
          </p:nvSpPr>
          <p:spPr>
            <a:xfrm>
              <a:off x="761695" y="4660697"/>
              <a:ext cx="5219395" cy="156911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1"/>
            <p:cNvSpPr/>
            <p:nvPr/>
          </p:nvSpPr>
          <p:spPr>
            <a:xfrm>
              <a:off x="1000354" y="4899355"/>
              <a:ext cx="457200" cy="457200"/>
            </a:xfrm>
            <a:prstGeom prst="roundRect">
              <a:avLst>
                <a:gd name="adj" fmla="val 66667"/>
              </a:avLst>
            </a:prstGeom>
            <a:solidFill>
              <a:srgbClr val="EDE9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7" descr="preencoded.png"/>
            <p:cNvPicPr>
              <a:picLocks noChangeAspect="1"/>
            </p:cNvPicPr>
            <p:nvPr/>
          </p:nvPicPr>
          <p:blipFill>
            <a:blip r:embed="rId8"/>
            <a:srcRect l="-1282" r="-1282"/>
            <a:stretch/>
          </p:blipFill>
          <p:spPr>
            <a:xfrm>
              <a:off x="1119226" y="5032858"/>
              <a:ext cx="219456" cy="190195"/>
            </a:xfrm>
            <a:prstGeom prst="rect">
              <a:avLst/>
            </a:prstGeom>
          </p:spPr>
        </p:pic>
        <p:sp>
          <p:nvSpPr>
            <p:cNvPr id="32" name="Text 22"/>
            <p:cNvSpPr txBox="1"/>
            <p:nvPr/>
          </p:nvSpPr>
          <p:spPr>
            <a:xfrm>
              <a:off x="1609344" y="4903927"/>
              <a:ext cx="1540764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Runtime Switch</a:t>
              </a:r>
              <a:endParaRPr lang="en-US" sz="1300" dirty="0"/>
            </a:p>
          </p:txBody>
        </p:sp>
        <p:sp>
          <p:nvSpPr>
            <p:cNvPr id="33" name="Shape 23"/>
            <p:cNvSpPr/>
            <p:nvPr/>
          </p:nvSpPr>
          <p:spPr>
            <a:xfrm>
              <a:off x="4858207" y="4899355"/>
              <a:ext cx="886054" cy="276149"/>
            </a:xfrm>
            <a:prstGeom prst="roundRect">
              <a:avLst>
                <a:gd name="adj" fmla="val 331126"/>
              </a:avLst>
            </a:prstGeom>
            <a:solidFill>
              <a:srgbClr val="FEF3C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8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4972507" y="4979822"/>
              <a:ext cx="114300" cy="114300"/>
            </a:xfrm>
            <a:prstGeom prst="rect">
              <a:avLst/>
            </a:prstGeom>
          </p:spPr>
        </p:pic>
        <p:sp>
          <p:nvSpPr>
            <p:cNvPr id="35" name="Text 24"/>
            <p:cNvSpPr txBox="1"/>
            <p:nvPr/>
          </p:nvSpPr>
          <p:spPr>
            <a:xfrm>
              <a:off x="5162702" y="4899355"/>
              <a:ext cx="5239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2400E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Manual</a:t>
              </a:r>
              <a:endParaRPr lang="en-US" sz="1000" dirty="0"/>
            </a:p>
          </p:txBody>
        </p:sp>
        <p:sp>
          <p:nvSpPr>
            <p:cNvPr id="36" name="Text 25"/>
            <p:cNvSpPr txBox="1"/>
            <p:nvPr/>
          </p:nvSpPr>
          <p:spPr>
            <a:xfrm>
              <a:off x="1609344" y="5251399"/>
              <a:ext cx="42483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Runtime switch between real and mocked responses</a:t>
              </a:r>
              <a:endParaRPr lang="en-US" sz="1000" dirty="0"/>
            </a:p>
          </p:txBody>
        </p:sp>
        <p:sp>
          <p:nvSpPr>
            <p:cNvPr id="37" name="Text 26"/>
            <p:cNvSpPr txBox="1"/>
            <p:nvPr/>
          </p:nvSpPr>
          <p:spPr>
            <a:xfrm>
              <a:off x="1787652" y="5518404"/>
              <a:ext cx="406999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Toggle via UI controls </a:t>
              </a:r>
              <a:endParaRPr lang="en-US" sz="900" dirty="0"/>
            </a:p>
          </p:txBody>
        </p:sp>
        <p:pic>
          <p:nvPicPr>
            <p:cNvPr id="51" name="Image 1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609344" y="5533034"/>
              <a:ext cx="114300" cy="1143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DD2474-50FB-DC34-0FC0-62F15421CB84}"/>
              </a:ext>
            </a:extLst>
          </p:cNvPr>
          <p:cNvGrpSpPr/>
          <p:nvPr/>
        </p:nvGrpSpPr>
        <p:grpSpPr>
          <a:xfrm>
            <a:off x="6210605" y="4374490"/>
            <a:ext cx="5219395" cy="1569110"/>
            <a:chOff x="6210605" y="4660697"/>
            <a:chExt cx="5219395" cy="1569110"/>
          </a:xfrm>
        </p:grpSpPr>
        <p:sp>
          <p:nvSpPr>
            <p:cNvPr id="38" name="Shape 27"/>
            <p:cNvSpPr/>
            <p:nvPr/>
          </p:nvSpPr>
          <p:spPr>
            <a:xfrm>
              <a:off x="6210605" y="4660697"/>
              <a:ext cx="5219395" cy="1569110"/>
            </a:xfrm>
            <a:prstGeom prst="roundRect">
              <a:avLst>
                <a:gd name="adj" fmla="val 6060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8"/>
            <p:cNvSpPr/>
            <p:nvPr/>
          </p:nvSpPr>
          <p:spPr>
            <a:xfrm>
              <a:off x="6448349" y="4899355"/>
              <a:ext cx="457200" cy="457200"/>
            </a:xfrm>
            <a:prstGeom prst="roundRect">
              <a:avLst>
                <a:gd name="adj" fmla="val 66667"/>
              </a:avLst>
            </a:prstGeom>
            <a:solidFill>
              <a:srgbClr val="FEF3C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9" descr="preencoded.png"/>
            <p:cNvPicPr>
              <a:picLocks noChangeAspect="1"/>
            </p:cNvPicPr>
            <p:nvPr/>
          </p:nvPicPr>
          <p:blipFill>
            <a:blip r:embed="rId10"/>
            <a:srcRect l="-1648" r="-1648"/>
            <a:stretch/>
          </p:blipFill>
          <p:spPr>
            <a:xfrm>
              <a:off x="6590995" y="5032858"/>
              <a:ext cx="171907" cy="190195"/>
            </a:xfrm>
            <a:prstGeom prst="rect">
              <a:avLst/>
            </a:prstGeom>
          </p:spPr>
        </p:pic>
        <p:sp>
          <p:nvSpPr>
            <p:cNvPr id="41" name="Text 29"/>
            <p:cNvSpPr txBox="1"/>
            <p:nvPr/>
          </p:nvSpPr>
          <p:spPr>
            <a:xfrm>
              <a:off x="7058254" y="4903927"/>
              <a:ext cx="175747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Clear UI Warnings</a:t>
              </a:r>
              <a:endParaRPr lang="en-US" sz="1300" dirty="0"/>
            </a:p>
          </p:txBody>
        </p:sp>
        <p:sp>
          <p:nvSpPr>
            <p:cNvPr id="42" name="Shape 30"/>
            <p:cNvSpPr/>
            <p:nvPr/>
          </p:nvSpPr>
          <p:spPr>
            <a:xfrm>
              <a:off x="10329977" y="4899355"/>
              <a:ext cx="866851" cy="276149"/>
            </a:xfrm>
            <a:prstGeom prst="roundRect">
              <a:avLst>
                <a:gd name="adj" fmla="val 331126"/>
              </a:avLst>
            </a:prstGeom>
            <a:solidFill>
              <a:srgbClr val="FEF3C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3" name="Image 10" descr="preencoded.png"/>
            <p:cNvPicPr>
              <a:picLocks noChangeAspect="1"/>
            </p:cNvPicPr>
            <p:nvPr/>
          </p:nvPicPr>
          <p:blipFill>
            <a:blip r:embed="rId11"/>
            <a:srcRect l="-1911" r="-1911"/>
            <a:stretch/>
          </p:blipFill>
          <p:spPr>
            <a:xfrm>
              <a:off x="10444277" y="4979822"/>
              <a:ext cx="133502" cy="114300"/>
            </a:xfrm>
            <a:prstGeom prst="rect">
              <a:avLst/>
            </a:prstGeom>
          </p:spPr>
        </p:pic>
        <p:sp>
          <p:nvSpPr>
            <p:cNvPr id="44" name="Text 31"/>
            <p:cNvSpPr txBox="1"/>
            <p:nvPr/>
          </p:nvSpPr>
          <p:spPr>
            <a:xfrm>
              <a:off x="10653674" y="4899355"/>
              <a:ext cx="4864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92400E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Visible</a:t>
              </a:r>
              <a:endParaRPr lang="en-US" sz="1000" dirty="0"/>
            </a:p>
          </p:txBody>
        </p:sp>
        <p:sp>
          <p:nvSpPr>
            <p:cNvPr id="45" name="Text 32"/>
            <p:cNvSpPr txBox="1"/>
            <p:nvPr/>
          </p:nvSpPr>
          <p:spPr>
            <a:xfrm>
              <a:off x="7058254" y="5251399"/>
              <a:ext cx="42483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Clear UI warnings for system state</a:t>
              </a:r>
              <a:endParaRPr lang="en-US" sz="1000" dirty="0"/>
            </a:p>
          </p:txBody>
        </p:sp>
        <p:sp>
          <p:nvSpPr>
            <p:cNvPr id="46" name="Text 33"/>
            <p:cNvSpPr txBox="1"/>
            <p:nvPr/>
          </p:nvSpPr>
          <p:spPr>
            <a:xfrm>
              <a:off x="7239305" y="5518404"/>
              <a:ext cx="40672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Shows when using mocked data </a:t>
              </a:r>
              <a:endParaRPr lang="en-US" sz="900" dirty="0"/>
            </a:p>
          </p:txBody>
        </p:sp>
        <p:pic>
          <p:nvPicPr>
            <p:cNvPr id="52" name="Image 14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058254" y="5533034"/>
              <a:ext cx="114300" cy="114300"/>
            </a:xfrm>
            <a:prstGeom prst="rect">
              <a:avLst/>
            </a:prstGeom>
          </p:spPr>
        </p:pic>
      </p:grpSp>
      <p:sp>
        <p:nvSpPr>
          <p:cNvPr id="55" name="Text 36"/>
          <p:cNvSpPr txBox="1"/>
          <p:nvPr/>
        </p:nvSpPr>
        <p:spPr>
          <a:xfrm>
            <a:off x="761695" y="6553505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/ 22</a:t>
            </a:r>
            <a:endParaRPr lang="en-US" sz="1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1419149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530706" y="323698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Demo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442802" y="304495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/ 22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09905" y="914400"/>
            <a:ext cx="111639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RUNTIME CONTROLS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74467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Configure API targets, data sources, and local API settings for the demo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9905" y="2316175"/>
            <a:ext cx="5372100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09244" y="251642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746" y="2649931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9149" y="2516429"/>
            <a:ext cx="759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Target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629046" y="2592324"/>
            <a:ext cx="75895" cy="758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1413344" y="2820924"/>
            <a:ext cx="11228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 (/api)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906878" y="2820924"/>
            <a:ext cx="25283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Endpoint (localhost:8787)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9905" y="3364078"/>
            <a:ext cx="5372100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09244" y="356433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52805" y="3697834"/>
            <a:ext cx="171907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9149" y="3564331"/>
            <a:ext cx="88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629046" y="3640226"/>
            <a:ext cx="75895" cy="758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1410005" y="3868826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Intercept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2889504" y="3868826"/>
            <a:ext cx="13606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Bypass to Real API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09905" y="4411980"/>
            <a:ext cx="5372100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9244" y="461223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929030" y="4745736"/>
            <a:ext cx="219456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9149" y="4612234"/>
            <a:ext cx="121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 API Toggle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629046" y="4688129"/>
            <a:ext cx="75895" cy="758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1410005" y="4916729"/>
            <a:ext cx="12362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Local 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0605" y="2316175"/>
            <a:ext cx="5372100" cy="1047902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43446" y="2649931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19849" y="2516429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Refresh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0341864" y="2554834"/>
            <a:ext cx="12472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refresh only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7019849" y="2820924"/>
            <a:ext cx="1324051" cy="342900"/>
          </a:xfrm>
          <a:prstGeom prst="roundRect">
            <a:avLst>
              <a:gd name="adj" fmla="val 8888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72554" y="2923337"/>
            <a:ext cx="133502" cy="13350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05142" y="2916936"/>
            <a:ext cx="9637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Refresh Data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210605" y="3516782"/>
            <a:ext cx="5372100" cy="1466698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6409944" y="3717036"/>
            <a:ext cx="1054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11049610" y="3754526"/>
            <a:ext cx="409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409944" y="4059936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Connection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10699394" y="4059936"/>
            <a:ext cx="76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409944" y="4326026"/>
            <a:ext cx="9070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0464394" y="4326026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Intercept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409944" y="4593031"/>
            <a:ext cx="6803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10871302" y="4593031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Enabled</a:t>
            </a:r>
            <a:endParaRPr lang="en-US" sz="10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-114758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847069" y="-1623671"/>
            <a:ext cx="3514040" cy="3514040"/>
          </a:xfrm>
          <a:prstGeom prst="ellipse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1889342" y="4633265"/>
            <a:ext cx="3810305" cy="3810305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305" y="304495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9301" y="304495"/>
            <a:ext cx="166420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MEET.JS POLAND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5443462-58B6-E65D-62C1-9BC829E55542}"/>
              </a:ext>
            </a:extLst>
          </p:cNvPr>
          <p:cNvGrpSpPr/>
          <p:nvPr/>
        </p:nvGrpSpPr>
        <p:grpSpPr>
          <a:xfrm>
            <a:off x="761695" y="800099"/>
            <a:ext cx="11692433" cy="3939235"/>
            <a:chOff x="761695" y="609905"/>
            <a:chExt cx="11692433" cy="3939235"/>
          </a:xfrm>
        </p:grpSpPr>
        <p:sp>
          <p:nvSpPr>
            <p:cNvPr id="10" name="Text 5"/>
            <p:cNvSpPr txBox="1"/>
            <p:nvPr/>
          </p:nvSpPr>
          <p:spPr>
            <a:xfrm>
              <a:off x="761695" y="609905"/>
              <a:ext cx="11692433" cy="6382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900" b="1" kern="0" spc="75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SCENARIO CATALOG USED IN DEMO</a:t>
              </a:r>
              <a:endParaRPr lang="en-US" sz="4900" dirty="0"/>
            </a:p>
          </p:txBody>
        </p:sp>
        <p:sp>
          <p:nvSpPr>
            <p:cNvPr id="11" name="Text 6"/>
            <p:cNvSpPr txBox="1"/>
            <p:nvPr/>
          </p:nvSpPr>
          <p:spPr>
            <a:xfrm>
              <a:off x="761695" y="1399032"/>
              <a:ext cx="869320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kern="0" spc="22" dirty="0">
                  <a:solidFill>
                    <a:srgbClr val="000000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Comprehensive test scenarios for validating frontend behavior under various API conditions.</a:t>
              </a:r>
              <a:endParaRPr lang="en-US" sz="120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761695" y="179588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8"/>
            <p:cNvSpPr/>
            <p:nvPr/>
          </p:nvSpPr>
          <p:spPr>
            <a:xfrm>
              <a:off x="761695" y="179588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52805" y="1932127"/>
              <a:ext cx="152705" cy="152705"/>
            </a:xfrm>
            <a:prstGeom prst="rect">
              <a:avLst/>
            </a:prstGeom>
          </p:spPr>
        </p:pic>
        <p:sp>
          <p:nvSpPr>
            <p:cNvPr id="15" name="Text 9"/>
            <p:cNvSpPr txBox="1"/>
            <p:nvPr/>
          </p:nvSpPr>
          <p:spPr>
            <a:xfrm>
              <a:off x="1181405" y="1795882"/>
              <a:ext cx="76261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happy-path</a:t>
              </a:r>
              <a:endParaRPr lang="en-US" sz="1200" dirty="0"/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1954987" y="1795882"/>
              <a:ext cx="308610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Normal API response with expected data structure</a:t>
              </a:r>
              <a:endParaRPr lang="en-US" sz="1000" dirty="0"/>
            </a:p>
          </p:txBody>
        </p:sp>
        <p:sp>
          <p:nvSpPr>
            <p:cNvPr id="17" name="Shape 11"/>
            <p:cNvSpPr/>
            <p:nvPr/>
          </p:nvSpPr>
          <p:spPr>
            <a:xfrm>
              <a:off x="761695" y="233629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2"/>
            <p:cNvSpPr/>
            <p:nvPr/>
          </p:nvSpPr>
          <p:spPr>
            <a:xfrm>
              <a:off x="761695" y="233629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952805" y="2473452"/>
              <a:ext cx="152705" cy="152705"/>
            </a:xfrm>
            <a:prstGeom prst="rect">
              <a:avLst/>
            </a:prstGeom>
          </p:spPr>
        </p:pic>
        <p:sp>
          <p:nvSpPr>
            <p:cNvPr id="20" name="Text 13"/>
            <p:cNvSpPr txBox="1"/>
            <p:nvPr/>
          </p:nvSpPr>
          <p:spPr>
            <a:xfrm>
              <a:off x="1181405" y="2336292"/>
              <a:ext cx="5239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slow-3s</a:t>
              </a:r>
              <a:endParaRPr lang="en-US" sz="1200" dirty="0"/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1720901" y="2336292"/>
              <a:ext cx="243870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Delayed response to test loading states</a:t>
              </a:r>
              <a:endParaRPr lang="en-US" sz="1000" dirty="0"/>
            </a:p>
          </p:txBody>
        </p:sp>
        <p:sp>
          <p:nvSpPr>
            <p:cNvPr id="22" name="Shape 15"/>
            <p:cNvSpPr/>
            <p:nvPr/>
          </p:nvSpPr>
          <p:spPr>
            <a:xfrm>
              <a:off x="761695" y="287670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6"/>
            <p:cNvSpPr/>
            <p:nvPr/>
          </p:nvSpPr>
          <p:spPr>
            <a:xfrm>
              <a:off x="761695" y="287670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952805" y="3013862"/>
              <a:ext cx="152705" cy="152705"/>
            </a:xfrm>
            <a:prstGeom prst="rect">
              <a:avLst/>
            </a:prstGeom>
          </p:spPr>
        </p:pic>
        <p:sp>
          <p:nvSpPr>
            <p:cNvPr id="25" name="Text 17"/>
            <p:cNvSpPr txBox="1"/>
            <p:nvPr/>
          </p:nvSpPr>
          <p:spPr>
            <a:xfrm>
              <a:off x="1181405" y="2876702"/>
              <a:ext cx="743407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server-500</a:t>
              </a:r>
              <a:endParaRPr lang="en-US" sz="1200" dirty="0"/>
            </a:p>
          </p:txBody>
        </p:sp>
        <p:sp>
          <p:nvSpPr>
            <p:cNvPr id="26" name="Text 18"/>
            <p:cNvSpPr txBox="1"/>
            <p:nvPr/>
          </p:nvSpPr>
          <p:spPr>
            <a:xfrm>
              <a:off x="1940357" y="2876702"/>
              <a:ext cx="1793138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Internal server error handling</a:t>
              </a:r>
              <a:endParaRPr lang="en-US" sz="1000" dirty="0"/>
            </a:p>
          </p:txBody>
        </p:sp>
        <p:sp>
          <p:nvSpPr>
            <p:cNvPr id="27" name="Shape 19"/>
            <p:cNvSpPr/>
            <p:nvPr/>
          </p:nvSpPr>
          <p:spPr>
            <a:xfrm>
              <a:off x="761695" y="3418027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0"/>
            <p:cNvSpPr/>
            <p:nvPr/>
          </p:nvSpPr>
          <p:spPr>
            <a:xfrm>
              <a:off x="761695" y="3418027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6" descr="preencoded.png"/>
            <p:cNvPicPr>
              <a:picLocks noChangeAspect="1"/>
            </p:cNvPicPr>
            <p:nvPr/>
          </p:nvPicPr>
          <p:blipFill>
            <a:blip r:embed="rId9"/>
            <a:srcRect t="-180" b="-180"/>
            <a:stretch/>
          </p:blipFill>
          <p:spPr>
            <a:xfrm>
              <a:off x="952805" y="3555187"/>
              <a:ext cx="190195" cy="152705"/>
            </a:xfrm>
            <a:prstGeom prst="rect">
              <a:avLst/>
            </a:prstGeom>
          </p:spPr>
        </p:pic>
        <p:sp>
          <p:nvSpPr>
            <p:cNvPr id="30" name="Text 21"/>
            <p:cNvSpPr txBox="1"/>
            <p:nvPr/>
          </p:nvSpPr>
          <p:spPr>
            <a:xfrm>
              <a:off x="1218895" y="3418027"/>
              <a:ext cx="9336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network-error</a:t>
              </a:r>
              <a:endParaRPr lang="en-US" sz="1200" dirty="0"/>
            </a:p>
          </p:txBody>
        </p:sp>
        <p:sp>
          <p:nvSpPr>
            <p:cNvPr id="31" name="Text 22"/>
            <p:cNvSpPr txBox="1"/>
            <p:nvPr/>
          </p:nvSpPr>
          <p:spPr>
            <a:xfrm>
              <a:off x="2168042" y="3418027"/>
              <a:ext cx="240030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Network connectivity failure simulation</a:t>
              </a:r>
              <a:endParaRPr lang="en-US" sz="1000" dirty="0"/>
            </a:p>
          </p:txBody>
        </p:sp>
        <p:sp>
          <p:nvSpPr>
            <p:cNvPr id="32" name="Shape 23"/>
            <p:cNvSpPr/>
            <p:nvPr/>
          </p:nvSpPr>
          <p:spPr>
            <a:xfrm>
              <a:off x="6210605" y="179588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24"/>
            <p:cNvSpPr/>
            <p:nvPr/>
          </p:nvSpPr>
          <p:spPr>
            <a:xfrm>
              <a:off x="6210605" y="179588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400800" y="1932127"/>
              <a:ext cx="152705" cy="152705"/>
            </a:xfrm>
            <a:prstGeom prst="rect">
              <a:avLst/>
            </a:prstGeom>
          </p:spPr>
        </p:pic>
        <p:sp>
          <p:nvSpPr>
            <p:cNvPr id="35" name="Text 25"/>
            <p:cNvSpPr txBox="1"/>
            <p:nvPr/>
          </p:nvSpPr>
          <p:spPr>
            <a:xfrm>
              <a:off x="6629400" y="1795882"/>
              <a:ext cx="848563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auth-expired</a:t>
              </a:r>
              <a:endParaRPr lang="en-US" sz="1200" dirty="0"/>
            </a:p>
          </p:txBody>
        </p:sp>
        <p:sp>
          <p:nvSpPr>
            <p:cNvPr id="36" name="Text 26"/>
            <p:cNvSpPr txBox="1"/>
            <p:nvPr/>
          </p:nvSpPr>
          <p:spPr>
            <a:xfrm>
              <a:off x="7494422" y="1795882"/>
              <a:ext cx="1942186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Authentication token expiration</a:t>
              </a:r>
              <a:endParaRPr lang="en-US" sz="1000" dirty="0"/>
            </a:p>
          </p:txBody>
        </p:sp>
        <p:sp>
          <p:nvSpPr>
            <p:cNvPr id="37" name="Shape 27"/>
            <p:cNvSpPr/>
            <p:nvPr/>
          </p:nvSpPr>
          <p:spPr>
            <a:xfrm>
              <a:off x="6210605" y="233629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8"/>
            <p:cNvSpPr/>
            <p:nvPr/>
          </p:nvSpPr>
          <p:spPr>
            <a:xfrm>
              <a:off x="6210605" y="233629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9" name="Image 8" descr="preencoded.png"/>
            <p:cNvPicPr>
              <a:picLocks noChangeAspect="1"/>
            </p:cNvPicPr>
            <p:nvPr/>
          </p:nvPicPr>
          <p:blipFill>
            <a:blip r:embed="rId11"/>
            <a:srcRect l="-33" r="-33"/>
            <a:stretch/>
          </p:blipFill>
          <p:spPr>
            <a:xfrm>
              <a:off x="6400800" y="2473452"/>
              <a:ext cx="171907" cy="152705"/>
            </a:xfrm>
            <a:prstGeom prst="rect">
              <a:avLst/>
            </a:prstGeom>
          </p:spPr>
        </p:pic>
        <p:sp>
          <p:nvSpPr>
            <p:cNvPr id="40" name="Text 29"/>
            <p:cNvSpPr txBox="1"/>
            <p:nvPr/>
          </p:nvSpPr>
          <p:spPr>
            <a:xfrm>
              <a:off x="6648602" y="2336292"/>
              <a:ext cx="790956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partial-data</a:t>
              </a:r>
              <a:endParaRPr lang="en-US" sz="1200" dirty="0"/>
            </a:p>
          </p:txBody>
        </p:sp>
        <p:sp>
          <p:nvSpPr>
            <p:cNvPr id="41" name="Text 30"/>
            <p:cNvSpPr txBox="1"/>
            <p:nvPr/>
          </p:nvSpPr>
          <p:spPr>
            <a:xfrm>
              <a:off x="7456018" y="2336292"/>
              <a:ext cx="1634947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Incomplete data response</a:t>
              </a:r>
              <a:endParaRPr lang="en-US" sz="1000" dirty="0"/>
            </a:p>
          </p:txBody>
        </p:sp>
        <p:sp>
          <p:nvSpPr>
            <p:cNvPr id="42" name="Shape 31"/>
            <p:cNvSpPr/>
            <p:nvPr/>
          </p:nvSpPr>
          <p:spPr>
            <a:xfrm>
              <a:off x="6210605" y="2876702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32"/>
            <p:cNvSpPr/>
            <p:nvPr/>
          </p:nvSpPr>
          <p:spPr>
            <a:xfrm>
              <a:off x="6210605" y="2876702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4" name="Image 9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6400800" y="3013862"/>
              <a:ext cx="152705" cy="152705"/>
            </a:xfrm>
            <a:prstGeom prst="rect">
              <a:avLst/>
            </a:prstGeom>
          </p:spPr>
        </p:pic>
        <p:sp>
          <p:nvSpPr>
            <p:cNvPr id="45" name="Text 33"/>
            <p:cNvSpPr txBox="1"/>
            <p:nvPr/>
          </p:nvSpPr>
          <p:spPr>
            <a:xfrm>
              <a:off x="6629400" y="2876702"/>
              <a:ext cx="914400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contract-drift</a:t>
              </a:r>
              <a:endParaRPr lang="en-US" sz="1200" dirty="0"/>
            </a:p>
          </p:txBody>
        </p:sp>
        <p:sp>
          <p:nvSpPr>
            <p:cNvPr id="46" name="Text 34"/>
            <p:cNvSpPr txBox="1"/>
            <p:nvPr/>
          </p:nvSpPr>
          <p:spPr>
            <a:xfrm>
              <a:off x="7559345" y="2876702"/>
              <a:ext cx="1314907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API schema changes</a:t>
              </a:r>
              <a:endParaRPr lang="en-US" sz="1000" dirty="0"/>
            </a:p>
          </p:txBody>
        </p:sp>
        <p:sp>
          <p:nvSpPr>
            <p:cNvPr id="47" name="Shape 35"/>
            <p:cNvSpPr/>
            <p:nvPr/>
          </p:nvSpPr>
          <p:spPr>
            <a:xfrm>
              <a:off x="6210605" y="3418027"/>
              <a:ext cx="5219395" cy="428854"/>
            </a:xfrm>
            <a:prstGeom prst="roundRect">
              <a:avLst>
                <a:gd name="adj" fmla="val 75811"/>
              </a:avLst>
            </a:prstGeom>
            <a:solidFill>
              <a:srgbClr val="FFFFFF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6"/>
            <p:cNvSpPr/>
            <p:nvPr/>
          </p:nvSpPr>
          <p:spPr>
            <a:xfrm>
              <a:off x="6210605" y="3418027"/>
              <a:ext cx="38405" cy="428854"/>
            </a:xfrm>
            <a:prstGeom prst="roundRect">
              <a:avLst>
                <a:gd name="adj" fmla="val 846556"/>
              </a:avLst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9" name="Image 10" descr="preencoded.png"/>
            <p:cNvPicPr>
              <a:picLocks noChangeAspect="1"/>
            </p:cNvPicPr>
            <p:nvPr/>
          </p:nvPicPr>
          <p:blipFill>
            <a:blip r:embed="rId13"/>
            <a:srcRect t="-43" b="-43"/>
            <a:stretch/>
          </p:blipFill>
          <p:spPr>
            <a:xfrm>
              <a:off x="6400800" y="3555187"/>
              <a:ext cx="133502" cy="152705"/>
            </a:xfrm>
            <a:prstGeom prst="rect">
              <a:avLst/>
            </a:prstGeom>
          </p:spPr>
        </p:pic>
        <p:sp>
          <p:nvSpPr>
            <p:cNvPr id="50" name="Text 37"/>
            <p:cNvSpPr txBox="1"/>
            <p:nvPr/>
          </p:nvSpPr>
          <p:spPr>
            <a:xfrm>
              <a:off x="6610198" y="3418027"/>
              <a:ext cx="362102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Oswald" pitchFamily="34" charset="0"/>
                  <a:ea typeface="Oswald" pitchFamily="34" charset="-122"/>
                  <a:cs typeface="Oswald" pitchFamily="34" charset="-120"/>
                </a:rPr>
                <a:t>flaky</a:t>
              </a:r>
              <a:endParaRPr lang="en-US" sz="1200" dirty="0"/>
            </a:p>
          </p:txBody>
        </p:sp>
        <p:sp>
          <p:nvSpPr>
            <p:cNvPr id="51" name="Text 38"/>
            <p:cNvSpPr txBox="1"/>
            <p:nvPr/>
          </p:nvSpPr>
          <p:spPr>
            <a:xfrm>
              <a:off x="6986930" y="3418027"/>
              <a:ext cx="1823314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Intermittent response failures</a:t>
              </a:r>
              <a:endParaRPr lang="en-US" sz="1000" dirty="0"/>
            </a:p>
          </p:txBody>
        </p:sp>
        <p:sp>
          <p:nvSpPr>
            <p:cNvPr id="52" name="Shape 39"/>
            <p:cNvSpPr/>
            <p:nvPr/>
          </p:nvSpPr>
          <p:spPr>
            <a:xfrm>
              <a:off x="761695" y="4111142"/>
              <a:ext cx="10668305" cy="437998"/>
            </a:xfrm>
            <a:prstGeom prst="roundRect">
              <a:avLst>
                <a:gd name="adj" fmla="val 72615"/>
              </a:avLst>
            </a:prstGeom>
            <a:solidFill>
              <a:srgbClr val="000000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40"/>
            <p:cNvSpPr txBox="1"/>
            <p:nvPr/>
          </p:nvSpPr>
          <p:spPr>
            <a:xfrm>
              <a:off x="914400" y="4225442"/>
              <a:ext cx="110496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Note:                                                                                               </a:t>
              </a: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 Bypass mode, the scenario control is                                             to ensure real API responses are used. </a:t>
              </a:r>
              <a:endParaRPr lang="en-US" sz="1000" dirty="0"/>
            </a:p>
          </p:txBody>
        </p:sp>
        <p:sp>
          <p:nvSpPr>
            <p:cNvPr id="54" name="Text 41"/>
            <p:cNvSpPr txBox="1"/>
            <p:nvPr/>
          </p:nvSpPr>
          <p:spPr>
            <a:xfrm>
              <a:off x="1218895" y="4234588"/>
              <a:ext cx="2857500" cy="171906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25400" tIns="0" rIns="2540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Scenario selection is meaningful in MSW mode.</a:t>
              </a:r>
              <a:endParaRPr lang="en-US" sz="1000" dirty="0"/>
            </a:p>
          </p:txBody>
        </p:sp>
        <p:sp>
          <p:nvSpPr>
            <p:cNvPr id="55" name="Text 42"/>
            <p:cNvSpPr txBox="1"/>
            <p:nvPr/>
          </p:nvSpPr>
          <p:spPr>
            <a:xfrm>
              <a:off x="6434632" y="4234588"/>
              <a:ext cx="1342340" cy="171906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25400" tIns="0" rIns="2540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333333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intentionally disabled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419149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530706" y="323698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Demo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44630" y="304495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/ 22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914400"/>
            <a:ext cx="111639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DEMO CASE 1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166146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Endpoint + MSW Intercept - Frontend stays unblocked when backend is down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905" y="2156155"/>
            <a:ext cx="5372100" cy="1695298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9244" y="241401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198" y="2499055"/>
            <a:ext cx="133502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28954" y="2356409"/>
            <a:ext cx="1369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Server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28954" y="2585009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localhost:8787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98364" y="2427732"/>
            <a:ext cx="590702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312664" y="2528316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5464454" y="2466137"/>
            <a:ext cx="286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" y="2927909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Status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271516" y="2927909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Running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" y="3194914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448910" y="3194914"/>
            <a:ext cx="409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45ms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3461004"/>
            <a:ext cx="53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Uptime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26964" y="3461004"/>
            <a:ext cx="438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99.9%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9905" y="4004158"/>
            <a:ext cx="5372100" cy="1429207"/>
          </a:xfrm>
          <a:prstGeom prst="roundRect">
            <a:avLst>
              <a:gd name="adj" fmla="val 10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09244" y="4261104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875995" y="4347058"/>
            <a:ext cx="171907" cy="13350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28954" y="4204411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Intercept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4433011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layer mocking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07254" y="4275734"/>
            <a:ext cx="780898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121554" y="437540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5274259" y="4314139"/>
            <a:ext cx="476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09244" y="4775911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039258" y="4775911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Intercepting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809244" y="5042916"/>
            <a:ext cx="726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5121554" y="5042916"/>
            <a:ext cx="7936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available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10605" y="2156155"/>
            <a:ext cx="5372100" cy="2952598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409944" y="2356409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Sequence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0879531" y="2375611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1-5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409944" y="275691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381598" y="27569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829654" y="2737714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Backend Endpoint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1098987" y="275691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Done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829654" y="2927909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localhost:8787 as target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409944" y="321411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381598" y="32141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6829654" y="3194914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MSW Intercept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11098987" y="3214116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Done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829654" y="3385109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network interception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6409944" y="367131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6381598" y="36713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6829654" y="3652114"/>
            <a:ext cx="1244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Show happy-path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11055096" y="3671316"/>
            <a:ext cx="409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6829654" y="3842309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 response scenario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409944" y="4128516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6381598" y="41285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6829654" y="4109314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Switch to server-500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10945368" y="4128516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Pending</a:t>
            </a:r>
            <a:endParaRPr lang="en-US" sz="900" dirty="0"/>
          </a:p>
        </p:txBody>
      </p:sp>
      <p:sp>
        <p:nvSpPr>
          <p:cNvPr id="58" name="Text 53"/>
          <p:cNvSpPr txBox="1"/>
          <p:nvPr/>
        </p:nvSpPr>
        <p:spPr>
          <a:xfrm>
            <a:off x="6829654" y="4299509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scenario test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6409944" y="4585716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6381598" y="45857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6829654" y="4566514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 backend process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0945368" y="4585716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Pending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6829654" y="4756709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Verify frontend continues</a:t>
            </a:r>
            <a:endParaRPr lang="en-US" sz="900" dirty="0"/>
          </a:p>
        </p:txBody>
      </p:sp>
      <p:sp>
        <p:nvSpPr>
          <p:cNvPr id="64" name="Text 59"/>
          <p:cNvSpPr txBox="1"/>
          <p:nvPr/>
        </p:nvSpPr>
        <p:spPr>
          <a:xfrm>
            <a:off x="815645" y="5585155"/>
            <a:ext cx="2286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Frontend continues through MSW</a:t>
            </a:r>
            <a:endParaRPr lang="en-US" sz="1000" dirty="0"/>
          </a:p>
        </p:txBody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5" y="5611673"/>
            <a:ext cx="133502" cy="133502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3255264" y="5585155"/>
            <a:ext cx="17026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Backend warning visible</a:t>
            </a:r>
            <a:endParaRPr lang="en-US" sz="1000" dirty="0"/>
          </a:p>
        </p:txBody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9524" y="5611673"/>
            <a:ext cx="133502" cy="133502"/>
          </a:xfrm>
          <a:prstGeom prst="rect">
            <a:avLst/>
          </a:prstGeom>
        </p:spPr>
      </p:pic>
      <p:sp>
        <p:nvSpPr>
          <p:cNvPr id="68" name="Text 61"/>
          <p:cNvSpPr txBox="1"/>
          <p:nvPr/>
        </p:nvSpPr>
        <p:spPr>
          <a:xfrm>
            <a:off x="10191902" y="5604358"/>
            <a:ext cx="13944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Next: Demo Case 2</a:t>
            </a:r>
            <a:endParaRPr lang="en-US" sz="1000" dirty="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70" name="Image 6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714500"/>
          </a:xfrm>
          <a:custGeom>
            <a:avLst/>
            <a:gdLst/>
            <a:ahLst/>
            <a:cxnLst/>
            <a:rect l="l" t="t" r="r" b="b"/>
            <a:pathLst>
              <a:path w="12191695" h="1714500">
                <a:moveTo>
                  <a:pt x="0" y="0"/>
                </a:moveTo>
                <a:lnTo>
                  <a:pt x="12191695" y="0"/>
                </a:lnTo>
                <a:lnTo>
                  <a:pt x="7924602" y="1714500"/>
                </a:lnTo>
                <a:lnTo>
                  <a:pt x="0" y="1714500"/>
                </a:lnTo>
                <a:close/>
              </a:path>
            </a:pathLst>
          </a:custGeom>
          <a:solidFill>
            <a:srgbClr val="ECEC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2" b="-2"/>
          <a:stretch/>
        </p:blipFill>
        <p:spPr>
          <a:xfrm>
            <a:off x="0" y="1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87584" y="304495"/>
            <a:ext cx="1429207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58323" y="304495"/>
            <a:ext cx="14859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943661"/>
            <a:ext cx="111639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DEMO CASE 2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788566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Endpoint + Bypass to Real API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2284171"/>
            <a:ext cx="86109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demo case proves that the real integration path remains available and honest. When the backend is ON, real responses load normally. When it's OFF, requests fail with a clear backend unreachable warning.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905" y="3091586"/>
            <a:ext cx="5333695" cy="2000707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1754" y="3330245"/>
            <a:ext cx="114300" cy="1143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61949" y="3254349"/>
            <a:ext cx="18708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Server 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283403" y="3291840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 Active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1754" y="3673145"/>
            <a:ext cx="5009998" cy="647395"/>
          </a:xfrm>
          <a:prstGeom prst="roundRect">
            <a:avLst>
              <a:gd name="adj" fmla="val 1661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86054" y="3787445"/>
            <a:ext cx="4896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Endpoint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86054" y="4016045"/>
            <a:ext cx="4896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localhost:8787/api/data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4463186"/>
            <a:ext cx="133502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1151" y="4434840"/>
            <a:ext cx="21652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responses load normally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476859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81151" y="4740249"/>
            <a:ext cx="20071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Integration validation works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48095" y="3091586"/>
            <a:ext cx="5333695" cy="2000707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09944" y="3330245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6601054" y="3254349"/>
            <a:ext cx="196138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Server OFF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819181" y="3291840"/>
            <a:ext cx="726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● Inactive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9944" y="3673145"/>
            <a:ext cx="5009998" cy="647395"/>
          </a:xfrm>
          <a:prstGeom prst="roundRect">
            <a:avLst>
              <a:gd name="adj" fmla="val 1661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524244" y="3787445"/>
            <a:ext cx="4896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Endpoint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524244" y="4016045"/>
            <a:ext cx="4896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localhost:8787/api/data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9944" y="446318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620256" y="4434840"/>
            <a:ext cx="1915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fails with warning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9944" y="4768596"/>
            <a:ext cx="133502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620256" y="4740249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unreachable warning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09905" y="5268773"/>
            <a:ext cx="3562502" cy="780898"/>
          </a:xfrm>
          <a:prstGeom prst="roundRect">
            <a:avLst>
              <a:gd name="adj" fmla="val 228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771754" y="5430622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Integration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71754" y="5696712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Validates actual API behavior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317797" y="5268773"/>
            <a:ext cx="3562502" cy="780898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4479646" y="5430622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Honest Feedback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479646" y="5696712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failure messages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026603" y="5268773"/>
            <a:ext cx="3562502" cy="780898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8188452" y="5430622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 Fallback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8188452" y="5696712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silent failures</a:t>
            </a:r>
            <a:endParaRPr lang="en-US" sz="1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54105" y="6203937"/>
            <a:ext cx="457200" cy="45720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rcRect l="-1923" r="-1923"/>
          <a:stretch/>
        </p:blipFill>
        <p:spPr>
          <a:xfrm>
            <a:off x="11520526" y="6337440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714500"/>
          </a:xfrm>
          <a:custGeom>
            <a:avLst/>
            <a:gdLst/>
            <a:ahLst/>
            <a:cxnLst/>
            <a:rect l="l" t="t" r="r" b="b"/>
            <a:pathLst>
              <a:path w="12191695" h="1714500">
                <a:moveTo>
                  <a:pt x="0" y="0"/>
                </a:moveTo>
                <a:lnTo>
                  <a:pt x="12191695" y="0"/>
                </a:lnTo>
                <a:lnTo>
                  <a:pt x="7924602" y="1714500"/>
                </a:lnTo>
                <a:lnTo>
                  <a:pt x="0" y="1714500"/>
                </a:lnTo>
                <a:close/>
              </a:path>
            </a:pathLst>
          </a:custGeom>
          <a:solidFill>
            <a:srgbClr val="ECEC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1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21747" y="304495"/>
            <a:ext cx="1495044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91572" y="304495"/>
            <a:ext cx="155539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53206" y="800862"/>
            <a:ext cx="10544862" cy="932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DEMO CASE 3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2580893"/>
            <a:ext cx="5029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Use this case to prove: </a:t>
            </a:r>
            <a:r>
              <a:rPr lang="en-US" sz="14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fallback can be controlled explicitly during demo/dev</a:t>
            </a:r>
            <a:r>
              <a:rPr lang="en-US" sz="14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 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1694" y="3162757"/>
            <a:ext cx="4953305" cy="819302"/>
          </a:xfrm>
          <a:prstGeom prst="roundRect">
            <a:avLst>
              <a:gd name="adj" fmla="val 207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23543" y="3324606"/>
            <a:ext cx="1383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 Status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34101" y="3343808"/>
            <a:ext cx="737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/api route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23543" y="3667506"/>
            <a:ext cx="114300" cy="1143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114653" y="3629101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777593" y="3629101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Next.js route handlers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1694" y="4133850"/>
            <a:ext cx="4953305" cy="819302"/>
          </a:xfrm>
          <a:prstGeom prst="roundRect">
            <a:avLst>
              <a:gd name="adj" fmla="val 207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23543" y="4296613"/>
            <a:ext cx="1054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13808" y="4314901"/>
            <a:ext cx="13606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Bypass to Real API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23543" y="4639513"/>
            <a:ext cx="114300" cy="1143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114653" y="4601108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API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771192" y="4601108"/>
            <a:ext cx="8302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mocking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24905" y="2629662"/>
            <a:ext cx="5105095" cy="3676802"/>
          </a:xfrm>
          <a:prstGeom prst="roundRect">
            <a:avLst>
              <a:gd name="adj" fmla="val 103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562649" y="2867406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Suggested Sequence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62649" y="3248711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34302" y="3248711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81444" y="3248711"/>
            <a:ext cx="19110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Local API (/api)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981444" y="3438906"/>
            <a:ext cx="20857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local endpoint for testing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562649" y="3744316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534302" y="37443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81444" y="3744316"/>
            <a:ext cx="18937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Bypass to Real API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81444" y="3934511"/>
            <a:ext cx="18937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real API integration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562649" y="4239006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34302" y="423900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81444" y="4239006"/>
            <a:ext cx="17236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Show baseline success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981444" y="4430116"/>
            <a:ext cx="17236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Verify real API responses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62649" y="4734611"/>
            <a:ext cx="304495" cy="3044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534302" y="4734611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981444" y="4734611"/>
            <a:ext cx="16888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Click Disable Local API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981444" y="4924806"/>
            <a:ext cx="16888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Simulate unavailable route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562649" y="5230216"/>
            <a:ext cx="304495" cy="3044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534302" y="523021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981444" y="5230216"/>
            <a:ext cx="28456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Refresh → show failure + local warning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981444" y="5420411"/>
            <a:ext cx="24871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Observe error handling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562649" y="5724906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534302" y="572490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981444" y="5724906"/>
            <a:ext cx="17117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Re-enable and recover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981444" y="5916016"/>
            <a:ext cx="1515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Restore functionality</a:t>
            </a:r>
            <a:endParaRPr lang="en-US" sz="9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172962"/>
            <a:ext cx="457200" cy="457200"/>
          </a:xfrm>
          <a:prstGeom prst="rect">
            <a:avLst/>
          </a:prstGeom>
        </p:spPr>
      </p:pic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306464"/>
            <a:ext cx="123444" cy="19019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DD27524F-4F46-3693-658F-D1F891734C1C}"/>
              </a:ext>
            </a:extLst>
          </p:cNvPr>
          <p:cNvSpPr txBox="1"/>
          <p:nvPr/>
        </p:nvSpPr>
        <p:spPr>
          <a:xfrm>
            <a:off x="761695" y="1867205"/>
            <a:ext cx="6848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75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Local API + Bypass to Real API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714500"/>
          </a:xfrm>
          <a:custGeom>
            <a:avLst/>
            <a:gdLst/>
            <a:ahLst/>
            <a:cxnLst/>
            <a:rect l="l" t="t" r="r" b="b"/>
            <a:pathLst>
              <a:path w="12191695" h="1714500">
                <a:moveTo>
                  <a:pt x="0" y="0"/>
                </a:moveTo>
                <a:lnTo>
                  <a:pt x="12191695" y="0"/>
                </a:lnTo>
                <a:lnTo>
                  <a:pt x="7924602" y="1714500"/>
                </a:lnTo>
                <a:lnTo>
                  <a:pt x="0" y="1714500"/>
                </a:lnTo>
                <a:close/>
              </a:path>
            </a:pathLst>
          </a:custGeom>
          <a:solidFill>
            <a:srgbClr val="ECEC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3" b="-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21747" y="304495"/>
            <a:ext cx="1495044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91572" y="304495"/>
            <a:ext cx="155539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23747" y="994867"/>
            <a:ext cx="692475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DEMO CASE 4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67205"/>
            <a:ext cx="6848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 + MSW Intercept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324405"/>
            <a:ext cx="6810451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scenario demonstrates how MSW can isolate frontend development from local route availability, allowing you to continue development even when the local API layer is disabled.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1695" y="3357677"/>
            <a:ext cx="6734556" cy="2457907"/>
          </a:xfrm>
          <a:prstGeom prst="roundRect">
            <a:avLst>
              <a:gd name="adj" fmla="val 23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00354" y="3595421"/>
            <a:ext cx="2179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 Status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0354" y="3899916"/>
            <a:ext cx="24944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state of the local API layer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006" y="3666744"/>
            <a:ext cx="1037844" cy="352044"/>
          </a:xfrm>
          <a:prstGeom prst="roundRect">
            <a:avLst>
              <a:gd name="adj" fmla="val 25974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9710" y="3776472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79108" y="3666744"/>
            <a:ext cx="5815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Enabled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00354" y="4242816"/>
            <a:ext cx="2298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Intercept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000354" y="4548226"/>
            <a:ext cx="26298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request interception status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46850" y="4314139"/>
            <a:ext cx="914400" cy="352044"/>
          </a:xfrm>
          <a:prstGeom prst="roundRect">
            <a:avLst>
              <a:gd name="adj" fmla="val 25974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9555" y="4423867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08953" y="4314139"/>
            <a:ext cx="457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000354" y="4891126"/>
            <a:ext cx="6258154" cy="685800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1152144" y="5042916"/>
            <a:ext cx="6029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Insight:</a:t>
            </a:r>
            <a:r>
              <a:rPr lang="en-US" sz="1000" dirty="0">
                <a:solidFill>
                  <a:srgbClr val="1E40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Even when local route layer is disabled, we can continue scenario-driven frontend development through MSW intercept. 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75269" y="2172615"/>
            <a:ext cx="3562502" cy="3047695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8113013" y="2411274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Scenarios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113013" y="2754174"/>
            <a:ext cx="3086100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8198967" y="2840127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happy-path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0525201" y="2858415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Working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113013" y="3192171"/>
            <a:ext cx="3086100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8198967" y="3278125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slow-3s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525201" y="3297327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Working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113013" y="3630169"/>
            <a:ext cx="3086100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8198967" y="3716122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server-500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525201" y="3735325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Working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8113013" y="4068166"/>
            <a:ext cx="3086100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198967" y="4154120"/>
            <a:ext cx="1020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network-error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525201" y="4173322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Working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113013" y="4582974"/>
            <a:ext cx="3086100" cy="400507"/>
          </a:xfrm>
          <a:prstGeom prst="roundRect">
            <a:avLst>
              <a:gd name="adj" fmla="val 43488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8914028" y="4687215"/>
            <a:ext cx="1484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Disable Local API</a:t>
            </a:r>
            <a:endParaRPr lang="en-US" sz="12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355476" y="6272785"/>
            <a:ext cx="457200" cy="457200"/>
          </a:xfrm>
          <a:prstGeom prst="rect">
            <a:avLst/>
          </a:prstGeom>
        </p:spPr>
      </p:pic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11521897" y="640628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04495"/>
            <a:ext cx="1438351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52044" y="304495"/>
            <a:ext cx="14959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MEET.JS POLAND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761695"/>
            <a:ext cx="111639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COMBINED DEMO MATRIX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1371600"/>
            <a:ext cx="11658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matrix represents the heart of the talk - showing all possible combinations of API targets and data sources.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9905" y="1867205"/>
            <a:ext cx="5372100" cy="20574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1754" y="202905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2115007"/>
            <a:ext cx="133502" cy="1335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055571"/>
            <a:ext cx="12810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 + MSW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26126" y="2057400"/>
            <a:ext cx="694944" cy="247802"/>
          </a:xfrm>
          <a:prstGeom prst="roundRect">
            <a:avLst>
              <a:gd name="adj" fmla="val 369004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97780" y="2057400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2447849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MSW to intercept requests to backend endpoints, ensuring frontend remains unblocked even when backend is down.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1754" y="3638398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23544" y="3590849"/>
            <a:ext cx="135148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Backend-independent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906670" y="3590849"/>
            <a:ext cx="108813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workflow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0605" y="1867205"/>
            <a:ext cx="5372100" cy="20574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72454" y="202905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8407" y="2115007"/>
            <a:ext cx="133502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52844" y="2055571"/>
            <a:ext cx="14511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 + Bypass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0750601" y="2057400"/>
            <a:ext cx="676656" cy="247802"/>
          </a:xfrm>
          <a:prstGeom prst="roundRect">
            <a:avLst>
              <a:gd name="adj" fmla="val 369004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0722254" y="2057400"/>
            <a:ext cx="7342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API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372454" y="2447849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 connection to backend for true integration validation - no mocking, real responses only.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372454" y="3638398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524244" y="3590849"/>
            <a:ext cx="986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integration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559491" y="3590849"/>
            <a:ext cx="1032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 mode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09905" y="4153205"/>
            <a:ext cx="5372100" cy="20574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71754" y="431505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66851" y="4401007"/>
            <a:ext cx="114300" cy="13350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52144" y="4341571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 + Bypass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092294" y="4343400"/>
            <a:ext cx="733349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063947" y="4343400"/>
            <a:ext cx="7909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API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771754" y="4733849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local route behavior with real API calls to ensure proper integration with local development server.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71754" y="5924398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923544" y="5876849"/>
            <a:ext cx="986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validation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5274259" y="5876849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 mode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210605" y="4153205"/>
            <a:ext cx="5372100" cy="20574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58407" y="4401007"/>
            <a:ext cx="133502" cy="13350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752844" y="4341571"/>
            <a:ext cx="10323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 + MSW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10756087" y="4343400"/>
            <a:ext cx="666598" cy="247802"/>
          </a:xfrm>
          <a:prstGeom prst="roundRect">
            <a:avLst>
              <a:gd name="adj" fmla="val 369004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10727741" y="4343400"/>
            <a:ext cx="7242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Isolated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6372454" y="4733849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can isolate frontend progress from local route availability, enabling scenario-driven development.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372454" y="5924398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6524244" y="5876849"/>
            <a:ext cx="9637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Isolated testing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0618927" y="5876849"/>
            <a:ext cx="924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 mode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609905" y="6385529"/>
            <a:ext cx="453875" cy="167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/ 22</a:t>
            </a:r>
            <a:endParaRPr lang="en-US" sz="10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476402" y="4953305"/>
            <a:ext cx="2857500" cy="28575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305" y="304495"/>
            <a:ext cx="1619402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8386" y="304495"/>
            <a:ext cx="168432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MSW BEYOND TESTS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914400"/>
            <a:ext cx="1084021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75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SIMILAR TOOLS: LANDSCAPE OVERVIEW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575865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comprehensive comparison of API mocking tools available for frontend development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61695" y="3055925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914400" y="320771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5723" y="3303727"/>
            <a:ext cx="237744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47495" y="3207715"/>
            <a:ext cx="428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MSW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119933" y="3210458"/>
            <a:ext cx="952805" cy="247802"/>
          </a:xfrm>
          <a:prstGeom prst="roundRect">
            <a:avLst>
              <a:gd name="adj" fmla="val 113540"/>
            </a:avLst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3119933" y="3210458"/>
            <a:ext cx="10104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76D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Layer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447495" y="3497580"/>
            <a:ext cx="26956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interception in browser/node; app-level realism. Works at the network layer, not component layer.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369003" y="3055925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520794" y="320771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6806" y="3303727"/>
            <a:ext cx="190195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54803" y="3207715"/>
            <a:ext cx="7708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MirageJS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924751" y="3210458"/>
            <a:ext cx="752551" cy="247802"/>
          </a:xfrm>
          <a:prstGeom prst="roundRect">
            <a:avLst>
              <a:gd name="adj" fmla="val 11354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 txBox="1"/>
          <p:nvPr/>
        </p:nvSpPr>
        <p:spPr>
          <a:xfrm>
            <a:off x="6924751" y="3210458"/>
            <a:ext cx="8101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7C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In-Browser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054803" y="3497580"/>
            <a:ext cx="26956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In-browser mock server with models/routes. Rich data modeling capabilities for complex scenarios.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975397" y="3055925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8128102" y="320771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46974" y="3303727"/>
            <a:ext cx="142646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61197" y="3207715"/>
            <a:ext cx="91897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json-server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10502798" y="3210458"/>
            <a:ext cx="780898" cy="247802"/>
          </a:xfrm>
          <a:prstGeom prst="roundRect">
            <a:avLst>
              <a:gd name="adj" fmla="val 11354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10502798" y="3210458"/>
            <a:ext cx="8385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8E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Quick REST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661197" y="3497580"/>
            <a:ext cx="2695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Quick REST server from JSON file. Fastest endpoint bootstrap for simple mocks.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761695" y="4369918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914400" y="452262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33272" y="4617720"/>
            <a:ext cx="142646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47495" y="4522622"/>
            <a:ext cx="476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Prism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3438144" y="4524451"/>
            <a:ext cx="629107" cy="247802"/>
          </a:xfrm>
          <a:prstGeom prst="roundRect">
            <a:avLst>
              <a:gd name="adj" fmla="val 113540"/>
            </a:avLst>
          </a:prstGeom>
          <a:solidFill>
            <a:srgbClr val="F3E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3438144" y="4524451"/>
            <a:ext cx="6858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1FA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OpenAPI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1447495" y="4812487"/>
            <a:ext cx="2695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OpenAPI-driven mock server. Spec-driven mock from OpenAPI definitions.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369003" y="4369918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4520794" y="452262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CE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40580" y="4617720"/>
            <a:ext cx="14264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054803" y="4522622"/>
            <a:ext cx="8055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WireMock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704381" y="4524451"/>
            <a:ext cx="972007" cy="247802"/>
          </a:xfrm>
          <a:prstGeom prst="roundRect">
            <a:avLst>
              <a:gd name="adj" fmla="val 113540"/>
            </a:avLst>
          </a:prstGeom>
          <a:solidFill>
            <a:srgbClr val="FCE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 txBox="1"/>
          <p:nvPr/>
        </p:nvSpPr>
        <p:spPr>
          <a:xfrm>
            <a:off x="6704381" y="452445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185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HTTP Stubbing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5054803" y="4812487"/>
            <a:ext cx="2695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Powerful HTTP stubbing/recording server. Backend-level integration stubs.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7975397" y="4369918"/>
            <a:ext cx="3457346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8"/>
          <p:cNvSpPr/>
          <p:nvPr/>
        </p:nvSpPr>
        <p:spPr>
          <a:xfrm>
            <a:off x="8128102" y="452262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23199" y="4617720"/>
            <a:ext cx="190195" cy="19019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661197" y="452262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 Interceptors</a:t>
            </a:r>
            <a:endParaRPr lang="en-US" sz="1300" dirty="0"/>
          </a:p>
        </p:txBody>
      </p:sp>
      <p:sp>
        <p:nvSpPr>
          <p:cNvPr id="51" name="Shape 40"/>
          <p:cNvSpPr/>
          <p:nvPr/>
        </p:nvSpPr>
        <p:spPr>
          <a:xfrm>
            <a:off x="10530230" y="4524451"/>
            <a:ext cx="752551" cy="247802"/>
          </a:xfrm>
          <a:prstGeom prst="roundRect">
            <a:avLst>
              <a:gd name="adj" fmla="val 113540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1"/>
          <p:cNvSpPr txBox="1"/>
          <p:nvPr/>
        </p:nvSpPr>
        <p:spPr>
          <a:xfrm>
            <a:off x="10530230" y="4524451"/>
            <a:ext cx="8101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96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Scope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8661197" y="4812487"/>
            <a:ext cx="26956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Playwright/Cypress intercept. Test-scoped route stubbing, not dev runtime.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761695" y="5684825"/>
            <a:ext cx="10668305" cy="495605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14400" y="5855818"/>
            <a:ext cx="152705" cy="152705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143000" y="5836615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Interception</a:t>
            </a:r>
            <a:endParaRPr lang="en-US" sz="100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617013" y="5855818"/>
            <a:ext cx="152705" cy="152705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2845613" y="5836615"/>
            <a:ext cx="16596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Browser/Node Support</a:t>
            </a:r>
            <a:endParaRPr lang="en-US" sz="10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470502" y="5855818"/>
            <a:ext cx="152705" cy="15270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4699102" y="5836615"/>
            <a:ext cx="13944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Runtime Switching</a:t>
            </a:r>
            <a:endParaRPr lang="en-US" sz="1000" dirty="0"/>
          </a:p>
        </p:txBody>
      </p:sp>
      <p:sp>
        <p:nvSpPr>
          <p:cNvPr id="61" name="Text 47"/>
          <p:cNvSpPr txBox="1"/>
          <p:nvPr/>
        </p:nvSpPr>
        <p:spPr>
          <a:xfrm>
            <a:off x="10190988" y="5836615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tools compared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04495"/>
            <a:ext cx="1438351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52044" y="304495"/>
            <a:ext cx="14959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MEET.JS POLAND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1695" y="6362395"/>
            <a:ext cx="4992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 / 22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09905" y="761695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TOOL COMPARISON</a:t>
            </a:r>
            <a:endParaRPr lang="en-US" sz="4200" dirty="0"/>
          </a:p>
        </p:txBody>
      </p:sp>
      <p:sp>
        <p:nvSpPr>
          <p:cNvPr id="10" name="Text 5"/>
          <p:cNvSpPr txBox="1"/>
          <p:nvPr/>
        </p:nvSpPr>
        <p:spPr>
          <a:xfrm>
            <a:off x="609905" y="1371600"/>
            <a:ext cx="62490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 what: A guide to choosing the right mocking tool for your use case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09905" y="1844345"/>
            <a:ext cx="10972800" cy="3295498"/>
          </a:xfrm>
          <a:prstGeom prst="roundRect">
            <a:avLst>
              <a:gd name="adj" fmla="val 12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9" y="1853489"/>
          <a:ext cx="10954512" cy="3277211"/>
        </p:xfrm>
        <a:graphic>
          <a:graphicData uri="http://schemas.openxmlformats.org/drawingml/2006/table">
            <a:tbl>
              <a:tblPr/>
              <a:tblGrid>
                <a:gridCol w="273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8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1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Tool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Best For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Key Features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Ideal Use Case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MSW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Network-level mocking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Browser &amp; Node support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Shared dev + tests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MirageJS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In-browser data modeling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Rich API simulation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Complex frontend apps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json-server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Quick REST setup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Zero configuration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Prototyping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Prism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OpenAPI validation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Spec-driven mocking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API-first development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WireMock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Backend integration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HTTP stubbing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Enterprise testing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Test Interceptors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Isolated testing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Test-scoped mocking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Unit tests</a:t>
                      </a:r>
                      <a:endParaRPr lang="en-US" sz="12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609905" y="5368442"/>
            <a:ext cx="3562502" cy="933602"/>
          </a:xfrm>
          <a:prstGeom prst="roundRect">
            <a:avLst>
              <a:gd name="adj" fmla="val 15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771754" y="553029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66851" y="5644591"/>
            <a:ext cx="190195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66444" y="5549494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266444" y="5739689"/>
            <a:ext cx="8842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layer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771754" y="5987491"/>
            <a:ext cx="3353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for realistic API simulation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317797" y="5368442"/>
            <a:ext cx="3562502" cy="933602"/>
          </a:xfrm>
          <a:prstGeom prst="roundRect">
            <a:avLst>
              <a:gd name="adj" fmla="val 15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4479646" y="553029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3946" y="5644591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975250" y="5549494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MirageJS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975250" y="5739689"/>
            <a:ext cx="9235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4479646" y="5987491"/>
            <a:ext cx="3353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for complex frontend apps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8026603" y="5368442"/>
            <a:ext cx="3562502" cy="933602"/>
          </a:xfrm>
          <a:prstGeom prst="roundRect">
            <a:avLst>
              <a:gd name="adj" fmla="val 15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8188452" y="553029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321954" y="5644591"/>
            <a:ext cx="114300" cy="15270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683142" y="5549494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Prism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8683142" y="5739689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OpenAPI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8188452" y="5987491"/>
            <a:ext cx="3353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for API-first development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085271" y="1112825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305" y="323698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659636" y="304495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827886" y="323698"/>
            <a:ext cx="14602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We Picked MSW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914400"/>
            <a:ext cx="10858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WHY WE PICKED MSW HERE</a:t>
            </a:r>
            <a:endParaRPr lang="en-US" sz="42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577340"/>
            <a:ext cx="73152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reasons for choosing Mock Service Worker over other mocking solutions for our development workflow.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61695" y="2342693"/>
            <a:ext cx="5257800" cy="163951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1000354" y="2580437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0082" y="2713939"/>
            <a:ext cx="237744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9344" y="2585009"/>
            <a:ext cx="23106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Layer Mocking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969764" y="2580437"/>
            <a:ext cx="819302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84064" y="2660904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74259" y="2580437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1609344" y="2932481"/>
            <a:ext cx="4248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 at network layer, not component layer - intercepts actual HTTP requests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790395" y="3389681"/>
            <a:ext cx="4105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Provides realistic API simulation 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172200" y="2342693"/>
            <a:ext cx="5257800" cy="163951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4"/>
          <p:cNvSpPr/>
          <p:nvPr/>
        </p:nvSpPr>
        <p:spPr>
          <a:xfrm>
            <a:off x="6409944" y="2580437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529730" y="2713939"/>
            <a:ext cx="219456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19849" y="2585009"/>
            <a:ext cx="25731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Runtime Switching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10479938" y="2580437"/>
            <a:ext cx="714146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94238" y="2660904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785348" y="2580437"/>
            <a:ext cx="352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7019849" y="2932481"/>
            <a:ext cx="4248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runtime switch between real and mocked responses for demos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7198157" y="3389681"/>
            <a:ext cx="41083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Toggle via UI controls 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761695" y="4172407"/>
            <a:ext cx="5257800" cy="163951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1000354" y="441015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3856" y="4543653"/>
            <a:ext cx="190195" cy="1901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609344" y="4414723"/>
            <a:ext cx="19385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Close to Production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4872838" y="4410151"/>
            <a:ext cx="914400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7138" y="4491533"/>
            <a:ext cx="114300" cy="1143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177333" y="4410151"/>
            <a:ext cx="553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Aligned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1609344" y="4763109"/>
            <a:ext cx="4858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Keeps frontend code path close to production integration path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1790395" y="5029200"/>
            <a:ext cx="4105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Minimal deviation from real API 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6172200" y="4172407"/>
            <a:ext cx="5257800" cy="163951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6409944" y="441015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43446" y="4543653"/>
            <a:ext cx="190195" cy="19019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019849" y="4414723"/>
            <a:ext cx="23463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Scenario-Driven Checks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10249510" y="4410151"/>
            <a:ext cx="942746" cy="276149"/>
          </a:xfrm>
          <a:prstGeom prst="roundRect">
            <a:avLst>
              <a:gd name="adj" fmla="val 331126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63810" y="4491533"/>
            <a:ext cx="114300" cy="1143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0554919" y="4410151"/>
            <a:ext cx="581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Enabled</a:t>
            </a:r>
            <a:endParaRPr lang="en-US" sz="1000" dirty="0"/>
          </a:p>
        </p:txBody>
      </p:sp>
      <p:sp>
        <p:nvSpPr>
          <p:cNvPr id="45" name="Text 32"/>
          <p:cNvSpPr txBox="1"/>
          <p:nvPr/>
        </p:nvSpPr>
        <p:spPr>
          <a:xfrm>
            <a:off x="7019849" y="4763109"/>
            <a:ext cx="4858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Supports scenario-driven reliability checks and edge case testing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7198157" y="5029200"/>
            <a:ext cx="41083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Test various failure modes </a:t>
            </a:r>
            <a:endParaRPr lang="en-US" sz="9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09344" y="3404311"/>
            <a:ext cx="114300" cy="114300"/>
          </a:xfrm>
          <a:prstGeom prst="rect">
            <a:avLst/>
          </a:prstGeom>
        </p:spPr>
      </p:pic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19849" y="3404311"/>
            <a:ext cx="114300" cy="114300"/>
          </a:xfrm>
          <a:prstGeom prst="rect">
            <a:avLst/>
          </a:prstGeom>
        </p:spPr>
      </p:pic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09344" y="5043830"/>
            <a:ext cx="114300" cy="114300"/>
          </a:xfrm>
          <a:prstGeom prst="rect">
            <a:avLst/>
          </a:prstGeom>
        </p:spPr>
      </p:pic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19849" y="5043830"/>
            <a:ext cx="114300" cy="114300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761695" y="6400800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/ 22</a:t>
            </a:r>
            <a:endParaRPr lang="en-US" sz="1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354105" y="6106363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/>
        </p:blipFill>
        <p:spPr>
          <a:xfrm>
            <a:off x="11520526" y="6239865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495958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83410" y="323698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761695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LIMITS OF MSW (BE HONEST)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541678"/>
            <a:ext cx="8610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While MSW is a powerful tool for frontend development, it's important to understand its limitations and when it's not the right solution.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9905" y="2275027"/>
            <a:ext cx="5391302" cy="1466698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6384" y="243779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1540" y="2542032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34694" y="2437790"/>
            <a:ext cx="4506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Not a Replacement for Full Backend Tests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434694" y="2638958"/>
            <a:ext cx="446775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handles network interception but doesn't replace comprehensive backend integration testing. You still need to test the actual backend.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434694" y="3299155"/>
            <a:ext cx="866851" cy="276149"/>
          </a:xfrm>
          <a:prstGeom prst="roundRect">
            <a:avLst>
              <a:gd name="adj" fmla="val 33112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405433" y="3299155"/>
            <a:ext cx="9244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370125" y="3342132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1402" y="2275027"/>
            <a:ext cx="5391302" cy="1466698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68796" y="243779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3038" y="2542032"/>
            <a:ext cx="171907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16191" y="2437790"/>
            <a:ext cx="4506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Requires Governance to Prevent Drift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016191" y="2638958"/>
            <a:ext cx="44677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Mock handlers can drift from real API shapes without proper governance. Teams must maintain scenario quality.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016191" y="3104388"/>
            <a:ext cx="1047902" cy="276149"/>
          </a:xfrm>
          <a:prstGeom prst="roundRect">
            <a:avLst>
              <a:gd name="adj" fmla="val 33112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987845" y="3104388"/>
            <a:ext cx="11055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138160" y="3147365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Ongoing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9905" y="3928262"/>
            <a:ext cx="5391302" cy="1276502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86384" y="409011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900684" y="4194353"/>
            <a:ext cx="152705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34694" y="4090111"/>
            <a:ext cx="4506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Very Stateful Workflows Need Support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434694" y="4291279"/>
            <a:ext cx="44677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Complex, stateful workflows may require additional support beyond what MSW provides out of the box.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434694" y="4756709"/>
            <a:ext cx="952805" cy="276149"/>
          </a:xfrm>
          <a:prstGeom prst="roundRect">
            <a:avLst>
              <a:gd name="adj" fmla="val 33112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405433" y="4756709"/>
            <a:ext cx="10104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2457907" y="4799686"/>
            <a:ext cx="372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191402" y="3928262"/>
            <a:ext cx="5391302" cy="1276502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368796" y="409011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6449263" y="4194353"/>
            <a:ext cx="219456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16191" y="4090111"/>
            <a:ext cx="4506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Teams Must Maintain Scenario Quality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016191" y="4291279"/>
            <a:ext cx="44677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 quality depends on team discipline. Unmaintained scenarios can become outdated and misleading.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016191" y="4756709"/>
            <a:ext cx="580644" cy="276149"/>
          </a:xfrm>
          <a:prstGeom prst="roundRect">
            <a:avLst>
              <a:gd name="adj" fmla="val 33112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6987845" y="4756709"/>
            <a:ext cx="6382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667244" y="4799686"/>
            <a:ext cx="6629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09905" y="5385816"/>
            <a:ext cx="10972800" cy="580644"/>
          </a:xfrm>
          <a:prstGeom prst="roundRect">
            <a:avLst>
              <a:gd name="adj" fmla="val 41306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761695" y="5538521"/>
            <a:ext cx="1543507" cy="276149"/>
          </a:xfrm>
          <a:prstGeom prst="roundRect">
            <a:avLst>
              <a:gd name="adj" fmla="val 33112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942746" y="5544313"/>
            <a:ext cx="1335024" cy="2761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4 Key Limitations </a:t>
            </a:r>
            <a:endParaRPr lang="en-US" sz="10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5995" y="5602529"/>
            <a:ext cx="133502" cy="13350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2453335" y="5581498"/>
            <a:ext cx="40800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 aware of these constraints when implementing MSW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0140696" y="5581498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Mitigation: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10847527" y="5581498"/>
            <a:ext cx="7031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Available</a:t>
            </a:r>
            <a:endParaRPr lang="en-US" sz="1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381305" y="636239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1419149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530706" y="323698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 Measures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396167" y="304495"/>
            <a:ext cx="4992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 / 22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09905" y="914400"/>
            <a:ext cx="111639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HOW WE KEEP IT SAFE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66146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 measures to ensure reliable frontend development with MSW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9905" y="2156155"/>
            <a:ext cx="2628900" cy="2257654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7649" y="239481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354" y="25466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7649" y="3080614"/>
            <a:ext cx="25621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 Mode Always Available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47649" y="3407969"/>
            <a:ext cx="2229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Keep one real integration path alive for validation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47649" y="3922776"/>
            <a:ext cx="743407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61949" y="3989527"/>
            <a:ext cx="105156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922776"/>
            <a:ext cx="3913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543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390595" y="2156155"/>
            <a:ext cx="2628900" cy="2257654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3629254" y="239481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3795674" y="2546604"/>
            <a:ext cx="200254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629254" y="3080614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Shared Real Data Source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3629254" y="3407969"/>
            <a:ext cx="2229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same data for Local API + Backend API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629254" y="3922776"/>
            <a:ext cx="1009498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743554" y="3989527"/>
            <a:ext cx="105156" cy="1143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924605" y="3922776"/>
            <a:ext cx="6574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543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Connected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6172200" y="2156155"/>
            <a:ext cx="2628900" cy="2257654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409944" y="239481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62649" y="2546604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409944" y="3080614"/>
            <a:ext cx="23728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Warning States Visible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6409944" y="3407969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UI warnings for system state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409944" y="3722522"/>
            <a:ext cx="800100" cy="247802"/>
          </a:xfrm>
          <a:prstGeom prst="roundRect">
            <a:avLst>
              <a:gd name="adj" fmla="val 369004"/>
            </a:avLst>
          </a:prstGeom>
          <a:solidFill>
            <a:srgbClr val="FEEB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 l="-1911" r="-1911"/>
          <a:stretch/>
        </p:blipFill>
        <p:spPr>
          <a:xfrm>
            <a:off x="6524244" y="3789274"/>
            <a:ext cx="133502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34556" y="3722522"/>
            <a:ext cx="4197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562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Visible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8953805" y="2156155"/>
            <a:ext cx="2628900" cy="2257654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9191549" y="239481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44254" y="2546604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191549" y="3080614"/>
            <a:ext cx="22695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Curated Scenario List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9191549" y="3407969"/>
            <a:ext cx="2229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Intentional and curated test scenarios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9191549" y="3922776"/>
            <a:ext cx="1037844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305849" y="3989527"/>
            <a:ext cx="105156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486900" y="3922776"/>
            <a:ext cx="6858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543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Scenarios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609905" y="4636922"/>
            <a:ext cx="5410505" cy="1390802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 txBox="1"/>
          <p:nvPr/>
        </p:nvSpPr>
        <p:spPr>
          <a:xfrm>
            <a:off x="771754" y="4798771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Safety Status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4599432" y="4817974"/>
            <a:ext cx="150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Systems Operational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733349" y="5103266"/>
            <a:ext cx="1677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1800" dirty="0"/>
          </a:p>
        </p:txBody>
      </p:sp>
      <p:sp>
        <p:nvSpPr>
          <p:cNvPr id="46" name="Text 34"/>
          <p:cNvSpPr txBox="1"/>
          <p:nvPr/>
        </p:nvSpPr>
        <p:spPr>
          <a:xfrm>
            <a:off x="733349" y="540867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Uptime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2479853" y="5103266"/>
            <a:ext cx="1677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Text 36"/>
          <p:cNvSpPr txBox="1"/>
          <p:nvPr/>
        </p:nvSpPr>
        <p:spPr>
          <a:xfrm>
            <a:off x="2479853" y="540867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Scenarios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4225442" y="5103266"/>
            <a:ext cx="1677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38"/>
          <p:cNvSpPr txBox="1"/>
          <p:nvPr/>
        </p:nvSpPr>
        <p:spPr>
          <a:xfrm>
            <a:off x="4225442" y="5408676"/>
            <a:ext cx="1677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6172200" y="4636922"/>
            <a:ext cx="5410505" cy="1390802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0"/>
          <p:cNvSpPr txBox="1"/>
          <p:nvPr/>
        </p:nvSpPr>
        <p:spPr>
          <a:xfrm>
            <a:off x="6334049" y="4798771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 Checks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10826496" y="4817974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4/4 Passed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6334049" y="5103266"/>
            <a:ext cx="190195" cy="1901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77026" y="5141671"/>
            <a:ext cx="105156" cy="11430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638544" y="5103266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mode validation</a:t>
            </a:r>
            <a:endParaRPr lang="en-US" sz="1000" dirty="0"/>
          </a:p>
        </p:txBody>
      </p:sp>
      <p:sp>
        <p:nvSpPr>
          <p:cNvPr id="57" name="Shape 44"/>
          <p:cNvSpPr/>
          <p:nvPr/>
        </p:nvSpPr>
        <p:spPr>
          <a:xfrm>
            <a:off x="6334049" y="5408676"/>
            <a:ext cx="190195" cy="1901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77026" y="5446166"/>
            <a:ext cx="105156" cy="11430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6638544" y="5408676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 sync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6334049" y="5674766"/>
            <a:ext cx="190195" cy="190195"/>
          </a:xfrm>
          <a:prstGeom prst="ellipse">
            <a:avLst/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377026" y="5713171"/>
            <a:ext cx="105156" cy="114300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6638544" y="5674766"/>
            <a:ext cx="1160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Warning system</a:t>
            </a:r>
            <a:endParaRPr lang="en-US" sz="1000" dirty="0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04495"/>
            <a:ext cx="1438351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52044" y="304495"/>
            <a:ext cx="14959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MEET.JS POLAND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609905"/>
            <a:ext cx="5544007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ADOPTION PLAN</a:t>
            </a:r>
            <a:endParaRPr lang="en-US" sz="3600" dirty="0"/>
          </a:p>
          <a:p>
            <a:pPr marL="0" indent="0" algn="l">
              <a:buNone/>
            </a:pPr>
            <a:r>
              <a:rPr lang="en-US" sz="1800" b="1" kern="0" spc="75" dirty="0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(1 Sprint - 5 Days)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1605686"/>
            <a:ext cx="605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structured approach to implementing MSW in your development workflow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522915" y="685800"/>
            <a:ext cx="1067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Progress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415930" y="875995"/>
            <a:ext cx="11740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5/5 Days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9905" y="2025396"/>
            <a:ext cx="2076602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9905" y="2025396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7240" y="2173529"/>
            <a:ext cx="304495" cy="304495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8894" y="217352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81405" y="2154326"/>
            <a:ext cx="14740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Provider + Handlers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81405" y="2344522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Setup baseline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58291" y="2573122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MSW provider setup 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587752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58291" y="2768803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Basic handlers 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783434"/>
            <a:ext cx="114300" cy="1143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834640" y="2025396"/>
            <a:ext cx="2076602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834640" y="2025396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001975" y="2173529"/>
            <a:ext cx="304495" cy="304495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973629" y="217352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3406140" y="2154326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Scenarios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406140" y="2344522"/>
            <a:ext cx="996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handling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3183026" y="2573122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500/network/auth 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01975" y="2587752"/>
            <a:ext cx="114300" cy="1143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183026" y="2768803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Edge cases 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01975" y="2783434"/>
            <a:ext cx="114300" cy="1143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059375" y="2025396"/>
            <a:ext cx="2076602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059375" y="2025396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226710" y="2173529"/>
            <a:ext cx="304495" cy="304495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198364" y="217352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630875" y="2154326"/>
            <a:ext cx="13377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Runtime Controls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630875" y="2344522"/>
            <a:ext cx="1200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integration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5404104" y="2573122"/>
            <a:ext cx="16806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Warning UX </a:t>
            </a:r>
            <a:endParaRPr lang="en-US" sz="9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6710" y="2587752"/>
            <a:ext cx="114300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405018" y="2768803"/>
            <a:ext cx="16797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Toggle controls 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6710" y="2783434"/>
            <a:ext cx="114300" cy="11430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7285025" y="2025396"/>
            <a:ext cx="2076602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7285025" y="2025396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7452360" y="2173529"/>
            <a:ext cx="304495" cy="304495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7424014" y="217352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855610" y="2154326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Unify Data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7855610" y="2344522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 alignment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7633411" y="2573122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Real data source </a:t>
            </a:r>
            <a:endParaRPr lang="en-US" sz="9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52360" y="2587752"/>
            <a:ext cx="114300" cy="1143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633411" y="2768803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Mock/real sync 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52360" y="2783434"/>
            <a:ext cx="114300" cy="11430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9509760" y="2025396"/>
            <a:ext cx="2076602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0"/>
          <p:cNvSpPr/>
          <p:nvPr/>
        </p:nvSpPr>
        <p:spPr>
          <a:xfrm>
            <a:off x="9509760" y="2025396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9677095" y="2173529"/>
            <a:ext cx="304495" cy="304495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/>
          <p:nvPr/>
        </p:nvSpPr>
        <p:spPr>
          <a:xfrm>
            <a:off x="9648749" y="217352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10081260" y="2154326"/>
            <a:ext cx="12362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Docs + Checklist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10081260" y="2344522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9858146" y="2573122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Documentation </a:t>
            </a:r>
            <a:endParaRPr lang="en-US" sz="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77095" y="2587752"/>
            <a:ext cx="114300" cy="1143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855403" y="2768803"/>
            <a:ext cx="16797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Team training </a:t>
            </a:r>
            <a:endParaRPr lang="en-US" sz="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77095" y="2783434"/>
            <a:ext cx="114300" cy="114300"/>
          </a:xfrm>
          <a:prstGeom prst="rect">
            <a:avLst/>
          </a:prstGeom>
        </p:spPr>
      </p:pic>
      <p:sp>
        <p:nvSpPr>
          <p:cNvPr id="60" name="Shape 47"/>
          <p:cNvSpPr/>
          <p:nvPr/>
        </p:nvSpPr>
        <p:spPr>
          <a:xfrm>
            <a:off x="609905" y="3415284"/>
            <a:ext cx="10972800" cy="1276502"/>
          </a:xfrm>
          <a:prstGeom prst="roundRect">
            <a:avLst>
              <a:gd name="adj" fmla="val 855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8"/>
          <p:cNvSpPr txBox="1"/>
          <p:nvPr/>
        </p:nvSpPr>
        <p:spPr>
          <a:xfrm>
            <a:off x="771754" y="3577133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Timeline</a:t>
            </a:r>
            <a:endParaRPr lang="en-US" sz="1200" dirty="0"/>
          </a:p>
        </p:txBody>
      </p:sp>
      <p:sp>
        <p:nvSpPr>
          <p:cNvPr id="62" name="Text 49"/>
          <p:cNvSpPr txBox="1"/>
          <p:nvPr/>
        </p:nvSpPr>
        <p:spPr>
          <a:xfrm>
            <a:off x="10347350" y="3596335"/>
            <a:ext cx="12810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Estimated: 5 days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731520" y="395843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1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731520" y="4148633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Setup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1584655" y="4377233"/>
            <a:ext cx="12774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</a:t>
            </a:r>
            <a:endParaRPr lang="en-US" sz="900" dirty="0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442009" y="4391863"/>
            <a:ext cx="105156" cy="11430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2891333" y="395843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2</a:t>
            </a:r>
            <a:endParaRPr lang="en-US" sz="1000" dirty="0"/>
          </a:p>
        </p:txBody>
      </p:sp>
      <p:sp>
        <p:nvSpPr>
          <p:cNvPr id="68" name="Text 54"/>
          <p:cNvSpPr txBox="1"/>
          <p:nvPr/>
        </p:nvSpPr>
        <p:spPr>
          <a:xfrm>
            <a:off x="2891333" y="4148633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Scenarios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3744468" y="4377233"/>
            <a:ext cx="12774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</a:t>
            </a:r>
            <a:endParaRPr lang="en-US" sz="900" dirty="0"/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3601822" y="4391863"/>
            <a:ext cx="105156" cy="114300"/>
          </a:xfrm>
          <a:prstGeom prst="rect">
            <a:avLst/>
          </a:prstGeom>
        </p:spPr>
      </p:pic>
      <p:sp>
        <p:nvSpPr>
          <p:cNvPr id="71" name="Text 56"/>
          <p:cNvSpPr txBox="1"/>
          <p:nvPr/>
        </p:nvSpPr>
        <p:spPr>
          <a:xfrm>
            <a:off x="5052060" y="395843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3</a:t>
            </a:r>
            <a:endParaRPr lang="en-US" sz="1000" dirty="0"/>
          </a:p>
        </p:txBody>
      </p:sp>
      <p:sp>
        <p:nvSpPr>
          <p:cNvPr id="72" name="Text 57"/>
          <p:cNvSpPr txBox="1"/>
          <p:nvPr/>
        </p:nvSpPr>
        <p:spPr>
          <a:xfrm>
            <a:off x="5052060" y="4148633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Controls</a:t>
            </a:r>
            <a:endParaRPr lang="en-US" sz="900" dirty="0"/>
          </a:p>
        </p:txBody>
      </p:sp>
      <p:sp>
        <p:nvSpPr>
          <p:cNvPr id="73" name="Text 58"/>
          <p:cNvSpPr txBox="1"/>
          <p:nvPr/>
        </p:nvSpPr>
        <p:spPr>
          <a:xfrm>
            <a:off x="5905195" y="4377233"/>
            <a:ext cx="12774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</a:t>
            </a:r>
            <a:endParaRPr lang="en-US" sz="900" dirty="0"/>
          </a:p>
        </p:txBody>
      </p:sp>
      <p:pic>
        <p:nvPicPr>
          <p:cNvPr id="74" name="Image 1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5762549" y="4391863"/>
            <a:ext cx="105156" cy="114300"/>
          </a:xfrm>
          <a:prstGeom prst="rect">
            <a:avLst/>
          </a:prstGeom>
        </p:spPr>
      </p:pic>
      <p:sp>
        <p:nvSpPr>
          <p:cNvPr id="75" name="Text 59"/>
          <p:cNvSpPr txBox="1"/>
          <p:nvPr/>
        </p:nvSpPr>
        <p:spPr>
          <a:xfrm>
            <a:off x="7211873" y="395843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4</a:t>
            </a:r>
            <a:endParaRPr lang="en-US" sz="1000" dirty="0"/>
          </a:p>
        </p:txBody>
      </p:sp>
      <p:sp>
        <p:nvSpPr>
          <p:cNvPr id="76" name="Text 60"/>
          <p:cNvSpPr txBox="1"/>
          <p:nvPr/>
        </p:nvSpPr>
        <p:spPr>
          <a:xfrm>
            <a:off x="7211873" y="4148633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900" dirty="0"/>
          </a:p>
        </p:txBody>
      </p:sp>
      <p:sp>
        <p:nvSpPr>
          <p:cNvPr id="77" name="Text 61"/>
          <p:cNvSpPr txBox="1"/>
          <p:nvPr/>
        </p:nvSpPr>
        <p:spPr>
          <a:xfrm>
            <a:off x="8065008" y="4377233"/>
            <a:ext cx="12774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</a:t>
            </a:r>
            <a:endParaRPr lang="en-US" sz="900" dirty="0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922362" y="4391863"/>
            <a:ext cx="105156" cy="114300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9372600" y="395843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 5</a:t>
            </a:r>
            <a:endParaRPr lang="en-US" sz="1000" dirty="0"/>
          </a:p>
        </p:txBody>
      </p:sp>
      <p:sp>
        <p:nvSpPr>
          <p:cNvPr id="80" name="Text 63"/>
          <p:cNvSpPr txBox="1"/>
          <p:nvPr/>
        </p:nvSpPr>
        <p:spPr>
          <a:xfrm>
            <a:off x="9372600" y="4148633"/>
            <a:ext cx="2090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Docs</a:t>
            </a:r>
            <a:endParaRPr lang="en-US" sz="900" dirty="0"/>
          </a:p>
        </p:txBody>
      </p:sp>
      <p:sp>
        <p:nvSpPr>
          <p:cNvPr id="81" name="Text 64"/>
          <p:cNvSpPr txBox="1"/>
          <p:nvPr/>
        </p:nvSpPr>
        <p:spPr>
          <a:xfrm>
            <a:off x="10225735" y="4377233"/>
            <a:ext cx="12774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</a:t>
            </a:r>
            <a:endParaRPr lang="en-US" sz="900" dirty="0"/>
          </a:p>
        </p:txBody>
      </p:sp>
      <p:pic>
        <p:nvPicPr>
          <p:cNvPr id="82" name="Image 1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083089" y="4391863"/>
            <a:ext cx="105156" cy="114300"/>
          </a:xfrm>
          <a:prstGeom prst="rect">
            <a:avLst/>
          </a:prstGeom>
        </p:spPr>
      </p:pic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54105" y="0"/>
            <a:ext cx="457200" cy="457200"/>
          </a:xfrm>
          <a:prstGeom prst="rect">
            <a:avLst/>
          </a:prstGeom>
        </p:spPr>
      </p:pic>
      <p:pic>
        <p:nvPicPr>
          <p:cNvPr id="84" name="Image 1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11520526" y="133502"/>
            <a:ext cx="123444" cy="190195"/>
          </a:xfrm>
          <a:prstGeom prst="rect">
            <a:avLst/>
          </a:prstGeom>
        </p:spPr>
      </p:pic>
      <p:sp>
        <p:nvSpPr>
          <p:cNvPr id="85" name="Text 65"/>
          <p:cNvSpPr txBox="1"/>
          <p:nvPr/>
        </p:nvSpPr>
        <p:spPr>
          <a:xfrm>
            <a:off x="761695" y="636239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-68886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5315" y="-336499"/>
            <a:ext cx="4762195" cy="4762195"/>
          </a:xfrm>
          <a:prstGeom prst="ellipse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2461565" y="4648352"/>
            <a:ext cx="3810305" cy="3810305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305" y="304495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9301" y="304495"/>
            <a:ext cx="166420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MEET.JS POLAND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914400"/>
            <a:ext cx="10858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75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TEAM PROCESS WINS</a:t>
            </a:r>
            <a:endParaRPr lang="en-US" sz="50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815084"/>
            <a:ext cx="73152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Implementing MSW for frontend development brings significant improvements to team workflows, reducing dependencies and accelerating development cycles.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61695" y="2616098"/>
            <a:ext cx="2495398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967435" y="2821838"/>
            <a:ext cx="267005" cy="3044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48740" y="2821838"/>
            <a:ext cx="14100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FE/BE Parallelization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967435" y="3317443"/>
            <a:ext cx="216255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 and backend teams can work simultaneously without blocking each other, reducing sprint delays.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486607" y="2616098"/>
            <a:ext cx="2495398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3691433" y="2821838"/>
            <a:ext cx="342900" cy="3044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148633" y="2821838"/>
            <a:ext cx="151607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Fewer Blocked Tickets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691433" y="3317443"/>
            <a:ext cx="21625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Eliminate "blocked by backend" status with reliable mock responses for UI development.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210605" y="2616098"/>
            <a:ext cx="2495398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16345" y="2821838"/>
            <a:ext cx="304495" cy="3044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835140" y="2821838"/>
            <a:ext cx="952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Stable Demos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416345" y="3317443"/>
            <a:ext cx="21625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reliable demos for stakeholders with consistent, predictable mock data.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8934602" y="2616098"/>
            <a:ext cx="2495398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90" r="-90"/>
          <a:stretch/>
        </p:blipFill>
        <p:spPr>
          <a:xfrm>
            <a:off x="9140342" y="2821838"/>
            <a:ext cx="381305" cy="3044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35033" y="2821838"/>
            <a:ext cx="1257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Faster Onboarding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140342" y="3317443"/>
            <a:ext cx="21625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team members can start contributing immediately without backend setup.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761695" y="4731106"/>
            <a:ext cx="7909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40%</a:t>
            </a:r>
            <a:endParaRPr lang="en-US" sz="2700" dirty="0"/>
          </a:p>
        </p:txBody>
      </p:sp>
      <p:sp>
        <p:nvSpPr>
          <p:cNvPr id="29" name="Text 20"/>
          <p:cNvSpPr txBox="1"/>
          <p:nvPr/>
        </p:nvSpPr>
        <p:spPr>
          <a:xfrm>
            <a:off x="1551737" y="4731106"/>
            <a:ext cx="1000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Reduction in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blocked tickets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4011473" y="4731106"/>
            <a:ext cx="752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27%</a:t>
            </a:r>
            <a:endParaRPr lang="en-US" sz="2700" dirty="0"/>
          </a:p>
        </p:txBody>
      </p:sp>
      <p:sp>
        <p:nvSpPr>
          <p:cNvPr id="31" name="Text 22"/>
          <p:cNvSpPr txBox="1"/>
          <p:nvPr/>
        </p:nvSpPr>
        <p:spPr>
          <a:xfrm>
            <a:off x="4759452" y="4731106"/>
            <a:ext cx="933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Increase in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stability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7157923" y="4731106"/>
            <a:ext cx="800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60%</a:t>
            </a:r>
            <a:endParaRPr lang="en-US" sz="2700" dirty="0"/>
          </a:p>
        </p:txBody>
      </p:sp>
      <p:sp>
        <p:nvSpPr>
          <p:cNvPr id="33" name="Text 24"/>
          <p:cNvSpPr txBox="1"/>
          <p:nvPr/>
        </p:nvSpPr>
        <p:spPr>
          <a:xfrm>
            <a:off x="7952537" y="4731106"/>
            <a:ext cx="7717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186416" y="4731106"/>
            <a:ext cx="4526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2x</a:t>
            </a:r>
            <a:endParaRPr lang="en-US" sz="2700" dirty="0"/>
          </a:p>
        </p:txBody>
      </p:sp>
      <p:sp>
        <p:nvSpPr>
          <p:cNvPr id="35" name="Text 26"/>
          <p:cNvSpPr txBox="1"/>
          <p:nvPr/>
        </p:nvSpPr>
        <p:spPr>
          <a:xfrm>
            <a:off x="10590581" y="4731106"/>
            <a:ext cx="905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velocity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323698"/>
            <a:ext cx="1047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TECHVANTAGE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495958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83410" y="323698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914400"/>
            <a:ext cx="111639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ANTI-PATTERNS TO AVOID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752905"/>
            <a:ext cx="8001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mistakes that can undermine your MSW implementation and development workflow.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9905" y="2249424"/>
            <a:ext cx="5410505" cy="1438351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9244" y="244967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746" y="2583180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9149" y="2449678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Only Mocked Mode, Never Validating Real Mode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419149" y="2715768"/>
            <a:ext cx="4476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Relying solely on mocked responses without testing against real APIs can lead to integration failures.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419149" y="3204058"/>
            <a:ext cx="1019556" cy="276149"/>
          </a:xfrm>
          <a:prstGeom prst="roundRect">
            <a:avLst>
              <a:gd name="adj" fmla="val 33112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619402" y="3204058"/>
            <a:ext cx="1019555" cy="2761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High Risk 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33449" y="3268066"/>
            <a:ext cx="133502" cy="1335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72200" y="2249424"/>
            <a:ext cx="5410505" cy="1438351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372454" y="244967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05956" y="2583180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81444" y="2449678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Unmaintained Scenario Catalog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981444" y="2715768"/>
            <a:ext cx="4476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Letting test scenarios become outdated can cause false positives and missed edge cases.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981444" y="3204058"/>
            <a:ext cx="1867205" cy="276149"/>
          </a:xfrm>
          <a:prstGeom prst="roundRect">
            <a:avLst>
              <a:gd name="adj" fmla="val 33112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162495" y="3204058"/>
            <a:ext cx="2100377" cy="2761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Maintenance Required 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95744" y="3268066"/>
            <a:ext cx="133502" cy="13350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09905" y="3832250"/>
            <a:ext cx="5410505" cy="1438351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809244" y="403250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8972" y="4166006"/>
            <a:ext cx="237744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9149" y="4032504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Hidden Environment Switches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419149" y="4299509"/>
            <a:ext cx="4476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Concealing mock/real mode toggles makes debugging difficult and confuses team members.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1419149" y="4786884"/>
            <a:ext cx="1362456" cy="276149"/>
          </a:xfrm>
          <a:prstGeom prst="roundRect">
            <a:avLst>
              <a:gd name="adj" fmla="val 33112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1662380" y="4786884"/>
            <a:ext cx="1162202" cy="2752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Visibility Issue 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1533449" y="4851806"/>
            <a:ext cx="171907" cy="13350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172200" y="3832250"/>
            <a:ext cx="5410505" cy="1438351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6372454" y="403250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6515100" y="4166006"/>
            <a:ext cx="171907" cy="1901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981444" y="4032504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Multiple Unaligned Data Sources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6981444" y="4299509"/>
            <a:ext cx="4476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Using different data sources in dev/test/storybook creates inconsistency and integration issues.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981444" y="4786884"/>
            <a:ext cx="1037844" cy="276149"/>
          </a:xfrm>
          <a:prstGeom prst="roundRect">
            <a:avLst>
              <a:gd name="adj" fmla="val 33112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7174840" y="4786884"/>
            <a:ext cx="1037843" cy="2752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Data Drift </a:t>
            </a:r>
            <a:endParaRPr lang="en-US" sz="10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095744" y="4851806"/>
            <a:ext cx="133502" cy="13350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609905" y="5491886"/>
            <a:ext cx="10972800" cy="495605"/>
          </a:xfrm>
          <a:prstGeom prst="roundRect">
            <a:avLst>
              <a:gd name="adj" fmla="val 5677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1"/>
          <p:cNvSpPr txBox="1"/>
          <p:nvPr/>
        </p:nvSpPr>
        <p:spPr>
          <a:xfrm>
            <a:off x="1004926" y="5644591"/>
            <a:ext cx="18544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4 Anti-patterns identified </a:t>
            </a:r>
            <a:endParaRPr lang="en-US" sz="10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695" y="5670194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455250" y="5644591"/>
            <a:ext cx="5440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Impact: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10985602" y="5644591"/>
            <a:ext cx="5330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</a:t>
            </a:r>
            <a:endParaRPr lang="en-US" sz="10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381305" y="6362395"/>
            <a:ext cx="5330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04495"/>
            <a:ext cx="1438351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52044" y="304495"/>
            <a:ext cx="14959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76200" rIns="2286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MEET.JS POLAND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14807" y="609905"/>
            <a:ext cx="111639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400300" y="1371600"/>
            <a:ext cx="7392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is more than just a test utility - it's a developer productivity layer that enables frontend development without backend dependencies.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9905" y="2139696"/>
            <a:ext cx="2572207" cy="3791102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91056" y="2377440"/>
            <a:ext cx="609905" cy="6099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81251" y="256763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8446" y="3139135"/>
            <a:ext cx="21424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MSW as Productivity Layer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09244" y="3467405"/>
            <a:ext cx="21717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MSW is a </a:t>
            </a:r>
            <a:r>
              <a:rPr lang="en-US" sz="1000" b="1" dirty="0">
                <a:solidFill>
                  <a:srgbClr val="3B82F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developer productivity layer</a:t>
            </a: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not just a test utility. It enables parallel development and faster iteration cycles. 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09798" y="2139696"/>
            <a:ext cx="2572207" cy="3791102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390949" y="2377440"/>
            <a:ext cx="609905" cy="60990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81144" y="2567635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8826" y="3139135"/>
            <a:ext cx="16550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Keep Real Path Alive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610051" y="3467405"/>
            <a:ext cx="21717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Always maintain </a:t>
            </a:r>
            <a:r>
              <a:rPr lang="en-US" sz="1000" b="1" dirty="0">
                <a:solidFill>
                  <a:srgbClr val="3B82F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real integration path</a:t>
            </a: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available for validation and testing purposes. 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10605" y="2139696"/>
            <a:ext cx="2572207" cy="3791102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191756" y="2377440"/>
            <a:ext cx="609905" cy="609905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7367321" y="2567635"/>
            <a:ext cx="256946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99809" y="3139135"/>
            <a:ext cx="15983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Make State Obvious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9944" y="3429000"/>
            <a:ext cx="21717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UI warnings</a:t>
            </a: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system state help developers understand when they're using mocked vs real data. 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010498" y="2139696"/>
            <a:ext cx="2572207" cy="3791102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9991649" y="2377440"/>
            <a:ext cx="609905" cy="609905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196474" y="2567635"/>
            <a:ext cx="200254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40519" y="3139135"/>
            <a:ext cx="1314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 Shared Data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210751" y="3467405"/>
            <a:ext cx="21717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Shared real data sources</a:t>
            </a:r>
            <a:r>
              <a:rPr lang="en-US" sz="1000" dirty="0">
                <a:solidFill>
                  <a:srgbClr val="4A556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prevent drift between local and production environments. 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1677923" y="6152998"/>
            <a:ext cx="4381805" cy="400507"/>
          </a:xfrm>
          <a:prstGeom prst="roundRect">
            <a:avLst>
              <a:gd name="adj" fmla="val 869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2049169" y="6277356"/>
            <a:ext cx="4465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Remember: MSW works at network layer, not component layer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839772" y="6283757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09905" y="6367881"/>
            <a:ext cx="566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 / 22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-1285646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323698"/>
            <a:ext cx="1202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MEET.JS POLAND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564538" y="30449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76095" y="323698"/>
            <a:ext cx="13286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MSW Beyond Tests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761695"/>
            <a:ext cx="111639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75" dirty="0">
                <a:solidFill>
                  <a:srgbClr val="1A202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Q&amp;A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44749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Questions? Here are some resources to help you get started with MSW.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9905" y="1943100"/>
            <a:ext cx="5372100" cy="1086307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9244" y="2143354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947318" y="2247595"/>
            <a:ext cx="105156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04849" y="2143354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Questions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304849" y="2409444"/>
            <a:ext cx="3631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does MSW compare to other mocking tools?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485900" y="26764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Network layer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4849" y="2691079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559406" y="2676449"/>
            <a:ext cx="9436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Browser &amp; Node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78354" y="2691079"/>
            <a:ext cx="114300" cy="1143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9905" y="3181198"/>
            <a:ext cx="5372100" cy="1086307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09244" y="3381451"/>
            <a:ext cx="381305" cy="38130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933602" y="3486607"/>
            <a:ext cx="133502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04849" y="3381451"/>
            <a:ext cx="2149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304849" y="3648456"/>
            <a:ext cx="2459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to maintain scenario quality?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485900" y="391454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Regular updates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4849" y="3929177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686507" y="3914546"/>
            <a:ext cx="7461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Team review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08199" y="3929177"/>
            <a:ext cx="114300" cy="1143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09905" y="4419295"/>
            <a:ext cx="5372100" cy="1086307"/>
          </a:xfrm>
          <a:prstGeom prst="roundRect">
            <a:avLst>
              <a:gd name="adj" fmla="val 17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809244" y="4619549"/>
            <a:ext cx="381305" cy="38130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890626" y="4724705"/>
            <a:ext cx="219456" cy="1719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304849" y="4619549"/>
            <a:ext cx="2506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1304849" y="4886554"/>
            <a:ext cx="28684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to integrate with existing projects?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485900" y="5152644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Gradual adoption</a:t>
            </a:r>
            <a:endParaRPr lang="en-US" sz="9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4849" y="5167274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728570" y="5152644"/>
            <a:ext cx="8220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Test coverage</a:t>
            </a:r>
            <a:endParaRPr lang="en-US" sz="9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50262" y="5167274"/>
            <a:ext cx="114300" cy="11430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210605" y="1943100"/>
            <a:ext cx="5372100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5"/>
          <p:cNvSpPr txBox="1"/>
          <p:nvPr/>
        </p:nvSpPr>
        <p:spPr>
          <a:xfrm>
            <a:off x="6409944" y="2143354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 Handouts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11002975" y="218084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items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6409944" y="3020263"/>
            <a:ext cx="49725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8"/>
          <p:cNvSpPr/>
          <p:nvPr/>
        </p:nvSpPr>
        <p:spPr>
          <a:xfrm>
            <a:off x="6409944" y="2562149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2686507"/>
            <a:ext cx="133502" cy="133502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905549" y="2581351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Runtime Control Checklist</a:t>
            </a:r>
            <a:endParaRPr lang="en-US" sz="1000" dirty="0"/>
          </a:p>
        </p:txBody>
      </p:sp>
      <p:sp>
        <p:nvSpPr>
          <p:cNvPr id="43" name="Text 30"/>
          <p:cNvSpPr txBox="1"/>
          <p:nvPr/>
        </p:nvSpPr>
        <p:spPr>
          <a:xfrm>
            <a:off x="10899648" y="2600554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Available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6905549" y="2771546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Step-by-step guide for setup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6409944" y="3639312"/>
            <a:ext cx="49725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3"/>
          <p:cNvSpPr/>
          <p:nvPr/>
        </p:nvSpPr>
        <p:spPr>
          <a:xfrm>
            <a:off x="6409944" y="3181198"/>
            <a:ext cx="381305" cy="38130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48018" y="3305556"/>
            <a:ext cx="105156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905549" y="3200400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 Design Template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10899648" y="3219602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Available</a:t>
            </a:r>
            <a:endParaRPr lang="en-US" sz="900" dirty="0"/>
          </a:p>
        </p:txBody>
      </p:sp>
      <p:sp>
        <p:nvSpPr>
          <p:cNvPr id="50" name="Text 36"/>
          <p:cNvSpPr txBox="1"/>
          <p:nvPr/>
        </p:nvSpPr>
        <p:spPr>
          <a:xfrm>
            <a:off x="6905549" y="3390595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Template for creating test scenarios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6409944" y="3800246"/>
            <a:ext cx="381305" cy="38130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6515100" y="3924605"/>
            <a:ext cx="171907" cy="133502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6905549" y="3819449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Rollout Plan for Teams</a:t>
            </a:r>
            <a:endParaRPr lang="en-US" sz="1000" dirty="0"/>
          </a:p>
        </p:txBody>
      </p:sp>
      <p:sp>
        <p:nvSpPr>
          <p:cNvPr id="54" name="Text 39"/>
          <p:cNvSpPr txBox="1"/>
          <p:nvPr/>
        </p:nvSpPr>
        <p:spPr>
          <a:xfrm>
            <a:off x="10899648" y="3838651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Available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6905549" y="4009644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Adoption strategy for your team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1497787" y="6362395"/>
            <a:ext cx="19568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info@dhunanyan.com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292047" y="6388913"/>
            <a:ext cx="133502" cy="133502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3152851" y="6354913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6B7280"/>
                </a:solidFill>
                <a:latin typeface="Raleway" pitchFamily="34" charset="0"/>
              </a:rPr>
              <a:t>www.linkedin.com</a:t>
            </a:r>
            <a:r>
              <a:rPr lang="en-US" sz="1000" dirty="0">
                <a:solidFill>
                  <a:srgbClr val="6B7280"/>
                </a:solidFill>
                <a:latin typeface="Raleway" pitchFamily="34" charset="0"/>
              </a:rPr>
              <a:t>/in/</a:t>
            </a:r>
            <a:r>
              <a:rPr lang="en-US" sz="1000" dirty="0" err="1">
                <a:solidFill>
                  <a:srgbClr val="6B7280"/>
                </a:solidFill>
                <a:latin typeface="Raleway" pitchFamily="34" charset="0"/>
              </a:rPr>
              <a:t>dhunanyan</a:t>
            </a:r>
            <a:endParaRPr lang="en-US" sz="1000" dirty="0"/>
          </a:p>
        </p:txBody>
      </p:sp>
      <p:sp>
        <p:nvSpPr>
          <p:cNvPr id="60" name="Text 43"/>
          <p:cNvSpPr txBox="1"/>
          <p:nvPr/>
        </p:nvSpPr>
        <p:spPr>
          <a:xfrm>
            <a:off x="614477" y="6400800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 / 22</a:t>
            </a:r>
            <a:endParaRPr lang="en-US" sz="100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354105" y="6096305"/>
            <a:ext cx="457200" cy="457200"/>
          </a:xfrm>
          <a:prstGeom prst="rect">
            <a:avLst/>
          </a:prstGeom>
        </p:spPr>
      </p:pic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F72CB564-C2AD-D294-14F9-9D8E20B3B3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48174" y="6389444"/>
            <a:ext cx="132439" cy="132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2400</Words>
  <Application>Microsoft Macintosh PowerPoint</Application>
  <PresentationFormat>Widescreen</PresentationFormat>
  <Paragraphs>571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Oswald</vt:lpstr>
      <vt:lpstr>Raleway</vt:lpstr>
      <vt:lpstr>Roboto Condensed</vt:lpstr>
      <vt:lpstr>Saira Condensed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Davit Hunanyan</cp:lastModifiedBy>
  <cp:revision>36</cp:revision>
  <dcterms:created xsi:type="dcterms:W3CDTF">2026-04-06T15:06:22Z</dcterms:created>
  <dcterms:modified xsi:type="dcterms:W3CDTF">2026-04-15T19:55:04Z</dcterms:modified>
</cp:coreProperties>
</file>