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256" r:id="rId5"/>
    <p:sldId id="292" r:id="rId6"/>
    <p:sldId id="293" r:id="rId7"/>
    <p:sldId id="294" r:id="rId8"/>
    <p:sldId id="295" r:id="rId9"/>
    <p:sldId id="299" r:id="rId10"/>
    <p:sldId id="300" r:id="rId11"/>
    <p:sldId id="301"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290" r:id="rId26"/>
    <p:sldId id="32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1044"/>
    <a:srgbClr val="060A2A"/>
    <a:srgbClr val="DBC4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8" autoAdjust="0"/>
    <p:restoredTop sz="81189"/>
  </p:normalViewPr>
  <p:slideViewPr>
    <p:cSldViewPr snapToGrid="0" showGuides="1">
      <p:cViewPr varScale="1">
        <p:scale>
          <a:sx n="100" d="100"/>
          <a:sy n="100" d="100"/>
        </p:scale>
        <p:origin x="1432" y="1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p:cViewPr varScale="1">
        <p:scale>
          <a:sx n="155" d="100"/>
          <a:sy n="155" d="100"/>
        </p:scale>
        <p:origin x="17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F3A88-46FE-4F89-9792-A909FE40EE34}" type="datetimeFigureOut">
              <a:rPr lang="en-GB" smtClean="0"/>
              <a:t>22/04/2026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493A8-C3B5-4F34-85D2-0ABCBCCB00F1}" type="slidenum">
              <a:rPr lang="en-GB" smtClean="0"/>
              <a:t>‹#›</a:t>
            </a:fld>
            <a:endParaRPr lang="en-GB"/>
          </a:p>
        </p:txBody>
      </p:sp>
    </p:spTree>
    <p:extLst>
      <p:ext uri="{BB962C8B-B14F-4D97-AF65-F5344CB8AC3E}">
        <p14:creationId xmlns:p14="http://schemas.microsoft.com/office/powerpoint/2010/main" val="70241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1 - MSW Beyond Tests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Hi everyone, thanks for joining. Today I want to talk about a very practical frontend challenge: how we keep shipping UI when backend is not ready, unstable, or temporarily down. This is not a QA-only perspective. It is a developer productivity and delivery reliability perspective.</a:t>
            </a:r>
          </a:p>
        </p:txBody>
      </p:sp>
      <p:sp>
        <p:nvSpPr>
          <p:cNvPr id="4" name="Slide Number Placeholder 3"/>
          <p:cNvSpPr>
            <a:spLocks noGrp="1"/>
          </p:cNvSpPr>
          <p:nvPr>
            <p:ph type="sldNum" sz="quarter" idx="5"/>
          </p:nvPr>
        </p:nvSpPr>
        <p:spPr/>
        <p:txBody>
          <a:bodyPr/>
          <a:lstStyle/>
          <a:p>
            <a:fld id="{32E493A8-C3B5-4F34-85D2-0ABCBCCB00F1}" type="slidenum">
              <a:rPr lang="en-GB" smtClean="0"/>
              <a:t>1</a:t>
            </a:fld>
            <a:endParaRPr lang="en-GB"/>
          </a:p>
        </p:txBody>
      </p:sp>
    </p:spTree>
    <p:extLst>
      <p:ext uri="{BB962C8B-B14F-4D97-AF65-F5344CB8AC3E}">
        <p14:creationId xmlns:p14="http://schemas.microsoft.com/office/powerpoint/2010/main" val="3921527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2 - Who This Talk Is For</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session is for frontend engineers who get blocked by backend dependencies, and for teams trying to ship in parallel. If you’ve ever had a feature ready in UI but blocked by API readiness, this is exactly your use case.</a:t>
            </a:r>
          </a:p>
        </p:txBody>
      </p:sp>
      <p:sp>
        <p:nvSpPr>
          <p:cNvPr id="4" name="Slide Number Placeholder 3"/>
          <p:cNvSpPr>
            <a:spLocks noGrp="1"/>
          </p:cNvSpPr>
          <p:nvPr>
            <p:ph type="sldNum" sz="quarter" idx="5"/>
          </p:nvPr>
        </p:nvSpPr>
        <p:spPr/>
        <p:txBody>
          <a:bodyPr/>
          <a:lstStyle/>
          <a:p>
            <a:fld id="{32E493A8-C3B5-4F34-85D2-0ABCBCCB00F1}" type="slidenum">
              <a:rPr lang="en-GB" smtClean="0"/>
              <a:t>2</a:t>
            </a:fld>
            <a:endParaRPr lang="en-GB"/>
          </a:p>
        </p:txBody>
      </p:sp>
    </p:spTree>
    <p:extLst>
      <p:ext uri="{BB962C8B-B14F-4D97-AF65-F5344CB8AC3E}">
        <p14:creationId xmlns:p14="http://schemas.microsoft.com/office/powerpoint/2010/main" val="4201093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3 - The Core Problem</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normal project flow, we hit the same blockers repeatedly: endpoint not ready, unstable shared environment, changing contracts. The result is predictable: frontend work slows down for reasons unrelated to frontend logic.</a:t>
            </a:r>
          </a:p>
        </p:txBody>
      </p:sp>
      <p:sp>
        <p:nvSpPr>
          <p:cNvPr id="4" name="Slide Number Placeholder 3"/>
          <p:cNvSpPr>
            <a:spLocks noGrp="1"/>
          </p:cNvSpPr>
          <p:nvPr>
            <p:ph type="sldNum" sz="quarter" idx="5"/>
          </p:nvPr>
        </p:nvSpPr>
        <p:spPr/>
        <p:txBody>
          <a:bodyPr/>
          <a:lstStyle/>
          <a:p>
            <a:fld id="{32E493A8-C3B5-4F34-85D2-0ABCBCCB00F1}" type="slidenum">
              <a:rPr lang="en-GB" smtClean="0"/>
              <a:t>3</a:t>
            </a:fld>
            <a:endParaRPr lang="en-GB"/>
          </a:p>
        </p:txBody>
      </p:sp>
    </p:spTree>
    <p:extLst>
      <p:ext uri="{BB962C8B-B14F-4D97-AF65-F5344CB8AC3E}">
        <p14:creationId xmlns:p14="http://schemas.microsoft.com/office/powerpoint/2010/main" val="4116115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4 - What Usually Goes Wrong</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Most teams react with quick fixes: hardcoded JSON, local fake handlers, different mocks in tests and stories. Short-term this feels fast, but long-term it creates drift and false confidence. Then integration day becomes painful.</a:t>
            </a:r>
          </a:p>
        </p:txBody>
      </p:sp>
      <p:sp>
        <p:nvSpPr>
          <p:cNvPr id="4" name="Slide Number Placeholder 3"/>
          <p:cNvSpPr>
            <a:spLocks noGrp="1"/>
          </p:cNvSpPr>
          <p:nvPr>
            <p:ph type="sldNum" sz="quarter" idx="5"/>
          </p:nvPr>
        </p:nvSpPr>
        <p:spPr/>
        <p:txBody>
          <a:bodyPr/>
          <a:lstStyle/>
          <a:p>
            <a:fld id="{32E493A8-C3B5-4F34-85D2-0ABCBCCB00F1}" type="slidenum">
              <a:rPr lang="en-GB" smtClean="0"/>
              <a:t>4</a:t>
            </a:fld>
            <a:endParaRPr lang="en-GB"/>
          </a:p>
        </p:txBody>
      </p:sp>
    </p:spTree>
    <p:extLst>
      <p:ext uri="{BB962C8B-B14F-4D97-AF65-F5344CB8AC3E}">
        <p14:creationId xmlns:p14="http://schemas.microsoft.com/office/powerpoint/2010/main" val="142358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5 - Target State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Our target state is simple: one real integration path, one mock boundary at network layer, runtime switching, and explicit warning signals in the UI. That gives us speed without losing realism.</a:t>
            </a:r>
          </a:p>
        </p:txBody>
      </p:sp>
      <p:sp>
        <p:nvSpPr>
          <p:cNvPr id="4" name="Slide Number Placeholder 3"/>
          <p:cNvSpPr>
            <a:spLocks noGrp="1"/>
          </p:cNvSpPr>
          <p:nvPr>
            <p:ph type="sldNum" sz="quarter" idx="5"/>
          </p:nvPr>
        </p:nvSpPr>
        <p:spPr/>
        <p:txBody>
          <a:bodyPr/>
          <a:lstStyle/>
          <a:p>
            <a:fld id="{32E493A8-C3B5-4F34-85D2-0ABCBCCB00F1}" type="slidenum">
              <a:rPr lang="en-GB" smtClean="0"/>
              <a:t>5</a:t>
            </a:fld>
            <a:endParaRPr lang="en-GB"/>
          </a:p>
        </p:txBody>
      </p:sp>
    </p:spTree>
    <p:extLst>
      <p:ext uri="{BB962C8B-B14F-4D97-AF65-F5344CB8AC3E}">
        <p14:creationId xmlns:p14="http://schemas.microsoft.com/office/powerpoint/2010/main" val="1305418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6 - Runtime Controls Used in Demo</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the sidebar, we control: Local API or Backend Endpoint, MSW Intercept or Bypass to Real API, and Local API toggle. Refresh is manual on purpose, so </a:t>
            </a:r>
            <a:r>
              <a:rPr lang="en-GB" sz="1200" kern="1200" dirty="0" err="1">
                <a:solidFill>
                  <a:schemeClr val="tx1"/>
                </a:solidFill>
                <a:effectLst/>
                <a:latin typeface="+mn-lt"/>
                <a:ea typeface="+mn-ea"/>
                <a:cs typeface="+mn-cs"/>
              </a:rPr>
              <a:t>behavior</a:t>
            </a:r>
            <a:r>
              <a:rPr lang="en-GB" sz="1200" kern="1200" dirty="0">
                <a:solidFill>
                  <a:schemeClr val="tx1"/>
                </a:solidFill>
                <a:effectLst/>
                <a:latin typeface="+mn-lt"/>
                <a:ea typeface="+mn-ea"/>
                <a:cs typeface="+mn-cs"/>
              </a:rPr>
              <a:t> changes are explicit and easy to explain.</a:t>
            </a:r>
          </a:p>
        </p:txBody>
      </p:sp>
      <p:sp>
        <p:nvSpPr>
          <p:cNvPr id="4" name="Slide Number Placeholder 3"/>
          <p:cNvSpPr>
            <a:spLocks noGrp="1"/>
          </p:cNvSpPr>
          <p:nvPr>
            <p:ph type="sldNum" sz="quarter" idx="5"/>
          </p:nvPr>
        </p:nvSpPr>
        <p:spPr/>
        <p:txBody>
          <a:bodyPr/>
          <a:lstStyle/>
          <a:p>
            <a:fld id="{32E493A8-C3B5-4F34-85D2-0ABCBCCB00F1}" type="slidenum">
              <a:rPr lang="en-GB" smtClean="0"/>
              <a:t>6</a:t>
            </a:fld>
            <a:endParaRPr lang="en-GB"/>
          </a:p>
        </p:txBody>
      </p:sp>
    </p:spTree>
    <p:extLst>
      <p:ext uri="{BB962C8B-B14F-4D97-AF65-F5344CB8AC3E}">
        <p14:creationId xmlns:p14="http://schemas.microsoft.com/office/powerpoint/2010/main" val="359653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7 - Scenario </a:t>
            </a:r>
            <a:r>
              <a:rPr lang="en-GB" sz="1200" b="1" kern="1200" dirty="0" err="1">
                <a:solidFill>
                  <a:schemeClr val="tx1"/>
                </a:solidFill>
                <a:effectLst/>
                <a:latin typeface="+mn-lt"/>
                <a:ea typeface="+mn-ea"/>
                <a:cs typeface="+mn-cs"/>
              </a:rPr>
              <a:t>Catalog</a:t>
            </a:r>
            <a:r>
              <a:rPr lang="en-GB" sz="1200" b="1" kern="1200" dirty="0">
                <a:solidFill>
                  <a:schemeClr val="tx1"/>
                </a:solidFill>
                <a:effectLst/>
                <a:latin typeface="+mn-lt"/>
                <a:ea typeface="+mn-ea"/>
                <a:cs typeface="+mn-cs"/>
              </a:rPr>
              <a:t> Used in Demo</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These are the scenarios we use: happy path, slow, server error, network error, auth expired, partial data, contract drift, and flaky. In this implementation, scenario control is meaningful in MSW mode; in Bypass mode it is intentionally disabled.</a:t>
            </a:r>
          </a:p>
        </p:txBody>
      </p:sp>
      <p:sp>
        <p:nvSpPr>
          <p:cNvPr id="4" name="Slide Number Placeholder 3"/>
          <p:cNvSpPr>
            <a:spLocks noGrp="1"/>
          </p:cNvSpPr>
          <p:nvPr>
            <p:ph type="sldNum" sz="quarter" idx="5"/>
          </p:nvPr>
        </p:nvSpPr>
        <p:spPr/>
        <p:txBody>
          <a:bodyPr/>
          <a:lstStyle/>
          <a:p>
            <a:fld id="{32E493A8-C3B5-4F34-85D2-0ABCBCCB00F1}" type="slidenum">
              <a:rPr lang="en-GB" smtClean="0"/>
              <a:t>7</a:t>
            </a:fld>
            <a:endParaRPr lang="en-GB"/>
          </a:p>
        </p:txBody>
      </p:sp>
    </p:spTree>
    <p:extLst>
      <p:ext uri="{BB962C8B-B14F-4D97-AF65-F5344CB8AC3E}">
        <p14:creationId xmlns:p14="http://schemas.microsoft.com/office/powerpoint/2010/main" val="2350689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Slide 8.1</a:t>
            </a:r>
            <a:r>
              <a:rPr lang="ru-RU" sz="1200" b="1" kern="1200" dirty="0">
                <a:solidFill>
                  <a:schemeClr val="tx1"/>
                </a:solidFill>
                <a:effectLst/>
                <a:latin typeface="+mn-lt"/>
                <a:ea typeface="+mn-ea"/>
                <a:cs typeface="+mn-cs"/>
              </a:rPr>
              <a:t> </a:t>
            </a:r>
            <a:r>
              <a:rPr lang="pl-PL" sz="1200" b="1"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Demo Case 1 (Backend + MSW)</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Case one is Backend Endpoint with MSW Intercept. When backend is ON, UI still uses MSW response behaviour. When backend is OFF, frontend continues through MSW. This is the first proof point: backend outage does not block frontend progress.</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Slide 8.2</a:t>
            </a:r>
            <a:r>
              <a:rPr lang="ru-RU" sz="1200" b="1" kern="1200" dirty="0">
                <a:solidFill>
                  <a:schemeClr val="tx1"/>
                </a:solidFill>
                <a:effectLst/>
                <a:latin typeface="+mn-lt"/>
                <a:ea typeface="+mn-ea"/>
                <a:cs typeface="+mn-cs"/>
              </a:rPr>
              <a:t> </a:t>
            </a:r>
            <a:r>
              <a:rPr lang="pl-PL" sz="1200" b="1"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Demo Case 1 Sequence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select Backend Endpoint, then MSW Intercept. First show happy-path, then switch to server-500 and partial-data. Then I stop backend and continue interacting. Narration: network behaviour is controlled at the interception boundary.</a:t>
            </a:r>
          </a:p>
        </p:txBody>
      </p:sp>
      <p:sp>
        <p:nvSpPr>
          <p:cNvPr id="4" name="Slide Number Placeholder 3"/>
          <p:cNvSpPr>
            <a:spLocks noGrp="1"/>
          </p:cNvSpPr>
          <p:nvPr>
            <p:ph type="sldNum" sz="quarter" idx="5"/>
          </p:nvPr>
        </p:nvSpPr>
        <p:spPr/>
        <p:txBody>
          <a:bodyPr/>
          <a:lstStyle/>
          <a:p>
            <a:fld id="{32E493A8-C3B5-4F34-85D2-0ABCBCCB00F1}" type="slidenum">
              <a:rPr lang="en-GB" smtClean="0"/>
              <a:t>8</a:t>
            </a:fld>
            <a:endParaRPr lang="en-GB"/>
          </a:p>
        </p:txBody>
      </p:sp>
    </p:spTree>
    <p:extLst>
      <p:ext uri="{BB962C8B-B14F-4D97-AF65-F5344CB8AC3E}">
        <p14:creationId xmlns:p14="http://schemas.microsoft.com/office/powerpoint/2010/main" val="3443898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C19C7-9992-6D04-8932-867099D6C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41BA3-FB44-1344-9492-26F49D23B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B532F-AEB3-6427-4A0B-D1CE2B6C7228}"/>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9.1 - Demo Case 2 (Backend + Bypass)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Case two is Backend Endpoint with Bypass to Real API. Now we are in honest integration mode. Server ON means normal data. Server OFF means request failure and backend-unreachable warning.</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Slide 9.2 - Demo Case 2 Sequence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keep Backend Endpoint and switch to Bypass mode. Show success while server is on. Then stop backend, refresh, and show warning. This proves we still preserve real integration validation.</a:t>
            </a:r>
          </a:p>
        </p:txBody>
      </p:sp>
      <p:sp>
        <p:nvSpPr>
          <p:cNvPr id="4" name="Slide Number Placeholder 3">
            <a:extLst>
              <a:ext uri="{FF2B5EF4-FFF2-40B4-BE49-F238E27FC236}">
                <a16:creationId xmlns:a16="http://schemas.microsoft.com/office/drawing/2014/main" id="{AAFE917B-AF31-43CB-4495-2757B58109B2}"/>
              </a:ext>
            </a:extLst>
          </p:cNvPr>
          <p:cNvSpPr>
            <a:spLocks noGrp="1"/>
          </p:cNvSpPr>
          <p:nvPr>
            <p:ph type="sldNum" sz="quarter" idx="5"/>
          </p:nvPr>
        </p:nvSpPr>
        <p:spPr/>
        <p:txBody>
          <a:bodyPr/>
          <a:lstStyle/>
          <a:p>
            <a:fld id="{32E493A8-C3B5-4F34-85D2-0ABCBCCB00F1}" type="slidenum">
              <a:rPr lang="en-GB" smtClean="0"/>
              <a:t>9</a:t>
            </a:fld>
            <a:endParaRPr lang="en-GB"/>
          </a:p>
        </p:txBody>
      </p:sp>
    </p:spTree>
    <p:extLst>
      <p:ext uri="{BB962C8B-B14F-4D97-AF65-F5344CB8AC3E}">
        <p14:creationId xmlns:p14="http://schemas.microsoft.com/office/powerpoint/2010/main" val="1350374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95436-10F4-1C48-7171-C98268838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BE5F6-548A-7E7B-1143-7253CBAAD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A16A9-4DB3-2BE8-0DB0-55C10A3C618B}"/>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10.1 - Demo Case 3 (Local + Bypass)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Case three is Local API with Bypass to Real API. When local API is enabled, it works through </a:t>
            </a:r>
            <a:r>
              <a:rPr lang="en-GB" sz="1200" kern="1200" dirty="0" err="1">
                <a:solidFill>
                  <a:schemeClr val="tx1"/>
                </a:solidFill>
                <a:effectLst/>
                <a:latin typeface="+mn-lt"/>
                <a:ea typeface="+mn-ea"/>
                <a:cs typeface="+mn-cs"/>
              </a:rPr>
              <a:t>Next.js</a:t>
            </a:r>
            <a:r>
              <a:rPr lang="en-GB" sz="1200" kern="1200" dirty="0">
                <a:solidFill>
                  <a:schemeClr val="tx1"/>
                </a:solidFill>
                <a:effectLst/>
                <a:latin typeface="+mn-lt"/>
                <a:ea typeface="+mn-ea"/>
                <a:cs typeface="+mn-cs"/>
              </a:rPr>
              <a:t> route handlers. When disabled, it fails by design and warning is shown. This is useful for simulating route unavailability directly in frontend environment.</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Slide 10.2 - Demo Case 3 Sequence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select Local API and Bypass. Show baseline success. Disable Local API, refresh, show failure and warning, then enable and recover. This is a very practical reliability demonstration.</a:t>
            </a:r>
          </a:p>
        </p:txBody>
      </p:sp>
      <p:sp>
        <p:nvSpPr>
          <p:cNvPr id="4" name="Slide Number Placeholder 3">
            <a:extLst>
              <a:ext uri="{FF2B5EF4-FFF2-40B4-BE49-F238E27FC236}">
                <a16:creationId xmlns:a16="http://schemas.microsoft.com/office/drawing/2014/main" id="{819D35E8-887C-55D4-B6D1-E2FA56E88A40}"/>
              </a:ext>
            </a:extLst>
          </p:cNvPr>
          <p:cNvSpPr>
            <a:spLocks noGrp="1"/>
          </p:cNvSpPr>
          <p:nvPr>
            <p:ph type="sldNum" sz="quarter" idx="5"/>
          </p:nvPr>
        </p:nvSpPr>
        <p:spPr/>
        <p:txBody>
          <a:bodyPr/>
          <a:lstStyle/>
          <a:p>
            <a:fld id="{32E493A8-C3B5-4F34-85D2-0ABCBCCB00F1}" type="slidenum">
              <a:rPr lang="en-GB" smtClean="0"/>
              <a:t>10</a:t>
            </a:fld>
            <a:endParaRPr lang="en-GB"/>
          </a:p>
        </p:txBody>
      </p:sp>
    </p:spTree>
    <p:extLst>
      <p:ext uri="{BB962C8B-B14F-4D97-AF65-F5344CB8AC3E}">
        <p14:creationId xmlns:p14="http://schemas.microsoft.com/office/powerpoint/2010/main" val="2243826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0A9F-3891-F664-9876-0119B3B68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041BE-9803-BA6A-4AA2-F3EEC0218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BF765-630A-C8C3-8972-0EB1AFBA3D7C}"/>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11.1 - Demo Case 4 (Local + MSW)</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Case four is Local API with MSW Intercept. Even when local API is disabled, MSW path keeps frontend usable for scenario-driven work. Warning still reflects environment state, so UI is informative, not misleading.</a:t>
            </a:r>
          </a:p>
          <a:p>
            <a:br>
              <a:rPr lang="en-GB" sz="120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Slide 11.2 - Demo Case 4 Sequence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keep Local API, switch to MSW, disable Local API, then run scenarios. The key message is: we can continue feature work even when local route layer is intentionally unavailable.</a:t>
            </a:r>
          </a:p>
        </p:txBody>
      </p:sp>
      <p:sp>
        <p:nvSpPr>
          <p:cNvPr id="4" name="Slide Number Placeholder 3">
            <a:extLst>
              <a:ext uri="{FF2B5EF4-FFF2-40B4-BE49-F238E27FC236}">
                <a16:creationId xmlns:a16="http://schemas.microsoft.com/office/drawing/2014/main" id="{D2BC958D-D1F2-5669-594A-4E36EEB5E6F2}"/>
              </a:ext>
            </a:extLst>
          </p:cNvPr>
          <p:cNvSpPr>
            <a:spLocks noGrp="1"/>
          </p:cNvSpPr>
          <p:nvPr>
            <p:ph type="sldNum" sz="quarter" idx="5"/>
          </p:nvPr>
        </p:nvSpPr>
        <p:spPr/>
        <p:txBody>
          <a:bodyPr/>
          <a:lstStyle/>
          <a:p>
            <a:fld id="{32E493A8-C3B5-4F34-85D2-0ABCBCCB00F1}" type="slidenum">
              <a:rPr lang="en-GB" smtClean="0"/>
              <a:t>11</a:t>
            </a:fld>
            <a:endParaRPr lang="en-GB"/>
          </a:p>
        </p:txBody>
      </p:sp>
    </p:spTree>
    <p:extLst>
      <p:ext uri="{BB962C8B-B14F-4D97-AF65-F5344CB8AC3E}">
        <p14:creationId xmlns:p14="http://schemas.microsoft.com/office/powerpoint/2010/main" val="663201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3743E-2696-B1E8-BB51-88AD3C7D9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2FCCB-053C-DDF1-CA09-861D7272E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91C6B-AD26-AF25-AB3F-AC6D7C42AA58}"/>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12 - Combined Demo Matrix</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matrix is the heart of the approach. Backend + MSW is resilience mode. Backend + Bypass is integration truth mode. Local + Bypass validates local route path. Local + MSW gives resilient local dev flow.</a:t>
            </a:r>
          </a:p>
        </p:txBody>
      </p:sp>
      <p:sp>
        <p:nvSpPr>
          <p:cNvPr id="4" name="Slide Number Placeholder 3">
            <a:extLst>
              <a:ext uri="{FF2B5EF4-FFF2-40B4-BE49-F238E27FC236}">
                <a16:creationId xmlns:a16="http://schemas.microsoft.com/office/drawing/2014/main" id="{510E52A2-D0EE-C2FE-C9E0-2148A924F44D}"/>
              </a:ext>
            </a:extLst>
          </p:cNvPr>
          <p:cNvSpPr>
            <a:spLocks noGrp="1"/>
          </p:cNvSpPr>
          <p:nvPr>
            <p:ph type="sldNum" sz="quarter" idx="5"/>
          </p:nvPr>
        </p:nvSpPr>
        <p:spPr/>
        <p:txBody>
          <a:bodyPr/>
          <a:lstStyle/>
          <a:p>
            <a:fld id="{32E493A8-C3B5-4F34-85D2-0ABCBCCB00F1}" type="slidenum">
              <a:rPr lang="en-GB" smtClean="0"/>
              <a:t>12</a:t>
            </a:fld>
            <a:endParaRPr lang="en-GB"/>
          </a:p>
        </p:txBody>
      </p:sp>
    </p:spTree>
    <p:extLst>
      <p:ext uri="{BB962C8B-B14F-4D97-AF65-F5344CB8AC3E}">
        <p14:creationId xmlns:p14="http://schemas.microsoft.com/office/powerpoint/2010/main" val="1032292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2CE7D-B103-06F2-734E-468D34A9F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EF17E-0E39-1875-2A56-D55E8D69C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21166-4773-0787-30C5-A9820631787C}"/>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13 - Similar Tools Landscape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MSW is one option, not the only one. </a:t>
            </a:r>
            <a:r>
              <a:rPr lang="en-GB" sz="1200" kern="1200" dirty="0" err="1">
                <a:solidFill>
                  <a:schemeClr val="tx1"/>
                </a:solidFill>
                <a:effectLst/>
                <a:latin typeface="+mn-lt"/>
                <a:ea typeface="+mn-ea"/>
                <a:cs typeface="+mn-cs"/>
              </a:rPr>
              <a:t>MirageJS</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json</a:t>
            </a:r>
            <a:r>
              <a:rPr lang="en-GB" sz="1200" kern="1200" dirty="0">
                <a:solidFill>
                  <a:schemeClr val="tx1"/>
                </a:solidFill>
                <a:effectLst/>
                <a:latin typeface="+mn-lt"/>
                <a:ea typeface="+mn-ea"/>
                <a:cs typeface="+mn-cs"/>
              </a:rPr>
              <a:t>-server, Prism, </a:t>
            </a:r>
            <a:r>
              <a:rPr lang="en-GB" sz="1200" kern="1200" dirty="0" err="1">
                <a:solidFill>
                  <a:schemeClr val="tx1"/>
                </a:solidFill>
                <a:effectLst/>
                <a:latin typeface="+mn-lt"/>
                <a:ea typeface="+mn-ea"/>
                <a:cs typeface="+mn-cs"/>
              </a:rPr>
              <a:t>WireMock</a:t>
            </a:r>
            <a:r>
              <a:rPr lang="en-GB" sz="1200" kern="1200" dirty="0">
                <a:solidFill>
                  <a:schemeClr val="tx1"/>
                </a:solidFill>
                <a:effectLst/>
                <a:latin typeface="+mn-lt"/>
                <a:ea typeface="+mn-ea"/>
                <a:cs typeface="+mn-cs"/>
              </a:rPr>
              <a:t>, and test interceptors each solve different parts of the problem. So tool choice should match team workflow, not hype.</a:t>
            </a:r>
          </a:p>
        </p:txBody>
      </p:sp>
      <p:sp>
        <p:nvSpPr>
          <p:cNvPr id="4" name="Slide Number Placeholder 3">
            <a:extLst>
              <a:ext uri="{FF2B5EF4-FFF2-40B4-BE49-F238E27FC236}">
                <a16:creationId xmlns:a16="http://schemas.microsoft.com/office/drawing/2014/main" id="{9B97BF0D-2A67-A551-2B40-AC3BA565116E}"/>
              </a:ext>
            </a:extLst>
          </p:cNvPr>
          <p:cNvSpPr>
            <a:spLocks noGrp="1"/>
          </p:cNvSpPr>
          <p:nvPr>
            <p:ph type="sldNum" sz="quarter" idx="5"/>
          </p:nvPr>
        </p:nvSpPr>
        <p:spPr/>
        <p:txBody>
          <a:bodyPr/>
          <a:lstStyle/>
          <a:p>
            <a:fld id="{32E493A8-C3B5-4F34-85D2-0ABCBCCB00F1}" type="slidenum">
              <a:rPr lang="en-GB" smtClean="0"/>
              <a:t>13</a:t>
            </a:fld>
            <a:endParaRPr lang="en-GB"/>
          </a:p>
        </p:txBody>
      </p:sp>
    </p:spTree>
    <p:extLst>
      <p:ext uri="{BB962C8B-B14F-4D97-AF65-F5344CB8AC3E}">
        <p14:creationId xmlns:p14="http://schemas.microsoft.com/office/powerpoint/2010/main" val="396482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A518-5A7F-1D45-5C57-CF0EAA9FF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05969-E9C9-B06C-9DAB-B6473863D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668AF-6FF8-6686-CCE2-2A4073A5A503}"/>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14 - Tool Comparison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If you need one shared dev + test network-level approach, MSW is very strong. If you need rich in-browser data </a:t>
            </a:r>
            <a:r>
              <a:rPr lang="en-GB" sz="1200" kern="1200" dirty="0" err="1">
                <a:solidFill>
                  <a:schemeClr val="tx1"/>
                </a:solidFill>
                <a:effectLst/>
                <a:latin typeface="+mn-lt"/>
                <a:ea typeface="+mn-ea"/>
                <a:cs typeface="+mn-cs"/>
              </a:rPr>
              <a:t>modeling</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MirageJS</a:t>
            </a:r>
            <a:r>
              <a:rPr lang="en-GB" sz="1200" kern="1200" dirty="0">
                <a:solidFill>
                  <a:schemeClr val="tx1"/>
                </a:solidFill>
                <a:effectLst/>
                <a:latin typeface="+mn-lt"/>
                <a:ea typeface="+mn-ea"/>
                <a:cs typeface="+mn-cs"/>
              </a:rPr>
              <a:t> can be great. If you need instant endpoint bootstrap, </a:t>
            </a:r>
            <a:r>
              <a:rPr lang="en-GB" sz="1200" kern="1200" dirty="0" err="1">
                <a:solidFill>
                  <a:schemeClr val="tx1"/>
                </a:solidFill>
                <a:effectLst/>
                <a:latin typeface="+mn-lt"/>
                <a:ea typeface="+mn-ea"/>
                <a:cs typeface="+mn-cs"/>
              </a:rPr>
              <a:t>json</a:t>
            </a:r>
            <a:r>
              <a:rPr lang="en-GB" sz="1200" kern="1200" dirty="0">
                <a:solidFill>
                  <a:schemeClr val="tx1"/>
                </a:solidFill>
                <a:effectLst/>
                <a:latin typeface="+mn-lt"/>
                <a:ea typeface="+mn-ea"/>
                <a:cs typeface="+mn-cs"/>
              </a:rPr>
              <a:t>-server is fast. If </a:t>
            </a:r>
            <a:r>
              <a:rPr lang="en-GB" sz="1200" kern="1200" dirty="0" err="1">
                <a:solidFill>
                  <a:schemeClr val="tx1"/>
                </a:solidFill>
                <a:effectLst/>
                <a:latin typeface="+mn-lt"/>
                <a:ea typeface="+mn-ea"/>
                <a:cs typeface="+mn-cs"/>
              </a:rPr>
              <a:t>OpenAPI</a:t>
            </a:r>
            <a:r>
              <a:rPr lang="en-GB" sz="1200" kern="1200" dirty="0">
                <a:solidFill>
                  <a:schemeClr val="tx1"/>
                </a:solidFill>
                <a:effectLst/>
                <a:latin typeface="+mn-lt"/>
                <a:ea typeface="+mn-ea"/>
                <a:cs typeface="+mn-cs"/>
              </a:rPr>
              <a:t> is central, Prism is useful. If you need backend-level sophisticated stubbing, </a:t>
            </a:r>
            <a:r>
              <a:rPr lang="en-GB" sz="1200" kern="1200" dirty="0" err="1">
                <a:solidFill>
                  <a:schemeClr val="tx1"/>
                </a:solidFill>
                <a:effectLst/>
                <a:latin typeface="+mn-lt"/>
                <a:ea typeface="+mn-ea"/>
                <a:cs typeface="+mn-cs"/>
              </a:rPr>
              <a:t>WireMock</a:t>
            </a:r>
            <a:r>
              <a:rPr lang="en-GB" sz="1200" kern="1200" dirty="0">
                <a:solidFill>
                  <a:schemeClr val="tx1"/>
                </a:solidFill>
                <a:effectLst/>
                <a:latin typeface="+mn-lt"/>
                <a:ea typeface="+mn-ea"/>
                <a:cs typeface="+mn-cs"/>
              </a:rPr>
              <a:t> fits better. And test interceptors are excellent for tests, but not enough for daily runtime dev flow.</a:t>
            </a:r>
          </a:p>
        </p:txBody>
      </p:sp>
      <p:sp>
        <p:nvSpPr>
          <p:cNvPr id="4" name="Slide Number Placeholder 3">
            <a:extLst>
              <a:ext uri="{FF2B5EF4-FFF2-40B4-BE49-F238E27FC236}">
                <a16:creationId xmlns:a16="http://schemas.microsoft.com/office/drawing/2014/main" id="{DB3FAC6C-BD14-06E4-4294-B04442FB457E}"/>
              </a:ext>
            </a:extLst>
          </p:cNvPr>
          <p:cNvSpPr>
            <a:spLocks noGrp="1"/>
          </p:cNvSpPr>
          <p:nvPr>
            <p:ph type="sldNum" sz="quarter" idx="5"/>
          </p:nvPr>
        </p:nvSpPr>
        <p:spPr/>
        <p:txBody>
          <a:bodyPr/>
          <a:lstStyle/>
          <a:p>
            <a:fld id="{32E493A8-C3B5-4F34-85D2-0ABCBCCB00F1}" type="slidenum">
              <a:rPr lang="en-GB" smtClean="0"/>
              <a:t>14</a:t>
            </a:fld>
            <a:endParaRPr lang="en-GB"/>
          </a:p>
        </p:txBody>
      </p:sp>
    </p:spTree>
    <p:extLst>
      <p:ext uri="{BB962C8B-B14F-4D97-AF65-F5344CB8AC3E}">
        <p14:creationId xmlns:p14="http://schemas.microsoft.com/office/powerpoint/2010/main" val="843861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C21F2-EAC9-C804-30C4-405C78A3C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C0C3C-37BF-2528-4C8E-36BA78438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DDE1F-AD7E-8D8E-AFF7-DDD493FDB705}"/>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15 - Why We Picked MSW</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picked MSW because it intercepts at the right layer, supports runtime switching, and keeps frontend code path close to production integration </a:t>
            </a:r>
            <a:r>
              <a:rPr lang="en-GB" sz="1200" kern="1200" dirty="0" err="1">
                <a:solidFill>
                  <a:schemeClr val="tx1"/>
                </a:solidFill>
                <a:effectLst/>
                <a:latin typeface="+mn-lt"/>
                <a:ea typeface="+mn-ea"/>
                <a:cs typeface="+mn-cs"/>
              </a:rPr>
              <a:t>behavior</a:t>
            </a:r>
            <a:r>
              <a:rPr lang="en-GB" sz="1200" kern="1200" dirty="0">
                <a:solidFill>
                  <a:schemeClr val="tx1"/>
                </a:solidFill>
                <a:effectLst/>
                <a:latin typeface="+mn-lt"/>
                <a:ea typeface="+mn-ea"/>
                <a:cs typeface="+mn-cs"/>
              </a:rPr>
              <a:t>. It solves the blocking problem without rewriting architecture.</a:t>
            </a:r>
          </a:p>
        </p:txBody>
      </p:sp>
      <p:sp>
        <p:nvSpPr>
          <p:cNvPr id="4" name="Slide Number Placeholder 3">
            <a:extLst>
              <a:ext uri="{FF2B5EF4-FFF2-40B4-BE49-F238E27FC236}">
                <a16:creationId xmlns:a16="http://schemas.microsoft.com/office/drawing/2014/main" id="{C48EAE9A-5DF4-58E7-6424-CAE0AAD8F236}"/>
              </a:ext>
            </a:extLst>
          </p:cNvPr>
          <p:cNvSpPr>
            <a:spLocks noGrp="1"/>
          </p:cNvSpPr>
          <p:nvPr>
            <p:ph type="sldNum" sz="quarter" idx="5"/>
          </p:nvPr>
        </p:nvSpPr>
        <p:spPr/>
        <p:txBody>
          <a:bodyPr/>
          <a:lstStyle/>
          <a:p>
            <a:fld id="{32E493A8-C3B5-4F34-85D2-0ABCBCCB00F1}" type="slidenum">
              <a:rPr lang="en-GB" smtClean="0"/>
              <a:t>15</a:t>
            </a:fld>
            <a:endParaRPr lang="en-GB"/>
          </a:p>
        </p:txBody>
      </p:sp>
    </p:spTree>
    <p:extLst>
      <p:ext uri="{BB962C8B-B14F-4D97-AF65-F5344CB8AC3E}">
        <p14:creationId xmlns:p14="http://schemas.microsoft.com/office/powerpoint/2010/main" val="2288052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A86E-A921-72CB-7480-24337D28C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BAF98-72B2-8FFE-B33A-968AE0F0F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80363-3B12-0E8C-8AF3-F869350872CD}"/>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16 - Limits of MSW</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should be honest. MSW is not a replacement for true backend integration tests. It needs handler governance and scenario quality control. For very stateful workflows, additional supporting tooling may be needed.</a:t>
            </a:r>
          </a:p>
        </p:txBody>
      </p:sp>
      <p:sp>
        <p:nvSpPr>
          <p:cNvPr id="4" name="Slide Number Placeholder 3">
            <a:extLst>
              <a:ext uri="{FF2B5EF4-FFF2-40B4-BE49-F238E27FC236}">
                <a16:creationId xmlns:a16="http://schemas.microsoft.com/office/drawing/2014/main" id="{E5BEFE21-3860-1C7C-61ED-830E6D5FE0B5}"/>
              </a:ext>
            </a:extLst>
          </p:cNvPr>
          <p:cNvSpPr>
            <a:spLocks noGrp="1"/>
          </p:cNvSpPr>
          <p:nvPr>
            <p:ph type="sldNum" sz="quarter" idx="5"/>
          </p:nvPr>
        </p:nvSpPr>
        <p:spPr/>
        <p:txBody>
          <a:bodyPr/>
          <a:lstStyle/>
          <a:p>
            <a:fld id="{32E493A8-C3B5-4F34-85D2-0ABCBCCB00F1}" type="slidenum">
              <a:rPr lang="en-GB" smtClean="0"/>
              <a:t>16</a:t>
            </a:fld>
            <a:endParaRPr lang="en-GB"/>
          </a:p>
        </p:txBody>
      </p:sp>
    </p:spTree>
    <p:extLst>
      <p:ext uri="{BB962C8B-B14F-4D97-AF65-F5344CB8AC3E}">
        <p14:creationId xmlns:p14="http://schemas.microsoft.com/office/powerpoint/2010/main" val="3688002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30DE-9799-5151-B92F-B18BC4639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5C95F-80A0-3ACD-2D29-4600AC3AC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5A3A2-CB4E-C615-9A24-0C530CEEC3F2}"/>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17 - How We Keep It Safe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keep real mode always available. We unified Local API and Backend API real data source. We show warning states in UI. And we keep scenario list curated and intentional.</a:t>
            </a:r>
          </a:p>
        </p:txBody>
      </p:sp>
      <p:sp>
        <p:nvSpPr>
          <p:cNvPr id="4" name="Slide Number Placeholder 3">
            <a:extLst>
              <a:ext uri="{FF2B5EF4-FFF2-40B4-BE49-F238E27FC236}">
                <a16:creationId xmlns:a16="http://schemas.microsoft.com/office/drawing/2014/main" id="{B2E951B2-5FF6-4AA2-B0E8-41FAFA5FCAC9}"/>
              </a:ext>
            </a:extLst>
          </p:cNvPr>
          <p:cNvSpPr>
            <a:spLocks noGrp="1"/>
          </p:cNvSpPr>
          <p:nvPr>
            <p:ph type="sldNum" sz="quarter" idx="5"/>
          </p:nvPr>
        </p:nvSpPr>
        <p:spPr/>
        <p:txBody>
          <a:bodyPr/>
          <a:lstStyle/>
          <a:p>
            <a:fld id="{32E493A8-C3B5-4F34-85D2-0ABCBCCB00F1}" type="slidenum">
              <a:rPr lang="en-GB" smtClean="0"/>
              <a:t>17</a:t>
            </a:fld>
            <a:endParaRPr lang="en-GB"/>
          </a:p>
        </p:txBody>
      </p:sp>
    </p:spTree>
    <p:extLst>
      <p:ext uri="{BB962C8B-B14F-4D97-AF65-F5344CB8AC3E}">
        <p14:creationId xmlns:p14="http://schemas.microsoft.com/office/powerpoint/2010/main" val="4214298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10F24-59AE-823C-9585-DFBC85D7A3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64BA5-96A0-F868-5CF4-EC2A925E28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01325-F9A8-5763-DAEB-61A263B138B4}"/>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18 - Adoption Plan (1 Sprint)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 realistic rollout: Day one provider and baseline handlers, day two scenario basics, day three runtime controls and warning UX, day four data-source alignment, day five docs and onboarding checklist. Incremental and low risk.</a:t>
            </a:r>
          </a:p>
        </p:txBody>
      </p:sp>
      <p:sp>
        <p:nvSpPr>
          <p:cNvPr id="4" name="Slide Number Placeholder 3">
            <a:extLst>
              <a:ext uri="{FF2B5EF4-FFF2-40B4-BE49-F238E27FC236}">
                <a16:creationId xmlns:a16="http://schemas.microsoft.com/office/drawing/2014/main" id="{072DC779-DD63-7E34-1B7D-A14A85926081}"/>
              </a:ext>
            </a:extLst>
          </p:cNvPr>
          <p:cNvSpPr>
            <a:spLocks noGrp="1"/>
          </p:cNvSpPr>
          <p:nvPr>
            <p:ph type="sldNum" sz="quarter" idx="5"/>
          </p:nvPr>
        </p:nvSpPr>
        <p:spPr/>
        <p:txBody>
          <a:bodyPr/>
          <a:lstStyle/>
          <a:p>
            <a:fld id="{32E493A8-C3B5-4F34-85D2-0ABCBCCB00F1}" type="slidenum">
              <a:rPr lang="en-GB" smtClean="0"/>
              <a:t>18</a:t>
            </a:fld>
            <a:endParaRPr lang="en-GB"/>
          </a:p>
        </p:txBody>
      </p:sp>
    </p:spTree>
    <p:extLst>
      <p:ext uri="{BB962C8B-B14F-4D97-AF65-F5344CB8AC3E}">
        <p14:creationId xmlns:p14="http://schemas.microsoft.com/office/powerpoint/2010/main" val="4063167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77791-9250-A591-2919-55BBEFE90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A9052-6577-1114-B2C5-C0647D421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0DE51-4E35-22D4-655F-5AFC7909CF20}"/>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19 - Team Process Wins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improves FE/BE parallelization, reduces blocked frontend tickets, increases demo reliability, and shortens onboarding time for new engineers.</a:t>
            </a:r>
          </a:p>
        </p:txBody>
      </p:sp>
      <p:sp>
        <p:nvSpPr>
          <p:cNvPr id="4" name="Slide Number Placeholder 3">
            <a:extLst>
              <a:ext uri="{FF2B5EF4-FFF2-40B4-BE49-F238E27FC236}">
                <a16:creationId xmlns:a16="http://schemas.microsoft.com/office/drawing/2014/main" id="{4751B4F2-86A9-ADCC-13C4-74544763216D}"/>
              </a:ext>
            </a:extLst>
          </p:cNvPr>
          <p:cNvSpPr>
            <a:spLocks noGrp="1"/>
          </p:cNvSpPr>
          <p:nvPr>
            <p:ph type="sldNum" sz="quarter" idx="5"/>
          </p:nvPr>
        </p:nvSpPr>
        <p:spPr/>
        <p:txBody>
          <a:bodyPr/>
          <a:lstStyle/>
          <a:p>
            <a:fld id="{32E493A8-C3B5-4F34-85D2-0ABCBCCB00F1}" type="slidenum">
              <a:rPr lang="en-GB" smtClean="0"/>
              <a:t>19</a:t>
            </a:fld>
            <a:endParaRPr lang="en-GB"/>
          </a:p>
        </p:txBody>
      </p:sp>
    </p:spTree>
    <p:extLst>
      <p:ext uri="{BB962C8B-B14F-4D97-AF65-F5344CB8AC3E}">
        <p14:creationId xmlns:p14="http://schemas.microsoft.com/office/powerpoint/2010/main" val="3800871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5EB20-1A77-EBAB-8B55-D953ED95B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02C52-FA5B-A78F-DD1A-792102130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B026B-8385-BA4B-E637-D93A35AA42D9}"/>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20 - Anti-Patterns to Avoid</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Never keep only mocked mode. Never let scenario </a:t>
            </a:r>
            <a:r>
              <a:rPr lang="en-GB" sz="1200" kern="1200" dirty="0" err="1">
                <a:solidFill>
                  <a:schemeClr val="tx1"/>
                </a:solidFill>
                <a:effectLst/>
                <a:latin typeface="+mn-lt"/>
                <a:ea typeface="+mn-ea"/>
                <a:cs typeface="+mn-cs"/>
              </a:rPr>
              <a:t>catalog</a:t>
            </a:r>
            <a:r>
              <a:rPr lang="en-GB" sz="1200" kern="1200" dirty="0">
                <a:solidFill>
                  <a:schemeClr val="tx1"/>
                </a:solidFill>
                <a:effectLst/>
                <a:latin typeface="+mn-lt"/>
                <a:ea typeface="+mn-ea"/>
                <a:cs typeface="+mn-cs"/>
              </a:rPr>
              <a:t> decay. Avoid hidden switches. And avoid multiple unaligned data sources. These are the fastest ways to lose trust in the setup.</a:t>
            </a:r>
          </a:p>
        </p:txBody>
      </p:sp>
      <p:sp>
        <p:nvSpPr>
          <p:cNvPr id="4" name="Slide Number Placeholder 3">
            <a:extLst>
              <a:ext uri="{FF2B5EF4-FFF2-40B4-BE49-F238E27FC236}">
                <a16:creationId xmlns:a16="http://schemas.microsoft.com/office/drawing/2014/main" id="{DC80F365-2F3B-E9D9-D026-764F0251211D}"/>
              </a:ext>
            </a:extLst>
          </p:cNvPr>
          <p:cNvSpPr>
            <a:spLocks noGrp="1"/>
          </p:cNvSpPr>
          <p:nvPr>
            <p:ph type="sldNum" sz="quarter" idx="5"/>
          </p:nvPr>
        </p:nvSpPr>
        <p:spPr/>
        <p:txBody>
          <a:bodyPr/>
          <a:lstStyle/>
          <a:p>
            <a:fld id="{32E493A8-C3B5-4F34-85D2-0ABCBCCB00F1}" type="slidenum">
              <a:rPr lang="en-GB" smtClean="0"/>
              <a:t>20</a:t>
            </a:fld>
            <a:endParaRPr lang="en-GB"/>
          </a:p>
        </p:txBody>
      </p:sp>
    </p:spTree>
    <p:extLst>
      <p:ext uri="{BB962C8B-B14F-4D97-AF65-F5344CB8AC3E}">
        <p14:creationId xmlns:p14="http://schemas.microsoft.com/office/powerpoint/2010/main" val="3937624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A6D75-99F6-6A28-3CDF-3B15C290D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71810-0394-1AA6-9E19-2EC94AE68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AF2C2-089D-99DE-D382-AD2169C88766}"/>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21 - Key Takeaways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MSW is not just a test utility; it is developer productivity infrastructure. Keep one real integration path alive. Make runtime state visible. And unify real data sources to avoid drift.</a:t>
            </a:r>
          </a:p>
        </p:txBody>
      </p:sp>
      <p:sp>
        <p:nvSpPr>
          <p:cNvPr id="4" name="Slide Number Placeholder 3">
            <a:extLst>
              <a:ext uri="{FF2B5EF4-FFF2-40B4-BE49-F238E27FC236}">
                <a16:creationId xmlns:a16="http://schemas.microsoft.com/office/drawing/2014/main" id="{873FB23A-B57B-2E03-7266-A66C1A584040}"/>
              </a:ext>
            </a:extLst>
          </p:cNvPr>
          <p:cNvSpPr>
            <a:spLocks noGrp="1"/>
          </p:cNvSpPr>
          <p:nvPr>
            <p:ph type="sldNum" sz="quarter" idx="5"/>
          </p:nvPr>
        </p:nvSpPr>
        <p:spPr/>
        <p:txBody>
          <a:bodyPr/>
          <a:lstStyle/>
          <a:p>
            <a:fld id="{32E493A8-C3B5-4F34-85D2-0ABCBCCB00F1}" type="slidenum">
              <a:rPr lang="en-GB" smtClean="0"/>
              <a:t>21</a:t>
            </a:fld>
            <a:endParaRPr lang="en-GB"/>
          </a:p>
        </p:txBody>
      </p:sp>
    </p:spTree>
    <p:extLst>
      <p:ext uri="{BB962C8B-B14F-4D97-AF65-F5344CB8AC3E}">
        <p14:creationId xmlns:p14="http://schemas.microsoft.com/office/powerpoint/2010/main" val="3745161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dirty="0"/>
          </a:p>
        </p:txBody>
      </p:sp>
      <p:sp>
        <p:nvSpPr>
          <p:cNvPr id="4" name="Slide Number Placeholder 3"/>
          <p:cNvSpPr>
            <a:spLocks noGrp="1"/>
          </p:cNvSpPr>
          <p:nvPr>
            <p:ph type="sldNum" sz="quarter" idx="5"/>
          </p:nvPr>
        </p:nvSpPr>
        <p:spPr/>
        <p:txBody>
          <a:bodyPr/>
          <a:lstStyle/>
          <a:p>
            <a:fld id="{32E493A8-C3B5-4F34-85D2-0ABCBCCB00F1}" type="slidenum">
              <a:rPr lang="en-GB" smtClean="0"/>
              <a:t>22</a:t>
            </a:fld>
            <a:endParaRPr lang="en-GB"/>
          </a:p>
        </p:txBody>
      </p:sp>
    </p:spTree>
    <p:extLst>
      <p:ext uri="{BB962C8B-B14F-4D97-AF65-F5344CB8AC3E}">
        <p14:creationId xmlns:p14="http://schemas.microsoft.com/office/powerpoint/2010/main" val="1854173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C26A7-E990-4287-AFC2-9CD77072D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BF3EC-0F7A-E6B8-A300-68A916C7B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7EF01-F2F7-B278-33D1-C927EEE449F2}"/>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Slide 22 - Q&amp;A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Thanks a lot. If useful, I can share a runtime-control checklist, scenario template, and a phased rollout plan after the session.</a:t>
            </a:r>
          </a:p>
        </p:txBody>
      </p:sp>
      <p:sp>
        <p:nvSpPr>
          <p:cNvPr id="4" name="Slide Number Placeholder 3">
            <a:extLst>
              <a:ext uri="{FF2B5EF4-FFF2-40B4-BE49-F238E27FC236}">
                <a16:creationId xmlns:a16="http://schemas.microsoft.com/office/drawing/2014/main" id="{1E4DF659-4E24-68E9-6A39-79A4978B214C}"/>
              </a:ext>
            </a:extLst>
          </p:cNvPr>
          <p:cNvSpPr>
            <a:spLocks noGrp="1"/>
          </p:cNvSpPr>
          <p:nvPr>
            <p:ph type="sldNum" sz="quarter" idx="5"/>
          </p:nvPr>
        </p:nvSpPr>
        <p:spPr/>
        <p:txBody>
          <a:bodyPr/>
          <a:lstStyle/>
          <a:p>
            <a:fld id="{32E493A8-C3B5-4F34-85D2-0ABCBCCB00F1}" type="slidenum">
              <a:rPr lang="en-GB" smtClean="0"/>
              <a:t>23</a:t>
            </a:fld>
            <a:endParaRPr lang="en-GB"/>
          </a:p>
        </p:txBody>
      </p:sp>
    </p:spTree>
    <p:extLst>
      <p:ext uri="{BB962C8B-B14F-4D97-AF65-F5344CB8AC3E}">
        <p14:creationId xmlns:p14="http://schemas.microsoft.com/office/powerpoint/2010/main" val="34023335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solidFill>
          <a:schemeClr val="tx2"/>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50FF8A51-943A-284B-9CE2-772FB61EFBE9}"/>
              </a:ext>
            </a:extLst>
          </p:cNvPr>
          <p:cNvSpPr/>
          <p:nvPr userDrawn="1"/>
        </p:nvSpPr>
        <p:spPr>
          <a:xfrm>
            <a:off x="0" y="-5"/>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gradFill>
            <a:gsLst>
              <a:gs pos="30000">
                <a:schemeClr val="tx2"/>
              </a:gs>
              <a:gs pos="100000">
                <a:schemeClr val="accent4"/>
              </a:gs>
            </a:gsLst>
            <a:lin ang="198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err="1">
              <a:solidFill>
                <a:schemeClr val="tx2"/>
              </a:solidFill>
            </a:endParaRPr>
          </a:p>
        </p:txBody>
      </p:sp>
      <p:sp>
        <p:nvSpPr>
          <p:cNvPr id="2" name="Title 1"/>
          <p:cNvSpPr>
            <a:spLocks noGrp="1"/>
          </p:cNvSpPr>
          <p:nvPr>
            <p:ph type="title"/>
          </p:nvPr>
        </p:nvSpPr>
        <p:spPr bwMode="gray">
          <a:xfrm>
            <a:off x="1416050" y="1080000"/>
            <a:ext cx="6300000" cy="1801258"/>
          </a:xfrm>
          <a:noFill/>
        </p:spPr>
        <p:txBody>
          <a:bodyPr anchor="b"/>
          <a:lstStyle>
            <a:lvl1pPr>
              <a:defRPr sz="4400" cap="none" baseline="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49" y="2891928"/>
            <a:ext cx="6300000"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D5F7A853-A810-FA4B-8D03-89511CCB9D9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8328"/>
          <a:stretch/>
        </p:blipFill>
        <p:spPr>
          <a:xfrm>
            <a:off x="1413883" y="4702598"/>
            <a:ext cx="3955022" cy="1415173"/>
          </a:xfrm>
          <a:prstGeom prst="rect">
            <a:avLst/>
          </a:prstGeom>
        </p:spPr>
      </p:pic>
    </p:spTree>
    <p:extLst>
      <p:ext uri="{BB962C8B-B14F-4D97-AF65-F5344CB8AC3E}">
        <p14:creationId xmlns:p14="http://schemas.microsoft.com/office/powerpoint/2010/main" val="59805158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Corporate Divider">
    <p:bg>
      <p:bgPr>
        <a:solidFill>
          <a:schemeClr val="tx2"/>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E0250D4-EAD3-C64E-A16A-0BD9CF0E0877}"/>
              </a:ext>
            </a:extLst>
          </p:cNvPr>
          <p:cNvSpPr/>
          <p:nvPr userDrawn="1"/>
        </p:nvSpPr>
        <p:spPr>
          <a:xfrm>
            <a:off x="-2167" y="-10891"/>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gradFill>
            <a:gsLst>
              <a:gs pos="30000">
                <a:schemeClr val="tx2"/>
              </a:gs>
              <a:gs pos="100000">
                <a:schemeClr val="accent4"/>
              </a:gs>
            </a:gsLst>
            <a:lin ang="198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err="1">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4" name="Graphic 3">
            <a:extLst>
              <a:ext uri="{FF2B5EF4-FFF2-40B4-BE49-F238E27FC236}">
                <a16:creationId xmlns:a16="http://schemas.microsoft.com/office/drawing/2014/main" id="{A4F59E47-24C0-1452-3032-31B8F5CC8F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8328"/>
          <a:stretch/>
        </p:blipFill>
        <p:spPr>
          <a:xfrm>
            <a:off x="1413883" y="4702598"/>
            <a:ext cx="3955022" cy="1415173"/>
          </a:xfrm>
          <a:prstGeom prst="rect">
            <a:avLst/>
          </a:prstGeom>
        </p:spPr>
      </p:pic>
    </p:spTree>
    <p:extLst>
      <p:ext uri="{BB962C8B-B14F-4D97-AF65-F5344CB8AC3E}">
        <p14:creationId xmlns:p14="http://schemas.microsoft.com/office/powerpoint/2010/main" val="104774604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_Racing">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1008C7E7-BD25-A547-A4E8-D5122F27FEF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9825" y="193528"/>
            <a:ext cx="7568946" cy="7568946"/>
          </a:xfrm>
          <a:prstGeom prst="rect">
            <a:avLst/>
          </a:prstGeom>
        </p:spPr>
      </p:pic>
      <p:pic>
        <p:nvPicPr>
          <p:cNvPr id="6" name="Graphic 5">
            <a:extLst>
              <a:ext uri="{FF2B5EF4-FFF2-40B4-BE49-F238E27FC236}">
                <a16:creationId xmlns:a16="http://schemas.microsoft.com/office/drawing/2014/main" id="{D70F3133-226B-5E48-A794-2DBAD54FB3F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0488" y="4597056"/>
            <a:ext cx="2738120" cy="1896110"/>
          </a:xfrm>
          <a:prstGeom prst="rect">
            <a:avLst/>
          </a:prstGeom>
        </p:spPr>
      </p:pic>
    </p:spTree>
    <p:extLst>
      <p:ext uri="{BB962C8B-B14F-4D97-AF65-F5344CB8AC3E}">
        <p14:creationId xmlns:p14="http://schemas.microsoft.com/office/powerpoint/2010/main" val="32914599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Title Slide_Illustration">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416050" y="1080000"/>
            <a:ext cx="6300000" cy="1801258"/>
          </a:xfrm>
          <a:noFill/>
        </p:spPr>
        <p:txBody>
          <a:bodyPr anchor="b"/>
          <a:lstStyle>
            <a:lvl1pPr>
              <a:defRPr sz="4400" cap="none" baseline="0">
                <a:solidFill>
                  <a:schemeClr val="bg1"/>
                </a:solidFill>
              </a:defRPr>
            </a:lvl1pPr>
          </a:lstStyle>
          <a:p>
            <a:r>
              <a:rPr lang="en-GB" noProof="0" dirty="0"/>
              <a:t>Click to edit Master title style    </a:t>
            </a:r>
          </a:p>
        </p:txBody>
      </p:sp>
      <p:sp>
        <p:nvSpPr>
          <p:cNvPr id="3" name="Text Placeholder 2"/>
          <p:cNvSpPr>
            <a:spLocks noGrp="1"/>
          </p:cNvSpPr>
          <p:nvPr>
            <p:ph type="body" idx="1"/>
          </p:nvPr>
        </p:nvSpPr>
        <p:spPr bwMode="gray">
          <a:xfrm>
            <a:off x="1416049" y="2891928"/>
            <a:ext cx="6300000"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2A56A454-F850-184D-9AF4-7C5FC2CD524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6" name="Graphic 5">
            <a:extLst>
              <a:ext uri="{FF2B5EF4-FFF2-40B4-BE49-F238E27FC236}">
                <a16:creationId xmlns:a16="http://schemas.microsoft.com/office/drawing/2014/main" id="{EC2F8E6C-7EFA-8446-8C2D-51FA1A4C8F9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00800" y="193528"/>
            <a:ext cx="7568946" cy="7568946"/>
          </a:xfrm>
          <a:prstGeom prst="rect">
            <a:avLst/>
          </a:prstGeom>
        </p:spPr>
      </p:pic>
    </p:spTree>
    <p:extLst>
      <p:ext uri="{BB962C8B-B14F-4D97-AF65-F5344CB8AC3E}">
        <p14:creationId xmlns:p14="http://schemas.microsoft.com/office/powerpoint/2010/main" val="348735463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_Football">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7FAA15F8-0B4E-E649-AEFE-2F0FBC6238F9}"/>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9" name="Title 1">
            <a:extLst>
              <a:ext uri="{FF2B5EF4-FFF2-40B4-BE49-F238E27FC236}">
                <a16:creationId xmlns:a16="http://schemas.microsoft.com/office/drawing/2014/main" id="{6B947DD1-5D2B-A846-AFBC-18241874B756}"/>
              </a:ext>
            </a:extLst>
          </p:cNvPr>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10" name="Text Placeholder 2">
            <a:extLst>
              <a:ext uri="{FF2B5EF4-FFF2-40B4-BE49-F238E27FC236}">
                <a16:creationId xmlns:a16="http://schemas.microsoft.com/office/drawing/2014/main" id="{6A567746-1F72-824B-828A-BB591C1BB2CC}"/>
              </a:ext>
            </a:extLst>
          </p:cNvPr>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11" name="Graphic 10">
            <a:extLst>
              <a:ext uri="{FF2B5EF4-FFF2-40B4-BE49-F238E27FC236}">
                <a16:creationId xmlns:a16="http://schemas.microsoft.com/office/drawing/2014/main" id="{D951DD59-B078-604A-B817-3DCD0A144A9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13" name="Graphic 12">
            <a:extLst>
              <a:ext uri="{FF2B5EF4-FFF2-40B4-BE49-F238E27FC236}">
                <a16:creationId xmlns:a16="http://schemas.microsoft.com/office/drawing/2014/main" id="{C6353798-7ACE-D44E-BE6D-B53C41E09A6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2250" y="447274"/>
            <a:ext cx="7568946" cy="7568946"/>
          </a:xfrm>
          <a:prstGeom prst="rect">
            <a:avLst/>
          </a:prstGeom>
        </p:spPr>
      </p:pic>
    </p:spTree>
    <p:extLst>
      <p:ext uri="{BB962C8B-B14F-4D97-AF65-F5344CB8AC3E}">
        <p14:creationId xmlns:p14="http://schemas.microsoft.com/office/powerpoint/2010/main" val="61119319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Section Header_Racing_imagery">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F1080F9-D4F7-C341-AA23-F370B12C1A5F}"/>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sp>
        <p:nvSpPr>
          <p:cNvPr id="6" name="TextBox 5">
            <a:extLst>
              <a:ext uri="{FF2B5EF4-FFF2-40B4-BE49-F238E27FC236}">
                <a16:creationId xmlns:a16="http://schemas.microsoft.com/office/drawing/2014/main" id="{361DD600-B85B-D94B-9D65-20AA78AA0807}"/>
              </a:ext>
            </a:extLst>
          </p:cNvPr>
          <p:cNvSpPr txBox="1"/>
          <p:nvPr userDrawn="1"/>
        </p:nvSpPr>
        <p:spPr>
          <a:xfrm>
            <a:off x="15510933" y="5565422"/>
            <a:ext cx="0" cy="0"/>
          </a:xfrm>
          <a:prstGeom prst="rect">
            <a:avLst/>
          </a:prstGeom>
          <a:noFill/>
        </p:spPr>
        <p:txBody>
          <a:bodyPr wrap="none" lIns="0" tIns="0" rIns="0" bIns="0" rtlCol="0">
            <a:noAutofit/>
          </a:bodyPr>
          <a:lstStyle/>
          <a:p>
            <a:endParaRPr lang="en-US" sz="1700" dirty="0" err="1">
              <a:solidFill>
                <a:schemeClr val="tx2"/>
              </a:solidFill>
            </a:endParaRPr>
          </a:p>
        </p:txBody>
      </p:sp>
      <p:sp>
        <p:nvSpPr>
          <p:cNvPr id="7" name="TextBox 6">
            <a:extLst>
              <a:ext uri="{FF2B5EF4-FFF2-40B4-BE49-F238E27FC236}">
                <a16:creationId xmlns:a16="http://schemas.microsoft.com/office/drawing/2014/main" id="{492D9542-8CDF-5240-9EBC-0C71572BDF72}"/>
              </a:ext>
            </a:extLst>
          </p:cNvPr>
          <p:cNvSpPr txBox="1"/>
          <p:nvPr userDrawn="1"/>
        </p:nvSpPr>
        <p:spPr>
          <a:xfrm>
            <a:off x="13840178" y="-428978"/>
            <a:ext cx="0" cy="0"/>
          </a:xfrm>
          <a:prstGeom prst="rect">
            <a:avLst/>
          </a:prstGeom>
          <a:noFill/>
        </p:spPr>
        <p:txBody>
          <a:bodyPr wrap="none" lIns="0" tIns="0" rIns="0" bIns="0" rtlCol="0">
            <a:noAutofit/>
          </a:bodyPr>
          <a:lstStyle/>
          <a:p>
            <a:endParaRPr lang="en-US" sz="1700" dirty="0" err="1">
              <a:solidFill>
                <a:schemeClr val="tx2"/>
              </a:solidFill>
            </a:endParaRPr>
          </a:p>
        </p:txBody>
      </p:sp>
      <p:sp>
        <p:nvSpPr>
          <p:cNvPr id="8" name="TextBox 7">
            <a:extLst>
              <a:ext uri="{FF2B5EF4-FFF2-40B4-BE49-F238E27FC236}">
                <a16:creationId xmlns:a16="http://schemas.microsoft.com/office/drawing/2014/main" id="{AFF15851-797A-D249-852D-E919393B209C}"/>
              </a:ext>
            </a:extLst>
          </p:cNvPr>
          <p:cNvSpPr txBox="1"/>
          <p:nvPr userDrawn="1"/>
        </p:nvSpPr>
        <p:spPr>
          <a:xfrm>
            <a:off x="14122400" y="-293511"/>
            <a:ext cx="0" cy="0"/>
          </a:xfrm>
          <a:prstGeom prst="rect">
            <a:avLst/>
          </a:prstGeom>
          <a:noFill/>
        </p:spPr>
        <p:txBody>
          <a:bodyPr wrap="none" lIns="0" tIns="0" rIns="0" bIns="0" rtlCol="0">
            <a:noAutofit/>
          </a:bodyPr>
          <a:lstStyle/>
          <a:p>
            <a:endParaRPr lang="en-US" sz="1700" dirty="0" err="1">
              <a:solidFill>
                <a:schemeClr val="tx2"/>
              </a:solidFill>
            </a:endParaRPr>
          </a:p>
        </p:txBody>
      </p:sp>
      <p:sp>
        <p:nvSpPr>
          <p:cNvPr id="4" name="TextBox 3">
            <a:extLst>
              <a:ext uri="{FF2B5EF4-FFF2-40B4-BE49-F238E27FC236}">
                <a16:creationId xmlns:a16="http://schemas.microsoft.com/office/drawing/2014/main" id="{D6A3BA23-3FAD-0542-BFF0-B83F1E0564CF}"/>
              </a:ext>
            </a:extLst>
          </p:cNvPr>
          <p:cNvSpPr txBox="1"/>
          <p:nvPr userDrawn="1"/>
        </p:nvSpPr>
        <p:spPr>
          <a:xfrm>
            <a:off x="6324600" y="7264400"/>
            <a:ext cx="0" cy="0"/>
          </a:xfrm>
          <a:prstGeom prst="rect">
            <a:avLst/>
          </a:prstGeom>
          <a:noFill/>
        </p:spPr>
        <p:txBody>
          <a:bodyPr wrap="none" lIns="0" tIns="0" rIns="0" bIns="0" rtlCol="0">
            <a:noAutofit/>
          </a:bodyPr>
          <a:lstStyle/>
          <a:p>
            <a:endParaRPr lang="en-US" sz="1700" dirty="0" err="1">
              <a:solidFill>
                <a:schemeClr val="tx2"/>
              </a:solidFill>
            </a:endParaRPr>
          </a:p>
        </p:txBody>
      </p:sp>
      <p:sp>
        <p:nvSpPr>
          <p:cNvPr id="9" name="TextBox 8">
            <a:extLst>
              <a:ext uri="{FF2B5EF4-FFF2-40B4-BE49-F238E27FC236}">
                <a16:creationId xmlns:a16="http://schemas.microsoft.com/office/drawing/2014/main" id="{E2251860-E123-FB4F-9499-E3F67B001179}"/>
              </a:ext>
            </a:extLst>
          </p:cNvPr>
          <p:cNvSpPr txBox="1"/>
          <p:nvPr userDrawn="1"/>
        </p:nvSpPr>
        <p:spPr>
          <a:xfrm>
            <a:off x="8741664" y="-420624"/>
            <a:ext cx="0" cy="0"/>
          </a:xfrm>
          <a:prstGeom prst="rect">
            <a:avLst/>
          </a:prstGeom>
          <a:noFill/>
        </p:spPr>
        <p:txBody>
          <a:bodyPr wrap="none" lIns="0" tIns="0" rIns="0" bIns="0" rtlCol="0">
            <a:noAutofit/>
          </a:bodyPr>
          <a:lstStyle/>
          <a:p>
            <a:endParaRPr lang="en-US" sz="1700" dirty="0" err="1">
              <a:solidFill>
                <a:schemeClr val="tx2"/>
              </a:solidFill>
            </a:endParaRPr>
          </a:p>
        </p:txBody>
      </p:sp>
      <p:pic>
        <p:nvPicPr>
          <p:cNvPr id="10" name="Graphic 9">
            <a:extLst>
              <a:ext uri="{FF2B5EF4-FFF2-40B4-BE49-F238E27FC236}">
                <a16:creationId xmlns:a16="http://schemas.microsoft.com/office/drawing/2014/main" id="{22348E3E-97E0-8443-BF38-1BB44B57AB8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13" name="Graphic 12">
            <a:extLst>
              <a:ext uri="{FF2B5EF4-FFF2-40B4-BE49-F238E27FC236}">
                <a16:creationId xmlns:a16="http://schemas.microsoft.com/office/drawing/2014/main" id="{78C5BD67-C042-F649-8A48-1ACFE28986C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173" y="6327"/>
            <a:ext cx="7568946" cy="7568946"/>
          </a:xfrm>
          <a:prstGeom prst="rect">
            <a:avLst/>
          </a:prstGeom>
        </p:spPr>
      </p:pic>
    </p:spTree>
    <p:extLst>
      <p:ext uri="{BB962C8B-B14F-4D97-AF65-F5344CB8AC3E}">
        <p14:creationId xmlns:p14="http://schemas.microsoft.com/office/powerpoint/2010/main" val="38590650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2_Section Header_Football_imagery">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5534059E-9A41-0047-AA27-41DAEDEADA84}"/>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176D0897-632A-944F-B7B0-3FCA1005D2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7" name="Graphic 6">
            <a:extLst>
              <a:ext uri="{FF2B5EF4-FFF2-40B4-BE49-F238E27FC236}">
                <a16:creationId xmlns:a16="http://schemas.microsoft.com/office/drawing/2014/main" id="{885E9508-2FD3-9949-8367-81A388D2FF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173" y="6327"/>
            <a:ext cx="7568946" cy="7568946"/>
          </a:xfrm>
          <a:prstGeom prst="rect">
            <a:avLst/>
          </a:prstGeom>
        </p:spPr>
      </p:pic>
    </p:spTree>
    <p:extLst>
      <p:ext uri="{BB962C8B-B14F-4D97-AF65-F5344CB8AC3E}">
        <p14:creationId xmlns:p14="http://schemas.microsoft.com/office/powerpoint/2010/main" val="20656369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_Generic Sports">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56E985CE-6526-DF4F-8BAB-C57819EDA10E}"/>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30BF4EB3-E377-A143-900A-3DD819DD78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7" name="Graphic 6">
            <a:extLst>
              <a:ext uri="{FF2B5EF4-FFF2-40B4-BE49-F238E27FC236}">
                <a16:creationId xmlns:a16="http://schemas.microsoft.com/office/drawing/2014/main" id="{2AC47D45-2709-0B42-8475-0F2551033C8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32793" y="193528"/>
            <a:ext cx="7568946" cy="7568946"/>
          </a:xfrm>
          <a:prstGeom prst="rect">
            <a:avLst/>
          </a:prstGeom>
        </p:spPr>
      </p:pic>
    </p:spTree>
    <p:extLst>
      <p:ext uri="{BB962C8B-B14F-4D97-AF65-F5344CB8AC3E}">
        <p14:creationId xmlns:p14="http://schemas.microsoft.com/office/powerpoint/2010/main" val="116308761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3_Section Header_Generic Sports_imagery">
    <p:bg>
      <p:bgPr>
        <a:solidFill>
          <a:schemeClr val="accent3"/>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335C1E63-E969-4746-8124-3487ACA2B2F7}"/>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D3EEDE43-6F0E-604D-86DA-E6521A0CA44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8" name="Graphic 7">
            <a:extLst>
              <a:ext uri="{FF2B5EF4-FFF2-40B4-BE49-F238E27FC236}">
                <a16:creationId xmlns:a16="http://schemas.microsoft.com/office/drawing/2014/main" id="{B80EF8B3-E348-964C-8043-50B36839A34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863" y="10648"/>
            <a:ext cx="7568946" cy="7568946"/>
          </a:xfrm>
          <a:prstGeom prst="rect">
            <a:avLst/>
          </a:prstGeom>
        </p:spPr>
      </p:pic>
    </p:spTree>
    <p:extLst>
      <p:ext uri="{BB962C8B-B14F-4D97-AF65-F5344CB8AC3E}">
        <p14:creationId xmlns:p14="http://schemas.microsoft.com/office/powerpoint/2010/main" val="229687170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4_Section Header_Vegas">
    <p:bg>
      <p:bgPr>
        <a:solidFill>
          <a:schemeClr val="accent3"/>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8DF3FB81-2344-1841-B402-6E9715156FC1}"/>
              </a:ext>
            </a:extLst>
          </p:cNvPr>
          <p:cNvSpPr/>
          <p:nvPr userDrawn="1"/>
        </p:nvSpPr>
        <p:spPr>
          <a:xfrm>
            <a:off x="0" y="0"/>
            <a:ext cx="10778117" cy="6858000"/>
          </a:xfrm>
          <a:custGeom>
            <a:avLst/>
            <a:gdLst>
              <a:gd name="connsiteX0" fmla="*/ 0 w 10778117"/>
              <a:gd name="connsiteY0" fmla="*/ 0 h 6858000"/>
              <a:gd name="connsiteX1" fmla="*/ 1345790 w 10778117"/>
              <a:gd name="connsiteY1" fmla="*/ 0 h 6858000"/>
              <a:gd name="connsiteX2" fmla="*/ 1864800 w 10778117"/>
              <a:gd name="connsiteY2" fmla="*/ 0 h 6858000"/>
              <a:gd name="connsiteX3" fmla="*/ 10778117 w 10778117"/>
              <a:gd name="connsiteY3" fmla="*/ 0 h 6858000"/>
              <a:gd name="connsiteX4" fmla="*/ 6334933 w 10778117"/>
              <a:gd name="connsiteY4" fmla="*/ 6857003 h 6858000"/>
              <a:gd name="connsiteX5" fmla="*/ 1864800 w 10778117"/>
              <a:gd name="connsiteY5" fmla="*/ 6857717 h 6858000"/>
              <a:gd name="connsiteX6" fmla="*/ 1864800 w 10778117"/>
              <a:gd name="connsiteY6" fmla="*/ 6858000 h 6858000"/>
              <a:gd name="connsiteX7" fmla="*/ 0 w 107781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78117" h="6858000">
                <a:moveTo>
                  <a:pt x="0" y="0"/>
                </a:moveTo>
                <a:lnTo>
                  <a:pt x="1345790" y="0"/>
                </a:lnTo>
                <a:lnTo>
                  <a:pt x="1864800" y="0"/>
                </a:lnTo>
                <a:lnTo>
                  <a:pt x="10778117" y="0"/>
                </a:lnTo>
                <a:lnTo>
                  <a:pt x="6334933" y="6857003"/>
                </a:lnTo>
                <a:lnTo>
                  <a:pt x="1864800" y="6857717"/>
                </a:lnTo>
                <a:lnTo>
                  <a:pt x="1864800" y="6858000"/>
                </a:lnTo>
                <a:lnTo>
                  <a:pt x="0" y="6858000"/>
                </a:lnTo>
                <a:close/>
              </a:path>
            </a:pathLst>
          </a:cu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US" sz="1700" dirty="0">
              <a:solidFill>
                <a:schemeClr val="tx2"/>
              </a:solidFill>
            </a:endParaRPr>
          </a:p>
        </p:txBody>
      </p:sp>
      <p:sp>
        <p:nvSpPr>
          <p:cNvPr id="2" name="Title 1"/>
          <p:cNvSpPr>
            <a:spLocks noGrp="1"/>
          </p:cNvSpPr>
          <p:nvPr>
            <p:ph type="title"/>
          </p:nvPr>
        </p:nvSpPr>
        <p:spPr bwMode="gray">
          <a:xfrm>
            <a:off x="1416049" y="1080000"/>
            <a:ext cx="6300000" cy="1800000"/>
          </a:xfrm>
          <a:noFill/>
        </p:spPr>
        <p:txBody>
          <a:bodyPr anchor="b"/>
          <a:lstStyle>
            <a:lvl1pPr>
              <a:defRPr sz="4400">
                <a:solidFill>
                  <a:schemeClr val="bg1"/>
                </a:solidFill>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1416050" y="2890800"/>
            <a:ext cx="6299999" cy="18000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a:t>Click to edit Master text styles</a:t>
            </a:r>
          </a:p>
        </p:txBody>
      </p:sp>
      <p:pic>
        <p:nvPicPr>
          <p:cNvPr id="5" name="Graphic 4">
            <a:extLst>
              <a:ext uri="{FF2B5EF4-FFF2-40B4-BE49-F238E27FC236}">
                <a16:creationId xmlns:a16="http://schemas.microsoft.com/office/drawing/2014/main" id="{616095B3-FC47-C847-82EE-3C2FA6148B6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0488" y="4597056"/>
            <a:ext cx="2738120" cy="1896110"/>
          </a:xfrm>
          <a:prstGeom prst="rect">
            <a:avLst/>
          </a:prstGeom>
        </p:spPr>
      </p:pic>
      <p:pic>
        <p:nvPicPr>
          <p:cNvPr id="7" name="Graphic 6">
            <a:extLst>
              <a:ext uri="{FF2B5EF4-FFF2-40B4-BE49-F238E27FC236}">
                <a16:creationId xmlns:a16="http://schemas.microsoft.com/office/drawing/2014/main" id="{DE0AB964-0EB5-9141-A8F9-2E5A5427B5D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36136" y="203153"/>
            <a:ext cx="7568946" cy="7568946"/>
          </a:xfrm>
          <a:prstGeom prst="rect">
            <a:avLst/>
          </a:prstGeom>
        </p:spPr>
      </p:pic>
    </p:spTree>
    <p:extLst>
      <p:ext uri="{BB962C8B-B14F-4D97-AF65-F5344CB8AC3E}">
        <p14:creationId xmlns:p14="http://schemas.microsoft.com/office/powerpoint/2010/main" val="27916198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FC7C723-4BBF-3849-8138-69CA12A2890A}"/>
              </a:ext>
            </a:extLst>
          </p:cNvPr>
          <p:cNvSpPr/>
          <p:nvPr userDrawn="1"/>
        </p:nvSpPr>
        <p:spPr>
          <a:xfrm>
            <a:off x="0" y="-11928"/>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noProof="0"/>
              <a:t>Click to edit Master title style</a:t>
            </a:r>
            <a:endParaRPr lang="en-GB" noProof="0" dirty="0"/>
          </a:p>
        </p:txBody>
      </p:sp>
      <p:sp>
        <p:nvSpPr>
          <p:cNvPr id="3" name="Content Placeholder 2"/>
          <p:cNvSpPr>
            <a:spLocks noGrp="1"/>
          </p:cNvSpPr>
          <p:nvPr>
            <p:ph idx="1"/>
          </p:nvPr>
        </p:nvSpPr>
        <p:spPr>
          <a:xfrm>
            <a:off x="1416050" y="1881187"/>
            <a:ext cx="9359900" cy="4284663"/>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 name="Date Placeholder 3"/>
          <p:cNvSpPr>
            <a:spLocks noGrp="1"/>
          </p:cNvSpPr>
          <p:nvPr>
            <p:ph type="dt" sz="half" idx="10"/>
          </p:nvPr>
        </p:nvSpPr>
        <p:spPr/>
        <p:txBody>
          <a:bodyPr/>
          <a:lstStyle/>
          <a:p>
            <a:fld id="{27E6C490-1BA8-435E-B051-906088864AE3}" type="datetimeFigureOut">
              <a:rPr lang="en-GB" smtClean="0"/>
              <a:t>22/04/2026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A1A8F14-8CA7-4559-9757-C97ADDEF7DEE}" type="slidenum">
              <a:rPr lang="en-GB" smtClean="0"/>
              <a:t>‹#›</a:t>
            </a:fld>
            <a:endParaRPr lang="en-GB"/>
          </a:p>
        </p:txBody>
      </p:sp>
      <p:pic>
        <p:nvPicPr>
          <p:cNvPr id="10" name="Graphic 9">
            <a:extLst>
              <a:ext uri="{FF2B5EF4-FFF2-40B4-BE49-F238E27FC236}">
                <a16:creationId xmlns:a16="http://schemas.microsoft.com/office/drawing/2014/main" id="{9552FB22-E3D3-DE4A-988B-2C37470DCE9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329937075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One column - Navy">
    <p:bg>
      <p:bgPr>
        <a:solidFill>
          <a:schemeClr val="tx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6CD62C2-A67B-EF4A-ACFF-7E6F98222B5C}"/>
              </a:ext>
            </a:extLst>
          </p:cNvPr>
          <p:cNvSpPr/>
          <p:nvPr userDrawn="1"/>
        </p:nvSpPr>
        <p:spPr>
          <a:xfrm>
            <a:off x="0" y="0"/>
            <a:ext cx="12192000" cy="507600"/>
          </a:xfrm>
          <a:prstGeom prst="rect">
            <a:avLst/>
          </a:prstGeom>
          <a:gradFill flip="none" rotWithShape="1">
            <a:gsLst>
              <a:gs pos="65000">
                <a:schemeClr val="tx2">
                  <a:lumMod val="99000"/>
                  <a:lumOff val="1000"/>
                </a:schemeClr>
              </a:gs>
              <a:gs pos="99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noFill/>
        </p:spPr>
        <p:txBody>
          <a:bodyPr/>
          <a:lstStyle>
            <a:lvl1pPr>
              <a:defRPr>
                <a:solidFill>
                  <a:schemeClr val="bg1"/>
                </a:solidFill>
              </a:defRPr>
            </a:lvl1pPr>
          </a:lstStyle>
          <a:p>
            <a:r>
              <a:rPr lang="en-GB" noProof="0"/>
              <a:t>Click to edit Master title style</a:t>
            </a:r>
            <a:endParaRPr lang="en-GB" noProof="0" dirty="0"/>
          </a:p>
        </p:txBody>
      </p:sp>
      <p:sp>
        <p:nvSpPr>
          <p:cNvPr id="3" name="Content Placeholder 2"/>
          <p:cNvSpPr>
            <a:spLocks noGrp="1"/>
          </p:cNvSpPr>
          <p:nvPr>
            <p:ph idx="1"/>
          </p:nvPr>
        </p:nvSpPr>
        <p:spPr>
          <a:xfrm>
            <a:off x="1416050" y="1881187"/>
            <a:ext cx="9359900" cy="42846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 name="Date Placeholder 3"/>
          <p:cNvSpPr>
            <a:spLocks noGrp="1"/>
          </p:cNvSpPr>
          <p:nvPr>
            <p:ph type="dt" sz="half" idx="10"/>
          </p:nvPr>
        </p:nvSpPr>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A1A8F14-8CA7-4559-9757-C97ADDEF7DEE}" type="slidenum">
              <a:rPr lang="en-GB" smtClean="0"/>
              <a:t>‹#›</a:t>
            </a:fld>
            <a:endParaRPr lang="en-GB"/>
          </a:p>
        </p:txBody>
      </p:sp>
      <p:pic>
        <p:nvPicPr>
          <p:cNvPr id="7" name="Graphic 6">
            <a:extLst>
              <a:ext uri="{FF2B5EF4-FFF2-40B4-BE49-F238E27FC236}">
                <a16:creationId xmlns:a16="http://schemas.microsoft.com/office/drawing/2014/main" id="{BCDBEBBB-8C26-8B57-54EC-2BE3FEF7342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68946092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One column - Internal blue">
    <p:bg>
      <p:bgPr>
        <a:solidFill>
          <a:schemeClr val="accent3"/>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DF701F3-E771-EF4C-A52C-89D7A1160578}"/>
              </a:ext>
            </a:extLst>
          </p:cNvPr>
          <p:cNvSpPr/>
          <p:nvPr userDrawn="1"/>
        </p:nvSpPr>
        <p:spPr>
          <a:xfrm>
            <a:off x="0" y="0"/>
            <a:ext cx="12192000" cy="507600"/>
          </a:xfrm>
          <a:prstGeom prst="rect">
            <a:avLst/>
          </a:prstGeom>
          <a:gradFill flip="none" rotWithShape="1">
            <a:gsLst>
              <a:gs pos="65000">
                <a:schemeClr val="bg2"/>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noFill/>
        </p:spPr>
        <p:txBody>
          <a:bodyPr/>
          <a:lstStyle>
            <a:lvl1pPr>
              <a:defRPr>
                <a:solidFill>
                  <a:schemeClr val="bg2"/>
                </a:solidFill>
              </a:defRPr>
            </a:lvl1pPr>
          </a:lstStyle>
          <a:p>
            <a:r>
              <a:rPr lang="en-GB" noProof="0"/>
              <a:t>Click to edit Master title style</a:t>
            </a:r>
            <a:endParaRPr lang="en-GB" noProof="0" dirty="0"/>
          </a:p>
        </p:txBody>
      </p:sp>
      <p:sp>
        <p:nvSpPr>
          <p:cNvPr id="3" name="Content Placeholder 2"/>
          <p:cNvSpPr>
            <a:spLocks noGrp="1"/>
          </p:cNvSpPr>
          <p:nvPr>
            <p:ph idx="1"/>
          </p:nvPr>
        </p:nvSpPr>
        <p:spPr>
          <a:xfrm>
            <a:off x="1416050" y="1881187"/>
            <a:ext cx="9359900" cy="4284663"/>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2" name="Date Placeholder 3">
            <a:extLst>
              <a:ext uri="{FF2B5EF4-FFF2-40B4-BE49-F238E27FC236}">
                <a16:creationId xmlns:a16="http://schemas.microsoft.com/office/drawing/2014/main" id="{7D171635-1933-AB44-81E9-4CECE2F3C349}"/>
              </a:ext>
            </a:extLst>
          </p:cNvPr>
          <p:cNvSpPr>
            <a:spLocks noGrp="1"/>
          </p:cNvSpPr>
          <p:nvPr>
            <p:ph type="dt" sz="half" idx="10"/>
          </p:nvPr>
        </p:nvSpPr>
        <p:spPr>
          <a:xfrm>
            <a:off x="8610600" y="6570000"/>
            <a:ext cx="2165350" cy="288000"/>
          </a:xfrm>
        </p:spPr>
        <p:txBody>
          <a:bodyPr/>
          <a:lstStyle>
            <a:lvl1pPr>
              <a:defRPr>
                <a:solidFill>
                  <a:schemeClr val="tx1"/>
                </a:solidFill>
              </a:defRPr>
            </a:lvl1pPr>
          </a:lstStyle>
          <a:p>
            <a:fld id="{27E6C490-1BA8-435E-B051-906088864AE3}" type="datetimeFigureOut">
              <a:rPr lang="en-GB" smtClean="0"/>
              <a:pPr/>
              <a:t>22/04/2026</a:t>
            </a:fld>
            <a:endParaRPr lang="en-GB"/>
          </a:p>
        </p:txBody>
      </p:sp>
      <p:sp>
        <p:nvSpPr>
          <p:cNvPr id="13" name="Footer Placeholder 4">
            <a:extLst>
              <a:ext uri="{FF2B5EF4-FFF2-40B4-BE49-F238E27FC236}">
                <a16:creationId xmlns:a16="http://schemas.microsoft.com/office/drawing/2014/main" id="{012DBECD-94C1-EF41-BDA3-6B0122DEDEA3}"/>
              </a:ext>
            </a:extLst>
          </p:cNvPr>
          <p:cNvSpPr>
            <a:spLocks noGrp="1"/>
          </p:cNvSpPr>
          <p:nvPr>
            <p:ph type="ftr" sz="quarter" idx="11"/>
          </p:nvPr>
        </p:nvSpPr>
        <p:spPr>
          <a:xfrm>
            <a:off x="4038600" y="6570000"/>
            <a:ext cx="4114800" cy="288000"/>
          </a:xfrm>
        </p:spPr>
        <p:txBody>
          <a:bodyPr/>
          <a:lstStyle>
            <a:lvl1pPr>
              <a:defRPr>
                <a:solidFill>
                  <a:schemeClr val="tx1"/>
                </a:solidFill>
              </a:defRPr>
            </a:lvl1pPr>
          </a:lstStyle>
          <a:p>
            <a:endParaRPr lang="en-GB" dirty="0"/>
          </a:p>
        </p:txBody>
      </p:sp>
      <p:sp>
        <p:nvSpPr>
          <p:cNvPr id="14" name="Slide Number Placeholder 5">
            <a:extLst>
              <a:ext uri="{FF2B5EF4-FFF2-40B4-BE49-F238E27FC236}">
                <a16:creationId xmlns:a16="http://schemas.microsoft.com/office/drawing/2014/main" id="{6ED89430-5AD5-034C-B5EC-A7745B62E553}"/>
              </a:ext>
            </a:extLst>
          </p:cNvPr>
          <p:cNvSpPr>
            <a:spLocks noGrp="1"/>
          </p:cNvSpPr>
          <p:nvPr>
            <p:ph type="sldNum" sz="quarter" idx="12"/>
          </p:nvPr>
        </p:nvSpPr>
        <p:spPr>
          <a:xfrm>
            <a:off x="11372915" y="6570000"/>
            <a:ext cx="626378" cy="288000"/>
          </a:xfrm>
        </p:spPr>
        <p:txBody>
          <a:bodyPr/>
          <a:lstStyle>
            <a:lvl1pPr>
              <a:defRPr>
                <a:solidFill>
                  <a:schemeClr val="tx1"/>
                </a:solidFill>
              </a:defRPr>
            </a:lvl1pPr>
          </a:lstStyle>
          <a:p>
            <a:fld id="{EA1A8F14-8CA7-4559-9757-C97ADDEF7DEE}" type="slidenum">
              <a:rPr lang="en-GB" smtClean="0"/>
              <a:pPr/>
              <a:t>‹#›</a:t>
            </a:fld>
            <a:endParaRPr lang="en-GB"/>
          </a:p>
        </p:txBody>
      </p:sp>
      <p:pic>
        <p:nvPicPr>
          <p:cNvPr id="5" name="Graphic 4">
            <a:extLst>
              <a:ext uri="{FF2B5EF4-FFF2-40B4-BE49-F238E27FC236}">
                <a16:creationId xmlns:a16="http://schemas.microsoft.com/office/drawing/2014/main" id="{3E03836F-C47A-AC68-E609-6FA1E03106C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36736233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B6C5021-4095-0D44-A625-2EE85712AA2F}"/>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noFill/>
        </p:spPr>
        <p:txBody>
          <a:bodyPr/>
          <a:lstStyle/>
          <a:p>
            <a:r>
              <a:rPr lang="en-GB"/>
              <a:t>Click to edit Master title style</a:t>
            </a:r>
          </a:p>
        </p:txBody>
      </p:sp>
      <p:sp>
        <p:nvSpPr>
          <p:cNvPr id="3" name="Content Placeholder 2"/>
          <p:cNvSpPr>
            <a:spLocks noGrp="1"/>
          </p:cNvSpPr>
          <p:nvPr>
            <p:ph sz="half" idx="1"/>
          </p:nvPr>
        </p:nvSpPr>
        <p:spPr>
          <a:xfrm>
            <a:off x="1416050" y="1881188"/>
            <a:ext cx="450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275950" y="1881188"/>
            <a:ext cx="450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27E6C490-1BA8-435E-B051-906088864AE3}" type="datetimeFigureOut">
              <a:rPr lang="en-GB" smtClean="0"/>
              <a:t>22/04/2026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A1A8F14-8CA7-4559-9757-C97ADDEF7DEE}" type="slidenum">
              <a:rPr lang="en-GB" smtClean="0"/>
              <a:t>‹#›</a:t>
            </a:fld>
            <a:endParaRPr lang="en-GB"/>
          </a:p>
        </p:txBody>
      </p:sp>
      <p:pic>
        <p:nvPicPr>
          <p:cNvPr id="8" name="Graphic 7">
            <a:extLst>
              <a:ext uri="{FF2B5EF4-FFF2-40B4-BE49-F238E27FC236}">
                <a16:creationId xmlns:a16="http://schemas.microsoft.com/office/drawing/2014/main" id="{2C1FB486-DAE9-5DAB-B049-493D51D2253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135945602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4B0A2-3170-014C-9041-080BA8B3CCD4}"/>
              </a:ext>
            </a:extLst>
          </p:cNvPr>
          <p:cNvSpPr/>
          <p:nvPr userDrawn="1"/>
        </p:nvSpPr>
        <p:spPr>
          <a:xfrm>
            <a:off x="0" y="0"/>
            <a:ext cx="12192000" cy="507600"/>
          </a:xfrm>
          <a:prstGeom prst="rect">
            <a:avLst/>
          </a:prstGeom>
          <a:gradFill flip="none" rotWithShape="1">
            <a:gsLst>
              <a:gs pos="65000">
                <a:schemeClr val="tx2">
                  <a:lumMod val="99000"/>
                  <a:lumOff val="1000"/>
                </a:schemeClr>
              </a:gs>
              <a:gs pos="99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720000" y="792000"/>
            <a:ext cx="5196050" cy="900000"/>
          </a:xfrm>
        </p:spPr>
        <p:txBody>
          <a:bodyPr/>
          <a:lstStyle/>
          <a:p>
            <a:r>
              <a:rPr lang="en-GB"/>
              <a:t>Click to edit Master title style</a:t>
            </a:r>
          </a:p>
        </p:txBody>
      </p:sp>
      <p:sp>
        <p:nvSpPr>
          <p:cNvPr id="3" name="Content Placeholder 2"/>
          <p:cNvSpPr>
            <a:spLocks noGrp="1"/>
          </p:cNvSpPr>
          <p:nvPr>
            <p:ph sz="half" idx="1"/>
          </p:nvPr>
        </p:nvSpPr>
        <p:spPr>
          <a:xfrm>
            <a:off x="1416050" y="1881188"/>
            <a:ext cx="450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27E6C490-1BA8-435E-B051-906088864AE3}" type="datetimeFigureOut">
              <a:rPr lang="en-GB" smtClean="0"/>
              <a:t>22/04/2026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A1A8F14-8CA7-4559-9757-C97ADDEF7DEE}" type="slidenum">
              <a:rPr lang="en-GB" smtClean="0"/>
              <a:t>‹#›</a:t>
            </a:fld>
            <a:endParaRPr lang="en-GB"/>
          </a:p>
        </p:txBody>
      </p:sp>
      <p:sp>
        <p:nvSpPr>
          <p:cNvPr id="9" name="Picture Placeholder 8"/>
          <p:cNvSpPr>
            <a:spLocks noGrp="1"/>
          </p:cNvSpPr>
          <p:nvPr>
            <p:ph type="pic" sz="quarter" idx="13"/>
          </p:nvPr>
        </p:nvSpPr>
        <p:spPr>
          <a:xfrm>
            <a:off x="6096000" y="792000"/>
            <a:ext cx="5900350" cy="5378400"/>
          </a:xfrm>
        </p:spPr>
        <p:txBody>
          <a:bodyPr/>
          <a:lstStyle/>
          <a:p>
            <a:r>
              <a:rPr lang="en-GB"/>
              <a:t>Click icon to add picture</a:t>
            </a:r>
          </a:p>
        </p:txBody>
      </p:sp>
      <p:pic>
        <p:nvPicPr>
          <p:cNvPr id="4" name="Graphic 3">
            <a:extLst>
              <a:ext uri="{FF2B5EF4-FFF2-40B4-BE49-F238E27FC236}">
                <a16:creationId xmlns:a16="http://schemas.microsoft.com/office/drawing/2014/main" id="{A7D64468-C94D-7B46-5D28-0DB34017E09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165657182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lumn - Navy">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1B1FFCE-6149-1A42-83EC-ED947FFD30AE}"/>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bg1"/>
                </a:solidFill>
              </a:defRPr>
            </a:lvl1pPr>
          </a:lstStyle>
          <a:p>
            <a:r>
              <a:rPr lang="en-GB"/>
              <a:t>Click to edit Master title style</a:t>
            </a:r>
          </a:p>
        </p:txBody>
      </p:sp>
      <p:sp>
        <p:nvSpPr>
          <p:cNvPr id="3" name="Content Placeholder 2"/>
          <p:cNvSpPr>
            <a:spLocks noGrp="1"/>
          </p:cNvSpPr>
          <p:nvPr>
            <p:ph sz="half" idx="1"/>
          </p:nvPr>
        </p:nvSpPr>
        <p:spPr>
          <a:xfrm>
            <a:off x="1416050" y="1881188"/>
            <a:ext cx="4500000" cy="42846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275950" y="1881188"/>
            <a:ext cx="4500000" cy="42846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EA1A8F14-8CA7-4559-9757-C97ADDEF7DEE}" type="slidenum">
              <a:rPr lang="en-GB" smtClean="0"/>
              <a:t>‹#›</a:t>
            </a:fld>
            <a:endParaRPr lang="en-GB"/>
          </a:p>
        </p:txBody>
      </p:sp>
      <p:pic>
        <p:nvPicPr>
          <p:cNvPr id="8" name="Graphic 7">
            <a:extLst>
              <a:ext uri="{FF2B5EF4-FFF2-40B4-BE49-F238E27FC236}">
                <a16:creationId xmlns:a16="http://schemas.microsoft.com/office/drawing/2014/main" id="{D889A3CE-4CA7-D1A0-55CB-F69777F4CC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121070588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lumn - Internal Blue">
    <p:bg>
      <p:bgPr>
        <a:solidFill>
          <a:schemeClr val="accent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5E9DF63-17CF-8641-B8FD-A9558E8D342E}"/>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3" name="Content Placeholder 2"/>
          <p:cNvSpPr>
            <a:spLocks noGrp="1"/>
          </p:cNvSpPr>
          <p:nvPr>
            <p:ph sz="half" idx="1"/>
          </p:nvPr>
        </p:nvSpPr>
        <p:spPr>
          <a:xfrm>
            <a:off x="1416050" y="1881188"/>
            <a:ext cx="450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275950" y="1881188"/>
            <a:ext cx="450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3" name="Date Placeholder 3">
            <a:extLst>
              <a:ext uri="{FF2B5EF4-FFF2-40B4-BE49-F238E27FC236}">
                <a16:creationId xmlns:a16="http://schemas.microsoft.com/office/drawing/2014/main" id="{E01C5430-6582-C746-9B0C-FD8E1FF991D0}"/>
              </a:ext>
            </a:extLst>
          </p:cNvPr>
          <p:cNvSpPr>
            <a:spLocks noGrp="1"/>
          </p:cNvSpPr>
          <p:nvPr>
            <p:ph type="dt" sz="half" idx="10"/>
          </p:nvPr>
        </p:nvSpPr>
        <p:spPr>
          <a:xfrm>
            <a:off x="8610600" y="6570000"/>
            <a:ext cx="2165350" cy="288000"/>
          </a:xfrm>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14" name="Footer Placeholder 4">
            <a:extLst>
              <a:ext uri="{FF2B5EF4-FFF2-40B4-BE49-F238E27FC236}">
                <a16:creationId xmlns:a16="http://schemas.microsoft.com/office/drawing/2014/main" id="{3C654509-743F-ED4F-A39A-9864153B36D8}"/>
              </a:ext>
            </a:extLst>
          </p:cNvPr>
          <p:cNvSpPr>
            <a:spLocks noGrp="1"/>
          </p:cNvSpPr>
          <p:nvPr>
            <p:ph type="ftr" sz="quarter" idx="11"/>
          </p:nvPr>
        </p:nvSpPr>
        <p:spPr>
          <a:xfrm>
            <a:off x="4038600" y="6570000"/>
            <a:ext cx="4114800" cy="288000"/>
          </a:xfrm>
        </p:spPr>
        <p:txBody>
          <a:bodyPr/>
          <a:lstStyle>
            <a:lvl1pPr>
              <a:defRPr>
                <a:solidFill>
                  <a:schemeClr val="bg1"/>
                </a:solidFill>
              </a:defRPr>
            </a:lvl1pPr>
          </a:lstStyle>
          <a:p>
            <a:endParaRPr lang="en-GB" dirty="0"/>
          </a:p>
        </p:txBody>
      </p:sp>
      <p:sp>
        <p:nvSpPr>
          <p:cNvPr id="15" name="Slide Number Placeholder 5">
            <a:extLst>
              <a:ext uri="{FF2B5EF4-FFF2-40B4-BE49-F238E27FC236}">
                <a16:creationId xmlns:a16="http://schemas.microsoft.com/office/drawing/2014/main" id="{7AEA0A8C-D00D-A64F-B802-A5053BADC2B8}"/>
              </a:ext>
            </a:extLst>
          </p:cNvPr>
          <p:cNvSpPr>
            <a:spLocks noGrp="1"/>
          </p:cNvSpPr>
          <p:nvPr>
            <p:ph type="sldNum" sz="quarter" idx="12"/>
          </p:nvPr>
        </p:nvSpPr>
        <p:spPr>
          <a:xfrm>
            <a:off x="11372915" y="6570000"/>
            <a:ext cx="626378" cy="288000"/>
          </a:xfrm>
        </p:spPr>
        <p:txBody>
          <a:bodyPr/>
          <a:lstStyle>
            <a:lvl1pPr>
              <a:defRPr>
                <a:solidFill>
                  <a:schemeClr val="bg1"/>
                </a:solidFill>
              </a:defRPr>
            </a:lvl1pPr>
          </a:lstStyle>
          <a:p>
            <a:fld id="{EA1A8F14-8CA7-4559-9757-C97ADDEF7DEE}" type="slidenum">
              <a:rPr lang="en-GB" smtClean="0"/>
              <a:t>‹#›</a:t>
            </a:fld>
            <a:endParaRPr lang="en-GB"/>
          </a:p>
        </p:txBody>
      </p:sp>
      <p:pic>
        <p:nvPicPr>
          <p:cNvPr id="5" name="Graphic 4">
            <a:extLst>
              <a:ext uri="{FF2B5EF4-FFF2-40B4-BE49-F238E27FC236}">
                <a16:creationId xmlns:a16="http://schemas.microsoft.com/office/drawing/2014/main" id="{2FEF9808-3A77-3E11-3A7C-8D9C0EEB07C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426288892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lumn - Go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E334E2-920C-0249-8493-A9C8F41D9707}"/>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3" name="Content Placeholder 2"/>
          <p:cNvSpPr>
            <a:spLocks noGrp="1"/>
          </p:cNvSpPr>
          <p:nvPr>
            <p:ph sz="half" idx="1"/>
          </p:nvPr>
        </p:nvSpPr>
        <p:spPr>
          <a:xfrm>
            <a:off x="1416050" y="1881188"/>
            <a:ext cx="450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275950" y="1881188"/>
            <a:ext cx="450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3" name="Date Placeholder 3">
            <a:extLst>
              <a:ext uri="{FF2B5EF4-FFF2-40B4-BE49-F238E27FC236}">
                <a16:creationId xmlns:a16="http://schemas.microsoft.com/office/drawing/2014/main" id="{7AF80BF8-79C3-A64B-8889-365E0A9BA22F}"/>
              </a:ext>
            </a:extLst>
          </p:cNvPr>
          <p:cNvSpPr>
            <a:spLocks noGrp="1"/>
          </p:cNvSpPr>
          <p:nvPr>
            <p:ph type="dt" sz="half" idx="10"/>
          </p:nvPr>
        </p:nvSpPr>
        <p:spPr>
          <a:xfrm>
            <a:off x="8610600" y="6570000"/>
            <a:ext cx="2165350" cy="288000"/>
          </a:xfrm>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14" name="Footer Placeholder 4">
            <a:extLst>
              <a:ext uri="{FF2B5EF4-FFF2-40B4-BE49-F238E27FC236}">
                <a16:creationId xmlns:a16="http://schemas.microsoft.com/office/drawing/2014/main" id="{EED0C8F4-3A1C-B14B-909F-26DC8EA10FC2}"/>
              </a:ext>
            </a:extLst>
          </p:cNvPr>
          <p:cNvSpPr>
            <a:spLocks noGrp="1"/>
          </p:cNvSpPr>
          <p:nvPr>
            <p:ph type="ftr" sz="quarter" idx="11"/>
          </p:nvPr>
        </p:nvSpPr>
        <p:spPr>
          <a:xfrm>
            <a:off x="4038600" y="6570000"/>
            <a:ext cx="4114800" cy="288000"/>
          </a:xfrm>
        </p:spPr>
        <p:txBody>
          <a:bodyPr/>
          <a:lstStyle>
            <a:lvl1pPr>
              <a:defRPr>
                <a:solidFill>
                  <a:schemeClr val="bg1"/>
                </a:solidFill>
              </a:defRPr>
            </a:lvl1pPr>
          </a:lstStyle>
          <a:p>
            <a:endParaRPr lang="en-GB" dirty="0"/>
          </a:p>
        </p:txBody>
      </p:sp>
      <p:sp>
        <p:nvSpPr>
          <p:cNvPr id="15" name="Slide Number Placeholder 5">
            <a:extLst>
              <a:ext uri="{FF2B5EF4-FFF2-40B4-BE49-F238E27FC236}">
                <a16:creationId xmlns:a16="http://schemas.microsoft.com/office/drawing/2014/main" id="{44E98105-CEDC-7248-8153-F675941E384A}"/>
              </a:ext>
            </a:extLst>
          </p:cNvPr>
          <p:cNvSpPr>
            <a:spLocks noGrp="1"/>
          </p:cNvSpPr>
          <p:nvPr>
            <p:ph type="sldNum" sz="quarter" idx="12"/>
          </p:nvPr>
        </p:nvSpPr>
        <p:spPr>
          <a:xfrm>
            <a:off x="11372915" y="6570000"/>
            <a:ext cx="626378" cy="288000"/>
          </a:xfrm>
        </p:spPr>
        <p:txBody>
          <a:bodyPr/>
          <a:lstStyle>
            <a:lvl1pPr>
              <a:defRPr>
                <a:solidFill>
                  <a:schemeClr val="bg1"/>
                </a:solidFill>
              </a:defRPr>
            </a:lvl1pPr>
          </a:lstStyle>
          <a:p>
            <a:fld id="{EA1A8F14-8CA7-4559-9757-C97ADDEF7DEE}" type="slidenum">
              <a:rPr lang="en-GB" smtClean="0"/>
              <a:t>‹#›</a:t>
            </a:fld>
            <a:endParaRPr lang="en-GB"/>
          </a:p>
        </p:txBody>
      </p:sp>
      <p:pic>
        <p:nvPicPr>
          <p:cNvPr id="5" name="Graphic 4">
            <a:extLst>
              <a:ext uri="{FF2B5EF4-FFF2-40B4-BE49-F238E27FC236}">
                <a16:creationId xmlns:a16="http://schemas.microsoft.com/office/drawing/2014/main" id="{2999467B-52D3-AC07-89D7-74C62719CDA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235462898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EB52180-CF7B-5443-B8C5-9C65655AB096}"/>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1416050" y="1881188"/>
            <a:ext cx="288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56000" y="1881188"/>
            <a:ext cx="288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27E6C490-1BA8-435E-B051-906088864AE3}" type="datetimeFigureOut">
              <a:rPr lang="en-GB" smtClean="0"/>
              <a:t>22/04/2026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A1A8F14-8CA7-4559-9757-C97ADDEF7DEE}" type="slidenum">
              <a:rPr lang="en-GB" smtClean="0"/>
              <a:t>‹#›</a:t>
            </a:fld>
            <a:endParaRPr lang="en-GB"/>
          </a:p>
        </p:txBody>
      </p:sp>
      <p:sp>
        <p:nvSpPr>
          <p:cNvPr id="11" name="Content Placeholder 3"/>
          <p:cNvSpPr>
            <a:spLocks noGrp="1"/>
          </p:cNvSpPr>
          <p:nvPr>
            <p:ph sz="half" idx="13"/>
          </p:nvPr>
        </p:nvSpPr>
        <p:spPr>
          <a:xfrm>
            <a:off x="7895950" y="1881188"/>
            <a:ext cx="2880000" cy="42846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pic>
        <p:nvPicPr>
          <p:cNvPr id="8" name="Graphic 7">
            <a:extLst>
              <a:ext uri="{FF2B5EF4-FFF2-40B4-BE49-F238E27FC236}">
                <a16:creationId xmlns:a16="http://schemas.microsoft.com/office/drawing/2014/main" id="{0EE27446-DE9F-9122-4976-1C6FCC81602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357995860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 column - Navy">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1E546F-F54F-A441-A8C6-09CE93F013DF}"/>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3" name="Content Placeholder 2"/>
          <p:cNvSpPr>
            <a:spLocks noGrp="1"/>
          </p:cNvSpPr>
          <p:nvPr>
            <p:ph sz="half" idx="1"/>
          </p:nvPr>
        </p:nvSpPr>
        <p:spPr>
          <a:xfrm>
            <a:off x="1416050" y="1881188"/>
            <a:ext cx="2880000" cy="42846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56000" y="1881188"/>
            <a:ext cx="2880000" cy="42846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EA1A8F14-8CA7-4559-9757-C97ADDEF7DEE}" type="slidenum">
              <a:rPr lang="en-GB" smtClean="0"/>
              <a:t>‹#›</a:t>
            </a:fld>
            <a:endParaRPr lang="en-GB"/>
          </a:p>
        </p:txBody>
      </p:sp>
      <p:sp>
        <p:nvSpPr>
          <p:cNvPr id="11" name="Content Placeholder 3"/>
          <p:cNvSpPr>
            <a:spLocks noGrp="1"/>
          </p:cNvSpPr>
          <p:nvPr>
            <p:ph sz="half" idx="13"/>
          </p:nvPr>
        </p:nvSpPr>
        <p:spPr>
          <a:xfrm>
            <a:off x="7895950" y="1881188"/>
            <a:ext cx="2880000" cy="42846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pic>
        <p:nvPicPr>
          <p:cNvPr id="8" name="Graphic 7">
            <a:extLst>
              <a:ext uri="{FF2B5EF4-FFF2-40B4-BE49-F238E27FC236}">
                <a16:creationId xmlns:a16="http://schemas.microsoft.com/office/drawing/2014/main" id="{3B211F42-5C6D-3813-CDAA-55CC193009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414599370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column - Internal Blue">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ABF865-4CF8-2847-8B42-4F9FC93BB3D7}"/>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Content Placeholder 2"/>
          <p:cNvSpPr>
            <a:spLocks noGrp="1"/>
          </p:cNvSpPr>
          <p:nvPr>
            <p:ph sz="half" idx="1"/>
          </p:nvPr>
        </p:nvSpPr>
        <p:spPr>
          <a:xfrm>
            <a:off x="141605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5600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Content Placeholder 3"/>
          <p:cNvSpPr>
            <a:spLocks noGrp="1"/>
          </p:cNvSpPr>
          <p:nvPr>
            <p:ph sz="half" idx="13"/>
          </p:nvPr>
        </p:nvSpPr>
        <p:spPr>
          <a:xfrm>
            <a:off x="789595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4" name="Date Placeholder 3">
            <a:extLst>
              <a:ext uri="{FF2B5EF4-FFF2-40B4-BE49-F238E27FC236}">
                <a16:creationId xmlns:a16="http://schemas.microsoft.com/office/drawing/2014/main" id="{E80C5F46-FB51-6949-96B3-B7BE5335F373}"/>
              </a:ext>
            </a:extLst>
          </p:cNvPr>
          <p:cNvSpPr>
            <a:spLocks noGrp="1"/>
          </p:cNvSpPr>
          <p:nvPr>
            <p:ph type="dt" sz="half" idx="10"/>
          </p:nvPr>
        </p:nvSpPr>
        <p:spPr>
          <a:xfrm>
            <a:off x="8610600" y="6570000"/>
            <a:ext cx="2165350" cy="288000"/>
          </a:xfrm>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16" name="Footer Placeholder 4">
            <a:extLst>
              <a:ext uri="{FF2B5EF4-FFF2-40B4-BE49-F238E27FC236}">
                <a16:creationId xmlns:a16="http://schemas.microsoft.com/office/drawing/2014/main" id="{E32F9F4F-6290-0242-AFC7-8EEE239281D1}"/>
              </a:ext>
            </a:extLst>
          </p:cNvPr>
          <p:cNvSpPr>
            <a:spLocks noGrp="1"/>
          </p:cNvSpPr>
          <p:nvPr>
            <p:ph type="ftr" sz="quarter" idx="11"/>
          </p:nvPr>
        </p:nvSpPr>
        <p:spPr>
          <a:xfrm>
            <a:off x="4038600" y="6570000"/>
            <a:ext cx="4114800" cy="288000"/>
          </a:xfrm>
        </p:spPr>
        <p:txBody>
          <a:bodyPr/>
          <a:lstStyle>
            <a:lvl1pPr>
              <a:defRPr>
                <a:solidFill>
                  <a:schemeClr val="bg1"/>
                </a:solidFill>
              </a:defRPr>
            </a:lvl1pPr>
          </a:lstStyle>
          <a:p>
            <a:endParaRPr lang="en-GB" dirty="0"/>
          </a:p>
        </p:txBody>
      </p:sp>
      <p:sp>
        <p:nvSpPr>
          <p:cNvPr id="21" name="Slide Number Placeholder 5">
            <a:extLst>
              <a:ext uri="{FF2B5EF4-FFF2-40B4-BE49-F238E27FC236}">
                <a16:creationId xmlns:a16="http://schemas.microsoft.com/office/drawing/2014/main" id="{B2BA12DE-30DB-C34D-B7E2-E1CA193F56C6}"/>
              </a:ext>
            </a:extLst>
          </p:cNvPr>
          <p:cNvSpPr>
            <a:spLocks noGrp="1"/>
          </p:cNvSpPr>
          <p:nvPr>
            <p:ph type="sldNum" sz="quarter" idx="12"/>
          </p:nvPr>
        </p:nvSpPr>
        <p:spPr>
          <a:xfrm>
            <a:off x="11372915" y="6570000"/>
            <a:ext cx="626378" cy="288000"/>
          </a:xfrm>
        </p:spPr>
        <p:txBody>
          <a:bodyPr/>
          <a:lstStyle>
            <a:lvl1pPr>
              <a:defRPr>
                <a:solidFill>
                  <a:schemeClr val="bg1"/>
                </a:solidFill>
              </a:defRPr>
            </a:lvl1pPr>
          </a:lstStyle>
          <a:p>
            <a:fld id="{EA1A8F14-8CA7-4559-9757-C97ADDEF7DEE}" type="slidenum">
              <a:rPr lang="en-GB" smtClean="0"/>
              <a:t>‹#›</a:t>
            </a:fld>
            <a:endParaRPr lang="en-GB"/>
          </a:p>
        </p:txBody>
      </p:sp>
      <p:pic>
        <p:nvPicPr>
          <p:cNvPr id="5" name="Graphic 4">
            <a:extLst>
              <a:ext uri="{FF2B5EF4-FFF2-40B4-BE49-F238E27FC236}">
                <a16:creationId xmlns:a16="http://schemas.microsoft.com/office/drawing/2014/main" id="{A9C40678-1E3E-17D5-C964-FC2841DB862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357049627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ree column - Go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6D08EA9-7D9E-C34B-A7D3-C8F0B25825E6}"/>
              </a:ext>
            </a:extLst>
          </p:cNvPr>
          <p:cNvSpPr/>
          <p:nvPr userDrawn="1"/>
        </p:nvSpPr>
        <p:spPr>
          <a:xfrm>
            <a:off x="0" y="0"/>
            <a:ext cx="12192000" cy="507600"/>
          </a:xfrm>
          <a:prstGeom prst="rect">
            <a:avLst/>
          </a:prstGeom>
          <a:gradFill flip="none" rotWithShape="1">
            <a:gsLst>
              <a:gs pos="65000">
                <a:schemeClr val="tx2">
                  <a:lumMod val="99000"/>
                  <a:lumOff val="1000"/>
                </a:schemeClr>
              </a:gs>
              <a:gs pos="100000">
                <a:schemeClr val="accent4"/>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Content Placeholder 2"/>
          <p:cNvSpPr>
            <a:spLocks noGrp="1"/>
          </p:cNvSpPr>
          <p:nvPr>
            <p:ph sz="half" idx="1"/>
          </p:nvPr>
        </p:nvSpPr>
        <p:spPr>
          <a:xfrm>
            <a:off x="141605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5600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Content Placeholder 3"/>
          <p:cNvSpPr>
            <a:spLocks noGrp="1"/>
          </p:cNvSpPr>
          <p:nvPr>
            <p:ph sz="half" idx="13"/>
          </p:nvPr>
        </p:nvSpPr>
        <p:spPr>
          <a:xfrm>
            <a:off x="7895950" y="1881188"/>
            <a:ext cx="2880000" cy="428466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Date Placeholder 3">
            <a:extLst>
              <a:ext uri="{FF2B5EF4-FFF2-40B4-BE49-F238E27FC236}">
                <a16:creationId xmlns:a16="http://schemas.microsoft.com/office/drawing/2014/main" id="{11CA0372-E26D-8C46-87D6-56DCC93DF3BA}"/>
              </a:ext>
            </a:extLst>
          </p:cNvPr>
          <p:cNvSpPr>
            <a:spLocks noGrp="1"/>
          </p:cNvSpPr>
          <p:nvPr>
            <p:ph type="dt" sz="half" idx="10"/>
          </p:nvPr>
        </p:nvSpPr>
        <p:spPr>
          <a:xfrm>
            <a:off x="8610600" y="6570000"/>
            <a:ext cx="2165350" cy="288000"/>
          </a:xfrm>
        </p:spPr>
        <p:txBody>
          <a:bodyPr/>
          <a:lstStyle>
            <a:lvl1pPr>
              <a:defRPr>
                <a:solidFill>
                  <a:schemeClr val="bg1"/>
                </a:solidFill>
              </a:defRPr>
            </a:lvl1pPr>
          </a:lstStyle>
          <a:p>
            <a:fld id="{27E6C490-1BA8-435E-B051-906088864AE3}" type="datetimeFigureOut">
              <a:rPr lang="en-GB" smtClean="0"/>
              <a:t>22/04/2026</a:t>
            </a:fld>
            <a:endParaRPr lang="en-GB"/>
          </a:p>
        </p:txBody>
      </p:sp>
      <p:sp>
        <p:nvSpPr>
          <p:cNvPr id="20" name="Footer Placeholder 4">
            <a:extLst>
              <a:ext uri="{FF2B5EF4-FFF2-40B4-BE49-F238E27FC236}">
                <a16:creationId xmlns:a16="http://schemas.microsoft.com/office/drawing/2014/main" id="{7B714B26-0DBB-DA46-9638-908754F9C18A}"/>
              </a:ext>
            </a:extLst>
          </p:cNvPr>
          <p:cNvSpPr>
            <a:spLocks noGrp="1"/>
          </p:cNvSpPr>
          <p:nvPr>
            <p:ph type="ftr" sz="quarter" idx="11"/>
          </p:nvPr>
        </p:nvSpPr>
        <p:spPr>
          <a:xfrm>
            <a:off x="4038600" y="6570000"/>
            <a:ext cx="4114800" cy="288000"/>
          </a:xfrm>
        </p:spPr>
        <p:txBody>
          <a:bodyPr/>
          <a:lstStyle>
            <a:lvl1pPr>
              <a:defRPr>
                <a:solidFill>
                  <a:schemeClr val="bg1"/>
                </a:solidFill>
              </a:defRPr>
            </a:lvl1pPr>
          </a:lstStyle>
          <a:p>
            <a:endParaRPr lang="en-GB" dirty="0"/>
          </a:p>
        </p:txBody>
      </p:sp>
      <p:sp>
        <p:nvSpPr>
          <p:cNvPr id="21" name="Slide Number Placeholder 5">
            <a:extLst>
              <a:ext uri="{FF2B5EF4-FFF2-40B4-BE49-F238E27FC236}">
                <a16:creationId xmlns:a16="http://schemas.microsoft.com/office/drawing/2014/main" id="{D6BD7722-AD00-8D4D-AE21-AAA177F74134}"/>
              </a:ext>
            </a:extLst>
          </p:cNvPr>
          <p:cNvSpPr>
            <a:spLocks noGrp="1"/>
          </p:cNvSpPr>
          <p:nvPr>
            <p:ph type="sldNum" sz="quarter" idx="12"/>
          </p:nvPr>
        </p:nvSpPr>
        <p:spPr>
          <a:xfrm>
            <a:off x="11372915" y="6570000"/>
            <a:ext cx="626378" cy="288000"/>
          </a:xfrm>
        </p:spPr>
        <p:txBody>
          <a:bodyPr/>
          <a:lstStyle>
            <a:lvl1pPr>
              <a:defRPr>
                <a:solidFill>
                  <a:schemeClr val="bg1"/>
                </a:solidFill>
              </a:defRPr>
            </a:lvl1pPr>
          </a:lstStyle>
          <a:p>
            <a:fld id="{EA1A8F14-8CA7-4559-9757-C97ADDEF7DEE}" type="slidenum">
              <a:rPr lang="en-GB" smtClean="0"/>
              <a:t>‹#›</a:t>
            </a:fld>
            <a:endParaRPr lang="en-GB"/>
          </a:p>
        </p:txBody>
      </p:sp>
      <p:pic>
        <p:nvPicPr>
          <p:cNvPr id="5" name="Graphic 4">
            <a:extLst>
              <a:ext uri="{FF2B5EF4-FFF2-40B4-BE49-F238E27FC236}">
                <a16:creationId xmlns:a16="http://schemas.microsoft.com/office/drawing/2014/main" id="{176A2A18-6489-9061-9C56-FBCB6E8DCE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 r="57900" b="-14215"/>
          <a:stretch/>
        </p:blipFill>
        <p:spPr>
          <a:xfrm>
            <a:off x="10960671" y="76912"/>
            <a:ext cx="990939" cy="451418"/>
          </a:xfrm>
          <a:prstGeom prst="rect">
            <a:avLst/>
          </a:prstGeom>
        </p:spPr>
      </p:pic>
    </p:spTree>
    <p:extLst>
      <p:ext uri="{BB962C8B-B14F-4D97-AF65-F5344CB8AC3E}">
        <p14:creationId xmlns:p14="http://schemas.microsoft.com/office/powerpoint/2010/main" val="358880886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27E6C490-1BA8-435E-B051-906088864AE3}" type="datetimeFigureOut">
              <a:rPr lang="en-GB" smtClean="0"/>
              <a:t>22/04/2026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A1A8F14-8CA7-4559-9757-C97ADDEF7DEE}" type="slidenum">
              <a:rPr lang="en-GB" smtClean="0"/>
              <a:t>‹#›</a:t>
            </a:fld>
            <a:endParaRPr lang="en-GB"/>
          </a:p>
        </p:txBody>
      </p:sp>
    </p:spTree>
    <p:extLst>
      <p:ext uri="{BB962C8B-B14F-4D97-AF65-F5344CB8AC3E}">
        <p14:creationId xmlns:p14="http://schemas.microsoft.com/office/powerpoint/2010/main" val="304194414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E6C490-1BA8-435E-B051-906088864AE3}" type="datetimeFigureOut">
              <a:rPr lang="en-GB" smtClean="0"/>
              <a:t>22/04/2026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A1A8F14-8CA7-4559-9757-C97ADDEF7DEE}" type="slidenum">
              <a:rPr lang="en-GB" smtClean="0"/>
              <a:t>‹#›</a:t>
            </a:fld>
            <a:endParaRPr lang="en-GB"/>
          </a:p>
        </p:txBody>
      </p:sp>
    </p:spTree>
    <p:extLst>
      <p:ext uri="{BB962C8B-B14F-4D97-AF65-F5344CB8AC3E}">
        <p14:creationId xmlns:p14="http://schemas.microsoft.com/office/powerpoint/2010/main" val="381673797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Section Header_Vegas_imagery">
    <p:bg>
      <p:bgPr>
        <a:solidFill>
          <a:schemeClr val="tx2"/>
        </a:solidFill>
        <a:effectLst/>
      </p:bgPr>
    </p:bg>
    <p:spTree>
      <p:nvGrpSpPr>
        <p:cNvPr id="1" name=""/>
        <p:cNvGrpSpPr/>
        <p:nvPr/>
      </p:nvGrpSpPr>
      <p:grpSpPr>
        <a:xfrm>
          <a:off x="0" y="0"/>
          <a:ext cx="0" cy="0"/>
          <a:chOff x="0" y="0"/>
          <a:chExt cx="0" cy="0"/>
        </a:xfrm>
      </p:grpSpPr>
      <p:sp>
        <p:nvSpPr>
          <p:cNvPr id="6" name="Date Placeholder 1">
            <a:extLst>
              <a:ext uri="{FF2B5EF4-FFF2-40B4-BE49-F238E27FC236}">
                <a16:creationId xmlns:a16="http://schemas.microsoft.com/office/drawing/2014/main" id="{0DC307B4-AD93-AF4E-9DF9-E8B8FC7458AF}"/>
              </a:ext>
            </a:extLst>
          </p:cNvPr>
          <p:cNvSpPr>
            <a:spLocks noGrp="1"/>
          </p:cNvSpPr>
          <p:nvPr>
            <p:ph type="dt" sz="half" idx="10"/>
          </p:nvPr>
        </p:nvSpPr>
        <p:spPr>
          <a:xfrm>
            <a:off x="8610600" y="6570000"/>
            <a:ext cx="2165350" cy="288000"/>
          </a:xfrm>
        </p:spPr>
        <p:txBody>
          <a:bodyPr/>
          <a:lstStyle/>
          <a:p>
            <a:fld id="{27E6C490-1BA8-435E-B051-906088864AE3}" type="datetimeFigureOut">
              <a:rPr lang="en-GB" smtClean="0"/>
              <a:t>22/04/2026</a:t>
            </a:fld>
            <a:endParaRPr lang="en-GB"/>
          </a:p>
        </p:txBody>
      </p:sp>
      <p:sp>
        <p:nvSpPr>
          <p:cNvPr id="7" name="Footer Placeholder 2">
            <a:extLst>
              <a:ext uri="{FF2B5EF4-FFF2-40B4-BE49-F238E27FC236}">
                <a16:creationId xmlns:a16="http://schemas.microsoft.com/office/drawing/2014/main" id="{E1D9D918-A638-B74B-A6D6-76A585774E5B}"/>
              </a:ext>
            </a:extLst>
          </p:cNvPr>
          <p:cNvSpPr>
            <a:spLocks noGrp="1"/>
          </p:cNvSpPr>
          <p:nvPr>
            <p:ph type="ftr" sz="quarter" idx="11"/>
          </p:nvPr>
        </p:nvSpPr>
        <p:spPr>
          <a:xfrm>
            <a:off x="4038600" y="6570000"/>
            <a:ext cx="4114800" cy="288000"/>
          </a:xfrm>
        </p:spPr>
        <p:txBody>
          <a:bodyPr/>
          <a:lstStyle/>
          <a:p>
            <a:endParaRPr lang="en-GB"/>
          </a:p>
        </p:txBody>
      </p:sp>
      <p:sp>
        <p:nvSpPr>
          <p:cNvPr id="8" name="Slide Number Placeholder 3">
            <a:extLst>
              <a:ext uri="{FF2B5EF4-FFF2-40B4-BE49-F238E27FC236}">
                <a16:creationId xmlns:a16="http://schemas.microsoft.com/office/drawing/2014/main" id="{B31F46DD-5650-6343-A137-E9D3FA965324}"/>
              </a:ext>
            </a:extLst>
          </p:cNvPr>
          <p:cNvSpPr>
            <a:spLocks noGrp="1"/>
          </p:cNvSpPr>
          <p:nvPr>
            <p:ph type="sldNum" sz="quarter" idx="12"/>
          </p:nvPr>
        </p:nvSpPr>
        <p:spPr>
          <a:xfrm>
            <a:off x="11372915" y="6570000"/>
            <a:ext cx="626378" cy="288000"/>
          </a:xfrm>
        </p:spPr>
        <p:txBody>
          <a:bodyPr/>
          <a:lstStyle/>
          <a:p>
            <a:fld id="{EA1A8F14-8CA7-4559-9757-C97ADDEF7DEE}" type="slidenum">
              <a:rPr lang="en-GB" smtClean="0"/>
              <a:t>‹#›</a:t>
            </a:fld>
            <a:endParaRPr lang="en-GB"/>
          </a:p>
        </p:txBody>
      </p:sp>
    </p:spTree>
    <p:extLst>
      <p:ext uri="{BB962C8B-B14F-4D97-AF65-F5344CB8AC3E}">
        <p14:creationId xmlns:p14="http://schemas.microsoft.com/office/powerpoint/2010/main" val="80562364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0" y="792000"/>
            <a:ext cx="10055950" cy="900000"/>
          </a:xfrm>
          <a:prstGeom prst="rect">
            <a:avLst/>
          </a:prstGeom>
          <a:noFill/>
        </p:spPr>
        <p:txBody>
          <a:bodyPr vert="horz" lIns="0" tIns="0" rIns="0" bIns="0" rtlCol="0" anchor="t" anchorCtr="0">
            <a:noAutofit/>
          </a:bodyPr>
          <a:lstStyle/>
          <a:p>
            <a:r>
              <a:rPr lang="en-GB" noProof="0"/>
              <a:t>Click to edit Master title style</a:t>
            </a:r>
            <a:endParaRPr lang="en-GB" noProof="0" dirty="0"/>
          </a:p>
        </p:txBody>
      </p:sp>
      <p:sp>
        <p:nvSpPr>
          <p:cNvPr id="3" name="Text Placeholder 2"/>
          <p:cNvSpPr>
            <a:spLocks noGrp="1"/>
          </p:cNvSpPr>
          <p:nvPr>
            <p:ph type="body" idx="1"/>
          </p:nvPr>
        </p:nvSpPr>
        <p:spPr>
          <a:xfrm>
            <a:off x="1416050" y="1881187"/>
            <a:ext cx="9359900" cy="4295775"/>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 name="Date Placeholder 3"/>
          <p:cNvSpPr>
            <a:spLocks noGrp="1"/>
          </p:cNvSpPr>
          <p:nvPr>
            <p:ph type="dt" sz="half" idx="2"/>
          </p:nvPr>
        </p:nvSpPr>
        <p:spPr>
          <a:xfrm>
            <a:off x="8610600" y="6570000"/>
            <a:ext cx="2165350" cy="288000"/>
          </a:xfrm>
          <a:prstGeom prst="rect">
            <a:avLst/>
          </a:prstGeom>
        </p:spPr>
        <p:txBody>
          <a:bodyPr vert="horz" lIns="0" tIns="0" rIns="0" bIns="0" rtlCol="0" anchor="t" anchorCtr="0"/>
          <a:lstStyle>
            <a:lvl1pPr algn="r">
              <a:defRPr sz="1000">
                <a:solidFill>
                  <a:srgbClr val="B4B9BE"/>
                </a:solidFill>
              </a:defRPr>
            </a:lvl1pPr>
          </a:lstStyle>
          <a:p>
            <a:fld id="{27E6C490-1BA8-435E-B051-906088864AE3}" type="datetimeFigureOut">
              <a:rPr lang="en-GB" smtClean="0"/>
              <a:pPr/>
              <a:t>22/04/2026</a:t>
            </a:fld>
            <a:endParaRPr lang="en-GB" dirty="0"/>
          </a:p>
        </p:txBody>
      </p:sp>
      <p:sp>
        <p:nvSpPr>
          <p:cNvPr id="5" name="Footer Placeholder 4"/>
          <p:cNvSpPr>
            <a:spLocks noGrp="1"/>
          </p:cNvSpPr>
          <p:nvPr>
            <p:ph type="ftr" sz="quarter" idx="3"/>
          </p:nvPr>
        </p:nvSpPr>
        <p:spPr>
          <a:xfrm>
            <a:off x="4038600" y="6570000"/>
            <a:ext cx="4114800" cy="288000"/>
          </a:xfrm>
          <a:prstGeom prst="rect">
            <a:avLst/>
          </a:prstGeom>
        </p:spPr>
        <p:txBody>
          <a:bodyPr vert="horz" lIns="0" tIns="0" rIns="0" bIns="0" rtlCol="0" anchor="t" anchorCtr="0"/>
          <a:lstStyle>
            <a:lvl1pPr algn="ctr">
              <a:defRPr sz="1000">
                <a:solidFill>
                  <a:srgbClr val="B4B9BE"/>
                </a:solidFill>
              </a:defRPr>
            </a:lvl1pPr>
          </a:lstStyle>
          <a:p>
            <a:endParaRPr lang="en-GB" dirty="0"/>
          </a:p>
        </p:txBody>
      </p:sp>
      <p:sp>
        <p:nvSpPr>
          <p:cNvPr id="6" name="Slide Number Placeholder 5"/>
          <p:cNvSpPr>
            <a:spLocks noGrp="1"/>
          </p:cNvSpPr>
          <p:nvPr>
            <p:ph type="sldNum" sz="quarter" idx="4"/>
          </p:nvPr>
        </p:nvSpPr>
        <p:spPr>
          <a:xfrm>
            <a:off x="11372915" y="6570000"/>
            <a:ext cx="626378" cy="288000"/>
          </a:xfrm>
          <a:prstGeom prst="rect">
            <a:avLst/>
          </a:prstGeom>
        </p:spPr>
        <p:txBody>
          <a:bodyPr vert="horz" lIns="0" tIns="0" rIns="0" bIns="0" rtlCol="0" anchor="t" anchorCtr="0"/>
          <a:lstStyle>
            <a:lvl1pPr algn="r">
              <a:defRPr sz="1000">
                <a:solidFill>
                  <a:srgbClr val="B4B9BE"/>
                </a:solidFill>
              </a:defRPr>
            </a:lvl1pPr>
          </a:lstStyle>
          <a:p>
            <a:fld id="{EA1A8F14-8CA7-4559-9757-C97ADDEF7DEE}" type="slidenum">
              <a:rPr lang="en-GB" smtClean="0"/>
              <a:pPr/>
              <a:t>‹#›</a:t>
            </a:fld>
            <a:endParaRPr lang="en-GB" dirty="0"/>
          </a:p>
        </p:txBody>
      </p:sp>
    </p:spTree>
    <p:extLst>
      <p:ext uri="{BB962C8B-B14F-4D97-AF65-F5344CB8AC3E}">
        <p14:creationId xmlns:p14="http://schemas.microsoft.com/office/powerpoint/2010/main" val="26445700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8" r:id="rId3"/>
    <p:sldLayoutId id="2147483686" r:id="rId4"/>
    <p:sldLayoutId id="2147483680" r:id="rId5"/>
    <p:sldLayoutId id="2147483684" r:id="rId6"/>
    <p:sldLayoutId id="2147483685" r:id="rId7"/>
    <p:sldLayoutId id="2147483681" r:id="rId8"/>
    <p:sldLayoutId id="2147483682" r:id="rId9"/>
    <p:sldLayoutId id="2147483679" r:id="rId10"/>
    <p:sldLayoutId id="2147483663" r:id="rId11"/>
    <p:sldLayoutId id="2147483664" r:id="rId12"/>
    <p:sldLayoutId id="2147483665"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 id="2147483675" r:id="rId22"/>
    <p:sldLayoutId id="2147483676" r:id="rId23"/>
    <p:sldLayoutId id="2147483677" r:id="rId24"/>
    <p:sldLayoutId id="2147483683" r:id="rId25"/>
  </p:sldLayoutIdLst>
  <p:transition>
    <p:fade/>
  </p:transition>
  <p:txStyles>
    <p:titleStyle>
      <a:lvl1pPr algn="l" defTabSz="914400" rtl="0" eaLnBrk="1" latinLnBrk="0" hangingPunct="1">
        <a:lnSpc>
          <a:spcPct val="90000"/>
        </a:lnSpc>
        <a:spcBef>
          <a:spcPct val="0"/>
        </a:spcBef>
        <a:buNone/>
        <a:defRPr sz="2400" b="1" kern="1200" cap="none"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700" kern="1200">
          <a:solidFill>
            <a:schemeClr val="tx2"/>
          </a:solidFill>
          <a:latin typeface="+mn-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1700" b="1" kern="1200">
          <a:solidFill>
            <a:schemeClr val="tx2"/>
          </a:solidFill>
          <a:latin typeface="+mj-lt"/>
          <a:ea typeface="+mn-ea"/>
          <a:cs typeface="+mn-cs"/>
        </a:defRPr>
      </a:lvl2pPr>
      <a:lvl3pPr marL="180975" indent="-180975" algn="l" defTabSz="914400" rtl="0" eaLnBrk="1" latinLnBrk="0" hangingPunct="1">
        <a:lnSpc>
          <a:spcPct val="100000"/>
        </a:lnSpc>
        <a:spcBef>
          <a:spcPts val="0"/>
        </a:spcBef>
        <a:spcAft>
          <a:spcPts val="400"/>
        </a:spcAft>
        <a:buFont typeface="Arial" panose="020B0604020202020204" pitchFamily="34" charset="0"/>
        <a:buChar char="•"/>
        <a:defRPr sz="1700" kern="1200">
          <a:solidFill>
            <a:schemeClr val="tx2"/>
          </a:solidFill>
          <a:latin typeface="+mn-lt"/>
          <a:ea typeface="+mn-ea"/>
          <a:cs typeface="+mn-cs"/>
        </a:defRPr>
      </a:lvl3pPr>
      <a:lvl4pPr marL="355600" indent="-174625" algn="l" defTabSz="914400" rtl="0" eaLnBrk="1" latinLnBrk="0" hangingPunct="1">
        <a:lnSpc>
          <a:spcPct val="100000"/>
        </a:lnSpc>
        <a:spcBef>
          <a:spcPts val="0"/>
        </a:spcBef>
        <a:spcAft>
          <a:spcPts val="400"/>
        </a:spcAft>
        <a:buFont typeface="Calibri" panose="020F0502020204030204" pitchFamily="34" charset="0"/>
        <a:buChar char="–"/>
        <a:defRPr sz="1700" kern="1200">
          <a:solidFill>
            <a:schemeClr val="tx2"/>
          </a:solidFill>
          <a:latin typeface="+mn-lt"/>
          <a:ea typeface="+mn-ea"/>
          <a:cs typeface="+mn-cs"/>
        </a:defRPr>
      </a:lvl4pPr>
      <a:lvl5pPr marL="538163" indent="-182563" algn="l" defTabSz="914400" rtl="0" eaLnBrk="1" latinLnBrk="0" hangingPunct="1">
        <a:lnSpc>
          <a:spcPct val="100000"/>
        </a:lnSpc>
        <a:spcBef>
          <a:spcPts val="0"/>
        </a:spcBef>
        <a:spcAft>
          <a:spcPts val="400"/>
        </a:spcAft>
        <a:buFont typeface="Arial" panose="020B0604020202020204" pitchFamily="34" charset="0"/>
        <a:buChar char="•"/>
        <a:defRPr sz="17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892">
          <p15:clr>
            <a:srgbClr val="F26B43"/>
          </p15:clr>
        </p15:guide>
        <p15:guide id="3" pos="6788">
          <p15:clr>
            <a:srgbClr val="F26B43"/>
          </p15:clr>
        </p15:guide>
        <p15:guide id="4" orient="horz" pos="1185">
          <p15:clr>
            <a:srgbClr val="F26B43"/>
          </p15:clr>
        </p15:guide>
        <p15:guide id="5" orient="horz" pos="3884">
          <p15:clr>
            <a:srgbClr val="F26B43"/>
          </p15:clr>
        </p15:guide>
        <p15:guide id="6" pos="75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42.png"/><Relationship Id="rId5" Type="http://schemas.openxmlformats.org/officeDocument/2006/relationships/image" Target="../media/image36.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55.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71.png"/><Relationship Id="rId4"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62.png"/><Relationship Id="rId7"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1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88.png"/></Relationships>
</file>

<file path=ppt/slides/_rels/slide1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96.png"/><Relationship Id="rId11" Type="http://schemas.openxmlformats.org/officeDocument/2006/relationships/image" Target="../media/image54.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21.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7.png"/><Relationship Id="rId7" Type="http://schemas.openxmlformats.org/officeDocument/2006/relationships/image" Target="../media/image110.png"/><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87.png"/><Relationship Id="rId9"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997F7C4-7CC7-EB9C-97B7-CBA25A8920A2}"/>
              </a:ext>
            </a:extLst>
          </p:cNvPr>
          <p:cNvGrpSpPr/>
          <p:nvPr/>
        </p:nvGrpSpPr>
        <p:grpSpPr>
          <a:xfrm>
            <a:off x="1328128" y="2420401"/>
            <a:ext cx="2033625" cy="460857"/>
            <a:chOff x="5120640" y="868680"/>
            <a:chExt cx="2033625" cy="460857"/>
          </a:xfrm>
        </p:grpSpPr>
        <p:sp>
          <p:nvSpPr>
            <p:cNvPr id="5" name="Shape 3">
              <a:extLst>
                <a:ext uri="{FF2B5EF4-FFF2-40B4-BE49-F238E27FC236}">
                  <a16:creationId xmlns:a16="http://schemas.microsoft.com/office/drawing/2014/main" id="{DE54F406-C087-1C17-B447-D0B54A6CCAF4}"/>
                </a:ext>
              </a:extLst>
            </p:cNvPr>
            <p:cNvSpPr/>
            <p:nvPr/>
          </p:nvSpPr>
          <p:spPr>
            <a:xfrm>
              <a:off x="5120640" y="868680"/>
              <a:ext cx="1952244" cy="457200"/>
            </a:xfrm>
            <a:prstGeom prst="roundRect">
              <a:avLst>
                <a:gd name="adj" fmla="val 200000"/>
              </a:avLst>
            </a:prstGeom>
            <a:solidFill>
              <a:srgbClr val="091044"/>
            </a:solidFill>
            <a:ln w="12700">
              <a:solidFill>
                <a:srgbClr val="FFFFFF">
                  <a:alpha val="0"/>
                </a:srgbClr>
              </a:solidFill>
              <a:prstDash val="solid"/>
            </a:ln>
          </p:spPr>
          <p:txBody>
            <a:bodyPr/>
            <a:lstStyle/>
            <a:p>
              <a:endParaRPr lang="en-US" dirty="0"/>
            </a:p>
          </p:txBody>
        </p:sp>
        <p:sp>
          <p:nvSpPr>
            <p:cNvPr id="6" name="Text 4">
              <a:extLst>
                <a:ext uri="{FF2B5EF4-FFF2-40B4-BE49-F238E27FC236}">
                  <a16:creationId xmlns:a16="http://schemas.microsoft.com/office/drawing/2014/main" id="{DA723350-3928-1E23-B221-257ED30D4C14}"/>
                </a:ext>
              </a:extLst>
            </p:cNvPr>
            <p:cNvSpPr/>
            <p:nvPr/>
          </p:nvSpPr>
          <p:spPr>
            <a:xfrm>
              <a:off x="5411418" y="872337"/>
              <a:ext cx="1742847" cy="457200"/>
            </a:xfrm>
            <a:prstGeom prst="rect">
              <a:avLst/>
            </a:prstGeom>
            <a:solidFill>
              <a:srgbClr val="FFFFFF">
                <a:alpha val="0"/>
              </a:srgbClr>
            </a:solidFill>
            <a:ln>
              <a:solidFill>
                <a:srgbClr val="FFFFFF">
                  <a:alpha val="0"/>
                </a:srgbClr>
              </a:solidFill>
            </a:ln>
          </p:spPr>
          <p:txBody>
            <a:bodyPr wrap="square" lIns="304800" tIns="114300" rIns="304800" bIns="114300" rtlCol="0" anchor="ctr"/>
            <a:lstStyle/>
            <a:p>
              <a:pPr marL="0" indent="0" algn="l">
                <a:buNone/>
              </a:pPr>
              <a:r>
                <a:rPr lang="en-US" sz="1200" b="1" dirty="0">
                  <a:solidFill>
                    <a:srgbClr val="FFFFFF"/>
                  </a:solidFill>
                  <a:latin typeface="Raleway" pitchFamily="34" charset="0"/>
                  <a:ea typeface="Raleway" pitchFamily="34" charset="-122"/>
                  <a:cs typeface="Raleway" pitchFamily="34" charset="-120"/>
                </a:rPr>
                <a:t> Meet.js Poland </a:t>
              </a:r>
              <a:endParaRPr lang="en-US" sz="1200" dirty="0"/>
            </a:p>
          </p:txBody>
        </p:sp>
        <p:pic>
          <p:nvPicPr>
            <p:cNvPr id="7" name="Image 5" descr="preencoded.png">
              <a:extLst>
                <a:ext uri="{FF2B5EF4-FFF2-40B4-BE49-F238E27FC236}">
                  <a16:creationId xmlns:a16="http://schemas.microsoft.com/office/drawing/2014/main" id="{470FA47C-7494-76E8-A54E-4B2C59589EC1}"/>
                </a:ext>
              </a:extLst>
            </p:cNvPr>
            <p:cNvPicPr>
              <a:picLocks noChangeAspect="1"/>
            </p:cNvPicPr>
            <p:nvPr/>
          </p:nvPicPr>
          <p:blipFill>
            <a:blip r:embed="rId3"/>
            <a:srcRect t="-43" b="-43"/>
            <a:stretch/>
          </p:blipFill>
          <p:spPr>
            <a:xfrm>
              <a:off x="5425135" y="1021385"/>
              <a:ext cx="133502" cy="152705"/>
            </a:xfrm>
            <a:prstGeom prst="rect">
              <a:avLst/>
            </a:prstGeom>
          </p:spPr>
        </p:pic>
      </p:grpSp>
      <p:sp>
        <p:nvSpPr>
          <p:cNvPr id="8" name="Text 5">
            <a:extLst>
              <a:ext uri="{FF2B5EF4-FFF2-40B4-BE49-F238E27FC236}">
                <a16:creationId xmlns:a16="http://schemas.microsoft.com/office/drawing/2014/main" id="{C3665C67-DF55-926B-189A-FE4651726A3D}"/>
              </a:ext>
            </a:extLst>
          </p:cNvPr>
          <p:cNvSpPr txBox="1"/>
          <p:nvPr/>
        </p:nvSpPr>
        <p:spPr>
          <a:xfrm>
            <a:off x="1108245" y="3460179"/>
            <a:ext cx="8564933" cy="831242"/>
          </a:xfrm>
          <a:prstGeom prst="rect">
            <a:avLst/>
          </a:prstGeom>
          <a:noFill/>
          <a:ln/>
        </p:spPr>
        <p:txBody>
          <a:bodyPr wrap="square" lIns="0" tIns="0" rIns="0" bIns="0" rtlCol="0" anchor="ctr"/>
          <a:lstStyle/>
          <a:p>
            <a:pPr marL="0" indent="0" algn="ctr">
              <a:buNone/>
            </a:pPr>
            <a:r>
              <a:rPr lang="en-US" sz="7200" b="1" kern="0" spc="150" dirty="0">
                <a:solidFill>
                  <a:schemeClr val="bg1"/>
                </a:solidFill>
                <a:latin typeface="Roboto Condensed" pitchFamily="34" charset="0"/>
                <a:ea typeface="Roboto Condensed" pitchFamily="34" charset="-122"/>
                <a:cs typeface="Roboto Condensed" pitchFamily="34" charset="-120"/>
              </a:rPr>
              <a:t>MSW</a:t>
            </a:r>
            <a:r>
              <a:rPr lang="en-US" sz="7200" b="1" kern="0" spc="150" dirty="0">
                <a:solidFill>
                  <a:srgbClr val="1A202C"/>
                </a:solidFill>
                <a:latin typeface="Roboto Condensed" pitchFamily="34" charset="0"/>
                <a:ea typeface="Roboto Condensed" pitchFamily="34" charset="-122"/>
                <a:cs typeface="Roboto Condensed" pitchFamily="34" charset="-120"/>
              </a:rPr>
              <a:t> </a:t>
            </a:r>
            <a:r>
              <a:rPr lang="en-US" sz="7200" b="1" kern="0" spc="150" dirty="0">
                <a:solidFill>
                  <a:srgbClr val="2563EB"/>
                </a:solidFill>
                <a:latin typeface="Roboto Condensed" pitchFamily="34" charset="0"/>
                <a:ea typeface="Roboto Condensed" pitchFamily="34" charset="-122"/>
                <a:cs typeface="Roboto Condensed" pitchFamily="34" charset="-120"/>
              </a:rPr>
              <a:t>BEYOND TESTS</a:t>
            </a:r>
            <a:endParaRPr lang="en-US" sz="7200" dirty="0"/>
          </a:p>
        </p:txBody>
      </p:sp>
      <p:sp>
        <p:nvSpPr>
          <p:cNvPr id="9" name="Text 6">
            <a:extLst>
              <a:ext uri="{FF2B5EF4-FFF2-40B4-BE49-F238E27FC236}">
                <a16:creationId xmlns:a16="http://schemas.microsoft.com/office/drawing/2014/main" id="{7F483674-42C6-F495-5CA4-FD08FBD7DEE6}"/>
              </a:ext>
            </a:extLst>
          </p:cNvPr>
          <p:cNvSpPr txBox="1"/>
          <p:nvPr/>
        </p:nvSpPr>
        <p:spPr>
          <a:xfrm>
            <a:off x="1108245" y="2970465"/>
            <a:ext cx="6915607" cy="400507"/>
          </a:xfrm>
          <a:prstGeom prst="rect">
            <a:avLst/>
          </a:prstGeom>
          <a:noFill/>
          <a:ln/>
        </p:spPr>
        <p:txBody>
          <a:bodyPr wrap="square" lIns="0" tIns="0" rIns="0" bIns="0" rtlCol="0" anchor="ctr"/>
          <a:lstStyle/>
          <a:p>
            <a:pPr marL="0" indent="0" algn="ctr">
              <a:buNone/>
            </a:pPr>
            <a:r>
              <a:rPr lang="en-US" sz="2100" kern="0" spc="75" dirty="0">
                <a:solidFill>
                  <a:srgbClr val="D2F0FF"/>
                </a:solidFill>
                <a:latin typeface="Raleway" pitchFamily="34" charset="0"/>
                <a:ea typeface="Raleway" pitchFamily="34" charset="-122"/>
                <a:cs typeface="Raleway" pitchFamily="34" charset="-120"/>
              </a:rPr>
              <a:t>Develop Frontend Without Waiting for Backend</a:t>
            </a:r>
            <a:endParaRPr lang="en-US" sz="2100" dirty="0">
              <a:solidFill>
                <a:srgbClr val="D2F0FF"/>
              </a:solidFill>
            </a:endParaRPr>
          </a:p>
        </p:txBody>
      </p:sp>
    </p:spTree>
    <p:extLst>
      <p:ext uri="{BB962C8B-B14F-4D97-AF65-F5344CB8AC3E}">
        <p14:creationId xmlns:p14="http://schemas.microsoft.com/office/powerpoint/2010/main" val="392988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7B4C-19A4-B588-774D-E90754E5F6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5352D5-C32F-C152-F58C-8E3EE56B07B7}"/>
              </a:ext>
            </a:extLst>
          </p:cNvPr>
          <p:cNvSpPr>
            <a:spLocks noGrp="1"/>
          </p:cNvSpPr>
          <p:nvPr>
            <p:ph type="sldNum" sz="quarter" idx="12"/>
          </p:nvPr>
        </p:nvSpPr>
        <p:spPr/>
        <p:txBody>
          <a:bodyPr/>
          <a:lstStyle/>
          <a:p>
            <a:fld id="{F01A0BEF-C76D-43A2-874C-09A8674B0D74}" type="slidenum">
              <a:rPr lang="en-GB" smtClean="0"/>
              <a:t>2</a:t>
            </a:fld>
            <a:endParaRPr lang="en-GB"/>
          </a:p>
        </p:txBody>
      </p:sp>
      <p:sp>
        <p:nvSpPr>
          <p:cNvPr id="13" name="Text 3">
            <a:extLst>
              <a:ext uri="{FF2B5EF4-FFF2-40B4-BE49-F238E27FC236}">
                <a16:creationId xmlns:a16="http://schemas.microsoft.com/office/drawing/2014/main" id="{8D216738-F366-583D-04F5-B61C335B3326}"/>
              </a:ext>
            </a:extLst>
          </p:cNvPr>
          <p:cNvSpPr txBox="1"/>
          <p:nvPr/>
        </p:nvSpPr>
        <p:spPr>
          <a:xfrm>
            <a:off x="486997" y="1732844"/>
            <a:ext cx="5353812" cy="1219810"/>
          </a:xfrm>
          <a:prstGeom prst="rect">
            <a:avLst/>
          </a:prstGeom>
          <a:noFill/>
          <a:ln/>
        </p:spPr>
        <p:txBody>
          <a:bodyPr wrap="square" lIns="0" tIns="0" rIns="0" bIns="0" rtlCol="0" anchor="ctr"/>
          <a:lstStyle/>
          <a:p>
            <a:pPr marL="0" indent="0" algn="l">
              <a:buNone/>
            </a:pPr>
            <a:r>
              <a:rPr lang="en-US" sz="4800" b="1" kern="0" spc="75" dirty="0">
                <a:solidFill>
                  <a:srgbClr val="D2F0FF"/>
                </a:solidFill>
                <a:latin typeface="Roboto Condensed" pitchFamily="34" charset="0"/>
                <a:ea typeface="Roboto Condensed" pitchFamily="34" charset="-122"/>
                <a:cs typeface="Roboto Condensed" pitchFamily="34" charset="-120"/>
              </a:rPr>
              <a:t>WHO THIS</a:t>
            </a:r>
            <a:endParaRPr lang="en-US" sz="4800" dirty="0">
              <a:solidFill>
                <a:srgbClr val="D2F0FF"/>
              </a:solidFill>
            </a:endParaRPr>
          </a:p>
          <a:p>
            <a:pPr marL="0" indent="0" algn="l">
              <a:buNone/>
            </a:pPr>
            <a:r>
              <a:rPr lang="en-US" sz="4800" b="1" kern="0" spc="75" dirty="0">
                <a:solidFill>
                  <a:srgbClr val="D2F0FF"/>
                </a:solidFill>
                <a:latin typeface="Roboto Condensed" pitchFamily="34" charset="0"/>
                <a:ea typeface="Roboto Condensed" pitchFamily="34" charset="-122"/>
                <a:cs typeface="Roboto Condensed" pitchFamily="34" charset="-120"/>
              </a:rPr>
              <a:t>TALK IS FOR</a:t>
            </a:r>
            <a:endParaRPr lang="en-US" sz="4800" dirty="0">
              <a:solidFill>
                <a:srgbClr val="D2F0FF"/>
              </a:solidFill>
            </a:endParaRPr>
          </a:p>
        </p:txBody>
      </p:sp>
      <p:sp>
        <p:nvSpPr>
          <p:cNvPr id="14" name="Text 4">
            <a:extLst>
              <a:ext uri="{FF2B5EF4-FFF2-40B4-BE49-F238E27FC236}">
                <a16:creationId xmlns:a16="http://schemas.microsoft.com/office/drawing/2014/main" id="{AB800C02-20C0-0949-AACD-43A792EFD85F}"/>
              </a:ext>
            </a:extLst>
          </p:cNvPr>
          <p:cNvSpPr txBox="1"/>
          <p:nvPr/>
        </p:nvSpPr>
        <p:spPr>
          <a:xfrm>
            <a:off x="486997" y="3181253"/>
            <a:ext cx="5257800" cy="810158"/>
          </a:xfrm>
          <a:prstGeom prst="rect">
            <a:avLst/>
          </a:prstGeom>
          <a:noFill/>
          <a:ln/>
        </p:spPr>
        <p:txBody>
          <a:bodyPr wrap="square" lIns="0" tIns="0" rIns="0" bIns="0" rtlCol="0" anchor="ctr"/>
          <a:lstStyle/>
          <a:p>
            <a:pPr marL="0" indent="0" algn="l">
              <a:buNone/>
            </a:pPr>
            <a:r>
              <a:rPr lang="en-US" sz="1300" dirty="0">
                <a:solidFill>
                  <a:srgbClr val="FFFFFF"/>
                </a:solidFill>
                <a:latin typeface="Raleway" pitchFamily="34" charset="0"/>
                <a:ea typeface="Raleway" pitchFamily="34" charset="-122"/>
                <a:cs typeface="Raleway" pitchFamily="34" charset="-120"/>
              </a:rPr>
              <a:t>This presentation is designed for frontend developers and teams who want to streamline their development workflow by eliminating backend dependencies.</a:t>
            </a:r>
            <a:endParaRPr lang="en-US" sz="1300" dirty="0">
              <a:solidFill>
                <a:srgbClr val="FFFFFF"/>
              </a:solidFill>
            </a:endParaRPr>
          </a:p>
        </p:txBody>
      </p:sp>
      <p:grpSp>
        <p:nvGrpSpPr>
          <p:cNvPr id="29" name="Group 28">
            <a:extLst>
              <a:ext uri="{FF2B5EF4-FFF2-40B4-BE49-F238E27FC236}">
                <a16:creationId xmlns:a16="http://schemas.microsoft.com/office/drawing/2014/main" id="{C2137A80-8B25-469C-B47C-74610C1C80DE}"/>
              </a:ext>
            </a:extLst>
          </p:cNvPr>
          <p:cNvGrpSpPr/>
          <p:nvPr/>
        </p:nvGrpSpPr>
        <p:grpSpPr>
          <a:xfrm>
            <a:off x="6277892" y="2620726"/>
            <a:ext cx="5721401" cy="2724912"/>
            <a:chOff x="6400800" y="2066544"/>
            <a:chExt cx="5721401" cy="2724912"/>
          </a:xfrm>
        </p:grpSpPr>
        <p:sp>
          <p:nvSpPr>
            <p:cNvPr id="30" name="Text 16">
              <a:extLst>
                <a:ext uri="{FF2B5EF4-FFF2-40B4-BE49-F238E27FC236}">
                  <a16:creationId xmlns:a16="http://schemas.microsoft.com/office/drawing/2014/main" id="{4E184395-9E4A-051A-4B57-B1D12D6AF09C}"/>
                </a:ext>
              </a:extLst>
            </p:cNvPr>
            <p:cNvSpPr txBox="1"/>
            <p:nvPr/>
          </p:nvSpPr>
          <p:spPr>
            <a:xfrm>
              <a:off x="6400800" y="2066544"/>
              <a:ext cx="5677510" cy="305410"/>
            </a:xfrm>
            <a:prstGeom prst="rect">
              <a:avLst/>
            </a:prstGeom>
            <a:noFill/>
            <a:ln/>
          </p:spPr>
          <p:txBody>
            <a:bodyPr wrap="square" lIns="0" tIns="0" rIns="0" bIns="0" rtlCol="0" anchor="ctr"/>
            <a:lstStyle/>
            <a:p>
              <a:pPr marL="0" indent="0" algn="l">
                <a:buNone/>
              </a:pPr>
              <a:r>
                <a:rPr lang="en-US" sz="1800" b="1" dirty="0">
                  <a:solidFill>
                    <a:srgbClr val="D2F0FF"/>
                  </a:solidFill>
                  <a:latin typeface="Raleway" pitchFamily="34" charset="0"/>
                  <a:ea typeface="Raleway" pitchFamily="34" charset="-122"/>
                  <a:cs typeface="Raleway" pitchFamily="34" charset="-120"/>
                </a:rPr>
                <a:t>Key Benefits</a:t>
              </a:r>
              <a:endParaRPr lang="en-US" sz="1800" dirty="0">
                <a:solidFill>
                  <a:srgbClr val="D2F0FF"/>
                </a:solidFill>
              </a:endParaRPr>
            </a:p>
          </p:txBody>
        </p:sp>
        <p:sp>
          <p:nvSpPr>
            <p:cNvPr id="31" name="Shape 17">
              <a:extLst>
                <a:ext uri="{FF2B5EF4-FFF2-40B4-BE49-F238E27FC236}">
                  <a16:creationId xmlns:a16="http://schemas.microsoft.com/office/drawing/2014/main" id="{253C2E25-95A2-D423-FF46-56BED6E020A0}"/>
                </a:ext>
              </a:extLst>
            </p:cNvPr>
            <p:cNvSpPr/>
            <p:nvPr/>
          </p:nvSpPr>
          <p:spPr>
            <a:xfrm>
              <a:off x="6400800" y="2676449"/>
              <a:ext cx="75895" cy="75895"/>
            </a:xfrm>
            <a:prstGeom prst="ellipse">
              <a:avLst/>
            </a:prstGeom>
            <a:solidFill>
              <a:srgbClr val="3B82F6"/>
            </a:solidFill>
            <a:ln w="12700">
              <a:solidFill>
                <a:srgbClr val="FFFFFF">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06934A33-7F6D-36DD-F160-7C6CB7797C08}"/>
                </a:ext>
              </a:extLst>
            </p:cNvPr>
            <p:cNvSpPr txBox="1"/>
            <p:nvPr/>
          </p:nvSpPr>
          <p:spPr>
            <a:xfrm>
              <a:off x="6590995" y="2600554"/>
              <a:ext cx="4944161" cy="228600"/>
            </a:xfrm>
            <a:prstGeom prst="rect">
              <a:avLst/>
            </a:prstGeom>
            <a:noFill/>
            <a:ln/>
          </p:spPr>
          <p:txBody>
            <a:bodyPr wrap="squar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Frontend engineers blocked by missing or unstable backend</a:t>
              </a:r>
              <a:endParaRPr lang="en-US" sz="1200" dirty="0">
                <a:solidFill>
                  <a:srgbClr val="FFFFFF"/>
                </a:solidFill>
              </a:endParaRPr>
            </a:p>
          </p:txBody>
        </p:sp>
        <p:sp>
          <p:nvSpPr>
            <p:cNvPr id="33" name="Shape 19">
              <a:extLst>
                <a:ext uri="{FF2B5EF4-FFF2-40B4-BE49-F238E27FC236}">
                  <a16:creationId xmlns:a16="http://schemas.microsoft.com/office/drawing/2014/main" id="{97B2A1E7-19EE-B7DC-CFCA-F8119D9EED90}"/>
                </a:ext>
              </a:extLst>
            </p:cNvPr>
            <p:cNvSpPr/>
            <p:nvPr/>
          </p:nvSpPr>
          <p:spPr>
            <a:xfrm>
              <a:off x="6400800" y="3057754"/>
              <a:ext cx="75895" cy="75895"/>
            </a:xfrm>
            <a:prstGeom prst="ellipse">
              <a:avLst/>
            </a:prstGeom>
            <a:solidFill>
              <a:srgbClr val="3B82F6"/>
            </a:solidFill>
            <a:ln w="12700">
              <a:solidFill>
                <a:srgbClr val="FFFFFF">
                  <a:alpha val="0"/>
                </a:srgbClr>
              </a:solidFill>
              <a:prstDash val="solid"/>
            </a:ln>
          </p:spPr>
          <p:txBody>
            <a:bodyPr/>
            <a:lstStyle/>
            <a:p>
              <a:endParaRPr lang="en-US"/>
            </a:p>
          </p:txBody>
        </p:sp>
        <p:sp>
          <p:nvSpPr>
            <p:cNvPr id="34" name="Text 20">
              <a:extLst>
                <a:ext uri="{FF2B5EF4-FFF2-40B4-BE49-F238E27FC236}">
                  <a16:creationId xmlns:a16="http://schemas.microsoft.com/office/drawing/2014/main" id="{672FD249-CDA8-BC50-4578-A02B16C5E2A4}"/>
                </a:ext>
              </a:extLst>
            </p:cNvPr>
            <p:cNvSpPr txBox="1"/>
            <p:nvPr/>
          </p:nvSpPr>
          <p:spPr>
            <a:xfrm>
              <a:off x="6590995" y="2980944"/>
              <a:ext cx="4668012" cy="228600"/>
            </a:xfrm>
            <a:prstGeom prst="rect">
              <a:avLst/>
            </a:prstGeom>
            <a:noFill/>
            <a:ln/>
          </p:spPr>
          <p:txBody>
            <a:bodyPr wrap="squar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Teams shipping UI in parallel with backend development</a:t>
              </a:r>
              <a:endParaRPr lang="en-US" sz="1200" dirty="0">
                <a:solidFill>
                  <a:srgbClr val="FFFFFF"/>
                </a:solidFill>
              </a:endParaRPr>
            </a:p>
          </p:txBody>
        </p:sp>
        <p:sp>
          <p:nvSpPr>
            <p:cNvPr id="35" name="Shape 21">
              <a:extLst>
                <a:ext uri="{FF2B5EF4-FFF2-40B4-BE49-F238E27FC236}">
                  <a16:creationId xmlns:a16="http://schemas.microsoft.com/office/drawing/2014/main" id="{0B08834B-6457-EAB8-7C9C-B60A5083A62C}"/>
                </a:ext>
              </a:extLst>
            </p:cNvPr>
            <p:cNvSpPr/>
            <p:nvPr/>
          </p:nvSpPr>
          <p:spPr>
            <a:xfrm>
              <a:off x="6400800" y="3438144"/>
              <a:ext cx="75895" cy="75895"/>
            </a:xfrm>
            <a:prstGeom prst="ellipse">
              <a:avLst/>
            </a:prstGeom>
            <a:solidFill>
              <a:srgbClr val="3B82F6"/>
            </a:solidFill>
            <a:ln w="12700">
              <a:solidFill>
                <a:srgbClr val="FFFFFF">
                  <a:alpha val="0"/>
                </a:srgbClr>
              </a:solidFill>
              <a:prstDash val="solid"/>
            </a:ln>
          </p:spPr>
          <p:txBody>
            <a:bodyPr/>
            <a:lstStyle/>
            <a:p>
              <a:endParaRPr lang="en-US"/>
            </a:p>
          </p:txBody>
        </p:sp>
        <p:sp>
          <p:nvSpPr>
            <p:cNvPr id="36" name="Text 22">
              <a:extLst>
                <a:ext uri="{FF2B5EF4-FFF2-40B4-BE49-F238E27FC236}">
                  <a16:creationId xmlns:a16="http://schemas.microsoft.com/office/drawing/2014/main" id="{3248B01E-B54B-DA1B-1EFA-C524AECDD9CB}"/>
                </a:ext>
              </a:extLst>
            </p:cNvPr>
            <p:cNvSpPr txBox="1"/>
            <p:nvPr/>
          </p:nvSpPr>
          <p:spPr>
            <a:xfrm>
              <a:off x="6590995" y="3362249"/>
              <a:ext cx="4648810" cy="228600"/>
            </a:xfrm>
            <a:prstGeom prst="rect">
              <a:avLst/>
            </a:prstGeom>
            <a:noFill/>
            <a:ln/>
          </p:spPr>
          <p:txBody>
            <a:bodyPr wrap="squar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Developers who want realistic scenarios, not fake mocks</a:t>
              </a:r>
              <a:endParaRPr lang="en-US" sz="1200" dirty="0">
                <a:solidFill>
                  <a:srgbClr val="FFFFFF"/>
                </a:solidFill>
              </a:endParaRPr>
            </a:p>
          </p:txBody>
        </p:sp>
        <p:sp>
          <p:nvSpPr>
            <p:cNvPr id="37" name="Shape 23">
              <a:extLst>
                <a:ext uri="{FF2B5EF4-FFF2-40B4-BE49-F238E27FC236}">
                  <a16:creationId xmlns:a16="http://schemas.microsoft.com/office/drawing/2014/main" id="{82EBBF66-84D0-BBE6-2B23-0BA4630E4A3F}"/>
                </a:ext>
              </a:extLst>
            </p:cNvPr>
            <p:cNvSpPr/>
            <p:nvPr/>
          </p:nvSpPr>
          <p:spPr>
            <a:xfrm>
              <a:off x="6400800" y="3819449"/>
              <a:ext cx="75895" cy="75895"/>
            </a:xfrm>
            <a:prstGeom prst="ellipse">
              <a:avLst/>
            </a:prstGeom>
            <a:solidFill>
              <a:srgbClr val="3B82F6"/>
            </a:solidFill>
            <a:ln w="12700">
              <a:solidFill>
                <a:srgbClr val="FFFFFF">
                  <a:alpha val="0"/>
                </a:srgbClr>
              </a:solidFill>
              <a:prstDash val="solid"/>
            </a:ln>
          </p:spPr>
          <p:txBody>
            <a:bodyPr/>
            <a:lstStyle/>
            <a:p>
              <a:endParaRPr lang="en-US"/>
            </a:p>
          </p:txBody>
        </p:sp>
        <p:sp>
          <p:nvSpPr>
            <p:cNvPr id="38" name="Text 24">
              <a:extLst>
                <a:ext uri="{FF2B5EF4-FFF2-40B4-BE49-F238E27FC236}">
                  <a16:creationId xmlns:a16="http://schemas.microsoft.com/office/drawing/2014/main" id="{B6727E39-95D3-C2BD-FEF9-3B66760FD822}"/>
                </a:ext>
              </a:extLst>
            </p:cNvPr>
            <p:cNvSpPr txBox="1"/>
            <p:nvPr/>
          </p:nvSpPr>
          <p:spPr>
            <a:xfrm>
              <a:off x="6590995" y="3743554"/>
              <a:ext cx="3598164" cy="228600"/>
            </a:xfrm>
            <a:prstGeom prst="rect">
              <a:avLst/>
            </a:prstGeom>
            <a:noFill/>
            <a:ln/>
          </p:spPr>
          <p:txBody>
            <a:bodyPr wrap="squar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Teams needing to validate integration early</a:t>
              </a:r>
              <a:endParaRPr lang="en-US" sz="1200" dirty="0">
                <a:solidFill>
                  <a:srgbClr val="FFFFFF"/>
                </a:solidFill>
              </a:endParaRPr>
            </a:p>
          </p:txBody>
        </p:sp>
        <p:sp>
          <p:nvSpPr>
            <p:cNvPr id="39" name="Shape 25">
              <a:extLst>
                <a:ext uri="{FF2B5EF4-FFF2-40B4-BE49-F238E27FC236}">
                  <a16:creationId xmlns:a16="http://schemas.microsoft.com/office/drawing/2014/main" id="{973AFB97-0DEB-4CC4-C75D-41C6B2211EFB}"/>
                </a:ext>
              </a:extLst>
            </p:cNvPr>
            <p:cNvSpPr/>
            <p:nvPr/>
          </p:nvSpPr>
          <p:spPr>
            <a:xfrm>
              <a:off x="6400800" y="4276649"/>
              <a:ext cx="5562295" cy="514807"/>
            </a:xfrm>
            <a:prstGeom prst="roundRect">
              <a:avLst>
                <a:gd name="adj" fmla="val 52628"/>
              </a:avLst>
            </a:prstGeom>
            <a:solidFill>
              <a:srgbClr val="FFFFFF"/>
            </a:solidFill>
            <a:ln w="12700">
              <a:solidFill>
                <a:srgbClr val="E5E7EB"/>
              </a:solidFill>
              <a:prstDash val="solid"/>
            </a:ln>
          </p:spPr>
          <p:txBody>
            <a:bodyPr/>
            <a:lstStyle/>
            <a:p>
              <a:endParaRPr lang="en-US"/>
            </a:p>
          </p:txBody>
        </p:sp>
        <p:sp>
          <p:nvSpPr>
            <p:cNvPr id="40" name="Text 26">
              <a:extLst>
                <a:ext uri="{FF2B5EF4-FFF2-40B4-BE49-F238E27FC236}">
                  <a16:creationId xmlns:a16="http://schemas.microsoft.com/office/drawing/2014/main" id="{14768400-8996-706A-A176-BA89DF5E5FD6}"/>
                </a:ext>
              </a:extLst>
            </p:cNvPr>
            <p:cNvSpPr txBox="1"/>
            <p:nvPr/>
          </p:nvSpPr>
          <p:spPr>
            <a:xfrm>
              <a:off x="6562649" y="4438498"/>
              <a:ext cx="128107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Experience Level</a:t>
              </a:r>
              <a:endParaRPr lang="en-US" sz="1000" dirty="0"/>
            </a:p>
          </p:txBody>
        </p:sp>
        <p:sp>
          <p:nvSpPr>
            <p:cNvPr id="41" name="Text 27">
              <a:extLst>
                <a:ext uri="{FF2B5EF4-FFF2-40B4-BE49-F238E27FC236}">
                  <a16:creationId xmlns:a16="http://schemas.microsoft.com/office/drawing/2014/main" id="{32232B3D-21DB-B668-2522-CB56B84964F6}"/>
                </a:ext>
              </a:extLst>
            </p:cNvPr>
            <p:cNvSpPr txBox="1"/>
            <p:nvPr/>
          </p:nvSpPr>
          <p:spPr>
            <a:xfrm>
              <a:off x="10137953" y="4438498"/>
              <a:ext cx="1984248" cy="191110"/>
            </a:xfrm>
            <a:prstGeom prst="rect">
              <a:avLst/>
            </a:prstGeom>
            <a:noFill/>
            <a:ln/>
          </p:spPr>
          <p:txBody>
            <a:bodyPr wrap="square" lIns="0" tIns="0" rIns="0" bIns="0" rtlCol="0" anchor="ctr"/>
            <a:lstStyle/>
            <a:p>
              <a:pPr marL="0" indent="0" algn="l">
                <a:buNone/>
              </a:pPr>
              <a:r>
                <a:rPr lang="en-US" sz="1000" b="1" dirty="0">
                  <a:solidFill>
                    <a:srgbClr val="2563EB"/>
                  </a:solidFill>
                  <a:latin typeface="Raleway" pitchFamily="34" charset="0"/>
                  <a:ea typeface="Raleway" pitchFamily="34" charset="-122"/>
                  <a:cs typeface="Raleway" pitchFamily="34" charset="-120"/>
                </a:rPr>
                <a:t>Intermediate to Advanced</a:t>
              </a:r>
              <a:endParaRPr lang="en-US" sz="1000" dirty="0"/>
            </a:p>
          </p:txBody>
        </p:sp>
      </p:grpSp>
      <p:grpSp>
        <p:nvGrpSpPr>
          <p:cNvPr id="47" name="Group 46">
            <a:extLst>
              <a:ext uri="{FF2B5EF4-FFF2-40B4-BE49-F238E27FC236}">
                <a16:creationId xmlns:a16="http://schemas.microsoft.com/office/drawing/2014/main" id="{A57141E4-9F28-474A-C961-6330A1CDF130}"/>
              </a:ext>
            </a:extLst>
          </p:cNvPr>
          <p:cNvGrpSpPr/>
          <p:nvPr/>
        </p:nvGrpSpPr>
        <p:grpSpPr>
          <a:xfrm>
            <a:off x="486997" y="5318206"/>
            <a:ext cx="5181905" cy="762609"/>
            <a:chOff x="486997" y="5318206"/>
            <a:chExt cx="5181905" cy="762609"/>
          </a:xfrm>
        </p:grpSpPr>
        <p:grpSp>
          <p:nvGrpSpPr>
            <p:cNvPr id="43" name="Group 42">
              <a:extLst>
                <a:ext uri="{FF2B5EF4-FFF2-40B4-BE49-F238E27FC236}">
                  <a16:creationId xmlns:a16="http://schemas.microsoft.com/office/drawing/2014/main" id="{90674C1A-EB36-5B89-14AA-B8D5AEDE374F}"/>
                </a:ext>
              </a:extLst>
            </p:cNvPr>
            <p:cNvGrpSpPr/>
            <p:nvPr/>
          </p:nvGrpSpPr>
          <p:grpSpPr>
            <a:xfrm>
              <a:off x="486997" y="5318206"/>
              <a:ext cx="5181905" cy="762609"/>
              <a:chOff x="486997" y="5318206"/>
              <a:chExt cx="5181905" cy="762609"/>
            </a:xfrm>
          </p:grpSpPr>
          <p:grpSp>
            <p:nvGrpSpPr>
              <p:cNvPr id="23" name="Group 22">
                <a:extLst>
                  <a:ext uri="{FF2B5EF4-FFF2-40B4-BE49-F238E27FC236}">
                    <a16:creationId xmlns:a16="http://schemas.microsoft.com/office/drawing/2014/main" id="{67A64F70-8FAD-296B-E968-930CCDA062DA}"/>
                  </a:ext>
                </a:extLst>
              </p:cNvPr>
              <p:cNvGrpSpPr/>
              <p:nvPr/>
            </p:nvGrpSpPr>
            <p:grpSpPr>
              <a:xfrm>
                <a:off x="486997" y="5319120"/>
                <a:ext cx="5181905" cy="761695"/>
                <a:chOff x="609905" y="4764938"/>
                <a:chExt cx="5181905" cy="761695"/>
              </a:xfrm>
            </p:grpSpPr>
            <p:sp>
              <p:nvSpPr>
                <p:cNvPr id="24" name="Shape 10">
                  <a:extLst>
                    <a:ext uri="{FF2B5EF4-FFF2-40B4-BE49-F238E27FC236}">
                      <a16:creationId xmlns:a16="http://schemas.microsoft.com/office/drawing/2014/main" id="{7FA7D33B-F60F-E1E0-E953-8C9B0068262F}"/>
                    </a:ext>
                  </a:extLst>
                </p:cNvPr>
                <p:cNvSpPr/>
                <p:nvPr/>
              </p:nvSpPr>
              <p:spPr>
                <a:xfrm>
                  <a:off x="609905" y="4764938"/>
                  <a:ext cx="5181905" cy="761695"/>
                </a:xfrm>
                <a:prstGeom prst="roundRect">
                  <a:avLst>
                    <a:gd name="adj" fmla="val 0"/>
                  </a:avLst>
                </a:prstGeom>
                <a:solidFill>
                  <a:srgbClr val="F7FAFC"/>
                </a:solidFill>
                <a:ln/>
              </p:spPr>
              <p:txBody>
                <a:bodyPr/>
                <a:lstStyle/>
                <a:p>
                  <a:endParaRPr lang="en-US" dirty="0"/>
                </a:p>
              </p:txBody>
            </p:sp>
            <p:sp>
              <p:nvSpPr>
                <p:cNvPr id="27" name="Text 13">
                  <a:extLst>
                    <a:ext uri="{FF2B5EF4-FFF2-40B4-BE49-F238E27FC236}">
                      <a16:creationId xmlns:a16="http://schemas.microsoft.com/office/drawing/2014/main" id="{5C584426-998E-503A-0757-24B5CB9D171E}"/>
                    </a:ext>
                  </a:extLst>
                </p:cNvPr>
                <p:cNvSpPr txBox="1"/>
                <p:nvPr/>
              </p:nvSpPr>
              <p:spPr>
                <a:xfrm>
                  <a:off x="1410005" y="4916729"/>
                  <a:ext cx="3600907"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Development Context</a:t>
                  </a:r>
                  <a:endParaRPr lang="en-US" sz="1200" dirty="0"/>
                </a:p>
              </p:txBody>
            </p:sp>
            <p:sp>
              <p:nvSpPr>
                <p:cNvPr id="28" name="Text 14">
                  <a:extLst>
                    <a:ext uri="{FF2B5EF4-FFF2-40B4-BE49-F238E27FC236}">
                      <a16:creationId xmlns:a16="http://schemas.microsoft.com/office/drawing/2014/main" id="{FC5405DC-E472-87E9-E6FC-D4E96F5F580F}"/>
                    </a:ext>
                  </a:extLst>
                </p:cNvPr>
                <p:cNvSpPr txBox="1"/>
                <p:nvPr/>
              </p:nvSpPr>
              <p:spPr>
                <a:xfrm>
                  <a:off x="1410005" y="5183734"/>
                  <a:ext cx="412394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Teams shipping UI in parallel with backend development</a:t>
                  </a:r>
                  <a:endParaRPr lang="en-US" sz="1000" dirty="0"/>
                </a:p>
              </p:txBody>
            </p:sp>
          </p:grpSp>
          <p:sp>
            <p:nvSpPr>
              <p:cNvPr id="42" name="Shape 6">
                <a:extLst>
                  <a:ext uri="{FF2B5EF4-FFF2-40B4-BE49-F238E27FC236}">
                    <a16:creationId xmlns:a16="http://schemas.microsoft.com/office/drawing/2014/main" id="{F45486E1-AFD0-C94E-F763-6FD1351C7617}"/>
                  </a:ext>
                </a:extLst>
              </p:cNvPr>
              <p:cNvSpPr/>
              <p:nvPr/>
            </p:nvSpPr>
            <p:spPr>
              <a:xfrm>
                <a:off x="486998" y="5318206"/>
                <a:ext cx="74980" cy="761696"/>
              </a:xfrm>
              <a:prstGeom prst="roundRect">
                <a:avLst>
                  <a:gd name="adj" fmla="val 0"/>
                </a:avLst>
              </a:prstGeom>
              <a:solidFill>
                <a:srgbClr val="3182CE"/>
              </a:solidFill>
              <a:ln w="12700">
                <a:solidFill>
                  <a:srgbClr val="3182CE">
                    <a:alpha val="0"/>
                  </a:srgbClr>
                </a:solidFill>
                <a:prstDash val="solid"/>
              </a:ln>
            </p:spPr>
            <p:txBody>
              <a:bodyPr/>
              <a:lstStyle/>
              <a:p>
                <a:endParaRPr lang="en-US" dirty="0"/>
              </a:p>
            </p:txBody>
          </p:sp>
        </p:grpSp>
        <p:grpSp>
          <p:nvGrpSpPr>
            <p:cNvPr id="46" name="Group 45">
              <a:extLst>
                <a:ext uri="{FF2B5EF4-FFF2-40B4-BE49-F238E27FC236}">
                  <a16:creationId xmlns:a16="http://schemas.microsoft.com/office/drawing/2014/main" id="{8A0F24B3-99D1-EEFF-9E99-2A325032C717}"/>
                </a:ext>
              </a:extLst>
            </p:cNvPr>
            <p:cNvGrpSpPr/>
            <p:nvPr/>
          </p:nvGrpSpPr>
          <p:grpSpPr>
            <a:xfrm>
              <a:off x="677192" y="5470911"/>
              <a:ext cx="457200" cy="457200"/>
              <a:chOff x="677192" y="5470911"/>
              <a:chExt cx="457200" cy="457200"/>
            </a:xfrm>
          </p:grpSpPr>
          <p:sp>
            <p:nvSpPr>
              <p:cNvPr id="22" name="Shape 12">
                <a:extLst>
                  <a:ext uri="{FF2B5EF4-FFF2-40B4-BE49-F238E27FC236}">
                    <a16:creationId xmlns:a16="http://schemas.microsoft.com/office/drawing/2014/main" id="{D9A0CCAD-537C-1873-0164-DEE028ACEED2}"/>
                  </a:ext>
                </a:extLst>
              </p:cNvPr>
              <p:cNvSpPr/>
              <p:nvPr/>
            </p:nvSpPr>
            <p:spPr>
              <a:xfrm>
                <a:off x="677192" y="5470911"/>
                <a:ext cx="457200" cy="457200"/>
              </a:xfrm>
              <a:prstGeom prst="roundRect">
                <a:avLst>
                  <a:gd name="adj" fmla="val 66667"/>
                </a:avLst>
              </a:prstGeom>
              <a:solidFill>
                <a:srgbClr val="3182CE"/>
              </a:solidFill>
              <a:ln w="12700">
                <a:solidFill>
                  <a:srgbClr val="FFFFFF">
                    <a:alpha val="0"/>
                  </a:srgbClr>
                </a:solidFill>
                <a:prstDash val="solid"/>
              </a:ln>
            </p:spPr>
            <p:txBody>
              <a:bodyPr/>
              <a:lstStyle/>
              <a:p>
                <a:endParaRPr lang="en-US" dirty="0"/>
              </a:p>
            </p:txBody>
          </p:sp>
          <p:pic>
            <p:nvPicPr>
              <p:cNvPr id="45" name="Image 2" descr="preencoded.png">
                <a:extLst>
                  <a:ext uri="{FF2B5EF4-FFF2-40B4-BE49-F238E27FC236}">
                    <a16:creationId xmlns:a16="http://schemas.microsoft.com/office/drawing/2014/main" id="{56947E62-EC38-BD9B-36DB-820F7F000319}"/>
                  </a:ext>
                </a:extLst>
              </p:cNvPr>
              <p:cNvPicPr>
                <a:picLocks noChangeAspect="1"/>
              </p:cNvPicPr>
              <p:nvPr/>
            </p:nvPicPr>
            <p:blipFill>
              <a:blip r:embed="rId3"/>
              <a:srcRect l="-1648" r="-1648"/>
              <a:stretch/>
            </p:blipFill>
            <p:spPr>
              <a:xfrm>
                <a:off x="819838" y="5604413"/>
                <a:ext cx="171907" cy="190195"/>
              </a:xfrm>
              <a:prstGeom prst="rect">
                <a:avLst/>
              </a:prstGeom>
            </p:spPr>
          </p:pic>
        </p:grpSp>
      </p:grpSp>
      <p:grpSp>
        <p:nvGrpSpPr>
          <p:cNvPr id="50" name="Group 49">
            <a:extLst>
              <a:ext uri="{FF2B5EF4-FFF2-40B4-BE49-F238E27FC236}">
                <a16:creationId xmlns:a16="http://schemas.microsoft.com/office/drawing/2014/main" id="{5369DBA0-BB57-0C99-3D59-10CC618A0C66}"/>
              </a:ext>
            </a:extLst>
          </p:cNvPr>
          <p:cNvGrpSpPr/>
          <p:nvPr/>
        </p:nvGrpSpPr>
        <p:grpSpPr>
          <a:xfrm>
            <a:off x="486997" y="4213611"/>
            <a:ext cx="5181905" cy="952805"/>
            <a:chOff x="486997" y="4213611"/>
            <a:chExt cx="5181905" cy="952805"/>
          </a:xfrm>
        </p:grpSpPr>
        <p:grpSp>
          <p:nvGrpSpPr>
            <p:cNvPr id="16" name="Group 15">
              <a:extLst>
                <a:ext uri="{FF2B5EF4-FFF2-40B4-BE49-F238E27FC236}">
                  <a16:creationId xmlns:a16="http://schemas.microsoft.com/office/drawing/2014/main" id="{E12FF5F6-31E0-2BB3-C07F-9085FF2036C7}"/>
                </a:ext>
              </a:extLst>
            </p:cNvPr>
            <p:cNvGrpSpPr/>
            <p:nvPr/>
          </p:nvGrpSpPr>
          <p:grpSpPr>
            <a:xfrm>
              <a:off x="486997" y="4213611"/>
              <a:ext cx="5181905" cy="952805"/>
              <a:chOff x="609905" y="3659429"/>
              <a:chExt cx="5181905" cy="952805"/>
            </a:xfrm>
          </p:grpSpPr>
          <p:sp>
            <p:nvSpPr>
              <p:cNvPr id="17" name="Shape 5">
                <a:extLst>
                  <a:ext uri="{FF2B5EF4-FFF2-40B4-BE49-F238E27FC236}">
                    <a16:creationId xmlns:a16="http://schemas.microsoft.com/office/drawing/2014/main" id="{4A23D486-16CD-BFD7-DFDA-5CEDFF2F5AD6}"/>
                  </a:ext>
                </a:extLst>
              </p:cNvPr>
              <p:cNvSpPr/>
              <p:nvPr/>
            </p:nvSpPr>
            <p:spPr>
              <a:xfrm>
                <a:off x="609905" y="3659429"/>
                <a:ext cx="5181905" cy="952805"/>
              </a:xfrm>
              <a:prstGeom prst="roundRect">
                <a:avLst>
                  <a:gd name="adj" fmla="val 0"/>
                </a:avLst>
              </a:prstGeom>
              <a:solidFill>
                <a:srgbClr val="F7FAFC"/>
              </a:solidFill>
              <a:ln/>
            </p:spPr>
            <p:txBody>
              <a:bodyPr/>
              <a:lstStyle/>
              <a:p>
                <a:endParaRPr lang="en-US" dirty="0"/>
              </a:p>
            </p:txBody>
          </p:sp>
          <p:sp>
            <p:nvSpPr>
              <p:cNvPr id="18" name="Shape 6">
                <a:extLst>
                  <a:ext uri="{FF2B5EF4-FFF2-40B4-BE49-F238E27FC236}">
                    <a16:creationId xmlns:a16="http://schemas.microsoft.com/office/drawing/2014/main" id="{4435DFC1-97F5-FDC0-F120-A8B5817456F1}"/>
                  </a:ext>
                </a:extLst>
              </p:cNvPr>
              <p:cNvSpPr/>
              <p:nvPr/>
            </p:nvSpPr>
            <p:spPr>
              <a:xfrm>
                <a:off x="609905" y="3659429"/>
                <a:ext cx="75895" cy="952805"/>
              </a:xfrm>
              <a:prstGeom prst="roundRect">
                <a:avLst>
                  <a:gd name="adj" fmla="val 0"/>
                </a:avLst>
              </a:prstGeom>
              <a:solidFill>
                <a:srgbClr val="3182CE"/>
              </a:solidFill>
              <a:ln w="12700">
                <a:solidFill>
                  <a:srgbClr val="3182CE">
                    <a:alpha val="0"/>
                  </a:srgbClr>
                </a:solidFill>
                <a:prstDash val="solid"/>
              </a:ln>
            </p:spPr>
            <p:txBody>
              <a:bodyPr/>
              <a:lstStyle/>
              <a:p>
                <a:endParaRPr lang="en-US" dirty="0"/>
              </a:p>
            </p:txBody>
          </p:sp>
          <p:sp>
            <p:nvSpPr>
              <p:cNvPr id="20" name="Text 8">
                <a:extLst>
                  <a:ext uri="{FF2B5EF4-FFF2-40B4-BE49-F238E27FC236}">
                    <a16:creationId xmlns:a16="http://schemas.microsoft.com/office/drawing/2014/main" id="{CF994514-A8EE-555D-DEB9-E0C8970F7C2A}"/>
                  </a:ext>
                </a:extLst>
              </p:cNvPr>
              <p:cNvSpPr txBox="1"/>
              <p:nvPr/>
            </p:nvSpPr>
            <p:spPr>
              <a:xfrm>
                <a:off x="1410005" y="3812134"/>
                <a:ext cx="434340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Target Audience</a:t>
                </a:r>
                <a:endParaRPr lang="en-US" sz="1200" dirty="0"/>
              </a:p>
            </p:txBody>
          </p:sp>
          <p:sp>
            <p:nvSpPr>
              <p:cNvPr id="21" name="Text 9">
                <a:extLst>
                  <a:ext uri="{FF2B5EF4-FFF2-40B4-BE49-F238E27FC236}">
                    <a16:creationId xmlns:a16="http://schemas.microsoft.com/office/drawing/2014/main" id="{7BB44EFC-4AE8-3AC0-5DF8-20E892F06FF7}"/>
                  </a:ext>
                </a:extLst>
              </p:cNvPr>
              <p:cNvSpPr txBox="1"/>
              <p:nvPr/>
            </p:nvSpPr>
            <p:spPr>
              <a:xfrm>
                <a:off x="1410005" y="4079138"/>
                <a:ext cx="4305910" cy="381305"/>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Frontend engineers, team leads, and developers working on UI components</a:t>
                </a:r>
                <a:endParaRPr lang="en-US" sz="1000" dirty="0"/>
              </a:p>
            </p:txBody>
          </p:sp>
        </p:grpSp>
        <p:grpSp>
          <p:nvGrpSpPr>
            <p:cNvPr id="49" name="Group 48">
              <a:extLst>
                <a:ext uri="{FF2B5EF4-FFF2-40B4-BE49-F238E27FC236}">
                  <a16:creationId xmlns:a16="http://schemas.microsoft.com/office/drawing/2014/main" id="{FE47B5CF-022F-9F80-C172-C80400C66302}"/>
                </a:ext>
              </a:extLst>
            </p:cNvPr>
            <p:cNvGrpSpPr/>
            <p:nvPr/>
          </p:nvGrpSpPr>
          <p:grpSpPr>
            <a:xfrm>
              <a:off x="677192" y="4449526"/>
              <a:ext cx="457200" cy="457200"/>
              <a:chOff x="677192" y="4449526"/>
              <a:chExt cx="457200" cy="457200"/>
            </a:xfrm>
          </p:grpSpPr>
          <p:sp>
            <p:nvSpPr>
              <p:cNvPr id="15" name="Shape 7">
                <a:extLst>
                  <a:ext uri="{FF2B5EF4-FFF2-40B4-BE49-F238E27FC236}">
                    <a16:creationId xmlns:a16="http://schemas.microsoft.com/office/drawing/2014/main" id="{2962C255-0EA5-B59C-F899-5B2ED554AAD6}"/>
                  </a:ext>
                </a:extLst>
              </p:cNvPr>
              <p:cNvSpPr/>
              <p:nvPr/>
            </p:nvSpPr>
            <p:spPr>
              <a:xfrm>
                <a:off x="677192" y="4449526"/>
                <a:ext cx="457200" cy="457200"/>
              </a:xfrm>
              <a:prstGeom prst="roundRect">
                <a:avLst>
                  <a:gd name="adj" fmla="val 66667"/>
                </a:avLst>
              </a:prstGeom>
              <a:solidFill>
                <a:srgbClr val="3182CE"/>
              </a:solidFill>
              <a:ln w="12700">
                <a:solidFill>
                  <a:srgbClr val="FFFFFF">
                    <a:alpha val="0"/>
                  </a:srgbClr>
                </a:solidFill>
                <a:prstDash val="solid"/>
              </a:ln>
            </p:spPr>
            <p:txBody>
              <a:bodyPr/>
              <a:lstStyle/>
              <a:p>
                <a:endParaRPr lang="en-US"/>
              </a:p>
            </p:txBody>
          </p:sp>
          <p:pic>
            <p:nvPicPr>
              <p:cNvPr id="48" name="Image 1" descr="preencoded.png">
                <a:extLst>
                  <a:ext uri="{FF2B5EF4-FFF2-40B4-BE49-F238E27FC236}">
                    <a16:creationId xmlns:a16="http://schemas.microsoft.com/office/drawing/2014/main" id="{9F494E3A-7B38-7C44-F622-16A49832121F}"/>
                  </a:ext>
                </a:extLst>
              </p:cNvPr>
              <p:cNvPicPr>
                <a:picLocks noChangeAspect="1"/>
              </p:cNvPicPr>
              <p:nvPr/>
            </p:nvPicPr>
            <p:blipFill>
              <a:blip r:embed="rId4"/>
              <a:srcRect/>
              <a:stretch/>
            </p:blipFill>
            <p:spPr>
              <a:xfrm>
                <a:off x="786920" y="4583028"/>
                <a:ext cx="237744" cy="190195"/>
              </a:xfrm>
              <a:prstGeom prst="rect">
                <a:avLst/>
              </a:prstGeom>
            </p:spPr>
          </p:pic>
        </p:grpSp>
      </p:grpSp>
      <p:grpSp>
        <p:nvGrpSpPr>
          <p:cNvPr id="56" name="Group 55">
            <a:extLst>
              <a:ext uri="{FF2B5EF4-FFF2-40B4-BE49-F238E27FC236}">
                <a16:creationId xmlns:a16="http://schemas.microsoft.com/office/drawing/2014/main" id="{CEE99DF1-3049-ECD5-4C1D-92DB8144F96D}"/>
              </a:ext>
            </a:extLst>
          </p:cNvPr>
          <p:cNvGrpSpPr/>
          <p:nvPr/>
        </p:nvGrpSpPr>
        <p:grpSpPr>
          <a:xfrm>
            <a:off x="515801" y="858677"/>
            <a:ext cx="1438351" cy="362102"/>
            <a:chOff x="515801" y="858677"/>
            <a:chExt cx="1438351" cy="362102"/>
          </a:xfrm>
        </p:grpSpPr>
        <p:sp>
          <p:nvSpPr>
            <p:cNvPr id="10" name="Shape 1">
              <a:extLst>
                <a:ext uri="{FF2B5EF4-FFF2-40B4-BE49-F238E27FC236}">
                  <a16:creationId xmlns:a16="http://schemas.microsoft.com/office/drawing/2014/main" id="{D6E5C8CE-5F21-4966-6894-7748C9E251EF}"/>
                </a:ext>
              </a:extLst>
            </p:cNvPr>
            <p:cNvSpPr/>
            <p:nvPr/>
          </p:nvSpPr>
          <p:spPr>
            <a:xfrm>
              <a:off x="515801" y="858677"/>
              <a:ext cx="1438351" cy="362102"/>
            </a:xfrm>
            <a:prstGeom prst="roundRect">
              <a:avLst>
                <a:gd name="adj" fmla="val 252526"/>
              </a:avLst>
            </a:prstGeom>
            <a:solidFill>
              <a:srgbClr val="D2F0FF">
                <a:alpha val="81317"/>
              </a:srgbClr>
            </a:solidFill>
            <a:ln w="12700">
              <a:solidFill>
                <a:srgbClr val="FFFFFF">
                  <a:alpha val="0"/>
                </a:srgbClr>
              </a:solidFill>
              <a:prstDash val="solid"/>
            </a:ln>
          </p:spPr>
          <p:txBody>
            <a:bodyPr/>
            <a:lstStyle/>
            <a:p>
              <a:endParaRPr lang="en-US" dirty="0"/>
            </a:p>
          </p:txBody>
        </p:sp>
        <p:sp>
          <p:nvSpPr>
            <p:cNvPr id="55" name="Text 2">
              <a:extLst>
                <a:ext uri="{FF2B5EF4-FFF2-40B4-BE49-F238E27FC236}">
                  <a16:creationId xmlns:a16="http://schemas.microsoft.com/office/drawing/2014/main" id="{E46E47ED-6643-6F4A-26F4-DA200D471D90}"/>
                </a:ext>
              </a:extLst>
            </p:cNvPr>
            <p:cNvSpPr/>
            <p:nvPr/>
          </p:nvSpPr>
          <p:spPr>
            <a:xfrm>
              <a:off x="539118" y="858677"/>
              <a:ext cx="1415034" cy="362102"/>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rgbClr val="000000"/>
                  </a:solidFill>
                  <a:latin typeface="Roboto Condensed" pitchFamily="34" charset="0"/>
                  <a:ea typeface="Roboto Condensed" pitchFamily="34" charset="-122"/>
                  <a:cs typeface="Roboto Condensed" pitchFamily="34" charset="-120"/>
                </a:rPr>
                <a:t>MEET.JS POLAND</a:t>
              </a:r>
              <a:endParaRPr lang="en-US" sz="1000" dirty="0"/>
            </a:p>
          </p:txBody>
        </p:sp>
      </p:grpSp>
    </p:spTree>
    <p:extLst>
      <p:ext uri="{BB962C8B-B14F-4D97-AF65-F5344CB8AC3E}">
        <p14:creationId xmlns:p14="http://schemas.microsoft.com/office/powerpoint/2010/main" val="181036536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14C4-5B9E-85A8-0EA9-DE12238C80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6E6141-31F3-3615-6CEA-789CC30AA3AC}"/>
              </a:ext>
            </a:extLst>
          </p:cNvPr>
          <p:cNvSpPr>
            <a:spLocks noGrp="1"/>
          </p:cNvSpPr>
          <p:nvPr>
            <p:ph type="sldNum" sz="quarter" idx="12"/>
          </p:nvPr>
        </p:nvSpPr>
        <p:spPr/>
        <p:txBody>
          <a:bodyPr/>
          <a:lstStyle/>
          <a:p>
            <a:fld id="{F01A0BEF-C76D-43A2-874C-09A8674B0D74}" type="slidenum">
              <a:rPr lang="en-GB" smtClean="0"/>
              <a:t>3</a:t>
            </a:fld>
            <a:endParaRPr lang="en-GB"/>
          </a:p>
        </p:txBody>
      </p:sp>
      <p:sp>
        <p:nvSpPr>
          <p:cNvPr id="7" name="Text 4">
            <a:extLst>
              <a:ext uri="{FF2B5EF4-FFF2-40B4-BE49-F238E27FC236}">
                <a16:creationId xmlns:a16="http://schemas.microsoft.com/office/drawing/2014/main" id="{44FB1DA7-E223-DDB7-8007-A8F504ABBE53}"/>
              </a:ext>
            </a:extLst>
          </p:cNvPr>
          <p:cNvSpPr txBox="1"/>
          <p:nvPr/>
        </p:nvSpPr>
        <p:spPr>
          <a:xfrm>
            <a:off x="609905" y="914400"/>
            <a:ext cx="11163910" cy="762610"/>
          </a:xfrm>
          <a:prstGeom prst="rect">
            <a:avLst/>
          </a:prstGeom>
          <a:noFill/>
          <a:ln/>
        </p:spPr>
        <p:txBody>
          <a:bodyPr wrap="square" lIns="0" tIns="0" rIns="0" bIns="0" rtlCol="0" anchor="ctr"/>
          <a:lstStyle/>
          <a:p>
            <a:pPr marL="0" indent="0" algn="l">
              <a:buNone/>
            </a:pPr>
            <a:r>
              <a:rPr lang="en-US" sz="6000" b="1" kern="0" spc="75" dirty="0">
                <a:solidFill>
                  <a:srgbClr val="091044"/>
                </a:solidFill>
                <a:latin typeface="Roboto Condensed" pitchFamily="34" charset="0"/>
                <a:ea typeface="Roboto Condensed" pitchFamily="34" charset="-122"/>
                <a:cs typeface="Roboto Condensed" pitchFamily="34" charset="-120"/>
              </a:rPr>
              <a:t>THE CORE PROBLEM</a:t>
            </a:r>
            <a:endParaRPr lang="en-US" sz="6000" dirty="0">
              <a:solidFill>
                <a:srgbClr val="091044"/>
              </a:solidFill>
            </a:endParaRPr>
          </a:p>
        </p:txBody>
      </p:sp>
      <p:sp>
        <p:nvSpPr>
          <p:cNvPr id="9" name="Text 5">
            <a:extLst>
              <a:ext uri="{FF2B5EF4-FFF2-40B4-BE49-F238E27FC236}">
                <a16:creationId xmlns:a16="http://schemas.microsoft.com/office/drawing/2014/main" id="{E79AF3D2-6BE6-DDB4-4104-8D957D9EF099}"/>
              </a:ext>
            </a:extLst>
          </p:cNvPr>
          <p:cNvSpPr txBox="1"/>
          <p:nvPr/>
        </p:nvSpPr>
        <p:spPr>
          <a:xfrm>
            <a:off x="609905" y="1828800"/>
            <a:ext cx="7392010" cy="590702"/>
          </a:xfrm>
          <a:prstGeom prst="rect">
            <a:avLst/>
          </a:prstGeom>
          <a:noFill/>
          <a:ln/>
        </p:spPr>
        <p:txBody>
          <a:bodyPr wrap="square" lIns="0" tIns="0" rIns="0" bIns="0" rtlCol="0" anchor="ctr"/>
          <a:lstStyle/>
          <a:p>
            <a:pPr marL="0" indent="0" algn="l">
              <a:buNone/>
            </a:pPr>
            <a:r>
              <a:rPr lang="en-US" sz="1400" dirty="0">
                <a:solidFill>
                  <a:srgbClr val="4A5568"/>
                </a:solidFill>
                <a:latin typeface="Raleway" pitchFamily="34" charset="0"/>
                <a:ea typeface="Raleway" pitchFamily="34" charset="-122"/>
                <a:cs typeface="Raleway" pitchFamily="34" charset="-120"/>
              </a:rPr>
              <a:t>Backend dependencies create bottlenecks in frontend development, blocking features and slowing down the development workflow.</a:t>
            </a:r>
            <a:endParaRPr lang="en-US" sz="1400" dirty="0"/>
          </a:p>
        </p:txBody>
      </p:sp>
      <p:grpSp>
        <p:nvGrpSpPr>
          <p:cNvPr id="10" name="Group 9">
            <a:extLst>
              <a:ext uri="{FF2B5EF4-FFF2-40B4-BE49-F238E27FC236}">
                <a16:creationId xmlns:a16="http://schemas.microsoft.com/office/drawing/2014/main" id="{E7827AFA-4E0D-8D79-6258-62833CFA06ED}"/>
              </a:ext>
            </a:extLst>
          </p:cNvPr>
          <p:cNvGrpSpPr/>
          <p:nvPr/>
        </p:nvGrpSpPr>
        <p:grpSpPr>
          <a:xfrm>
            <a:off x="609905" y="2718511"/>
            <a:ext cx="5372100" cy="1723644"/>
            <a:chOff x="609905" y="2718511"/>
            <a:chExt cx="5372100" cy="1723644"/>
          </a:xfrm>
        </p:grpSpPr>
        <p:sp>
          <p:nvSpPr>
            <p:cNvPr id="11" name="Shape 6">
              <a:extLst>
                <a:ext uri="{FF2B5EF4-FFF2-40B4-BE49-F238E27FC236}">
                  <a16:creationId xmlns:a16="http://schemas.microsoft.com/office/drawing/2014/main" id="{30CA4290-354C-5059-9AAC-065CE63F5DF4}"/>
                </a:ext>
              </a:extLst>
            </p:cNvPr>
            <p:cNvSpPr/>
            <p:nvPr/>
          </p:nvSpPr>
          <p:spPr>
            <a:xfrm>
              <a:off x="609905" y="2718511"/>
              <a:ext cx="5372100" cy="1723644"/>
            </a:xfrm>
            <a:prstGeom prst="roundRect">
              <a:avLst>
                <a:gd name="adj" fmla="val 7034"/>
              </a:avLst>
            </a:prstGeom>
            <a:solidFill>
              <a:srgbClr val="FFFFFF"/>
            </a:solidFill>
            <a:ln w="12700">
              <a:solidFill>
                <a:srgbClr val="E2E8F0"/>
              </a:solidFill>
              <a:prstDash val="solid"/>
            </a:ln>
            <a:effectLst>
              <a:outerShdw blurRad="63500" dist="38100" dir="16200000" algn="bl" rotWithShape="0">
                <a:srgbClr val="000000">
                  <a:alpha val="4000"/>
                </a:srgbClr>
              </a:outerShdw>
            </a:effectLst>
          </p:spPr>
          <p:txBody>
            <a:bodyPr/>
            <a:lstStyle/>
            <a:p>
              <a:endParaRPr lang="en-US" dirty="0"/>
            </a:p>
          </p:txBody>
        </p:sp>
        <p:sp>
          <p:nvSpPr>
            <p:cNvPr id="12" name="Shape 7">
              <a:extLst>
                <a:ext uri="{FF2B5EF4-FFF2-40B4-BE49-F238E27FC236}">
                  <a16:creationId xmlns:a16="http://schemas.microsoft.com/office/drawing/2014/main" id="{81DE9057-9864-EB56-69D5-9EDAE9A12310}"/>
                </a:ext>
              </a:extLst>
            </p:cNvPr>
            <p:cNvSpPr/>
            <p:nvPr/>
          </p:nvSpPr>
          <p:spPr>
            <a:xfrm>
              <a:off x="789736" y="3003726"/>
              <a:ext cx="360883" cy="360630"/>
            </a:xfrm>
            <a:prstGeom prst="roundRect">
              <a:avLst>
                <a:gd name="adj" fmla="val 227080"/>
              </a:avLst>
            </a:prstGeom>
            <a:solidFill>
              <a:srgbClr val="D2F0FF">
                <a:alpha val="40000"/>
              </a:srgbClr>
            </a:solidFill>
            <a:ln w="12700">
              <a:solidFill>
                <a:srgbClr val="FFFFFF">
                  <a:alpha val="0"/>
                </a:srgbClr>
              </a:solidFill>
              <a:prstDash val="solid"/>
            </a:ln>
          </p:spPr>
          <p:txBody>
            <a:bodyPr/>
            <a:lstStyle/>
            <a:p>
              <a:endParaRPr lang="en-US">
                <a:solidFill>
                  <a:srgbClr val="D2F0FF"/>
                </a:solidFill>
              </a:endParaRPr>
            </a:p>
          </p:txBody>
        </p:sp>
        <p:pic>
          <p:nvPicPr>
            <p:cNvPr id="13" name="Image 1" descr="preencoded.png">
              <a:extLst>
                <a:ext uri="{FF2B5EF4-FFF2-40B4-BE49-F238E27FC236}">
                  <a16:creationId xmlns:a16="http://schemas.microsoft.com/office/drawing/2014/main" id="{577FD7CA-C6ED-4B5C-A798-5559B9F5A64A}"/>
                </a:ext>
              </a:extLst>
            </p:cNvPr>
            <p:cNvPicPr>
              <a:picLocks noChangeAspect="1"/>
            </p:cNvPicPr>
            <p:nvPr/>
          </p:nvPicPr>
          <p:blipFill>
            <a:blip r:embed="rId3"/>
            <a:srcRect/>
            <a:stretch/>
          </p:blipFill>
          <p:spPr>
            <a:xfrm>
              <a:off x="875081" y="3090672"/>
              <a:ext cx="190195" cy="190195"/>
            </a:xfrm>
            <a:prstGeom prst="rect">
              <a:avLst/>
            </a:prstGeom>
          </p:spPr>
        </p:pic>
        <p:sp>
          <p:nvSpPr>
            <p:cNvPr id="14" name="Text 8">
              <a:extLst>
                <a:ext uri="{FF2B5EF4-FFF2-40B4-BE49-F238E27FC236}">
                  <a16:creationId xmlns:a16="http://schemas.microsoft.com/office/drawing/2014/main" id="{B3B8727B-FF02-53FE-AF39-75E063E22FD0}"/>
                </a:ext>
              </a:extLst>
            </p:cNvPr>
            <p:cNvSpPr txBox="1"/>
            <p:nvPr/>
          </p:nvSpPr>
          <p:spPr>
            <a:xfrm>
              <a:off x="1244498" y="2957170"/>
              <a:ext cx="4620463" cy="257861"/>
            </a:xfrm>
            <a:prstGeom prst="rect">
              <a:avLst/>
            </a:prstGeom>
            <a:noFill/>
            <a:ln/>
          </p:spPr>
          <p:txBody>
            <a:bodyPr wrap="square" lIns="0" tIns="0" rIns="0" bIns="0" rtlCol="0" anchor="ctr"/>
            <a:lstStyle/>
            <a:p>
              <a:pPr marL="0" indent="0" algn="l">
                <a:buNone/>
              </a:pPr>
              <a:r>
                <a:rPr lang="en-US" sz="1300" b="1" dirty="0">
                  <a:solidFill>
                    <a:srgbClr val="1A202C"/>
                  </a:solidFill>
                  <a:latin typeface="Roboto Condensed" pitchFamily="34" charset="0"/>
                  <a:ea typeface="Roboto Condensed" pitchFamily="34" charset="-122"/>
                  <a:cs typeface="Roboto Condensed" pitchFamily="34" charset="-120"/>
                </a:rPr>
                <a:t>Endpoint Not Ready This Sprint</a:t>
              </a:r>
              <a:endParaRPr lang="en-US" sz="1300" dirty="0"/>
            </a:p>
          </p:txBody>
        </p:sp>
        <p:sp>
          <p:nvSpPr>
            <p:cNvPr id="15" name="Text 9">
              <a:extLst>
                <a:ext uri="{FF2B5EF4-FFF2-40B4-BE49-F238E27FC236}">
                  <a16:creationId xmlns:a16="http://schemas.microsoft.com/office/drawing/2014/main" id="{C674D326-5769-4B1F-C8C0-3E80DD927376}"/>
                </a:ext>
              </a:extLst>
            </p:cNvPr>
            <p:cNvSpPr txBox="1"/>
            <p:nvPr/>
          </p:nvSpPr>
          <p:spPr>
            <a:xfrm>
              <a:off x="1244498" y="3284525"/>
              <a:ext cx="4582058" cy="657454"/>
            </a:xfrm>
            <a:prstGeom prst="rect">
              <a:avLst/>
            </a:prstGeom>
            <a:noFill/>
            <a:ln/>
          </p:spPr>
          <p:txBody>
            <a:bodyPr wrap="square" lIns="0" tIns="0" rIns="0" bIns="0" rtlCol="0" anchor="ctr"/>
            <a:lstStyle/>
            <a:p>
              <a:pPr marL="0" indent="0" algn="l">
                <a:buNone/>
              </a:pPr>
              <a:r>
                <a:rPr lang="en-US" sz="1100" dirty="0">
                  <a:solidFill>
                    <a:srgbClr val="4A5568"/>
                  </a:solidFill>
                  <a:latin typeface="Raleway" pitchFamily="34" charset="0"/>
                  <a:ea typeface="Raleway" pitchFamily="34" charset="-122"/>
                  <a:cs typeface="Raleway" pitchFamily="34" charset="-120"/>
                </a:rPr>
                <a:t>Backend endpoints are often not ready when frontend development starts, creating delays and blocking feature development.</a:t>
              </a:r>
              <a:endParaRPr lang="en-US" sz="1100" dirty="0"/>
            </a:p>
          </p:txBody>
        </p:sp>
        <p:sp>
          <p:nvSpPr>
            <p:cNvPr id="16" name="Shape 10">
              <a:extLst>
                <a:ext uri="{FF2B5EF4-FFF2-40B4-BE49-F238E27FC236}">
                  <a16:creationId xmlns:a16="http://schemas.microsoft.com/office/drawing/2014/main" id="{DBB3777A-6A40-D3FE-6E6C-3FCFBCD5B3C1}"/>
                </a:ext>
              </a:extLst>
            </p:cNvPr>
            <p:cNvSpPr/>
            <p:nvPr/>
          </p:nvSpPr>
          <p:spPr>
            <a:xfrm>
              <a:off x="1244498" y="4069080"/>
              <a:ext cx="75895" cy="75895"/>
            </a:xfrm>
            <a:prstGeom prst="ellipse">
              <a:avLst/>
            </a:prstGeom>
            <a:solidFill>
              <a:srgbClr val="EF4444"/>
            </a:solidFill>
            <a:ln w="12700">
              <a:solidFill>
                <a:srgbClr val="FFFFFF">
                  <a:alpha val="0"/>
                </a:srgbClr>
              </a:solidFill>
              <a:prstDash val="solid"/>
            </a:ln>
          </p:spPr>
          <p:txBody>
            <a:bodyPr/>
            <a:lstStyle/>
            <a:p>
              <a:endParaRPr lang="en-US"/>
            </a:p>
          </p:txBody>
        </p:sp>
        <p:sp>
          <p:nvSpPr>
            <p:cNvPr id="17" name="Text 11">
              <a:extLst>
                <a:ext uri="{FF2B5EF4-FFF2-40B4-BE49-F238E27FC236}">
                  <a16:creationId xmlns:a16="http://schemas.microsoft.com/office/drawing/2014/main" id="{509F7599-F1EB-C6D8-DAEB-CE84C70D179E}"/>
                </a:ext>
              </a:extLst>
            </p:cNvPr>
            <p:cNvSpPr txBox="1"/>
            <p:nvPr/>
          </p:nvSpPr>
          <p:spPr>
            <a:xfrm>
              <a:off x="1397203" y="4012387"/>
              <a:ext cx="1491386"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Backend: Not Ready</a:t>
              </a:r>
              <a:endParaRPr lang="en-US" sz="1000" dirty="0"/>
            </a:p>
          </p:txBody>
        </p:sp>
      </p:grpSp>
      <p:grpSp>
        <p:nvGrpSpPr>
          <p:cNvPr id="18" name="Group 17">
            <a:extLst>
              <a:ext uri="{FF2B5EF4-FFF2-40B4-BE49-F238E27FC236}">
                <a16:creationId xmlns:a16="http://schemas.microsoft.com/office/drawing/2014/main" id="{EB0825B2-BDC0-F73A-ECBD-8A39311BC265}"/>
              </a:ext>
            </a:extLst>
          </p:cNvPr>
          <p:cNvGrpSpPr/>
          <p:nvPr/>
        </p:nvGrpSpPr>
        <p:grpSpPr>
          <a:xfrm>
            <a:off x="6210605" y="2718511"/>
            <a:ext cx="5372100" cy="1723644"/>
            <a:chOff x="6210605" y="2718511"/>
            <a:chExt cx="5372100" cy="1723644"/>
          </a:xfrm>
        </p:grpSpPr>
        <p:sp>
          <p:nvSpPr>
            <p:cNvPr id="19" name="Shape 12">
              <a:extLst>
                <a:ext uri="{FF2B5EF4-FFF2-40B4-BE49-F238E27FC236}">
                  <a16:creationId xmlns:a16="http://schemas.microsoft.com/office/drawing/2014/main" id="{9B8D248B-5D1F-20F9-9FE0-92C39742F887}"/>
                </a:ext>
              </a:extLst>
            </p:cNvPr>
            <p:cNvSpPr/>
            <p:nvPr/>
          </p:nvSpPr>
          <p:spPr>
            <a:xfrm>
              <a:off x="6210605" y="2718511"/>
              <a:ext cx="5372100" cy="1723644"/>
            </a:xfrm>
            <a:prstGeom prst="roundRect">
              <a:avLst>
                <a:gd name="adj" fmla="val 7034"/>
              </a:avLst>
            </a:prstGeom>
            <a:solidFill>
              <a:srgbClr val="FFFFFF"/>
            </a:solidFill>
            <a:ln w="12700">
              <a:solidFill>
                <a:srgbClr val="E2E8F0"/>
              </a:solidFill>
              <a:prstDash val="solid"/>
            </a:ln>
            <a:effectLst>
              <a:outerShdw blurRad="63500" dist="38100" dir="16200000" algn="bl" rotWithShape="0">
                <a:srgbClr val="000000">
                  <a:alpha val="4000"/>
                </a:srgbClr>
              </a:outerShdw>
            </a:effectLst>
          </p:spPr>
          <p:txBody>
            <a:bodyPr/>
            <a:lstStyle/>
            <a:p>
              <a:endParaRPr lang="en-US"/>
            </a:p>
          </p:txBody>
        </p:sp>
        <p:sp>
          <p:nvSpPr>
            <p:cNvPr id="20" name="Shape 7">
              <a:extLst>
                <a:ext uri="{FF2B5EF4-FFF2-40B4-BE49-F238E27FC236}">
                  <a16:creationId xmlns:a16="http://schemas.microsoft.com/office/drawing/2014/main" id="{2C6D38B7-C45A-919A-88F4-70026506FC4B}"/>
                </a:ext>
              </a:extLst>
            </p:cNvPr>
            <p:cNvSpPr/>
            <p:nvPr/>
          </p:nvSpPr>
          <p:spPr>
            <a:xfrm>
              <a:off x="6395008" y="3020785"/>
              <a:ext cx="360883" cy="360630"/>
            </a:xfrm>
            <a:prstGeom prst="roundRect">
              <a:avLst>
                <a:gd name="adj" fmla="val 227080"/>
              </a:avLst>
            </a:prstGeom>
            <a:solidFill>
              <a:srgbClr val="D2F0FF">
                <a:alpha val="40000"/>
              </a:srgbClr>
            </a:solidFill>
            <a:ln w="12700">
              <a:solidFill>
                <a:srgbClr val="FFFFFF">
                  <a:alpha val="0"/>
                </a:srgbClr>
              </a:solidFill>
              <a:prstDash val="solid"/>
            </a:ln>
          </p:spPr>
          <p:txBody>
            <a:bodyPr/>
            <a:lstStyle/>
            <a:p>
              <a:endParaRPr lang="en-US" dirty="0"/>
            </a:p>
          </p:txBody>
        </p:sp>
        <p:pic>
          <p:nvPicPr>
            <p:cNvPr id="21" name="Image 2" descr="preencoded.png">
              <a:extLst>
                <a:ext uri="{FF2B5EF4-FFF2-40B4-BE49-F238E27FC236}">
                  <a16:creationId xmlns:a16="http://schemas.microsoft.com/office/drawing/2014/main" id="{DC18F48D-B271-DFB3-FB96-9BEBCAE31118}"/>
                </a:ext>
              </a:extLst>
            </p:cNvPr>
            <p:cNvPicPr>
              <a:picLocks noChangeAspect="1"/>
            </p:cNvPicPr>
            <p:nvPr/>
          </p:nvPicPr>
          <p:blipFill>
            <a:blip r:embed="rId4"/>
            <a:srcRect/>
            <a:stretch/>
          </p:blipFill>
          <p:spPr>
            <a:xfrm>
              <a:off x="6480353" y="3090672"/>
              <a:ext cx="190195" cy="190195"/>
            </a:xfrm>
            <a:prstGeom prst="rect">
              <a:avLst/>
            </a:prstGeom>
          </p:spPr>
        </p:pic>
        <p:sp>
          <p:nvSpPr>
            <p:cNvPr id="22" name="Text 14">
              <a:extLst>
                <a:ext uri="{FF2B5EF4-FFF2-40B4-BE49-F238E27FC236}">
                  <a16:creationId xmlns:a16="http://schemas.microsoft.com/office/drawing/2014/main" id="{73A4059C-C769-C139-2F53-3F1CA2A98826}"/>
                </a:ext>
              </a:extLst>
            </p:cNvPr>
            <p:cNvSpPr txBox="1"/>
            <p:nvPr/>
          </p:nvSpPr>
          <p:spPr>
            <a:xfrm>
              <a:off x="6856171" y="2957170"/>
              <a:ext cx="4610405" cy="257861"/>
            </a:xfrm>
            <a:prstGeom prst="rect">
              <a:avLst/>
            </a:prstGeom>
            <a:noFill/>
            <a:ln/>
          </p:spPr>
          <p:txBody>
            <a:bodyPr wrap="square" lIns="0" tIns="0" rIns="0" bIns="0" rtlCol="0" anchor="ctr"/>
            <a:lstStyle/>
            <a:p>
              <a:pPr marL="0" indent="0" algn="l">
                <a:buNone/>
              </a:pPr>
              <a:r>
                <a:rPr lang="en-US" sz="1300" b="1" dirty="0">
                  <a:solidFill>
                    <a:srgbClr val="1A202C"/>
                  </a:solidFill>
                  <a:latin typeface="Roboto Condensed" pitchFamily="34" charset="0"/>
                  <a:ea typeface="Roboto Condensed" pitchFamily="34" charset="-122"/>
                  <a:cs typeface="Roboto Condensed" pitchFamily="34" charset="-120"/>
                </a:rPr>
                <a:t>Shared Nonprod Unstable</a:t>
              </a:r>
              <a:endParaRPr lang="en-US" sz="1300" dirty="0"/>
            </a:p>
          </p:txBody>
        </p:sp>
        <p:sp>
          <p:nvSpPr>
            <p:cNvPr id="23" name="Text 15">
              <a:extLst>
                <a:ext uri="{FF2B5EF4-FFF2-40B4-BE49-F238E27FC236}">
                  <a16:creationId xmlns:a16="http://schemas.microsoft.com/office/drawing/2014/main" id="{67E4F7B6-458A-3347-958E-B36169D37298}"/>
                </a:ext>
              </a:extLst>
            </p:cNvPr>
            <p:cNvSpPr txBox="1"/>
            <p:nvPr/>
          </p:nvSpPr>
          <p:spPr>
            <a:xfrm>
              <a:off x="6856171" y="3284525"/>
              <a:ext cx="4572000" cy="438912"/>
            </a:xfrm>
            <a:prstGeom prst="rect">
              <a:avLst/>
            </a:prstGeom>
            <a:noFill/>
            <a:ln/>
          </p:spPr>
          <p:txBody>
            <a:bodyPr wrap="square" lIns="0" tIns="0" rIns="0" bIns="0" rtlCol="0" anchor="ctr"/>
            <a:lstStyle/>
            <a:p>
              <a:pPr marL="0" indent="0" algn="l">
                <a:buNone/>
              </a:pPr>
              <a:r>
                <a:rPr lang="en-US" sz="1100" dirty="0">
                  <a:solidFill>
                    <a:srgbClr val="4A5568"/>
                  </a:solidFill>
                  <a:latin typeface="Raleway" pitchFamily="34" charset="0"/>
                  <a:ea typeface="Raleway" pitchFamily="34" charset="-122"/>
                  <a:cs typeface="Raleway" pitchFamily="34" charset="-120"/>
                </a:rPr>
                <a:t>Shared development environments are often unstable or rate-limited, causing intermittent failures and unreliable testing.</a:t>
              </a:r>
              <a:endParaRPr lang="en-US" sz="1100" dirty="0"/>
            </a:p>
          </p:txBody>
        </p:sp>
        <p:sp>
          <p:nvSpPr>
            <p:cNvPr id="24" name="Shape 16">
              <a:extLst>
                <a:ext uri="{FF2B5EF4-FFF2-40B4-BE49-F238E27FC236}">
                  <a16:creationId xmlns:a16="http://schemas.microsoft.com/office/drawing/2014/main" id="{94C634D2-C414-75E2-BEED-099589FE464B}"/>
                </a:ext>
              </a:extLst>
            </p:cNvPr>
            <p:cNvSpPr/>
            <p:nvPr/>
          </p:nvSpPr>
          <p:spPr>
            <a:xfrm>
              <a:off x="6856171" y="3852367"/>
              <a:ext cx="75895" cy="75895"/>
            </a:xfrm>
            <a:prstGeom prst="ellipse">
              <a:avLst/>
            </a:prstGeom>
            <a:solidFill>
              <a:srgbClr val="EF4444"/>
            </a:solidFill>
            <a:ln w="12700">
              <a:solidFill>
                <a:srgbClr val="FFFFFF">
                  <a:alpha val="0"/>
                </a:srgbClr>
              </a:solidFill>
              <a:prstDash val="solid"/>
            </a:ln>
          </p:spPr>
          <p:txBody>
            <a:bodyPr/>
            <a:lstStyle/>
            <a:p>
              <a:endParaRPr lang="en-US"/>
            </a:p>
          </p:txBody>
        </p:sp>
        <p:sp>
          <p:nvSpPr>
            <p:cNvPr id="25" name="Text 17">
              <a:extLst>
                <a:ext uri="{FF2B5EF4-FFF2-40B4-BE49-F238E27FC236}">
                  <a16:creationId xmlns:a16="http://schemas.microsoft.com/office/drawing/2014/main" id="{BC0473D9-068B-F4A8-3B04-BF7E26CC7117}"/>
                </a:ext>
              </a:extLst>
            </p:cNvPr>
            <p:cNvSpPr txBox="1"/>
            <p:nvPr/>
          </p:nvSpPr>
          <p:spPr>
            <a:xfrm>
              <a:off x="7008876" y="3794760"/>
              <a:ext cx="1201522"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Status: Unstable</a:t>
              </a:r>
              <a:endParaRPr lang="en-US" sz="1000" dirty="0"/>
            </a:p>
          </p:txBody>
        </p:sp>
      </p:grpSp>
      <p:grpSp>
        <p:nvGrpSpPr>
          <p:cNvPr id="26" name="Group 25">
            <a:extLst>
              <a:ext uri="{FF2B5EF4-FFF2-40B4-BE49-F238E27FC236}">
                <a16:creationId xmlns:a16="http://schemas.microsoft.com/office/drawing/2014/main" id="{60366555-69BA-6A87-F537-32D21296FC10}"/>
              </a:ext>
            </a:extLst>
          </p:cNvPr>
          <p:cNvGrpSpPr/>
          <p:nvPr/>
        </p:nvGrpSpPr>
        <p:grpSpPr>
          <a:xfrm>
            <a:off x="609905" y="4669841"/>
            <a:ext cx="5372100" cy="1505102"/>
            <a:chOff x="609905" y="4669841"/>
            <a:chExt cx="5372100" cy="1505102"/>
          </a:xfrm>
        </p:grpSpPr>
        <p:sp>
          <p:nvSpPr>
            <p:cNvPr id="27" name="Shape 18">
              <a:extLst>
                <a:ext uri="{FF2B5EF4-FFF2-40B4-BE49-F238E27FC236}">
                  <a16:creationId xmlns:a16="http://schemas.microsoft.com/office/drawing/2014/main" id="{DB3D8DF9-AFDE-C7AD-71BA-F7E263D0364D}"/>
                </a:ext>
              </a:extLst>
            </p:cNvPr>
            <p:cNvSpPr/>
            <p:nvPr/>
          </p:nvSpPr>
          <p:spPr>
            <a:xfrm>
              <a:off x="609905" y="4669841"/>
              <a:ext cx="5372100" cy="1505102"/>
            </a:xfrm>
            <a:prstGeom prst="roundRect">
              <a:avLst>
                <a:gd name="adj" fmla="val 9228"/>
              </a:avLst>
            </a:prstGeom>
            <a:solidFill>
              <a:srgbClr val="FFFFFF"/>
            </a:solidFill>
            <a:ln w="12700">
              <a:solidFill>
                <a:srgbClr val="E2E8F0"/>
              </a:solidFill>
              <a:prstDash val="solid"/>
            </a:ln>
            <a:effectLst>
              <a:outerShdw blurRad="63500" dist="38100" dir="16200000" algn="bl" rotWithShape="0">
                <a:srgbClr val="000000">
                  <a:alpha val="4000"/>
                </a:srgbClr>
              </a:outerShdw>
            </a:effectLst>
          </p:spPr>
          <p:txBody>
            <a:bodyPr/>
            <a:lstStyle/>
            <a:p>
              <a:endParaRPr lang="en-US" dirty="0"/>
            </a:p>
          </p:txBody>
        </p:sp>
        <p:sp>
          <p:nvSpPr>
            <p:cNvPr id="28" name="Shape 7">
              <a:extLst>
                <a:ext uri="{FF2B5EF4-FFF2-40B4-BE49-F238E27FC236}">
                  <a16:creationId xmlns:a16="http://schemas.microsoft.com/office/drawing/2014/main" id="{ED682B43-9DAD-AC50-8E35-D14F0E21FCF6}"/>
                </a:ext>
              </a:extLst>
            </p:cNvPr>
            <p:cNvSpPr/>
            <p:nvPr/>
          </p:nvSpPr>
          <p:spPr>
            <a:xfrm>
              <a:off x="809548" y="4955869"/>
              <a:ext cx="360883" cy="360630"/>
            </a:xfrm>
            <a:prstGeom prst="roundRect">
              <a:avLst>
                <a:gd name="adj" fmla="val 227080"/>
              </a:avLst>
            </a:prstGeom>
            <a:solidFill>
              <a:srgbClr val="D2F0FF">
                <a:alpha val="40000"/>
              </a:srgbClr>
            </a:solidFill>
            <a:ln w="12700">
              <a:solidFill>
                <a:srgbClr val="FFFFFF">
                  <a:alpha val="0"/>
                </a:srgbClr>
              </a:solidFill>
              <a:prstDash val="solid"/>
            </a:ln>
          </p:spPr>
          <p:txBody>
            <a:bodyPr/>
            <a:lstStyle/>
            <a:p>
              <a:endParaRPr lang="en-US" dirty="0"/>
            </a:p>
          </p:txBody>
        </p:sp>
        <p:pic>
          <p:nvPicPr>
            <p:cNvPr id="29" name="Image 3" descr="preencoded.png">
              <a:extLst>
                <a:ext uri="{FF2B5EF4-FFF2-40B4-BE49-F238E27FC236}">
                  <a16:creationId xmlns:a16="http://schemas.microsoft.com/office/drawing/2014/main" id="{5CFD8F04-181E-7F12-2145-0C1B72DDD488}"/>
                </a:ext>
              </a:extLst>
            </p:cNvPr>
            <p:cNvPicPr>
              <a:picLocks noChangeAspect="1"/>
            </p:cNvPicPr>
            <p:nvPr/>
          </p:nvPicPr>
          <p:blipFill>
            <a:blip r:embed="rId5"/>
            <a:srcRect/>
            <a:stretch/>
          </p:blipFill>
          <p:spPr>
            <a:xfrm>
              <a:off x="918972" y="5041087"/>
              <a:ext cx="142646" cy="190195"/>
            </a:xfrm>
            <a:prstGeom prst="rect">
              <a:avLst/>
            </a:prstGeom>
          </p:spPr>
        </p:pic>
        <p:sp>
          <p:nvSpPr>
            <p:cNvPr id="30" name="Text 20">
              <a:extLst>
                <a:ext uri="{FF2B5EF4-FFF2-40B4-BE49-F238E27FC236}">
                  <a16:creationId xmlns:a16="http://schemas.microsoft.com/office/drawing/2014/main" id="{8C194D3C-D59E-634B-2F46-C058532338DD}"/>
                </a:ext>
              </a:extLst>
            </p:cNvPr>
            <p:cNvSpPr txBox="1"/>
            <p:nvPr/>
          </p:nvSpPr>
          <p:spPr>
            <a:xfrm>
              <a:off x="1285646" y="4907585"/>
              <a:ext cx="4572000" cy="257861"/>
            </a:xfrm>
            <a:prstGeom prst="rect">
              <a:avLst/>
            </a:prstGeom>
            <a:noFill/>
            <a:ln/>
          </p:spPr>
          <p:txBody>
            <a:bodyPr wrap="square" lIns="0" tIns="0" rIns="0" bIns="0" rtlCol="0" anchor="ctr"/>
            <a:lstStyle/>
            <a:p>
              <a:pPr marL="0" indent="0" algn="l">
                <a:buNone/>
              </a:pPr>
              <a:r>
                <a:rPr lang="en-US" sz="1300" b="1" dirty="0">
                  <a:solidFill>
                    <a:srgbClr val="1A202C"/>
                  </a:solidFill>
                  <a:latin typeface="Roboto Condensed" pitchFamily="34" charset="0"/>
                  <a:ea typeface="Roboto Condensed" pitchFamily="34" charset="-122"/>
                  <a:cs typeface="Roboto Condensed" pitchFamily="34" charset="-120"/>
                </a:rPr>
                <a:t>Contract Changes Mid-Feature</a:t>
              </a:r>
              <a:endParaRPr lang="en-US" sz="1300" dirty="0"/>
            </a:p>
          </p:txBody>
        </p:sp>
        <p:sp>
          <p:nvSpPr>
            <p:cNvPr id="31" name="Text 21">
              <a:extLst>
                <a:ext uri="{FF2B5EF4-FFF2-40B4-BE49-F238E27FC236}">
                  <a16:creationId xmlns:a16="http://schemas.microsoft.com/office/drawing/2014/main" id="{0EA0EF31-CFB6-CFBD-68F7-0EC6A62E2BE9}"/>
                </a:ext>
              </a:extLst>
            </p:cNvPr>
            <p:cNvSpPr txBox="1"/>
            <p:nvPr/>
          </p:nvSpPr>
          <p:spPr>
            <a:xfrm>
              <a:off x="1285646" y="5234940"/>
              <a:ext cx="4534510" cy="438912"/>
            </a:xfrm>
            <a:prstGeom prst="rect">
              <a:avLst/>
            </a:prstGeom>
            <a:noFill/>
            <a:ln/>
          </p:spPr>
          <p:txBody>
            <a:bodyPr wrap="square" lIns="0" tIns="0" rIns="0" bIns="0" rtlCol="0" anchor="ctr"/>
            <a:lstStyle/>
            <a:p>
              <a:pPr marL="0" indent="0" algn="l">
                <a:buNone/>
              </a:pPr>
              <a:r>
                <a:rPr lang="en-US" sz="1100" dirty="0">
                  <a:solidFill>
                    <a:srgbClr val="4A5568"/>
                  </a:solidFill>
                  <a:latin typeface="Raleway" pitchFamily="34" charset="0"/>
                  <a:ea typeface="Raleway" pitchFamily="34" charset="-122"/>
                  <a:cs typeface="Raleway" pitchFamily="34" charset="-120"/>
                </a:rPr>
                <a:t>API contracts change during development, requiring frontend code updates and causing integration issues.</a:t>
              </a:r>
              <a:endParaRPr lang="en-US" sz="1100" dirty="0"/>
            </a:p>
          </p:txBody>
        </p:sp>
        <p:sp>
          <p:nvSpPr>
            <p:cNvPr id="32" name="Shape 22">
              <a:extLst>
                <a:ext uri="{FF2B5EF4-FFF2-40B4-BE49-F238E27FC236}">
                  <a16:creationId xmlns:a16="http://schemas.microsoft.com/office/drawing/2014/main" id="{89AB63AA-1459-588A-7E10-CCED680F81EC}"/>
                </a:ext>
              </a:extLst>
            </p:cNvPr>
            <p:cNvSpPr/>
            <p:nvPr/>
          </p:nvSpPr>
          <p:spPr>
            <a:xfrm>
              <a:off x="1285646" y="5802782"/>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33" name="Text 23">
              <a:extLst>
                <a:ext uri="{FF2B5EF4-FFF2-40B4-BE49-F238E27FC236}">
                  <a16:creationId xmlns:a16="http://schemas.microsoft.com/office/drawing/2014/main" id="{205343DB-73D7-A5E0-5676-523114A7B222}"/>
                </a:ext>
              </a:extLst>
            </p:cNvPr>
            <p:cNvSpPr txBox="1"/>
            <p:nvPr/>
          </p:nvSpPr>
          <p:spPr>
            <a:xfrm>
              <a:off x="1438351" y="5746090"/>
              <a:ext cx="1349654"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Contract: Updated</a:t>
              </a:r>
              <a:endParaRPr lang="en-US" sz="1000" dirty="0"/>
            </a:p>
          </p:txBody>
        </p:sp>
      </p:grpSp>
      <p:grpSp>
        <p:nvGrpSpPr>
          <p:cNvPr id="34" name="Group 33">
            <a:extLst>
              <a:ext uri="{FF2B5EF4-FFF2-40B4-BE49-F238E27FC236}">
                <a16:creationId xmlns:a16="http://schemas.microsoft.com/office/drawing/2014/main" id="{F5821352-57CB-6948-6BF7-E6A6B15883AE}"/>
              </a:ext>
            </a:extLst>
          </p:cNvPr>
          <p:cNvGrpSpPr/>
          <p:nvPr/>
        </p:nvGrpSpPr>
        <p:grpSpPr>
          <a:xfrm>
            <a:off x="6210605" y="4669841"/>
            <a:ext cx="5372100" cy="1505102"/>
            <a:chOff x="6210605" y="4669841"/>
            <a:chExt cx="5372100" cy="1505102"/>
          </a:xfrm>
        </p:grpSpPr>
        <p:sp>
          <p:nvSpPr>
            <p:cNvPr id="35" name="Shape 24">
              <a:extLst>
                <a:ext uri="{FF2B5EF4-FFF2-40B4-BE49-F238E27FC236}">
                  <a16:creationId xmlns:a16="http://schemas.microsoft.com/office/drawing/2014/main" id="{974332D2-3A9C-AF00-0F10-053E1D8B0DD1}"/>
                </a:ext>
              </a:extLst>
            </p:cNvPr>
            <p:cNvSpPr/>
            <p:nvPr/>
          </p:nvSpPr>
          <p:spPr>
            <a:xfrm>
              <a:off x="6210605" y="4669841"/>
              <a:ext cx="5372100" cy="1505102"/>
            </a:xfrm>
            <a:prstGeom prst="roundRect">
              <a:avLst>
                <a:gd name="adj" fmla="val 9228"/>
              </a:avLst>
            </a:prstGeom>
            <a:solidFill>
              <a:srgbClr val="FFFFFF"/>
            </a:solidFill>
            <a:ln w="12700">
              <a:solidFill>
                <a:srgbClr val="E2E8F0"/>
              </a:solidFill>
              <a:prstDash val="solid"/>
            </a:ln>
            <a:effectLst>
              <a:outerShdw blurRad="63500" dist="38100" dir="16200000" algn="bl" rotWithShape="0">
                <a:srgbClr val="000000">
                  <a:alpha val="4000"/>
                </a:srgbClr>
              </a:outerShdw>
            </a:effectLst>
          </p:spPr>
          <p:txBody>
            <a:bodyPr/>
            <a:lstStyle/>
            <a:p>
              <a:endParaRPr lang="en-US" dirty="0"/>
            </a:p>
          </p:txBody>
        </p:sp>
        <p:sp>
          <p:nvSpPr>
            <p:cNvPr id="36" name="Shape 7">
              <a:extLst>
                <a:ext uri="{FF2B5EF4-FFF2-40B4-BE49-F238E27FC236}">
                  <a16:creationId xmlns:a16="http://schemas.microsoft.com/office/drawing/2014/main" id="{DC3AD340-5584-59C0-68A4-CB677242604A}"/>
                </a:ext>
              </a:extLst>
            </p:cNvPr>
            <p:cNvSpPr/>
            <p:nvPr/>
          </p:nvSpPr>
          <p:spPr>
            <a:xfrm>
              <a:off x="6411468" y="4955869"/>
              <a:ext cx="360883" cy="360630"/>
            </a:xfrm>
            <a:prstGeom prst="roundRect">
              <a:avLst>
                <a:gd name="adj" fmla="val 227080"/>
              </a:avLst>
            </a:prstGeom>
            <a:solidFill>
              <a:srgbClr val="D2F0FF">
                <a:alpha val="40000"/>
              </a:srgbClr>
            </a:solidFill>
            <a:ln w="12700">
              <a:solidFill>
                <a:srgbClr val="FFFFFF">
                  <a:alpha val="0"/>
                </a:srgbClr>
              </a:solidFill>
              <a:prstDash val="solid"/>
            </a:ln>
          </p:spPr>
          <p:txBody>
            <a:bodyPr/>
            <a:lstStyle/>
            <a:p>
              <a:endParaRPr lang="en-US"/>
            </a:p>
          </p:txBody>
        </p:sp>
        <p:pic>
          <p:nvPicPr>
            <p:cNvPr id="37" name="Image 4" descr="preencoded.png">
              <a:extLst>
                <a:ext uri="{FF2B5EF4-FFF2-40B4-BE49-F238E27FC236}">
                  <a16:creationId xmlns:a16="http://schemas.microsoft.com/office/drawing/2014/main" id="{B3CC3088-95FA-361F-F950-0DA04FF493B4}"/>
                </a:ext>
              </a:extLst>
            </p:cNvPr>
            <p:cNvPicPr>
              <a:picLocks noChangeAspect="1"/>
            </p:cNvPicPr>
            <p:nvPr/>
          </p:nvPicPr>
          <p:blipFill>
            <a:blip r:embed="rId6"/>
            <a:srcRect l="-1648" r="-1648"/>
            <a:stretch/>
          </p:blipFill>
          <p:spPr>
            <a:xfrm>
              <a:off x="6515100" y="5041087"/>
              <a:ext cx="171907" cy="190195"/>
            </a:xfrm>
            <a:prstGeom prst="rect">
              <a:avLst/>
            </a:prstGeom>
          </p:spPr>
        </p:pic>
        <p:sp>
          <p:nvSpPr>
            <p:cNvPr id="38" name="Text 26">
              <a:extLst>
                <a:ext uri="{FF2B5EF4-FFF2-40B4-BE49-F238E27FC236}">
                  <a16:creationId xmlns:a16="http://schemas.microsoft.com/office/drawing/2014/main" id="{A59BB3CF-DD6A-75D1-A1CC-F8E9B60E8244}"/>
                </a:ext>
              </a:extLst>
            </p:cNvPr>
            <p:cNvSpPr txBox="1"/>
            <p:nvPr/>
          </p:nvSpPr>
          <p:spPr>
            <a:xfrm>
              <a:off x="6904634" y="4907585"/>
              <a:ext cx="4562856" cy="257861"/>
            </a:xfrm>
            <a:prstGeom prst="rect">
              <a:avLst/>
            </a:prstGeom>
            <a:noFill/>
            <a:ln/>
          </p:spPr>
          <p:txBody>
            <a:bodyPr wrap="square" lIns="0" tIns="0" rIns="0" bIns="0" rtlCol="0" anchor="ctr"/>
            <a:lstStyle/>
            <a:p>
              <a:pPr marL="0" indent="0" algn="l">
                <a:buNone/>
              </a:pPr>
              <a:r>
                <a:rPr lang="en-US" sz="1300" b="1" dirty="0">
                  <a:solidFill>
                    <a:srgbClr val="1A202C"/>
                  </a:solidFill>
                  <a:latin typeface="Roboto Condensed" pitchFamily="34" charset="0"/>
                  <a:ea typeface="Roboto Condensed" pitchFamily="34" charset="-122"/>
                  <a:cs typeface="Roboto Condensed" pitchFamily="34" charset="-120"/>
                </a:rPr>
                <a:t>Frontend PRs Blocked</a:t>
              </a:r>
              <a:endParaRPr lang="en-US" sz="1300" dirty="0"/>
            </a:p>
          </p:txBody>
        </p:sp>
        <p:sp>
          <p:nvSpPr>
            <p:cNvPr id="39" name="Text 27">
              <a:extLst>
                <a:ext uri="{FF2B5EF4-FFF2-40B4-BE49-F238E27FC236}">
                  <a16:creationId xmlns:a16="http://schemas.microsoft.com/office/drawing/2014/main" id="{D528F104-D0DC-839E-3DD3-736E0301EF38}"/>
                </a:ext>
              </a:extLst>
            </p:cNvPr>
            <p:cNvSpPr txBox="1"/>
            <p:nvPr/>
          </p:nvSpPr>
          <p:spPr>
            <a:xfrm>
              <a:off x="6904634" y="5234940"/>
              <a:ext cx="4524451" cy="438912"/>
            </a:xfrm>
            <a:prstGeom prst="rect">
              <a:avLst/>
            </a:prstGeom>
            <a:noFill/>
            <a:ln/>
          </p:spPr>
          <p:txBody>
            <a:bodyPr wrap="square" lIns="0" tIns="0" rIns="0" bIns="0" rtlCol="0" anchor="ctr"/>
            <a:lstStyle/>
            <a:p>
              <a:pPr marL="0" indent="0" algn="l">
                <a:buNone/>
              </a:pPr>
              <a:r>
                <a:rPr lang="en-US" sz="1100" dirty="0">
                  <a:solidFill>
                    <a:srgbClr val="4A5568"/>
                  </a:solidFill>
                  <a:latin typeface="Raleway" pitchFamily="34" charset="0"/>
                  <a:ea typeface="Raleway" pitchFamily="34" charset="-122"/>
                  <a:cs typeface="Raleway" pitchFamily="34" charset="-120"/>
                </a:rPr>
                <a:t>Frontend pull requests are blocked by environment issues, preventing code review and deployment.</a:t>
              </a:r>
              <a:endParaRPr lang="en-US" sz="1100" dirty="0"/>
            </a:p>
          </p:txBody>
        </p:sp>
        <p:sp>
          <p:nvSpPr>
            <p:cNvPr id="40" name="Shape 28">
              <a:extLst>
                <a:ext uri="{FF2B5EF4-FFF2-40B4-BE49-F238E27FC236}">
                  <a16:creationId xmlns:a16="http://schemas.microsoft.com/office/drawing/2014/main" id="{EDFA4763-70BC-5C65-B03A-42C2FAE549AE}"/>
                </a:ext>
              </a:extLst>
            </p:cNvPr>
            <p:cNvSpPr/>
            <p:nvPr/>
          </p:nvSpPr>
          <p:spPr>
            <a:xfrm>
              <a:off x="6904634" y="5802782"/>
              <a:ext cx="75895" cy="75895"/>
            </a:xfrm>
            <a:prstGeom prst="ellipse">
              <a:avLst/>
            </a:prstGeom>
            <a:solidFill>
              <a:srgbClr val="EF4444"/>
            </a:solidFill>
            <a:ln w="12700">
              <a:solidFill>
                <a:srgbClr val="FFFFFF">
                  <a:alpha val="0"/>
                </a:srgbClr>
              </a:solidFill>
              <a:prstDash val="solid"/>
            </a:ln>
          </p:spPr>
          <p:txBody>
            <a:bodyPr/>
            <a:lstStyle/>
            <a:p>
              <a:endParaRPr lang="en-US"/>
            </a:p>
          </p:txBody>
        </p:sp>
        <p:sp>
          <p:nvSpPr>
            <p:cNvPr id="41" name="Text 29">
              <a:extLst>
                <a:ext uri="{FF2B5EF4-FFF2-40B4-BE49-F238E27FC236}">
                  <a16:creationId xmlns:a16="http://schemas.microsoft.com/office/drawing/2014/main" id="{15A9BB12-F8BD-34A3-1317-B4A3B98F98A3}"/>
                </a:ext>
              </a:extLst>
            </p:cNvPr>
            <p:cNvSpPr txBox="1"/>
            <p:nvPr/>
          </p:nvSpPr>
          <p:spPr>
            <a:xfrm>
              <a:off x="7057339" y="5746090"/>
              <a:ext cx="952805"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PRs: Blocked</a:t>
              </a:r>
              <a:endParaRPr lang="en-US" sz="1000" dirty="0"/>
            </a:p>
          </p:txBody>
        </p:sp>
      </p:grpSp>
    </p:spTree>
    <p:extLst>
      <p:ext uri="{BB962C8B-B14F-4D97-AF65-F5344CB8AC3E}">
        <p14:creationId xmlns:p14="http://schemas.microsoft.com/office/powerpoint/2010/main" val="428641691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A3E6-4433-8B76-A39D-A6D98E85607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39013C-83EC-8004-D074-D5AF0600DAB6}"/>
              </a:ext>
            </a:extLst>
          </p:cNvPr>
          <p:cNvSpPr>
            <a:spLocks noGrp="1"/>
          </p:cNvSpPr>
          <p:nvPr>
            <p:ph type="sldNum" sz="quarter" idx="12"/>
          </p:nvPr>
        </p:nvSpPr>
        <p:spPr/>
        <p:txBody>
          <a:bodyPr/>
          <a:lstStyle/>
          <a:p>
            <a:fld id="{F01A0BEF-C76D-43A2-874C-09A8674B0D74}" type="slidenum">
              <a:rPr lang="en-GB" smtClean="0"/>
              <a:t>4</a:t>
            </a:fld>
            <a:endParaRPr lang="en-GB"/>
          </a:p>
        </p:txBody>
      </p:sp>
      <p:grpSp>
        <p:nvGrpSpPr>
          <p:cNvPr id="8" name="Group 7">
            <a:extLst>
              <a:ext uri="{FF2B5EF4-FFF2-40B4-BE49-F238E27FC236}">
                <a16:creationId xmlns:a16="http://schemas.microsoft.com/office/drawing/2014/main" id="{95F08E07-1EB2-5EE3-0405-E9987D253845}"/>
              </a:ext>
            </a:extLst>
          </p:cNvPr>
          <p:cNvGrpSpPr/>
          <p:nvPr/>
        </p:nvGrpSpPr>
        <p:grpSpPr>
          <a:xfrm>
            <a:off x="515801" y="858677"/>
            <a:ext cx="1438351" cy="362102"/>
            <a:chOff x="515801" y="858677"/>
            <a:chExt cx="1438351" cy="362102"/>
          </a:xfrm>
        </p:grpSpPr>
        <p:sp>
          <p:nvSpPr>
            <p:cNvPr id="9" name="Shape 1">
              <a:extLst>
                <a:ext uri="{FF2B5EF4-FFF2-40B4-BE49-F238E27FC236}">
                  <a16:creationId xmlns:a16="http://schemas.microsoft.com/office/drawing/2014/main" id="{B0F44211-E34D-8FDB-8B27-7F30666C4032}"/>
                </a:ext>
              </a:extLst>
            </p:cNvPr>
            <p:cNvSpPr/>
            <p:nvPr/>
          </p:nvSpPr>
          <p:spPr>
            <a:xfrm>
              <a:off x="515801" y="858677"/>
              <a:ext cx="1438351" cy="362102"/>
            </a:xfrm>
            <a:prstGeom prst="roundRect">
              <a:avLst>
                <a:gd name="adj" fmla="val 252526"/>
              </a:avLst>
            </a:prstGeom>
            <a:solidFill>
              <a:srgbClr val="091044"/>
            </a:solidFill>
            <a:ln w="12700">
              <a:solidFill>
                <a:srgbClr val="FFFFFF">
                  <a:alpha val="0"/>
                </a:srgbClr>
              </a:solidFill>
              <a:prstDash val="solid"/>
            </a:ln>
          </p:spPr>
          <p:txBody>
            <a:bodyPr/>
            <a:lstStyle/>
            <a:p>
              <a:endParaRPr lang="en-US" dirty="0"/>
            </a:p>
          </p:txBody>
        </p:sp>
        <p:sp>
          <p:nvSpPr>
            <p:cNvPr id="11" name="Text 2">
              <a:extLst>
                <a:ext uri="{FF2B5EF4-FFF2-40B4-BE49-F238E27FC236}">
                  <a16:creationId xmlns:a16="http://schemas.microsoft.com/office/drawing/2014/main" id="{E5EEAC9F-381D-9EAA-87DB-5B3EA27FF3AB}"/>
                </a:ext>
              </a:extLst>
            </p:cNvPr>
            <p:cNvSpPr/>
            <p:nvPr/>
          </p:nvSpPr>
          <p:spPr>
            <a:xfrm>
              <a:off x="539118" y="858677"/>
              <a:ext cx="1415034" cy="362102"/>
            </a:xfrm>
            <a:prstGeom prst="rect">
              <a:avLst/>
            </a:prstGeom>
            <a:solidFill>
              <a:srgbClr val="091044">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chemeClr val="bg1"/>
                  </a:solidFill>
                  <a:latin typeface="Roboto Condensed" pitchFamily="34" charset="0"/>
                  <a:ea typeface="Roboto Condensed" pitchFamily="34" charset="-122"/>
                  <a:cs typeface="Roboto Condensed" pitchFamily="34" charset="-120"/>
                </a:rPr>
                <a:t>MEET.JS POLAND</a:t>
              </a:r>
              <a:endParaRPr lang="en-US" sz="1000" dirty="0">
                <a:solidFill>
                  <a:schemeClr val="bg1"/>
                </a:solidFill>
              </a:endParaRPr>
            </a:p>
          </p:txBody>
        </p:sp>
      </p:grpSp>
      <p:sp>
        <p:nvSpPr>
          <p:cNvPr id="39" name="Text 5">
            <a:extLst>
              <a:ext uri="{FF2B5EF4-FFF2-40B4-BE49-F238E27FC236}">
                <a16:creationId xmlns:a16="http://schemas.microsoft.com/office/drawing/2014/main" id="{FB8A53BE-F066-A023-A944-37F10B12841A}"/>
              </a:ext>
            </a:extLst>
          </p:cNvPr>
          <p:cNvSpPr txBox="1"/>
          <p:nvPr/>
        </p:nvSpPr>
        <p:spPr>
          <a:xfrm>
            <a:off x="539118" y="1752600"/>
            <a:ext cx="10858500" cy="810158"/>
          </a:xfrm>
          <a:prstGeom prst="rect">
            <a:avLst/>
          </a:prstGeom>
          <a:noFill/>
          <a:ln/>
        </p:spPr>
        <p:txBody>
          <a:bodyPr wrap="square" lIns="0" tIns="0" rIns="0" bIns="0" rtlCol="0" anchor="ctr"/>
          <a:lstStyle/>
          <a:p>
            <a:pPr marL="0" indent="0" algn="l">
              <a:buNone/>
            </a:pPr>
            <a:r>
              <a:rPr lang="en-US" sz="5700" b="1" kern="0" spc="75" dirty="0">
                <a:solidFill>
                  <a:srgbClr val="091044"/>
                </a:solidFill>
                <a:latin typeface="Oswald" pitchFamily="34" charset="0"/>
                <a:ea typeface="Oswald" pitchFamily="34" charset="-122"/>
                <a:cs typeface="Oswald" pitchFamily="34" charset="-120"/>
              </a:rPr>
              <a:t>WHAT USUALLY GOES WRONG</a:t>
            </a:r>
            <a:endParaRPr lang="en-US" sz="5700" dirty="0">
              <a:solidFill>
                <a:srgbClr val="091044"/>
              </a:solidFill>
            </a:endParaRPr>
          </a:p>
        </p:txBody>
      </p:sp>
      <p:sp>
        <p:nvSpPr>
          <p:cNvPr id="40" name="Text 6">
            <a:extLst>
              <a:ext uri="{FF2B5EF4-FFF2-40B4-BE49-F238E27FC236}">
                <a16:creationId xmlns:a16="http://schemas.microsoft.com/office/drawing/2014/main" id="{B2010D31-B70A-4255-5E2D-A5933C76A9DC}"/>
              </a:ext>
            </a:extLst>
          </p:cNvPr>
          <p:cNvSpPr txBox="1"/>
          <p:nvPr/>
        </p:nvSpPr>
        <p:spPr>
          <a:xfrm>
            <a:off x="539118" y="2785872"/>
            <a:ext cx="8649310" cy="514807"/>
          </a:xfrm>
          <a:prstGeom prst="rect">
            <a:avLst/>
          </a:prstGeom>
          <a:noFill/>
          <a:ln/>
        </p:spPr>
        <p:txBody>
          <a:bodyPr wrap="square" lIns="0" tIns="0" rIns="0" bIns="0" rtlCol="0" anchor="ctr"/>
          <a:lstStyle/>
          <a:p>
            <a:pPr marL="0" indent="0" algn="l">
              <a:buNone/>
            </a:pPr>
            <a:r>
              <a:rPr lang="en-US" sz="1200" kern="0" spc="22" dirty="0">
                <a:solidFill>
                  <a:srgbClr val="000000"/>
                </a:solidFill>
                <a:latin typeface="Raleway" pitchFamily="34" charset="0"/>
                <a:ea typeface="Raleway" pitchFamily="34" charset="-122"/>
                <a:cs typeface="Raleway" pitchFamily="34" charset="-120"/>
              </a:rPr>
              <a:t>Common anti-patterns that slow down frontend development and create integration issues when working with backend APIs.</a:t>
            </a:r>
            <a:endParaRPr lang="en-US" sz="1200" dirty="0"/>
          </a:p>
        </p:txBody>
      </p:sp>
      <p:grpSp>
        <p:nvGrpSpPr>
          <p:cNvPr id="41" name="Group 40">
            <a:extLst>
              <a:ext uri="{FF2B5EF4-FFF2-40B4-BE49-F238E27FC236}">
                <a16:creationId xmlns:a16="http://schemas.microsoft.com/office/drawing/2014/main" id="{5E8E9E39-7FD8-A289-55A4-5EC519529E9D}"/>
              </a:ext>
            </a:extLst>
          </p:cNvPr>
          <p:cNvGrpSpPr/>
          <p:nvPr/>
        </p:nvGrpSpPr>
        <p:grpSpPr>
          <a:xfrm>
            <a:off x="539118" y="3602431"/>
            <a:ext cx="5219395" cy="1123798"/>
            <a:chOff x="761695" y="2764231"/>
            <a:chExt cx="5219395" cy="1123798"/>
          </a:xfrm>
        </p:grpSpPr>
        <p:sp>
          <p:nvSpPr>
            <p:cNvPr id="42" name="Shape 7">
              <a:extLst>
                <a:ext uri="{FF2B5EF4-FFF2-40B4-BE49-F238E27FC236}">
                  <a16:creationId xmlns:a16="http://schemas.microsoft.com/office/drawing/2014/main" id="{2646B1A1-25B7-D91E-6D08-7310A396264F}"/>
                </a:ext>
              </a:extLst>
            </p:cNvPr>
            <p:cNvSpPr/>
            <p:nvPr/>
          </p:nvSpPr>
          <p:spPr>
            <a:xfrm>
              <a:off x="761695" y="2764231"/>
              <a:ext cx="5219395" cy="1123798"/>
            </a:xfrm>
            <a:prstGeom prst="roundRect">
              <a:avLst>
                <a:gd name="adj" fmla="val 0"/>
              </a:avLst>
            </a:prstGeom>
            <a:solidFill>
              <a:srgbClr val="D2F0FF">
                <a:alpha val="25012"/>
              </a:srgbClr>
            </a:solidFill>
            <a:ln/>
          </p:spPr>
          <p:txBody>
            <a:bodyPr/>
            <a:lstStyle/>
            <a:p>
              <a:endParaRPr lang="en-US"/>
            </a:p>
          </p:txBody>
        </p:sp>
        <p:sp>
          <p:nvSpPr>
            <p:cNvPr id="43" name="Shape 8">
              <a:extLst>
                <a:ext uri="{FF2B5EF4-FFF2-40B4-BE49-F238E27FC236}">
                  <a16:creationId xmlns:a16="http://schemas.microsoft.com/office/drawing/2014/main" id="{1F287C94-EF2A-1232-8E4D-8B74AEFD1A18}"/>
                </a:ext>
              </a:extLst>
            </p:cNvPr>
            <p:cNvSpPr/>
            <p:nvPr/>
          </p:nvSpPr>
          <p:spPr>
            <a:xfrm>
              <a:off x="761696" y="2764231"/>
              <a:ext cx="76199" cy="1123798"/>
            </a:xfrm>
            <a:prstGeom prst="roundRect">
              <a:avLst>
                <a:gd name="adj" fmla="val 0"/>
              </a:avLst>
            </a:prstGeom>
            <a:solidFill>
              <a:srgbClr val="091044"/>
            </a:solidFill>
            <a:ln w="12700">
              <a:solidFill>
                <a:srgbClr val="000000">
                  <a:alpha val="0"/>
                </a:srgbClr>
              </a:solidFill>
              <a:prstDash val="solid"/>
            </a:ln>
          </p:spPr>
          <p:txBody>
            <a:bodyPr/>
            <a:lstStyle/>
            <a:p>
              <a:endParaRPr lang="en-US"/>
            </a:p>
          </p:txBody>
        </p:sp>
        <p:sp>
          <p:nvSpPr>
            <p:cNvPr id="44" name="Text 9">
              <a:extLst>
                <a:ext uri="{FF2B5EF4-FFF2-40B4-BE49-F238E27FC236}">
                  <a16:creationId xmlns:a16="http://schemas.microsoft.com/office/drawing/2014/main" id="{5D46979C-0628-0241-5B51-370ED65D572F}"/>
                </a:ext>
              </a:extLst>
            </p:cNvPr>
            <p:cNvSpPr txBox="1"/>
            <p:nvPr/>
          </p:nvSpPr>
          <p:spPr>
            <a:xfrm>
              <a:off x="1239012" y="2894076"/>
              <a:ext cx="4705502" cy="191110"/>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 Hardcoded JSON in Components </a:t>
              </a:r>
              <a:endParaRPr lang="en-US" sz="1200" dirty="0">
                <a:solidFill>
                  <a:srgbClr val="091044"/>
                </a:solidFill>
              </a:endParaRPr>
            </a:p>
          </p:txBody>
        </p:sp>
        <p:pic>
          <p:nvPicPr>
            <p:cNvPr id="45" name="Image 3" descr="preencoded.png">
              <a:extLst>
                <a:ext uri="{FF2B5EF4-FFF2-40B4-BE49-F238E27FC236}">
                  <a16:creationId xmlns:a16="http://schemas.microsoft.com/office/drawing/2014/main" id="{D6941377-BD96-EAF7-CEEC-072D19E4E574}"/>
                </a:ext>
              </a:extLst>
            </p:cNvPr>
            <p:cNvPicPr>
              <a:picLocks noChangeAspect="1"/>
            </p:cNvPicPr>
            <p:nvPr/>
          </p:nvPicPr>
          <p:blipFill>
            <a:blip r:embed="rId3"/>
            <a:srcRect l="-1751" r="-1751"/>
            <a:stretch/>
          </p:blipFill>
          <p:spPr>
            <a:xfrm>
              <a:off x="952805" y="2907792"/>
              <a:ext cx="209398" cy="161849"/>
            </a:xfrm>
            <a:prstGeom prst="rect">
              <a:avLst/>
            </a:prstGeom>
          </p:spPr>
        </p:pic>
        <p:sp>
          <p:nvSpPr>
            <p:cNvPr id="46" name="Text 10">
              <a:extLst>
                <a:ext uri="{FF2B5EF4-FFF2-40B4-BE49-F238E27FC236}">
                  <a16:creationId xmlns:a16="http://schemas.microsoft.com/office/drawing/2014/main" id="{144ADD96-7FDF-D50F-1658-D1A247A584E8}"/>
                </a:ext>
              </a:extLst>
            </p:cNvPr>
            <p:cNvSpPr txBox="1"/>
            <p:nvPr/>
          </p:nvSpPr>
          <p:spPr>
            <a:xfrm>
              <a:off x="952805" y="3151937"/>
              <a:ext cx="4953305" cy="600761"/>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Mock data directly embedded in React components, making it difficult to update and maintain. Changes require modifying component code rather than mock data files.</a:t>
              </a:r>
              <a:endParaRPr lang="en-US" sz="1000" dirty="0"/>
            </a:p>
          </p:txBody>
        </p:sp>
      </p:grpSp>
      <p:grpSp>
        <p:nvGrpSpPr>
          <p:cNvPr id="47" name="Group 46">
            <a:extLst>
              <a:ext uri="{FF2B5EF4-FFF2-40B4-BE49-F238E27FC236}">
                <a16:creationId xmlns:a16="http://schemas.microsoft.com/office/drawing/2014/main" id="{21B7D558-ABE6-5F87-6B6B-31B6AD36B542}"/>
              </a:ext>
            </a:extLst>
          </p:cNvPr>
          <p:cNvGrpSpPr/>
          <p:nvPr/>
        </p:nvGrpSpPr>
        <p:grpSpPr>
          <a:xfrm>
            <a:off x="539118" y="4876190"/>
            <a:ext cx="5219395" cy="923544"/>
            <a:chOff x="761695" y="4037990"/>
            <a:chExt cx="5219395" cy="923544"/>
          </a:xfrm>
        </p:grpSpPr>
        <p:sp>
          <p:nvSpPr>
            <p:cNvPr id="48" name="Shape 11">
              <a:extLst>
                <a:ext uri="{FF2B5EF4-FFF2-40B4-BE49-F238E27FC236}">
                  <a16:creationId xmlns:a16="http://schemas.microsoft.com/office/drawing/2014/main" id="{FB310A98-734D-19D1-EFD0-61176186A9F6}"/>
                </a:ext>
              </a:extLst>
            </p:cNvPr>
            <p:cNvSpPr/>
            <p:nvPr/>
          </p:nvSpPr>
          <p:spPr>
            <a:xfrm>
              <a:off x="761695" y="4037990"/>
              <a:ext cx="5219395" cy="923544"/>
            </a:xfrm>
            <a:prstGeom prst="roundRect">
              <a:avLst>
                <a:gd name="adj" fmla="val 0"/>
              </a:avLst>
            </a:prstGeom>
            <a:solidFill>
              <a:srgbClr val="D2F0FF">
                <a:alpha val="25000"/>
              </a:srgbClr>
            </a:solidFill>
            <a:ln/>
          </p:spPr>
          <p:txBody>
            <a:bodyPr/>
            <a:lstStyle/>
            <a:p>
              <a:endParaRPr lang="en-US" dirty="0"/>
            </a:p>
          </p:txBody>
        </p:sp>
        <p:sp>
          <p:nvSpPr>
            <p:cNvPr id="49" name="Text 13">
              <a:extLst>
                <a:ext uri="{FF2B5EF4-FFF2-40B4-BE49-F238E27FC236}">
                  <a16:creationId xmlns:a16="http://schemas.microsoft.com/office/drawing/2014/main" id="{B3BB723D-59B0-2C4C-B8B7-09C0E9ADFC2D}"/>
                </a:ext>
              </a:extLst>
            </p:cNvPr>
            <p:cNvSpPr txBox="1"/>
            <p:nvPr/>
          </p:nvSpPr>
          <p:spPr>
            <a:xfrm>
              <a:off x="1172261" y="4166921"/>
              <a:ext cx="4772254" cy="191110"/>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 Different Mock Sources </a:t>
              </a:r>
              <a:endParaRPr lang="en-US" sz="1200" dirty="0">
                <a:solidFill>
                  <a:srgbClr val="091044"/>
                </a:solidFill>
              </a:endParaRPr>
            </a:p>
          </p:txBody>
        </p:sp>
        <p:pic>
          <p:nvPicPr>
            <p:cNvPr id="50" name="Image 4" descr="preencoded.png">
              <a:extLst>
                <a:ext uri="{FF2B5EF4-FFF2-40B4-BE49-F238E27FC236}">
                  <a16:creationId xmlns:a16="http://schemas.microsoft.com/office/drawing/2014/main" id="{AAEBC0A0-22EA-E2E3-F9EE-068AF300FCB5}"/>
                </a:ext>
              </a:extLst>
            </p:cNvPr>
            <p:cNvPicPr>
              <a:picLocks noChangeAspect="1"/>
            </p:cNvPicPr>
            <p:nvPr/>
          </p:nvPicPr>
          <p:blipFill>
            <a:blip r:embed="rId4"/>
            <a:srcRect l="-363" r="-363"/>
            <a:stretch/>
          </p:blipFill>
          <p:spPr>
            <a:xfrm>
              <a:off x="952805" y="4180637"/>
              <a:ext cx="142646" cy="161849"/>
            </a:xfrm>
            <a:prstGeom prst="rect">
              <a:avLst/>
            </a:prstGeom>
          </p:spPr>
        </p:pic>
        <p:sp>
          <p:nvSpPr>
            <p:cNvPr id="51" name="Text 14">
              <a:extLst>
                <a:ext uri="{FF2B5EF4-FFF2-40B4-BE49-F238E27FC236}">
                  <a16:creationId xmlns:a16="http://schemas.microsoft.com/office/drawing/2014/main" id="{2DFFE54A-00B4-4218-5AB6-2EF72B3493A9}"/>
                </a:ext>
              </a:extLst>
            </p:cNvPr>
            <p:cNvSpPr txBox="1"/>
            <p:nvPr/>
          </p:nvSpPr>
          <p:spPr>
            <a:xfrm>
              <a:off x="952805" y="4424782"/>
              <a:ext cx="4953305" cy="400507"/>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Inconsistent mock data across dev, tests, and Storybook environments. Each environment has its own mock implementation, causing data drift.</a:t>
              </a:r>
              <a:endParaRPr lang="en-US" sz="1000" dirty="0"/>
            </a:p>
          </p:txBody>
        </p:sp>
        <p:sp>
          <p:nvSpPr>
            <p:cNvPr id="52" name="Shape 8">
              <a:extLst>
                <a:ext uri="{FF2B5EF4-FFF2-40B4-BE49-F238E27FC236}">
                  <a16:creationId xmlns:a16="http://schemas.microsoft.com/office/drawing/2014/main" id="{5D118A1F-F943-1A77-6C9B-5F8EA7233EE7}"/>
                </a:ext>
              </a:extLst>
            </p:cNvPr>
            <p:cNvSpPr/>
            <p:nvPr/>
          </p:nvSpPr>
          <p:spPr>
            <a:xfrm>
              <a:off x="762140" y="4037990"/>
              <a:ext cx="76199" cy="923544"/>
            </a:xfrm>
            <a:prstGeom prst="roundRect">
              <a:avLst>
                <a:gd name="adj" fmla="val 0"/>
              </a:avLst>
            </a:prstGeom>
            <a:solidFill>
              <a:srgbClr val="091044"/>
            </a:solidFill>
            <a:ln w="12700">
              <a:solidFill>
                <a:srgbClr val="000000">
                  <a:alpha val="0"/>
                </a:srgbClr>
              </a:solidFill>
              <a:prstDash val="solid"/>
            </a:ln>
          </p:spPr>
          <p:txBody>
            <a:bodyPr/>
            <a:lstStyle/>
            <a:p>
              <a:endParaRPr lang="en-US"/>
            </a:p>
          </p:txBody>
        </p:sp>
      </p:grpSp>
      <p:grpSp>
        <p:nvGrpSpPr>
          <p:cNvPr id="53" name="Group 52">
            <a:extLst>
              <a:ext uri="{FF2B5EF4-FFF2-40B4-BE49-F238E27FC236}">
                <a16:creationId xmlns:a16="http://schemas.microsoft.com/office/drawing/2014/main" id="{1272C101-FBD3-B1E6-49E9-51C5F0BFAD86}"/>
              </a:ext>
            </a:extLst>
          </p:cNvPr>
          <p:cNvGrpSpPr/>
          <p:nvPr/>
        </p:nvGrpSpPr>
        <p:grpSpPr>
          <a:xfrm>
            <a:off x="5982847" y="3602431"/>
            <a:ext cx="5224576" cy="923544"/>
            <a:chOff x="6205424" y="2764231"/>
            <a:chExt cx="5224576" cy="923544"/>
          </a:xfrm>
        </p:grpSpPr>
        <p:sp>
          <p:nvSpPr>
            <p:cNvPr id="54" name="Shape 15">
              <a:extLst>
                <a:ext uri="{FF2B5EF4-FFF2-40B4-BE49-F238E27FC236}">
                  <a16:creationId xmlns:a16="http://schemas.microsoft.com/office/drawing/2014/main" id="{63D48F13-AE14-91C3-D7AE-2243E5CA811E}"/>
                </a:ext>
              </a:extLst>
            </p:cNvPr>
            <p:cNvSpPr/>
            <p:nvPr/>
          </p:nvSpPr>
          <p:spPr>
            <a:xfrm>
              <a:off x="6210605" y="2764231"/>
              <a:ext cx="5219395" cy="923544"/>
            </a:xfrm>
            <a:prstGeom prst="roundRect">
              <a:avLst>
                <a:gd name="adj" fmla="val 0"/>
              </a:avLst>
            </a:prstGeom>
            <a:solidFill>
              <a:srgbClr val="D2F0FF">
                <a:alpha val="25000"/>
              </a:srgbClr>
            </a:solidFill>
            <a:ln/>
          </p:spPr>
          <p:txBody>
            <a:bodyPr/>
            <a:lstStyle/>
            <a:p>
              <a:endParaRPr lang="en-US" dirty="0"/>
            </a:p>
          </p:txBody>
        </p:sp>
        <p:sp>
          <p:nvSpPr>
            <p:cNvPr id="55" name="Text 17">
              <a:extLst>
                <a:ext uri="{FF2B5EF4-FFF2-40B4-BE49-F238E27FC236}">
                  <a16:creationId xmlns:a16="http://schemas.microsoft.com/office/drawing/2014/main" id="{554AC320-3810-F5ED-D439-814DC852058A}"/>
                </a:ext>
              </a:extLst>
            </p:cNvPr>
            <p:cNvSpPr txBox="1"/>
            <p:nvPr/>
          </p:nvSpPr>
          <p:spPr>
            <a:xfrm>
              <a:off x="6638544" y="2894076"/>
              <a:ext cx="4753966" cy="191110"/>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 Mock Shape Drifts </a:t>
              </a:r>
              <a:endParaRPr lang="en-US" sz="1200" dirty="0">
                <a:solidFill>
                  <a:srgbClr val="091044"/>
                </a:solidFill>
              </a:endParaRPr>
            </a:p>
          </p:txBody>
        </p:sp>
        <p:pic>
          <p:nvPicPr>
            <p:cNvPr id="56" name="Image 5" descr="preencoded.png">
              <a:extLst>
                <a:ext uri="{FF2B5EF4-FFF2-40B4-BE49-F238E27FC236}">
                  <a16:creationId xmlns:a16="http://schemas.microsoft.com/office/drawing/2014/main" id="{18BEADE1-A8D5-0CF4-1185-91D87CEF558F}"/>
                </a:ext>
              </a:extLst>
            </p:cNvPr>
            <p:cNvPicPr>
              <a:picLocks noChangeAspect="1"/>
            </p:cNvPicPr>
            <p:nvPr/>
          </p:nvPicPr>
          <p:blipFill>
            <a:blip r:embed="rId5"/>
            <a:srcRect/>
            <a:stretch/>
          </p:blipFill>
          <p:spPr>
            <a:xfrm>
              <a:off x="6400800" y="2907792"/>
              <a:ext cx="161849" cy="161849"/>
            </a:xfrm>
            <a:prstGeom prst="rect">
              <a:avLst/>
            </a:prstGeom>
          </p:spPr>
        </p:pic>
        <p:sp>
          <p:nvSpPr>
            <p:cNvPr id="58" name="Text 18">
              <a:extLst>
                <a:ext uri="{FF2B5EF4-FFF2-40B4-BE49-F238E27FC236}">
                  <a16:creationId xmlns:a16="http://schemas.microsoft.com/office/drawing/2014/main" id="{D45AEEE0-0042-F12E-00F7-B529AF287DAC}"/>
                </a:ext>
              </a:extLst>
            </p:cNvPr>
            <p:cNvSpPr txBox="1"/>
            <p:nvPr/>
          </p:nvSpPr>
          <p:spPr>
            <a:xfrm>
              <a:off x="6400800" y="3151937"/>
              <a:ext cx="4953305" cy="400507"/>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Mock data structure diverges from real API responses over time. Frontend code becomes brittle when API contracts change.</a:t>
              </a:r>
              <a:endParaRPr lang="en-US" sz="1000" dirty="0"/>
            </a:p>
          </p:txBody>
        </p:sp>
        <p:sp>
          <p:nvSpPr>
            <p:cNvPr id="59" name="Shape 8">
              <a:extLst>
                <a:ext uri="{FF2B5EF4-FFF2-40B4-BE49-F238E27FC236}">
                  <a16:creationId xmlns:a16="http://schemas.microsoft.com/office/drawing/2014/main" id="{59A0F832-F478-1D52-D6D7-FEDE7E649951}"/>
                </a:ext>
              </a:extLst>
            </p:cNvPr>
            <p:cNvSpPr/>
            <p:nvPr/>
          </p:nvSpPr>
          <p:spPr>
            <a:xfrm>
              <a:off x="6205424" y="2764231"/>
              <a:ext cx="76199" cy="923544"/>
            </a:xfrm>
            <a:prstGeom prst="roundRect">
              <a:avLst>
                <a:gd name="adj" fmla="val 0"/>
              </a:avLst>
            </a:prstGeom>
            <a:solidFill>
              <a:srgbClr val="091044"/>
            </a:solidFill>
            <a:ln w="12700">
              <a:solidFill>
                <a:srgbClr val="000000">
                  <a:alpha val="0"/>
                </a:srgbClr>
              </a:solidFill>
              <a:prstDash val="solid"/>
            </a:ln>
          </p:spPr>
          <p:txBody>
            <a:bodyPr/>
            <a:lstStyle/>
            <a:p>
              <a:endParaRPr lang="en-US"/>
            </a:p>
          </p:txBody>
        </p:sp>
      </p:grpSp>
      <p:grpSp>
        <p:nvGrpSpPr>
          <p:cNvPr id="60" name="Group 59">
            <a:extLst>
              <a:ext uri="{FF2B5EF4-FFF2-40B4-BE49-F238E27FC236}">
                <a16:creationId xmlns:a16="http://schemas.microsoft.com/office/drawing/2014/main" id="{59B52C51-D42A-1E85-3DAC-68BD78DC694A}"/>
              </a:ext>
            </a:extLst>
          </p:cNvPr>
          <p:cNvGrpSpPr/>
          <p:nvPr/>
        </p:nvGrpSpPr>
        <p:grpSpPr>
          <a:xfrm>
            <a:off x="5979661" y="4676851"/>
            <a:ext cx="5227762" cy="923544"/>
            <a:chOff x="6202238" y="3838651"/>
            <a:chExt cx="5227762" cy="923544"/>
          </a:xfrm>
        </p:grpSpPr>
        <p:sp>
          <p:nvSpPr>
            <p:cNvPr id="61" name="Shape 19">
              <a:extLst>
                <a:ext uri="{FF2B5EF4-FFF2-40B4-BE49-F238E27FC236}">
                  <a16:creationId xmlns:a16="http://schemas.microsoft.com/office/drawing/2014/main" id="{FB86EA42-FF94-39A8-B8C9-E0C58CB631EB}"/>
                </a:ext>
              </a:extLst>
            </p:cNvPr>
            <p:cNvSpPr/>
            <p:nvPr/>
          </p:nvSpPr>
          <p:spPr>
            <a:xfrm>
              <a:off x="6210605" y="3838651"/>
              <a:ext cx="5219395" cy="923544"/>
            </a:xfrm>
            <a:prstGeom prst="roundRect">
              <a:avLst>
                <a:gd name="adj" fmla="val 0"/>
              </a:avLst>
            </a:prstGeom>
            <a:solidFill>
              <a:srgbClr val="D2F0FF">
                <a:alpha val="25000"/>
              </a:srgbClr>
            </a:solidFill>
            <a:ln/>
          </p:spPr>
          <p:txBody>
            <a:bodyPr/>
            <a:lstStyle/>
            <a:p>
              <a:endParaRPr lang="en-US"/>
            </a:p>
          </p:txBody>
        </p:sp>
        <p:sp>
          <p:nvSpPr>
            <p:cNvPr id="62" name="Text 21">
              <a:extLst>
                <a:ext uri="{FF2B5EF4-FFF2-40B4-BE49-F238E27FC236}">
                  <a16:creationId xmlns:a16="http://schemas.microsoft.com/office/drawing/2014/main" id="{2B65B1C2-832B-6209-B8C1-50FF81142C16}"/>
                </a:ext>
              </a:extLst>
            </p:cNvPr>
            <p:cNvSpPr txBox="1"/>
            <p:nvPr/>
          </p:nvSpPr>
          <p:spPr>
            <a:xfrm>
              <a:off x="6638544" y="3968496"/>
              <a:ext cx="4753966" cy="191110"/>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 Late Integration Confidence </a:t>
              </a:r>
              <a:endParaRPr lang="en-US" sz="1200" dirty="0">
                <a:solidFill>
                  <a:srgbClr val="091044"/>
                </a:solidFill>
              </a:endParaRPr>
            </a:p>
          </p:txBody>
        </p:sp>
        <p:pic>
          <p:nvPicPr>
            <p:cNvPr id="63" name="Image 6" descr="preencoded.png">
              <a:extLst>
                <a:ext uri="{FF2B5EF4-FFF2-40B4-BE49-F238E27FC236}">
                  <a16:creationId xmlns:a16="http://schemas.microsoft.com/office/drawing/2014/main" id="{17AC3468-6DB6-70E2-5E3D-E616E2498E6C}"/>
                </a:ext>
              </a:extLst>
            </p:cNvPr>
            <p:cNvPicPr>
              <a:picLocks noChangeAspect="1"/>
            </p:cNvPicPr>
            <p:nvPr/>
          </p:nvPicPr>
          <p:blipFill>
            <a:blip r:embed="rId6"/>
            <a:srcRect/>
            <a:stretch/>
          </p:blipFill>
          <p:spPr>
            <a:xfrm>
              <a:off x="6400800" y="3982212"/>
              <a:ext cx="161849" cy="161849"/>
            </a:xfrm>
            <a:prstGeom prst="rect">
              <a:avLst/>
            </a:prstGeom>
          </p:spPr>
        </p:pic>
        <p:sp>
          <p:nvSpPr>
            <p:cNvPr id="64" name="Text 22">
              <a:extLst>
                <a:ext uri="{FF2B5EF4-FFF2-40B4-BE49-F238E27FC236}">
                  <a16:creationId xmlns:a16="http://schemas.microsoft.com/office/drawing/2014/main" id="{1AF506C5-AFA4-63B0-454A-FB35B3A44618}"/>
                </a:ext>
              </a:extLst>
            </p:cNvPr>
            <p:cNvSpPr txBox="1"/>
            <p:nvPr/>
          </p:nvSpPr>
          <p:spPr>
            <a:xfrm>
              <a:off x="6400800" y="4226357"/>
              <a:ext cx="4953305" cy="400507"/>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Integration testing happens too late in the development cycle. Bugs are discovered only when frontend connects to real backend.</a:t>
              </a:r>
              <a:endParaRPr lang="en-US" sz="1000" dirty="0"/>
            </a:p>
          </p:txBody>
        </p:sp>
        <p:sp>
          <p:nvSpPr>
            <p:cNvPr id="65" name="Shape 8">
              <a:extLst>
                <a:ext uri="{FF2B5EF4-FFF2-40B4-BE49-F238E27FC236}">
                  <a16:creationId xmlns:a16="http://schemas.microsoft.com/office/drawing/2014/main" id="{15AA6325-3B2B-4E72-6F1A-18B0440D1565}"/>
                </a:ext>
              </a:extLst>
            </p:cNvPr>
            <p:cNvSpPr/>
            <p:nvPr/>
          </p:nvSpPr>
          <p:spPr>
            <a:xfrm>
              <a:off x="6202238" y="3838651"/>
              <a:ext cx="76199" cy="923544"/>
            </a:xfrm>
            <a:prstGeom prst="roundRect">
              <a:avLst>
                <a:gd name="adj" fmla="val 0"/>
              </a:avLst>
            </a:prstGeom>
            <a:solidFill>
              <a:srgbClr val="091044"/>
            </a:solidFill>
            <a:ln w="12700">
              <a:solidFill>
                <a:srgbClr val="000000">
                  <a:alpha val="0"/>
                </a:srgbClr>
              </a:solidFill>
              <a:prstDash val="solid"/>
            </a:ln>
          </p:spPr>
          <p:txBody>
            <a:bodyPr/>
            <a:lstStyle/>
            <a:p>
              <a:endParaRPr lang="en-US" dirty="0"/>
            </a:p>
          </p:txBody>
        </p:sp>
      </p:grpSp>
      <p:sp>
        <p:nvSpPr>
          <p:cNvPr id="66" name="TextBox 65">
            <a:extLst>
              <a:ext uri="{FF2B5EF4-FFF2-40B4-BE49-F238E27FC236}">
                <a16:creationId xmlns:a16="http://schemas.microsoft.com/office/drawing/2014/main" id="{707DB368-0F0C-4547-D200-B5C10A1C6FC2}"/>
              </a:ext>
            </a:extLst>
          </p:cNvPr>
          <p:cNvSpPr txBox="1"/>
          <p:nvPr/>
        </p:nvSpPr>
        <p:spPr>
          <a:xfrm>
            <a:off x="5769621" y="5850542"/>
            <a:ext cx="0" cy="0"/>
          </a:xfrm>
          <a:prstGeom prst="rect">
            <a:avLst/>
          </a:prstGeom>
          <a:noFill/>
        </p:spPr>
        <p:txBody>
          <a:bodyPr wrap="none" lIns="0" tIns="0" rIns="0" bIns="0" rtlCol="0">
            <a:noAutofit/>
          </a:bodyPr>
          <a:lstStyle/>
          <a:p>
            <a:endParaRPr lang="en-PL" sz="1700" dirty="0" err="1">
              <a:solidFill>
                <a:schemeClr val="tx2"/>
              </a:solidFill>
            </a:endParaRPr>
          </a:p>
        </p:txBody>
      </p:sp>
    </p:spTree>
    <p:extLst>
      <p:ext uri="{BB962C8B-B14F-4D97-AF65-F5344CB8AC3E}">
        <p14:creationId xmlns:p14="http://schemas.microsoft.com/office/powerpoint/2010/main" val="327772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9F8D6-73A6-3AFF-DCA7-28133976FC7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65047-B5F3-5140-3B2E-17F5360E3ACD}"/>
              </a:ext>
            </a:extLst>
          </p:cNvPr>
          <p:cNvSpPr>
            <a:spLocks noGrp="1"/>
          </p:cNvSpPr>
          <p:nvPr>
            <p:ph type="sldNum" sz="quarter" idx="12"/>
          </p:nvPr>
        </p:nvSpPr>
        <p:spPr/>
        <p:txBody>
          <a:bodyPr/>
          <a:lstStyle/>
          <a:p>
            <a:fld id="{F01A0BEF-C76D-43A2-874C-09A8674B0D74}" type="slidenum">
              <a:rPr lang="en-GB" smtClean="0"/>
              <a:t>5</a:t>
            </a:fld>
            <a:endParaRPr lang="en-GB"/>
          </a:p>
        </p:txBody>
      </p:sp>
      <p:sp>
        <p:nvSpPr>
          <p:cNvPr id="10" name="Text 4">
            <a:extLst>
              <a:ext uri="{FF2B5EF4-FFF2-40B4-BE49-F238E27FC236}">
                <a16:creationId xmlns:a16="http://schemas.microsoft.com/office/drawing/2014/main" id="{728864A2-76C2-FCA0-B115-06C98B9DD2B5}"/>
              </a:ext>
            </a:extLst>
          </p:cNvPr>
          <p:cNvSpPr txBox="1"/>
          <p:nvPr/>
        </p:nvSpPr>
        <p:spPr>
          <a:xfrm>
            <a:off x="761695" y="914400"/>
            <a:ext cx="10858500"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TARGET STATE</a:t>
            </a:r>
            <a:endParaRPr lang="en-US" sz="4800" dirty="0">
              <a:solidFill>
                <a:srgbClr val="091044"/>
              </a:solidFill>
            </a:endParaRPr>
          </a:p>
        </p:txBody>
      </p:sp>
      <p:sp>
        <p:nvSpPr>
          <p:cNvPr id="11" name="Text 5">
            <a:extLst>
              <a:ext uri="{FF2B5EF4-FFF2-40B4-BE49-F238E27FC236}">
                <a16:creationId xmlns:a16="http://schemas.microsoft.com/office/drawing/2014/main" id="{82BFD7C6-60D5-233C-F77D-A9D8EADDB957}"/>
              </a:ext>
            </a:extLst>
          </p:cNvPr>
          <p:cNvSpPr txBox="1"/>
          <p:nvPr/>
        </p:nvSpPr>
        <p:spPr>
          <a:xfrm>
            <a:off x="761695" y="1737360"/>
            <a:ext cx="7392010" cy="543154"/>
          </a:xfrm>
          <a:prstGeom prst="rect">
            <a:avLst/>
          </a:prstGeom>
          <a:noFill/>
          <a:ln/>
        </p:spPr>
        <p:txBody>
          <a:bodyPr wrap="square" lIns="0" tIns="0" rIns="0" bIns="0" rtlCol="0" anchor="ctr"/>
          <a:lstStyle/>
          <a:p>
            <a:pPr marL="0" indent="0" algn="l">
              <a:buNone/>
            </a:pPr>
            <a:r>
              <a:rPr lang="en-US" sz="1300" dirty="0">
                <a:solidFill>
                  <a:srgbClr val="4A5568"/>
                </a:solidFill>
                <a:latin typeface="Raleway" pitchFamily="34" charset="0"/>
                <a:ea typeface="Raleway" pitchFamily="34" charset="-122"/>
                <a:cs typeface="Raleway" pitchFamily="34" charset="-120"/>
              </a:rPr>
              <a:t>The ideal development setup where frontend development is decoupled from backend availability, with clear visibility into system state and runtime controls.</a:t>
            </a:r>
            <a:endParaRPr lang="en-US" sz="1300" dirty="0"/>
          </a:p>
        </p:txBody>
      </p:sp>
      <p:grpSp>
        <p:nvGrpSpPr>
          <p:cNvPr id="12" name="Group 11">
            <a:extLst>
              <a:ext uri="{FF2B5EF4-FFF2-40B4-BE49-F238E27FC236}">
                <a16:creationId xmlns:a16="http://schemas.microsoft.com/office/drawing/2014/main" id="{F7284394-2D9F-6845-BFAA-F9B7050ECC56}"/>
              </a:ext>
            </a:extLst>
          </p:cNvPr>
          <p:cNvGrpSpPr/>
          <p:nvPr/>
        </p:nvGrpSpPr>
        <p:grpSpPr>
          <a:xfrm>
            <a:off x="761695" y="2578608"/>
            <a:ext cx="5522976" cy="1569110"/>
            <a:chOff x="761695" y="2578608"/>
            <a:chExt cx="5522976" cy="1569110"/>
          </a:xfrm>
        </p:grpSpPr>
        <p:sp>
          <p:nvSpPr>
            <p:cNvPr id="13" name="Shape 6">
              <a:extLst>
                <a:ext uri="{FF2B5EF4-FFF2-40B4-BE49-F238E27FC236}">
                  <a16:creationId xmlns:a16="http://schemas.microsoft.com/office/drawing/2014/main" id="{C21C2371-8674-812B-0B26-0ADDCCF67701}"/>
                </a:ext>
              </a:extLst>
            </p:cNvPr>
            <p:cNvSpPr/>
            <p:nvPr/>
          </p:nvSpPr>
          <p:spPr>
            <a:xfrm>
              <a:off x="761695" y="2578608"/>
              <a:ext cx="5219395" cy="1569110"/>
            </a:xfrm>
            <a:prstGeom prst="roundRect">
              <a:avLst>
                <a:gd name="adj" fmla="val 60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dirty="0"/>
            </a:p>
          </p:txBody>
        </p:sp>
        <p:sp>
          <p:nvSpPr>
            <p:cNvPr id="14" name="Shape 7">
              <a:extLst>
                <a:ext uri="{FF2B5EF4-FFF2-40B4-BE49-F238E27FC236}">
                  <a16:creationId xmlns:a16="http://schemas.microsoft.com/office/drawing/2014/main" id="{CD1BA232-41AE-F87F-3965-DB3E07862B88}"/>
                </a:ext>
              </a:extLst>
            </p:cNvPr>
            <p:cNvSpPr/>
            <p:nvPr/>
          </p:nvSpPr>
          <p:spPr>
            <a:xfrm>
              <a:off x="1000354" y="2816352"/>
              <a:ext cx="457200" cy="457200"/>
            </a:xfrm>
            <a:prstGeom prst="roundRect">
              <a:avLst>
                <a:gd name="adj" fmla="val 66667"/>
              </a:avLst>
            </a:prstGeom>
            <a:solidFill>
              <a:srgbClr val="DBEAFE"/>
            </a:solidFill>
            <a:ln w="12700">
              <a:solidFill>
                <a:srgbClr val="FFFFFF">
                  <a:alpha val="0"/>
                </a:srgbClr>
              </a:solidFill>
              <a:prstDash val="solid"/>
            </a:ln>
          </p:spPr>
          <p:txBody>
            <a:bodyPr/>
            <a:lstStyle/>
            <a:p>
              <a:endParaRPr lang="en-US"/>
            </a:p>
          </p:txBody>
        </p:sp>
        <p:pic>
          <p:nvPicPr>
            <p:cNvPr id="15" name="Image 3" descr="preencoded.png">
              <a:extLst>
                <a:ext uri="{FF2B5EF4-FFF2-40B4-BE49-F238E27FC236}">
                  <a16:creationId xmlns:a16="http://schemas.microsoft.com/office/drawing/2014/main" id="{D8E17C31-7ECA-2774-4A16-437078E48D94}"/>
                </a:ext>
              </a:extLst>
            </p:cNvPr>
            <p:cNvPicPr>
              <a:picLocks noChangeAspect="1"/>
            </p:cNvPicPr>
            <p:nvPr/>
          </p:nvPicPr>
          <p:blipFill>
            <a:blip r:embed="rId3"/>
            <a:srcRect/>
            <a:stretch/>
          </p:blipFill>
          <p:spPr>
            <a:xfrm>
              <a:off x="1133856" y="2949854"/>
              <a:ext cx="190195" cy="190195"/>
            </a:xfrm>
            <a:prstGeom prst="rect">
              <a:avLst/>
            </a:prstGeom>
          </p:spPr>
        </p:pic>
        <p:sp>
          <p:nvSpPr>
            <p:cNvPr id="16" name="Text 8">
              <a:extLst>
                <a:ext uri="{FF2B5EF4-FFF2-40B4-BE49-F238E27FC236}">
                  <a16:creationId xmlns:a16="http://schemas.microsoft.com/office/drawing/2014/main" id="{E95CC8D7-0417-60D3-BE87-F08A9233164F}"/>
                </a:ext>
              </a:extLst>
            </p:cNvPr>
            <p:cNvSpPr txBox="1"/>
            <p:nvPr/>
          </p:nvSpPr>
          <p:spPr>
            <a:xfrm>
              <a:off x="1609344" y="2821838"/>
              <a:ext cx="2063801"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Real Integration Path</a:t>
              </a:r>
              <a:endParaRPr lang="en-US" sz="1300" dirty="0"/>
            </a:p>
          </p:txBody>
        </p:sp>
        <p:sp>
          <p:nvSpPr>
            <p:cNvPr id="17" name="Shape 9">
              <a:extLst>
                <a:ext uri="{FF2B5EF4-FFF2-40B4-BE49-F238E27FC236}">
                  <a16:creationId xmlns:a16="http://schemas.microsoft.com/office/drawing/2014/main" id="{23CBB396-5FD7-E64E-FDE3-448DDA1A7550}"/>
                </a:ext>
              </a:extLst>
            </p:cNvPr>
            <p:cNvSpPr/>
            <p:nvPr/>
          </p:nvSpPr>
          <p:spPr>
            <a:xfrm>
              <a:off x="4742078" y="2816352"/>
              <a:ext cx="1009498"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18" name="Image 4" descr="preencoded.png">
              <a:extLst>
                <a:ext uri="{FF2B5EF4-FFF2-40B4-BE49-F238E27FC236}">
                  <a16:creationId xmlns:a16="http://schemas.microsoft.com/office/drawing/2014/main" id="{D0B8960E-05CC-0981-F501-2ED7E24B214A}"/>
                </a:ext>
              </a:extLst>
            </p:cNvPr>
            <p:cNvPicPr>
              <a:picLocks noChangeAspect="1"/>
            </p:cNvPicPr>
            <p:nvPr/>
          </p:nvPicPr>
          <p:blipFill>
            <a:blip r:embed="rId4"/>
            <a:srcRect/>
            <a:stretch/>
          </p:blipFill>
          <p:spPr>
            <a:xfrm>
              <a:off x="4856378" y="2897734"/>
              <a:ext cx="114300" cy="114300"/>
            </a:xfrm>
            <a:prstGeom prst="rect">
              <a:avLst/>
            </a:prstGeom>
          </p:spPr>
        </p:pic>
        <p:sp>
          <p:nvSpPr>
            <p:cNvPr id="19" name="Text 10">
              <a:extLst>
                <a:ext uri="{FF2B5EF4-FFF2-40B4-BE49-F238E27FC236}">
                  <a16:creationId xmlns:a16="http://schemas.microsoft.com/office/drawing/2014/main" id="{D6F1DBE8-0557-9A36-E60F-1382F44C1D97}"/>
                </a:ext>
              </a:extLst>
            </p:cNvPr>
            <p:cNvSpPr txBox="1"/>
            <p:nvPr/>
          </p:nvSpPr>
          <p:spPr>
            <a:xfrm>
              <a:off x="5046574" y="2816352"/>
              <a:ext cx="648310"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Available</a:t>
              </a:r>
              <a:endParaRPr lang="en-US" sz="1000" dirty="0"/>
            </a:p>
          </p:txBody>
        </p:sp>
        <p:sp>
          <p:nvSpPr>
            <p:cNvPr id="20" name="Text 11">
              <a:extLst>
                <a:ext uri="{FF2B5EF4-FFF2-40B4-BE49-F238E27FC236}">
                  <a16:creationId xmlns:a16="http://schemas.microsoft.com/office/drawing/2014/main" id="{3D8F0E91-FDC3-93B0-E5CC-15D1FB1DA217}"/>
                </a:ext>
              </a:extLst>
            </p:cNvPr>
            <p:cNvSpPr txBox="1"/>
            <p:nvPr/>
          </p:nvSpPr>
          <p:spPr>
            <a:xfrm>
              <a:off x="1609344" y="3169310"/>
              <a:ext cx="4675327"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One real integration path is always available for testing</a:t>
              </a:r>
              <a:endParaRPr lang="en-US" sz="1000" dirty="0"/>
            </a:p>
          </p:txBody>
        </p:sp>
        <p:sp>
          <p:nvSpPr>
            <p:cNvPr id="21" name="Text 12">
              <a:extLst>
                <a:ext uri="{FF2B5EF4-FFF2-40B4-BE49-F238E27FC236}">
                  <a16:creationId xmlns:a16="http://schemas.microsoft.com/office/drawing/2014/main" id="{76843AAB-7940-6F0B-EA85-FDDC7F8B51F0}"/>
                </a:ext>
              </a:extLst>
            </p:cNvPr>
            <p:cNvSpPr txBox="1"/>
            <p:nvPr/>
          </p:nvSpPr>
          <p:spPr>
            <a:xfrm>
              <a:off x="1790395" y="3435401"/>
              <a:ext cx="4067251"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Can switch between real and mocked responses </a:t>
              </a:r>
              <a:endParaRPr lang="en-US" sz="900" dirty="0"/>
            </a:p>
          </p:txBody>
        </p:sp>
        <p:pic>
          <p:nvPicPr>
            <p:cNvPr id="22" name="Image 11" descr="preencoded.png">
              <a:extLst>
                <a:ext uri="{FF2B5EF4-FFF2-40B4-BE49-F238E27FC236}">
                  <a16:creationId xmlns:a16="http://schemas.microsoft.com/office/drawing/2014/main" id="{4F8FD30A-96EA-9E0B-5AE8-B77C2F1B86DD}"/>
                </a:ext>
              </a:extLst>
            </p:cNvPr>
            <p:cNvPicPr>
              <a:picLocks noChangeAspect="1"/>
            </p:cNvPicPr>
            <p:nvPr/>
          </p:nvPicPr>
          <p:blipFill>
            <a:blip r:embed="rId5"/>
            <a:srcRect/>
            <a:stretch/>
          </p:blipFill>
          <p:spPr>
            <a:xfrm>
              <a:off x="1609344" y="3450031"/>
              <a:ext cx="114300" cy="114300"/>
            </a:xfrm>
            <a:prstGeom prst="rect">
              <a:avLst/>
            </a:prstGeom>
          </p:spPr>
        </p:pic>
      </p:grpSp>
      <p:grpSp>
        <p:nvGrpSpPr>
          <p:cNvPr id="23" name="Group 22">
            <a:extLst>
              <a:ext uri="{FF2B5EF4-FFF2-40B4-BE49-F238E27FC236}">
                <a16:creationId xmlns:a16="http://schemas.microsoft.com/office/drawing/2014/main" id="{A1FD9199-E7A2-124E-2753-BE0447B275B8}"/>
              </a:ext>
            </a:extLst>
          </p:cNvPr>
          <p:cNvGrpSpPr/>
          <p:nvPr/>
        </p:nvGrpSpPr>
        <p:grpSpPr>
          <a:xfrm>
            <a:off x="6210605" y="2578608"/>
            <a:ext cx="5442509" cy="1569110"/>
            <a:chOff x="6210605" y="2578608"/>
            <a:chExt cx="5442509" cy="1569110"/>
          </a:xfrm>
        </p:grpSpPr>
        <p:sp>
          <p:nvSpPr>
            <p:cNvPr id="24" name="Shape 13">
              <a:extLst>
                <a:ext uri="{FF2B5EF4-FFF2-40B4-BE49-F238E27FC236}">
                  <a16:creationId xmlns:a16="http://schemas.microsoft.com/office/drawing/2014/main" id="{E277433C-1A5E-A82C-0600-8B797F574155}"/>
                </a:ext>
              </a:extLst>
            </p:cNvPr>
            <p:cNvSpPr/>
            <p:nvPr/>
          </p:nvSpPr>
          <p:spPr>
            <a:xfrm>
              <a:off x="6210605" y="2578608"/>
              <a:ext cx="5219395" cy="1569110"/>
            </a:xfrm>
            <a:prstGeom prst="roundRect">
              <a:avLst>
                <a:gd name="adj" fmla="val 60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dirty="0"/>
            </a:p>
          </p:txBody>
        </p:sp>
        <p:sp>
          <p:nvSpPr>
            <p:cNvPr id="25" name="Shape 14">
              <a:extLst>
                <a:ext uri="{FF2B5EF4-FFF2-40B4-BE49-F238E27FC236}">
                  <a16:creationId xmlns:a16="http://schemas.microsoft.com/office/drawing/2014/main" id="{6A4BEDF4-F326-7A60-6713-C0DDEA69C6A9}"/>
                </a:ext>
              </a:extLst>
            </p:cNvPr>
            <p:cNvSpPr/>
            <p:nvPr/>
          </p:nvSpPr>
          <p:spPr>
            <a:xfrm>
              <a:off x="6448349" y="2816352"/>
              <a:ext cx="457200" cy="457200"/>
            </a:xfrm>
            <a:prstGeom prst="roundRect">
              <a:avLst>
                <a:gd name="adj" fmla="val 66667"/>
              </a:avLst>
            </a:prstGeom>
            <a:solidFill>
              <a:srgbClr val="D1FAE5"/>
            </a:solidFill>
            <a:ln w="12700">
              <a:solidFill>
                <a:srgbClr val="FFFFFF">
                  <a:alpha val="0"/>
                </a:srgbClr>
              </a:solidFill>
              <a:prstDash val="solid"/>
            </a:ln>
          </p:spPr>
          <p:txBody>
            <a:bodyPr/>
            <a:lstStyle/>
            <a:p>
              <a:endParaRPr lang="en-US"/>
            </a:p>
          </p:txBody>
        </p:sp>
        <p:pic>
          <p:nvPicPr>
            <p:cNvPr id="26" name="Image 5" descr="preencoded.png">
              <a:extLst>
                <a:ext uri="{FF2B5EF4-FFF2-40B4-BE49-F238E27FC236}">
                  <a16:creationId xmlns:a16="http://schemas.microsoft.com/office/drawing/2014/main" id="{03865435-1CEB-B585-5AC2-526F05712C31}"/>
                </a:ext>
              </a:extLst>
            </p:cNvPr>
            <p:cNvPicPr>
              <a:picLocks noChangeAspect="1"/>
            </p:cNvPicPr>
            <p:nvPr/>
          </p:nvPicPr>
          <p:blipFill>
            <a:blip r:embed="rId6"/>
            <a:srcRect/>
            <a:stretch/>
          </p:blipFill>
          <p:spPr>
            <a:xfrm>
              <a:off x="6558077" y="2949854"/>
              <a:ext cx="237744" cy="190195"/>
            </a:xfrm>
            <a:prstGeom prst="rect">
              <a:avLst/>
            </a:prstGeom>
          </p:spPr>
        </p:pic>
        <p:sp>
          <p:nvSpPr>
            <p:cNvPr id="27" name="Text 15">
              <a:extLst>
                <a:ext uri="{FF2B5EF4-FFF2-40B4-BE49-F238E27FC236}">
                  <a16:creationId xmlns:a16="http://schemas.microsoft.com/office/drawing/2014/main" id="{729C90F5-4611-856D-AB25-4300827A2B1C}"/>
                </a:ext>
              </a:extLst>
            </p:cNvPr>
            <p:cNvSpPr txBox="1"/>
            <p:nvPr/>
          </p:nvSpPr>
          <p:spPr>
            <a:xfrm>
              <a:off x="7058254" y="2821838"/>
              <a:ext cx="2643530"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Network Boundary Mocking</a:t>
              </a:r>
              <a:endParaRPr lang="en-US" sz="1300" dirty="0"/>
            </a:p>
          </p:txBody>
        </p:sp>
        <p:sp>
          <p:nvSpPr>
            <p:cNvPr id="28" name="Shape 16">
              <a:extLst>
                <a:ext uri="{FF2B5EF4-FFF2-40B4-BE49-F238E27FC236}">
                  <a16:creationId xmlns:a16="http://schemas.microsoft.com/office/drawing/2014/main" id="{76836CAD-59D6-0659-D91C-4B1B3C25A088}"/>
                </a:ext>
              </a:extLst>
            </p:cNvPr>
            <p:cNvSpPr/>
            <p:nvPr/>
          </p:nvSpPr>
          <p:spPr>
            <a:xfrm>
              <a:off x="10379354" y="2816352"/>
              <a:ext cx="819302"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29" name="Image 6" descr="preencoded.png">
              <a:extLst>
                <a:ext uri="{FF2B5EF4-FFF2-40B4-BE49-F238E27FC236}">
                  <a16:creationId xmlns:a16="http://schemas.microsoft.com/office/drawing/2014/main" id="{045F25D6-661B-C0EE-FA42-FA3C0F194FA7}"/>
                </a:ext>
              </a:extLst>
            </p:cNvPr>
            <p:cNvPicPr>
              <a:picLocks noChangeAspect="1"/>
            </p:cNvPicPr>
            <p:nvPr/>
          </p:nvPicPr>
          <p:blipFill>
            <a:blip r:embed="rId4"/>
            <a:srcRect/>
            <a:stretch/>
          </p:blipFill>
          <p:spPr>
            <a:xfrm>
              <a:off x="10493654" y="2897734"/>
              <a:ext cx="114300" cy="114300"/>
            </a:xfrm>
            <a:prstGeom prst="rect">
              <a:avLst/>
            </a:prstGeom>
          </p:spPr>
        </p:pic>
        <p:sp>
          <p:nvSpPr>
            <p:cNvPr id="30" name="Text 17">
              <a:extLst>
                <a:ext uri="{FF2B5EF4-FFF2-40B4-BE49-F238E27FC236}">
                  <a16:creationId xmlns:a16="http://schemas.microsoft.com/office/drawing/2014/main" id="{75B4906F-53CD-1AB6-3B42-8F22671ACFCE}"/>
                </a:ext>
              </a:extLst>
            </p:cNvPr>
            <p:cNvSpPr txBox="1"/>
            <p:nvPr/>
          </p:nvSpPr>
          <p:spPr>
            <a:xfrm>
              <a:off x="10684764" y="2816352"/>
              <a:ext cx="457200"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Active</a:t>
              </a:r>
              <a:endParaRPr lang="en-US" sz="1000" dirty="0"/>
            </a:p>
          </p:txBody>
        </p:sp>
        <p:sp>
          <p:nvSpPr>
            <p:cNvPr id="31" name="Text 18">
              <a:extLst>
                <a:ext uri="{FF2B5EF4-FFF2-40B4-BE49-F238E27FC236}">
                  <a16:creationId xmlns:a16="http://schemas.microsoft.com/office/drawing/2014/main" id="{AAAC84BD-9F4A-B0AE-628C-7D875678B668}"/>
                </a:ext>
              </a:extLst>
            </p:cNvPr>
            <p:cNvSpPr txBox="1"/>
            <p:nvPr/>
          </p:nvSpPr>
          <p:spPr>
            <a:xfrm>
              <a:off x="7058254" y="3169310"/>
              <a:ext cx="4594860"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Mocking happens at network boundary, not component layer</a:t>
              </a:r>
              <a:endParaRPr lang="en-US" sz="1000" dirty="0"/>
            </a:p>
          </p:txBody>
        </p:sp>
        <p:sp>
          <p:nvSpPr>
            <p:cNvPr id="32" name="Text 19">
              <a:extLst>
                <a:ext uri="{FF2B5EF4-FFF2-40B4-BE49-F238E27FC236}">
                  <a16:creationId xmlns:a16="http://schemas.microsoft.com/office/drawing/2014/main" id="{4DA73471-F34D-7D46-61D9-8B07906709B0}"/>
                </a:ext>
              </a:extLst>
            </p:cNvPr>
            <p:cNvSpPr txBox="1"/>
            <p:nvPr/>
          </p:nvSpPr>
          <p:spPr>
            <a:xfrm>
              <a:off x="7239305" y="3435401"/>
              <a:ext cx="4067251"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Intercepts requests at the network level </a:t>
              </a:r>
              <a:endParaRPr lang="en-US" sz="900" dirty="0"/>
            </a:p>
          </p:txBody>
        </p:sp>
        <p:pic>
          <p:nvPicPr>
            <p:cNvPr id="33" name="Image 12" descr="preencoded.png">
              <a:extLst>
                <a:ext uri="{FF2B5EF4-FFF2-40B4-BE49-F238E27FC236}">
                  <a16:creationId xmlns:a16="http://schemas.microsoft.com/office/drawing/2014/main" id="{CDEB8066-3A06-7585-59B9-20A5E01743EA}"/>
                </a:ext>
              </a:extLst>
            </p:cNvPr>
            <p:cNvPicPr>
              <a:picLocks noChangeAspect="1"/>
            </p:cNvPicPr>
            <p:nvPr/>
          </p:nvPicPr>
          <p:blipFill>
            <a:blip r:embed="rId5"/>
            <a:srcRect/>
            <a:stretch/>
          </p:blipFill>
          <p:spPr>
            <a:xfrm>
              <a:off x="7058254" y="3450031"/>
              <a:ext cx="114300" cy="114300"/>
            </a:xfrm>
            <a:prstGeom prst="rect">
              <a:avLst/>
            </a:prstGeom>
          </p:spPr>
        </p:pic>
      </p:grpSp>
      <p:grpSp>
        <p:nvGrpSpPr>
          <p:cNvPr id="34" name="Group 33">
            <a:extLst>
              <a:ext uri="{FF2B5EF4-FFF2-40B4-BE49-F238E27FC236}">
                <a16:creationId xmlns:a16="http://schemas.microsoft.com/office/drawing/2014/main" id="{33B3B989-979C-7F48-66BC-1AF7C22D7F71}"/>
              </a:ext>
            </a:extLst>
          </p:cNvPr>
          <p:cNvGrpSpPr/>
          <p:nvPr/>
        </p:nvGrpSpPr>
        <p:grpSpPr>
          <a:xfrm>
            <a:off x="761695" y="4374490"/>
            <a:ext cx="5219395" cy="1569110"/>
            <a:chOff x="761695" y="4660697"/>
            <a:chExt cx="5219395" cy="1569110"/>
          </a:xfrm>
        </p:grpSpPr>
        <p:sp>
          <p:nvSpPr>
            <p:cNvPr id="35" name="Shape 20">
              <a:extLst>
                <a:ext uri="{FF2B5EF4-FFF2-40B4-BE49-F238E27FC236}">
                  <a16:creationId xmlns:a16="http://schemas.microsoft.com/office/drawing/2014/main" id="{E98D30DE-1CC2-AC53-7FDF-A7DE99624809}"/>
                </a:ext>
              </a:extLst>
            </p:cNvPr>
            <p:cNvSpPr/>
            <p:nvPr/>
          </p:nvSpPr>
          <p:spPr>
            <a:xfrm>
              <a:off x="761695" y="4660697"/>
              <a:ext cx="5219395" cy="1569110"/>
            </a:xfrm>
            <a:prstGeom prst="roundRect">
              <a:avLst>
                <a:gd name="adj" fmla="val 60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dirty="0"/>
            </a:p>
          </p:txBody>
        </p:sp>
        <p:sp>
          <p:nvSpPr>
            <p:cNvPr id="36" name="Shape 21">
              <a:extLst>
                <a:ext uri="{FF2B5EF4-FFF2-40B4-BE49-F238E27FC236}">
                  <a16:creationId xmlns:a16="http://schemas.microsoft.com/office/drawing/2014/main" id="{BF8BAC77-CD57-D11D-2D96-8006B1B8E6AD}"/>
                </a:ext>
              </a:extLst>
            </p:cNvPr>
            <p:cNvSpPr/>
            <p:nvPr/>
          </p:nvSpPr>
          <p:spPr>
            <a:xfrm>
              <a:off x="1000354" y="4899355"/>
              <a:ext cx="457200" cy="457200"/>
            </a:xfrm>
            <a:prstGeom prst="roundRect">
              <a:avLst>
                <a:gd name="adj" fmla="val 66667"/>
              </a:avLst>
            </a:prstGeom>
            <a:solidFill>
              <a:srgbClr val="EDE9FE"/>
            </a:solidFill>
            <a:ln w="12700">
              <a:solidFill>
                <a:srgbClr val="FFFFFF">
                  <a:alpha val="0"/>
                </a:srgbClr>
              </a:solidFill>
              <a:prstDash val="solid"/>
            </a:ln>
          </p:spPr>
          <p:txBody>
            <a:bodyPr/>
            <a:lstStyle/>
            <a:p>
              <a:endParaRPr lang="en-US"/>
            </a:p>
          </p:txBody>
        </p:sp>
        <p:pic>
          <p:nvPicPr>
            <p:cNvPr id="37" name="Image 7" descr="preencoded.png">
              <a:extLst>
                <a:ext uri="{FF2B5EF4-FFF2-40B4-BE49-F238E27FC236}">
                  <a16:creationId xmlns:a16="http://schemas.microsoft.com/office/drawing/2014/main" id="{486776C8-F5A7-3A3D-A931-E62A01916B50}"/>
                </a:ext>
              </a:extLst>
            </p:cNvPr>
            <p:cNvPicPr>
              <a:picLocks noChangeAspect="1"/>
            </p:cNvPicPr>
            <p:nvPr/>
          </p:nvPicPr>
          <p:blipFill>
            <a:blip r:embed="rId7"/>
            <a:srcRect l="-1282" r="-1282"/>
            <a:stretch/>
          </p:blipFill>
          <p:spPr>
            <a:xfrm>
              <a:off x="1119226" y="5032858"/>
              <a:ext cx="219456" cy="190195"/>
            </a:xfrm>
            <a:prstGeom prst="rect">
              <a:avLst/>
            </a:prstGeom>
          </p:spPr>
        </p:pic>
        <p:sp>
          <p:nvSpPr>
            <p:cNvPr id="38" name="Text 22">
              <a:extLst>
                <a:ext uri="{FF2B5EF4-FFF2-40B4-BE49-F238E27FC236}">
                  <a16:creationId xmlns:a16="http://schemas.microsoft.com/office/drawing/2014/main" id="{527579C8-093F-412E-3426-09143BE8DCCE}"/>
                </a:ext>
              </a:extLst>
            </p:cNvPr>
            <p:cNvSpPr txBox="1"/>
            <p:nvPr/>
          </p:nvSpPr>
          <p:spPr>
            <a:xfrm>
              <a:off x="1609344" y="4903927"/>
              <a:ext cx="1540764"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Runtime Switch</a:t>
              </a:r>
              <a:endParaRPr lang="en-US" sz="1300" dirty="0"/>
            </a:p>
          </p:txBody>
        </p:sp>
        <p:sp>
          <p:nvSpPr>
            <p:cNvPr id="39" name="Shape 23">
              <a:extLst>
                <a:ext uri="{FF2B5EF4-FFF2-40B4-BE49-F238E27FC236}">
                  <a16:creationId xmlns:a16="http://schemas.microsoft.com/office/drawing/2014/main" id="{5A8EE9A9-3E33-7785-27E3-3117CD540081}"/>
                </a:ext>
              </a:extLst>
            </p:cNvPr>
            <p:cNvSpPr/>
            <p:nvPr/>
          </p:nvSpPr>
          <p:spPr>
            <a:xfrm>
              <a:off x="4858207" y="4899355"/>
              <a:ext cx="886054"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pic>
          <p:nvPicPr>
            <p:cNvPr id="40" name="Image 8" descr="preencoded.png">
              <a:extLst>
                <a:ext uri="{FF2B5EF4-FFF2-40B4-BE49-F238E27FC236}">
                  <a16:creationId xmlns:a16="http://schemas.microsoft.com/office/drawing/2014/main" id="{1758E40C-7B77-4F1D-CBE3-249E4D5A393F}"/>
                </a:ext>
              </a:extLst>
            </p:cNvPr>
            <p:cNvPicPr>
              <a:picLocks noChangeAspect="1"/>
            </p:cNvPicPr>
            <p:nvPr/>
          </p:nvPicPr>
          <p:blipFill>
            <a:blip r:embed="rId8"/>
            <a:srcRect/>
            <a:stretch/>
          </p:blipFill>
          <p:spPr>
            <a:xfrm>
              <a:off x="4972507" y="4979822"/>
              <a:ext cx="114300" cy="114300"/>
            </a:xfrm>
            <a:prstGeom prst="rect">
              <a:avLst/>
            </a:prstGeom>
          </p:spPr>
        </p:pic>
        <p:sp>
          <p:nvSpPr>
            <p:cNvPr id="41" name="Text 24">
              <a:extLst>
                <a:ext uri="{FF2B5EF4-FFF2-40B4-BE49-F238E27FC236}">
                  <a16:creationId xmlns:a16="http://schemas.microsoft.com/office/drawing/2014/main" id="{B3F23451-F361-F63F-B996-43F0EEB10729}"/>
                </a:ext>
              </a:extLst>
            </p:cNvPr>
            <p:cNvSpPr txBox="1"/>
            <p:nvPr/>
          </p:nvSpPr>
          <p:spPr>
            <a:xfrm>
              <a:off x="5162702" y="4899355"/>
              <a:ext cx="523951" cy="277063"/>
            </a:xfrm>
            <a:prstGeom prst="rect">
              <a:avLst/>
            </a:prstGeom>
            <a:noFill/>
            <a:ln/>
          </p:spPr>
          <p:txBody>
            <a:bodyPr wrap="square" lIns="0" tIns="0" rIns="0" bIns="0" rtlCol="0" anchor="ctr"/>
            <a:lstStyle/>
            <a:p>
              <a:pPr marL="0" indent="0" algn="l">
                <a:buNone/>
              </a:pPr>
              <a:r>
                <a:rPr lang="en-US" sz="1000" b="1" dirty="0">
                  <a:solidFill>
                    <a:srgbClr val="92400E"/>
                  </a:solidFill>
                  <a:latin typeface="Raleway" pitchFamily="34" charset="0"/>
                  <a:ea typeface="Raleway" pitchFamily="34" charset="-122"/>
                  <a:cs typeface="Raleway" pitchFamily="34" charset="-120"/>
                </a:rPr>
                <a:t>Manual</a:t>
              </a:r>
              <a:endParaRPr lang="en-US" sz="1000" dirty="0"/>
            </a:p>
          </p:txBody>
        </p:sp>
        <p:sp>
          <p:nvSpPr>
            <p:cNvPr id="42" name="Text 25">
              <a:extLst>
                <a:ext uri="{FF2B5EF4-FFF2-40B4-BE49-F238E27FC236}">
                  <a16:creationId xmlns:a16="http://schemas.microsoft.com/office/drawing/2014/main" id="{A3602911-24E2-02E2-40CA-D9CFB22806DE}"/>
                </a:ext>
              </a:extLst>
            </p:cNvPr>
            <p:cNvSpPr txBox="1"/>
            <p:nvPr/>
          </p:nvSpPr>
          <p:spPr>
            <a:xfrm>
              <a:off x="1609344" y="5251399"/>
              <a:ext cx="424830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Runtime switch between real and mocked responses</a:t>
              </a:r>
              <a:endParaRPr lang="en-US" sz="1000" dirty="0"/>
            </a:p>
          </p:txBody>
        </p:sp>
        <p:sp>
          <p:nvSpPr>
            <p:cNvPr id="43" name="Text 26">
              <a:extLst>
                <a:ext uri="{FF2B5EF4-FFF2-40B4-BE49-F238E27FC236}">
                  <a16:creationId xmlns:a16="http://schemas.microsoft.com/office/drawing/2014/main" id="{65A4791E-5ECB-7D75-0D51-E04785AF9AD1}"/>
                </a:ext>
              </a:extLst>
            </p:cNvPr>
            <p:cNvSpPr txBox="1"/>
            <p:nvPr/>
          </p:nvSpPr>
          <p:spPr>
            <a:xfrm>
              <a:off x="1787652" y="5518404"/>
              <a:ext cx="4069994"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Toggle via UI controls </a:t>
              </a:r>
              <a:endParaRPr lang="en-US" sz="900" dirty="0"/>
            </a:p>
          </p:txBody>
        </p:sp>
        <p:pic>
          <p:nvPicPr>
            <p:cNvPr id="44" name="Image 13" descr="preencoded.png">
              <a:extLst>
                <a:ext uri="{FF2B5EF4-FFF2-40B4-BE49-F238E27FC236}">
                  <a16:creationId xmlns:a16="http://schemas.microsoft.com/office/drawing/2014/main" id="{C483DA7B-8DC7-30EB-F320-8A1DBD8D912E}"/>
                </a:ext>
              </a:extLst>
            </p:cNvPr>
            <p:cNvPicPr>
              <a:picLocks noChangeAspect="1"/>
            </p:cNvPicPr>
            <p:nvPr/>
          </p:nvPicPr>
          <p:blipFill>
            <a:blip r:embed="rId5"/>
            <a:srcRect/>
            <a:stretch/>
          </p:blipFill>
          <p:spPr>
            <a:xfrm>
              <a:off x="1609344" y="5533034"/>
              <a:ext cx="114300" cy="114300"/>
            </a:xfrm>
            <a:prstGeom prst="rect">
              <a:avLst/>
            </a:prstGeom>
          </p:spPr>
        </p:pic>
      </p:grpSp>
      <p:grpSp>
        <p:nvGrpSpPr>
          <p:cNvPr id="45" name="Group 44">
            <a:extLst>
              <a:ext uri="{FF2B5EF4-FFF2-40B4-BE49-F238E27FC236}">
                <a16:creationId xmlns:a16="http://schemas.microsoft.com/office/drawing/2014/main" id="{10CCDFF3-173D-014A-2A49-C06FDFA80F2E}"/>
              </a:ext>
            </a:extLst>
          </p:cNvPr>
          <p:cNvGrpSpPr/>
          <p:nvPr/>
        </p:nvGrpSpPr>
        <p:grpSpPr>
          <a:xfrm>
            <a:off x="6210605" y="4374490"/>
            <a:ext cx="5219395" cy="1569110"/>
            <a:chOff x="6210605" y="4660697"/>
            <a:chExt cx="5219395" cy="1569110"/>
          </a:xfrm>
        </p:grpSpPr>
        <p:sp>
          <p:nvSpPr>
            <p:cNvPr id="46" name="Shape 27">
              <a:extLst>
                <a:ext uri="{FF2B5EF4-FFF2-40B4-BE49-F238E27FC236}">
                  <a16:creationId xmlns:a16="http://schemas.microsoft.com/office/drawing/2014/main" id="{3B5F8FDE-AFAC-388D-C460-83F7A3F63153}"/>
                </a:ext>
              </a:extLst>
            </p:cNvPr>
            <p:cNvSpPr/>
            <p:nvPr/>
          </p:nvSpPr>
          <p:spPr>
            <a:xfrm>
              <a:off x="6210605" y="4660697"/>
              <a:ext cx="5219395" cy="1569110"/>
            </a:xfrm>
            <a:prstGeom prst="roundRect">
              <a:avLst>
                <a:gd name="adj" fmla="val 60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dirty="0"/>
            </a:p>
          </p:txBody>
        </p:sp>
        <p:sp>
          <p:nvSpPr>
            <p:cNvPr id="47" name="Shape 28">
              <a:extLst>
                <a:ext uri="{FF2B5EF4-FFF2-40B4-BE49-F238E27FC236}">
                  <a16:creationId xmlns:a16="http://schemas.microsoft.com/office/drawing/2014/main" id="{107B93DE-40E5-3599-0F1C-F108AC2E947E}"/>
                </a:ext>
              </a:extLst>
            </p:cNvPr>
            <p:cNvSpPr/>
            <p:nvPr/>
          </p:nvSpPr>
          <p:spPr>
            <a:xfrm>
              <a:off x="6448349" y="4899355"/>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48" name="Image 9" descr="preencoded.png">
              <a:extLst>
                <a:ext uri="{FF2B5EF4-FFF2-40B4-BE49-F238E27FC236}">
                  <a16:creationId xmlns:a16="http://schemas.microsoft.com/office/drawing/2014/main" id="{D321451F-A407-7B8A-3962-4CAA07210B0E}"/>
                </a:ext>
              </a:extLst>
            </p:cNvPr>
            <p:cNvPicPr>
              <a:picLocks noChangeAspect="1"/>
            </p:cNvPicPr>
            <p:nvPr/>
          </p:nvPicPr>
          <p:blipFill>
            <a:blip r:embed="rId9"/>
            <a:srcRect l="-1648" r="-1648"/>
            <a:stretch/>
          </p:blipFill>
          <p:spPr>
            <a:xfrm>
              <a:off x="6590995" y="5032858"/>
              <a:ext cx="171907" cy="190195"/>
            </a:xfrm>
            <a:prstGeom prst="rect">
              <a:avLst/>
            </a:prstGeom>
          </p:spPr>
        </p:pic>
        <p:sp>
          <p:nvSpPr>
            <p:cNvPr id="49" name="Text 29">
              <a:extLst>
                <a:ext uri="{FF2B5EF4-FFF2-40B4-BE49-F238E27FC236}">
                  <a16:creationId xmlns:a16="http://schemas.microsoft.com/office/drawing/2014/main" id="{06E22206-D3B4-7C36-2A8D-45E807744F65}"/>
                </a:ext>
              </a:extLst>
            </p:cNvPr>
            <p:cNvSpPr txBox="1"/>
            <p:nvPr/>
          </p:nvSpPr>
          <p:spPr>
            <a:xfrm>
              <a:off x="7058254" y="4903927"/>
              <a:ext cx="1757477"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Clear UI Warnings</a:t>
              </a:r>
              <a:endParaRPr lang="en-US" sz="1300" dirty="0"/>
            </a:p>
          </p:txBody>
        </p:sp>
        <p:sp>
          <p:nvSpPr>
            <p:cNvPr id="50" name="Shape 30">
              <a:extLst>
                <a:ext uri="{FF2B5EF4-FFF2-40B4-BE49-F238E27FC236}">
                  <a16:creationId xmlns:a16="http://schemas.microsoft.com/office/drawing/2014/main" id="{C1572230-2C53-783E-B9D2-97DBF482E98E}"/>
                </a:ext>
              </a:extLst>
            </p:cNvPr>
            <p:cNvSpPr/>
            <p:nvPr/>
          </p:nvSpPr>
          <p:spPr>
            <a:xfrm>
              <a:off x="10329977" y="4899355"/>
              <a:ext cx="866851"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pic>
          <p:nvPicPr>
            <p:cNvPr id="51" name="Image 10" descr="preencoded.png">
              <a:extLst>
                <a:ext uri="{FF2B5EF4-FFF2-40B4-BE49-F238E27FC236}">
                  <a16:creationId xmlns:a16="http://schemas.microsoft.com/office/drawing/2014/main" id="{A94F2F42-CFB3-F64F-7FAC-6254BA76278F}"/>
                </a:ext>
              </a:extLst>
            </p:cNvPr>
            <p:cNvPicPr>
              <a:picLocks noChangeAspect="1"/>
            </p:cNvPicPr>
            <p:nvPr/>
          </p:nvPicPr>
          <p:blipFill>
            <a:blip r:embed="rId10"/>
            <a:srcRect l="-1911" r="-1911"/>
            <a:stretch/>
          </p:blipFill>
          <p:spPr>
            <a:xfrm>
              <a:off x="10444277" y="4979822"/>
              <a:ext cx="133502" cy="114300"/>
            </a:xfrm>
            <a:prstGeom prst="rect">
              <a:avLst/>
            </a:prstGeom>
          </p:spPr>
        </p:pic>
        <p:sp>
          <p:nvSpPr>
            <p:cNvPr id="52" name="Text 31">
              <a:extLst>
                <a:ext uri="{FF2B5EF4-FFF2-40B4-BE49-F238E27FC236}">
                  <a16:creationId xmlns:a16="http://schemas.microsoft.com/office/drawing/2014/main" id="{A5973A01-157A-58E6-01FE-60BB9028D456}"/>
                </a:ext>
              </a:extLst>
            </p:cNvPr>
            <p:cNvSpPr txBox="1"/>
            <p:nvPr/>
          </p:nvSpPr>
          <p:spPr>
            <a:xfrm>
              <a:off x="10653674" y="4899355"/>
              <a:ext cx="486461" cy="277063"/>
            </a:xfrm>
            <a:prstGeom prst="rect">
              <a:avLst/>
            </a:prstGeom>
            <a:noFill/>
            <a:ln/>
          </p:spPr>
          <p:txBody>
            <a:bodyPr wrap="square" lIns="0" tIns="0" rIns="0" bIns="0" rtlCol="0" anchor="ctr"/>
            <a:lstStyle/>
            <a:p>
              <a:pPr marL="0" indent="0" algn="l">
                <a:buNone/>
              </a:pPr>
              <a:r>
                <a:rPr lang="en-US" sz="1000" b="1" dirty="0">
                  <a:solidFill>
                    <a:srgbClr val="92400E"/>
                  </a:solidFill>
                  <a:latin typeface="Raleway" pitchFamily="34" charset="0"/>
                  <a:ea typeface="Raleway" pitchFamily="34" charset="-122"/>
                  <a:cs typeface="Raleway" pitchFamily="34" charset="-120"/>
                </a:rPr>
                <a:t>Visible</a:t>
              </a:r>
              <a:endParaRPr lang="en-US" sz="1000" dirty="0"/>
            </a:p>
          </p:txBody>
        </p:sp>
        <p:sp>
          <p:nvSpPr>
            <p:cNvPr id="53" name="Text 32">
              <a:extLst>
                <a:ext uri="{FF2B5EF4-FFF2-40B4-BE49-F238E27FC236}">
                  <a16:creationId xmlns:a16="http://schemas.microsoft.com/office/drawing/2014/main" id="{82B68B75-FB3A-1A7E-E912-98459F1D6A37}"/>
                </a:ext>
              </a:extLst>
            </p:cNvPr>
            <p:cNvSpPr txBox="1"/>
            <p:nvPr/>
          </p:nvSpPr>
          <p:spPr>
            <a:xfrm>
              <a:off x="7058254" y="5251399"/>
              <a:ext cx="424830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Clear UI warnings for system state</a:t>
              </a:r>
              <a:endParaRPr lang="en-US" sz="1000" dirty="0"/>
            </a:p>
          </p:txBody>
        </p:sp>
        <p:sp>
          <p:nvSpPr>
            <p:cNvPr id="54" name="Text 33">
              <a:extLst>
                <a:ext uri="{FF2B5EF4-FFF2-40B4-BE49-F238E27FC236}">
                  <a16:creationId xmlns:a16="http://schemas.microsoft.com/office/drawing/2014/main" id="{2FC221E1-948A-9E12-8203-DB79666BDC3C}"/>
                </a:ext>
              </a:extLst>
            </p:cNvPr>
            <p:cNvSpPr txBox="1"/>
            <p:nvPr/>
          </p:nvSpPr>
          <p:spPr>
            <a:xfrm>
              <a:off x="7239305" y="5518404"/>
              <a:ext cx="4067251"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Shows when using mocked data </a:t>
              </a:r>
              <a:endParaRPr lang="en-US" sz="900" dirty="0"/>
            </a:p>
          </p:txBody>
        </p:sp>
        <p:pic>
          <p:nvPicPr>
            <p:cNvPr id="55" name="Image 14" descr="preencoded.png">
              <a:extLst>
                <a:ext uri="{FF2B5EF4-FFF2-40B4-BE49-F238E27FC236}">
                  <a16:creationId xmlns:a16="http://schemas.microsoft.com/office/drawing/2014/main" id="{9BBE5964-EC2C-5B20-B4CA-C09E962C4016}"/>
                </a:ext>
              </a:extLst>
            </p:cNvPr>
            <p:cNvPicPr>
              <a:picLocks noChangeAspect="1"/>
            </p:cNvPicPr>
            <p:nvPr/>
          </p:nvPicPr>
          <p:blipFill>
            <a:blip r:embed="rId5"/>
            <a:srcRect/>
            <a:stretch/>
          </p:blipFill>
          <p:spPr>
            <a:xfrm>
              <a:off x="7058254" y="5533034"/>
              <a:ext cx="114300" cy="114300"/>
            </a:xfrm>
            <a:prstGeom prst="rect">
              <a:avLst/>
            </a:prstGeom>
          </p:spPr>
        </p:pic>
      </p:grpSp>
      <p:sp>
        <p:nvSpPr>
          <p:cNvPr id="56" name="TextBox 55">
            <a:extLst>
              <a:ext uri="{FF2B5EF4-FFF2-40B4-BE49-F238E27FC236}">
                <a16:creationId xmlns:a16="http://schemas.microsoft.com/office/drawing/2014/main" id="{84C098A1-9A37-A825-A9C3-64F06BCF217D}"/>
              </a:ext>
            </a:extLst>
          </p:cNvPr>
          <p:cNvSpPr txBox="1"/>
          <p:nvPr/>
        </p:nvSpPr>
        <p:spPr>
          <a:xfrm>
            <a:off x="11931588" y="257452"/>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57" name="TextBox 56">
            <a:extLst>
              <a:ext uri="{FF2B5EF4-FFF2-40B4-BE49-F238E27FC236}">
                <a16:creationId xmlns:a16="http://schemas.microsoft.com/office/drawing/2014/main" id="{AA354EEE-AED3-7FAC-224B-A15B7E22A347}"/>
              </a:ext>
            </a:extLst>
          </p:cNvPr>
          <p:cNvSpPr txBox="1"/>
          <p:nvPr/>
        </p:nvSpPr>
        <p:spPr>
          <a:xfrm>
            <a:off x="12055876" y="408373"/>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58" name="TextBox 57">
            <a:extLst>
              <a:ext uri="{FF2B5EF4-FFF2-40B4-BE49-F238E27FC236}">
                <a16:creationId xmlns:a16="http://schemas.microsoft.com/office/drawing/2014/main" id="{D970092A-F1CE-A455-691E-082F3ED31137}"/>
              </a:ext>
            </a:extLst>
          </p:cNvPr>
          <p:cNvSpPr txBox="1"/>
          <p:nvPr/>
        </p:nvSpPr>
        <p:spPr>
          <a:xfrm>
            <a:off x="10422384" y="177553"/>
            <a:ext cx="0" cy="0"/>
          </a:xfrm>
          <a:prstGeom prst="rect">
            <a:avLst/>
          </a:prstGeom>
          <a:noFill/>
        </p:spPr>
        <p:txBody>
          <a:bodyPr wrap="none" lIns="0" tIns="0" rIns="0" bIns="0" rtlCol="0">
            <a:noAutofit/>
          </a:bodyPr>
          <a:lstStyle/>
          <a:p>
            <a:endParaRPr lang="en-PL" sz="1700" dirty="0" err="1">
              <a:solidFill>
                <a:schemeClr val="tx2"/>
              </a:solidFill>
            </a:endParaRPr>
          </a:p>
        </p:txBody>
      </p:sp>
    </p:spTree>
    <p:extLst>
      <p:ext uri="{BB962C8B-B14F-4D97-AF65-F5344CB8AC3E}">
        <p14:creationId xmlns:p14="http://schemas.microsoft.com/office/powerpoint/2010/main" val="194675331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DA8E-CA61-8981-4998-1B2C4594EA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EF0780-D3F5-3F7C-AA31-97660F29F456}"/>
              </a:ext>
            </a:extLst>
          </p:cNvPr>
          <p:cNvSpPr>
            <a:spLocks noGrp="1"/>
          </p:cNvSpPr>
          <p:nvPr>
            <p:ph type="sldNum" sz="quarter" idx="12"/>
          </p:nvPr>
        </p:nvSpPr>
        <p:spPr/>
        <p:txBody>
          <a:bodyPr/>
          <a:lstStyle/>
          <a:p>
            <a:fld id="{F01A0BEF-C76D-43A2-874C-09A8674B0D74}" type="slidenum">
              <a:rPr lang="en-GB" smtClean="0"/>
              <a:t>6</a:t>
            </a:fld>
            <a:endParaRPr lang="en-GB"/>
          </a:p>
        </p:txBody>
      </p:sp>
      <p:sp>
        <p:nvSpPr>
          <p:cNvPr id="8" name="Text 4">
            <a:extLst>
              <a:ext uri="{FF2B5EF4-FFF2-40B4-BE49-F238E27FC236}">
                <a16:creationId xmlns:a16="http://schemas.microsoft.com/office/drawing/2014/main" id="{4DFF9E30-8C6C-854A-7AE7-8305A0563383}"/>
              </a:ext>
            </a:extLst>
          </p:cNvPr>
          <p:cNvSpPr txBox="1"/>
          <p:nvPr/>
        </p:nvSpPr>
        <p:spPr>
          <a:xfrm>
            <a:off x="609905" y="914400"/>
            <a:ext cx="11163910" cy="762610"/>
          </a:xfrm>
          <a:prstGeom prst="rect">
            <a:avLst/>
          </a:prstGeom>
          <a:noFill/>
          <a:ln/>
        </p:spPr>
        <p:txBody>
          <a:bodyPr wrap="square" lIns="0" tIns="0" rIns="0" bIns="0" rtlCol="0" anchor="ctr"/>
          <a:lstStyle/>
          <a:p>
            <a:pPr marL="0" indent="0" algn="l">
              <a:buNone/>
            </a:pPr>
            <a:r>
              <a:rPr lang="en-US" sz="5400" b="1" kern="0" spc="75" dirty="0">
                <a:solidFill>
                  <a:srgbClr val="091044"/>
                </a:solidFill>
                <a:latin typeface="Roboto Condensed" pitchFamily="34" charset="0"/>
                <a:ea typeface="Roboto Condensed" pitchFamily="34" charset="-122"/>
                <a:cs typeface="Roboto Condensed" pitchFamily="34" charset="-120"/>
              </a:rPr>
              <a:t>RUNTIME CONTROLS</a:t>
            </a:r>
            <a:endParaRPr lang="en-US" sz="5400" dirty="0">
              <a:solidFill>
                <a:srgbClr val="091044"/>
              </a:solidFill>
            </a:endParaRPr>
          </a:p>
        </p:txBody>
      </p:sp>
      <p:sp>
        <p:nvSpPr>
          <p:cNvPr id="9" name="Text 5">
            <a:extLst>
              <a:ext uri="{FF2B5EF4-FFF2-40B4-BE49-F238E27FC236}">
                <a16:creationId xmlns:a16="http://schemas.microsoft.com/office/drawing/2014/main" id="{F267686F-7C56-27C4-C769-171BC4704E7F}"/>
              </a:ext>
            </a:extLst>
          </p:cNvPr>
          <p:cNvSpPr txBox="1"/>
          <p:nvPr/>
        </p:nvSpPr>
        <p:spPr>
          <a:xfrm>
            <a:off x="609905" y="1744675"/>
            <a:ext cx="11087100" cy="267005"/>
          </a:xfrm>
          <a:prstGeom prst="rect">
            <a:avLst/>
          </a:prstGeom>
          <a:noFill/>
          <a:ln/>
        </p:spPr>
        <p:txBody>
          <a:bodyPr wrap="square" lIns="0" tIns="0" rIns="0" bIns="0" rtlCol="0" anchor="ctr"/>
          <a:lstStyle/>
          <a:p>
            <a:pPr marL="0" indent="0" algn="l">
              <a:buNone/>
            </a:pPr>
            <a:r>
              <a:rPr lang="en-US" sz="1300" dirty="0">
                <a:solidFill>
                  <a:srgbClr val="4B5563"/>
                </a:solidFill>
                <a:latin typeface="Raleway" pitchFamily="34" charset="0"/>
                <a:ea typeface="Raleway" pitchFamily="34" charset="-122"/>
                <a:cs typeface="Raleway" pitchFamily="34" charset="-120"/>
              </a:rPr>
              <a:t>Configure API targets, data sources, and local API settings for the demo</a:t>
            </a:r>
            <a:endParaRPr lang="en-US" sz="1300" dirty="0"/>
          </a:p>
        </p:txBody>
      </p:sp>
      <p:sp>
        <p:nvSpPr>
          <p:cNvPr id="10" name="Shape 6">
            <a:extLst>
              <a:ext uri="{FF2B5EF4-FFF2-40B4-BE49-F238E27FC236}">
                <a16:creationId xmlns:a16="http://schemas.microsoft.com/office/drawing/2014/main" id="{5A63D4EE-B440-07E2-A715-0D52B73134EE}"/>
              </a:ext>
            </a:extLst>
          </p:cNvPr>
          <p:cNvSpPr/>
          <p:nvPr/>
        </p:nvSpPr>
        <p:spPr>
          <a:xfrm>
            <a:off x="609905" y="2316175"/>
            <a:ext cx="5372100" cy="895198"/>
          </a:xfrm>
          <a:prstGeom prst="roundRect">
            <a:avLst>
              <a:gd name="adj" fmla="val 26080"/>
            </a:avLst>
          </a:prstGeom>
          <a:solidFill>
            <a:srgbClr val="FFFFFF"/>
          </a:solidFill>
          <a:ln w="12700">
            <a:solidFill>
              <a:srgbClr val="E2E8F0"/>
            </a:solidFill>
            <a:prstDash val="solid"/>
          </a:ln>
        </p:spPr>
        <p:txBody>
          <a:bodyPr/>
          <a:lstStyle/>
          <a:p>
            <a:endParaRPr lang="en-US"/>
          </a:p>
        </p:txBody>
      </p:sp>
      <p:sp>
        <p:nvSpPr>
          <p:cNvPr id="11" name="Shape 7">
            <a:extLst>
              <a:ext uri="{FF2B5EF4-FFF2-40B4-BE49-F238E27FC236}">
                <a16:creationId xmlns:a16="http://schemas.microsoft.com/office/drawing/2014/main" id="{50D5CB4F-BFF8-7A58-DD96-7C092C0E7610}"/>
              </a:ext>
            </a:extLst>
          </p:cNvPr>
          <p:cNvSpPr/>
          <p:nvPr/>
        </p:nvSpPr>
        <p:spPr>
          <a:xfrm>
            <a:off x="809244" y="2516429"/>
            <a:ext cx="457200" cy="457200"/>
          </a:xfrm>
          <a:prstGeom prst="roundRect">
            <a:avLst>
              <a:gd name="adj" fmla="val 66667"/>
            </a:avLst>
          </a:prstGeom>
          <a:solidFill>
            <a:srgbClr val="EFF6FF"/>
          </a:solidFill>
          <a:ln w="12700">
            <a:solidFill>
              <a:srgbClr val="FFFFFF">
                <a:alpha val="0"/>
              </a:srgbClr>
            </a:solidFill>
            <a:prstDash val="solid"/>
          </a:ln>
        </p:spPr>
        <p:txBody>
          <a:bodyPr/>
          <a:lstStyle/>
          <a:p>
            <a:endParaRPr lang="en-US"/>
          </a:p>
        </p:txBody>
      </p:sp>
      <p:pic>
        <p:nvPicPr>
          <p:cNvPr id="12" name="Image 2" descr="preencoded.png">
            <a:extLst>
              <a:ext uri="{FF2B5EF4-FFF2-40B4-BE49-F238E27FC236}">
                <a16:creationId xmlns:a16="http://schemas.microsoft.com/office/drawing/2014/main" id="{FD875CD4-12D8-D91A-A378-A566C074D7B8}"/>
              </a:ext>
            </a:extLst>
          </p:cNvPr>
          <p:cNvPicPr>
            <a:picLocks noChangeAspect="1"/>
          </p:cNvPicPr>
          <p:nvPr/>
        </p:nvPicPr>
        <p:blipFill>
          <a:blip r:embed="rId3"/>
          <a:srcRect/>
          <a:stretch/>
        </p:blipFill>
        <p:spPr>
          <a:xfrm>
            <a:off x="942746" y="2649931"/>
            <a:ext cx="190195" cy="190195"/>
          </a:xfrm>
          <a:prstGeom prst="rect">
            <a:avLst/>
          </a:prstGeom>
        </p:spPr>
      </p:pic>
      <p:sp>
        <p:nvSpPr>
          <p:cNvPr id="13" name="Text 8">
            <a:extLst>
              <a:ext uri="{FF2B5EF4-FFF2-40B4-BE49-F238E27FC236}">
                <a16:creationId xmlns:a16="http://schemas.microsoft.com/office/drawing/2014/main" id="{9C093371-1CD5-A812-E7C8-9C3FA075A4EA}"/>
              </a:ext>
            </a:extLst>
          </p:cNvPr>
          <p:cNvSpPr txBox="1"/>
          <p:nvPr/>
        </p:nvSpPr>
        <p:spPr>
          <a:xfrm>
            <a:off x="1419149" y="2516429"/>
            <a:ext cx="759866" cy="228600"/>
          </a:xfrm>
          <a:prstGeom prst="rect">
            <a:avLst/>
          </a:prstGeom>
          <a:noFill/>
          <a:ln/>
        </p:spPr>
        <p:txBody>
          <a:bodyPr wrap="square" lIns="0" tIns="0" rIns="0" bIns="0" rtlCol="0" anchor="ctr"/>
          <a:lstStyle/>
          <a:p>
            <a:pPr marL="0" indent="0" algn="l">
              <a:buNone/>
            </a:pPr>
            <a:r>
              <a:rPr lang="en-US" sz="1200" b="1" dirty="0">
                <a:solidFill>
                  <a:srgbClr val="2D3748"/>
                </a:solidFill>
                <a:latin typeface="Roboto Condensed" pitchFamily="34" charset="0"/>
                <a:ea typeface="Roboto Condensed" pitchFamily="34" charset="-122"/>
                <a:cs typeface="Roboto Condensed" pitchFamily="34" charset="-120"/>
              </a:rPr>
              <a:t>API Target</a:t>
            </a:r>
            <a:endParaRPr lang="en-US" sz="1200" dirty="0"/>
          </a:p>
        </p:txBody>
      </p:sp>
      <p:sp>
        <p:nvSpPr>
          <p:cNvPr id="14" name="Shape 9">
            <a:extLst>
              <a:ext uri="{FF2B5EF4-FFF2-40B4-BE49-F238E27FC236}">
                <a16:creationId xmlns:a16="http://schemas.microsoft.com/office/drawing/2014/main" id="{B8C0F84B-242F-DEE9-D286-99EED283266D}"/>
              </a:ext>
            </a:extLst>
          </p:cNvPr>
          <p:cNvSpPr/>
          <p:nvPr/>
        </p:nvSpPr>
        <p:spPr>
          <a:xfrm>
            <a:off x="5629046" y="2592324"/>
            <a:ext cx="75895" cy="75895"/>
          </a:xfrm>
          <a:prstGeom prst="ellipse">
            <a:avLst/>
          </a:prstGeom>
          <a:solidFill>
            <a:srgbClr val="48BB78"/>
          </a:solidFill>
          <a:ln w="12700">
            <a:solidFill>
              <a:srgbClr val="FFFFFF">
                <a:alpha val="0"/>
              </a:srgbClr>
            </a:solidFill>
            <a:prstDash val="solid"/>
          </a:ln>
        </p:spPr>
        <p:txBody>
          <a:bodyPr/>
          <a:lstStyle/>
          <a:p>
            <a:endParaRPr lang="en-US"/>
          </a:p>
        </p:txBody>
      </p:sp>
      <p:sp>
        <p:nvSpPr>
          <p:cNvPr id="15" name="Text 10">
            <a:extLst>
              <a:ext uri="{FF2B5EF4-FFF2-40B4-BE49-F238E27FC236}">
                <a16:creationId xmlns:a16="http://schemas.microsoft.com/office/drawing/2014/main" id="{361A3D31-4073-59DE-B2C6-C75558B7FF9D}"/>
              </a:ext>
            </a:extLst>
          </p:cNvPr>
          <p:cNvSpPr txBox="1"/>
          <p:nvPr/>
        </p:nvSpPr>
        <p:spPr>
          <a:xfrm>
            <a:off x="1413344" y="2820924"/>
            <a:ext cx="112288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Local API (/api)</a:t>
            </a:r>
            <a:endParaRPr lang="en-US" sz="1000" dirty="0"/>
          </a:p>
        </p:txBody>
      </p:sp>
      <p:sp>
        <p:nvSpPr>
          <p:cNvPr id="16" name="Text 11">
            <a:extLst>
              <a:ext uri="{FF2B5EF4-FFF2-40B4-BE49-F238E27FC236}">
                <a16:creationId xmlns:a16="http://schemas.microsoft.com/office/drawing/2014/main" id="{98FCE675-901C-1EBF-AB39-790370FA2C47}"/>
              </a:ext>
            </a:extLst>
          </p:cNvPr>
          <p:cNvSpPr txBox="1"/>
          <p:nvPr/>
        </p:nvSpPr>
        <p:spPr>
          <a:xfrm>
            <a:off x="2906878" y="2820924"/>
            <a:ext cx="2528316"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Backend Endpoint (localhost:8787)</a:t>
            </a:r>
            <a:endParaRPr lang="en-US" sz="1000" dirty="0"/>
          </a:p>
        </p:txBody>
      </p:sp>
      <p:sp>
        <p:nvSpPr>
          <p:cNvPr id="17" name="Shape 12">
            <a:extLst>
              <a:ext uri="{FF2B5EF4-FFF2-40B4-BE49-F238E27FC236}">
                <a16:creationId xmlns:a16="http://schemas.microsoft.com/office/drawing/2014/main" id="{E0D725A2-B771-C724-9956-ECF06955FD55}"/>
              </a:ext>
            </a:extLst>
          </p:cNvPr>
          <p:cNvSpPr/>
          <p:nvPr/>
        </p:nvSpPr>
        <p:spPr>
          <a:xfrm>
            <a:off x="609905" y="3364078"/>
            <a:ext cx="5372100" cy="895198"/>
          </a:xfrm>
          <a:prstGeom prst="roundRect">
            <a:avLst>
              <a:gd name="adj" fmla="val 26080"/>
            </a:avLst>
          </a:prstGeom>
          <a:solidFill>
            <a:srgbClr val="FFFFFF"/>
          </a:solidFill>
          <a:ln w="12700">
            <a:solidFill>
              <a:srgbClr val="E2E8F0"/>
            </a:solidFill>
            <a:prstDash val="solid"/>
          </a:ln>
        </p:spPr>
        <p:txBody>
          <a:bodyPr/>
          <a:lstStyle/>
          <a:p>
            <a:endParaRPr lang="en-US"/>
          </a:p>
        </p:txBody>
      </p:sp>
      <p:sp>
        <p:nvSpPr>
          <p:cNvPr id="18" name="Shape 13">
            <a:extLst>
              <a:ext uri="{FF2B5EF4-FFF2-40B4-BE49-F238E27FC236}">
                <a16:creationId xmlns:a16="http://schemas.microsoft.com/office/drawing/2014/main" id="{5FF8299B-D7D0-E511-695F-873BD387DCAE}"/>
              </a:ext>
            </a:extLst>
          </p:cNvPr>
          <p:cNvSpPr/>
          <p:nvPr/>
        </p:nvSpPr>
        <p:spPr>
          <a:xfrm>
            <a:off x="809244" y="3564331"/>
            <a:ext cx="457200" cy="457200"/>
          </a:xfrm>
          <a:prstGeom prst="roundRect">
            <a:avLst>
              <a:gd name="adj" fmla="val 66667"/>
            </a:avLst>
          </a:prstGeom>
          <a:solidFill>
            <a:srgbClr val="ECFDF5"/>
          </a:solidFill>
          <a:ln w="12700">
            <a:solidFill>
              <a:srgbClr val="FFFFFF">
                <a:alpha val="0"/>
              </a:srgbClr>
            </a:solidFill>
            <a:prstDash val="solid"/>
          </a:ln>
        </p:spPr>
        <p:txBody>
          <a:bodyPr/>
          <a:lstStyle/>
          <a:p>
            <a:endParaRPr lang="en-US"/>
          </a:p>
        </p:txBody>
      </p:sp>
      <p:pic>
        <p:nvPicPr>
          <p:cNvPr id="19" name="Image 3" descr="preencoded.png">
            <a:extLst>
              <a:ext uri="{FF2B5EF4-FFF2-40B4-BE49-F238E27FC236}">
                <a16:creationId xmlns:a16="http://schemas.microsoft.com/office/drawing/2014/main" id="{055898F7-48C5-3BD7-EC76-83DF251045AF}"/>
              </a:ext>
            </a:extLst>
          </p:cNvPr>
          <p:cNvPicPr>
            <a:picLocks noChangeAspect="1"/>
          </p:cNvPicPr>
          <p:nvPr/>
        </p:nvPicPr>
        <p:blipFill>
          <a:blip r:embed="rId4"/>
          <a:srcRect l="-1648" r="-1648"/>
          <a:stretch/>
        </p:blipFill>
        <p:spPr>
          <a:xfrm>
            <a:off x="952805" y="3697834"/>
            <a:ext cx="171907" cy="190195"/>
          </a:xfrm>
          <a:prstGeom prst="rect">
            <a:avLst/>
          </a:prstGeom>
        </p:spPr>
      </p:pic>
      <p:sp>
        <p:nvSpPr>
          <p:cNvPr id="20" name="Text 14">
            <a:extLst>
              <a:ext uri="{FF2B5EF4-FFF2-40B4-BE49-F238E27FC236}">
                <a16:creationId xmlns:a16="http://schemas.microsoft.com/office/drawing/2014/main" id="{68F8CA7C-CAC2-F053-877C-138E6BBFE000}"/>
              </a:ext>
            </a:extLst>
          </p:cNvPr>
          <p:cNvSpPr txBox="1"/>
          <p:nvPr/>
        </p:nvSpPr>
        <p:spPr>
          <a:xfrm>
            <a:off x="1419149" y="3564331"/>
            <a:ext cx="884225" cy="228600"/>
          </a:xfrm>
          <a:prstGeom prst="rect">
            <a:avLst/>
          </a:prstGeom>
          <a:noFill/>
          <a:ln/>
        </p:spPr>
        <p:txBody>
          <a:bodyPr wrap="square" lIns="0" tIns="0" rIns="0" bIns="0" rtlCol="0" anchor="ctr"/>
          <a:lstStyle/>
          <a:p>
            <a:pPr marL="0" indent="0" algn="l">
              <a:buNone/>
            </a:pPr>
            <a:r>
              <a:rPr lang="en-US" sz="1200" b="1" dirty="0">
                <a:solidFill>
                  <a:srgbClr val="2D3748"/>
                </a:solidFill>
                <a:latin typeface="Roboto Condensed" pitchFamily="34" charset="0"/>
                <a:ea typeface="Roboto Condensed" pitchFamily="34" charset="-122"/>
                <a:cs typeface="Roboto Condensed" pitchFamily="34" charset="-120"/>
              </a:rPr>
              <a:t>Data Source</a:t>
            </a:r>
            <a:endParaRPr lang="en-US" sz="1200" dirty="0"/>
          </a:p>
        </p:txBody>
      </p:sp>
      <p:sp>
        <p:nvSpPr>
          <p:cNvPr id="21" name="Shape 15">
            <a:extLst>
              <a:ext uri="{FF2B5EF4-FFF2-40B4-BE49-F238E27FC236}">
                <a16:creationId xmlns:a16="http://schemas.microsoft.com/office/drawing/2014/main" id="{8F6750A9-0E8F-50B9-AEEE-01B17B232260}"/>
              </a:ext>
            </a:extLst>
          </p:cNvPr>
          <p:cNvSpPr/>
          <p:nvPr/>
        </p:nvSpPr>
        <p:spPr>
          <a:xfrm>
            <a:off x="5629046" y="3640226"/>
            <a:ext cx="75895" cy="75895"/>
          </a:xfrm>
          <a:prstGeom prst="ellipse">
            <a:avLst/>
          </a:prstGeom>
          <a:solidFill>
            <a:srgbClr val="48BB78"/>
          </a:solidFill>
          <a:ln w="12700">
            <a:solidFill>
              <a:srgbClr val="FFFFFF">
                <a:alpha val="0"/>
              </a:srgbClr>
            </a:solidFill>
            <a:prstDash val="solid"/>
          </a:ln>
        </p:spPr>
        <p:txBody>
          <a:bodyPr/>
          <a:lstStyle/>
          <a:p>
            <a:endParaRPr lang="en-US"/>
          </a:p>
        </p:txBody>
      </p:sp>
      <p:sp>
        <p:nvSpPr>
          <p:cNvPr id="22" name="Text 16">
            <a:extLst>
              <a:ext uri="{FF2B5EF4-FFF2-40B4-BE49-F238E27FC236}">
                <a16:creationId xmlns:a16="http://schemas.microsoft.com/office/drawing/2014/main" id="{132BB15C-FF04-2485-58E1-6C24976238E5}"/>
              </a:ext>
            </a:extLst>
          </p:cNvPr>
          <p:cNvSpPr txBox="1"/>
          <p:nvPr/>
        </p:nvSpPr>
        <p:spPr>
          <a:xfrm>
            <a:off x="1410005" y="3868826"/>
            <a:ext cx="107716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MSW Intercept</a:t>
            </a:r>
            <a:endParaRPr lang="en-US" sz="1000" dirty="0"/>
          </a:p>
        </p:txBody>
      </p:sp>
      <p:sp>
        <p:nvSpPr>
          <p:cNvPr id="23" name="Text 17">
            <a:extLst>
              <a:ext uri="{FF2B5EF4-FFF2-40B4-BE49-F238E27FC236}">
                <a16:creationId xmlns:a16="http://schemas.microsoft.com/office/drawing/2014/main" id="{84E166F9-4A6C-2E73-0190-5CACE191C385}"/>
              </a:ext>
            </a:extLst>
          </p:cNvPr>
          <p:cNvSpPr txBox="1"/>
          <p:nvPr/>
        </p:nvSpPr>
        <p:spPr>
          <a:xfrm>
            <a:off x="2889504" y="3868826"/>
            <a:ext cx="1360627"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Bypass to Real API</a:t>
            </a:r>
            <a:endParaRPr lang="en-US" sz="1000" dirty="0"/>
          </a:p>
        </p:txBody>
      </p:sp>
      <p:sp>
        <p:nvSpPr>
          <p:cNvPr id="24" name="Shape 18">
            <a:extLst>
              <a:ext uri="{FF2B5EF4-FFF2-40B4-BE49-F238E27FC236}">
                <a16:creationId xmlns:a16="http://schemas.microsoft.com/office/drawing/2014/main" id="{C1E9344A-721D-D004-DB0B-653971C537E9}"/>
              </a:ext>
            </a:extLst>
          </p:cNvPr>
          <p:cNvSpPr/>
          <p:nvPr/>
        </p:nvSpPr>
        <p:spPr>
          <a:xfrm>
            <a:off x="609905" y="4411980"/>
            <a:ext cx="5372100" cy="895198"/>
          </a:xfrm>
          <a:prstGeom prst="roundRect">
            <a:avLst>
              <a:gd name="adj" fmla="val 26080"/>
            </a:avLst>
          </a:prstGeom>
          <a:solidFill>
            <a:srgbClr val="FFFFFF"/>
          </a:solidFill>
          <a:ln w="12700">
            <a:solidFill>
              <a:srgbClr val="E2E8F0"/>
            </a:solidFill>
            <a:prstDash val="solid"/>
          </a:ln>
        </p:spPr>
        <p:txBody>
          <a:bodyPr/>
          <a:lstStyle/>
          <a:p>
            <a:endParaRPr lang="en-US"/>
          </a:p>
        </p:txBody>
      </p:sp>
      <p:sp>
        <p:nvSpPr>
          <p:cNvPr id="25" name="Shape 19">
            <a:extLst>
              <a:ext uri="{FF2B5EF4-FFF2-40B4-BE49-F238E27FC236}">
                <a16:creationId xmlns:a16="http://schemas.microsoft.com/office/drawing/2014/main" id="{52E49850-0302-2FDB-94CE-9DA7A3770080}"/>
              </a:ext>
            </a:extLst>
          </p:cNvPr>
          <p:cNvSpPr/>
          <p:nvPr/>
        </p:nvSpPr>
        <p:spPr>
          <a:xfrm>
            <a:off x="809244" y="4612234"/>
            <a:ext cx="457200" cy="457200"/>
          </a:xfrm>
          <a:prstGeom prst="roundRect">
            <a:avLst>
              <a:gd name="adj" fmla="val 66667"/>
            </a:avLst>
          </a:prstGeom>
          <a:solidFill>
            <a:srgbClr val="F5F3FF"/>
          </a:solidFill>
          <a:ln w="12700">
            <a:solidFill>
              <a:srgbClr val="FFFFFF">
                <a:alpha val="0"/>
              </a:srgbClr>
            </a:solidFill>
            <a:prstDash val="solid"/>
          </a:ln>
        </p:spPr>
        <p:txBody>
          <a:bodyPr/>
          <a:lstStyle/>
          <a:p>
            <a:endParaRPr lang="en-US"/>
          </a:p>
        </p:txBody>
      </p:sp>
      <p:pic>
        <p:nvPicPr>
          <p:cNvPr id="26" name="Image 4" descr="preencoded.png">
            <a:extLst>
              <a:ext uri="{FF2B5EF4-FFF2-40B4-BE49-F238E27FC236}">
                <a16:creationId xmlns:a16="http://schemas.microsoft.com/office/drawing/2014/main" id="{84CF25EF-28B3-7CBE-92A0-7300E4C6AC66}"/>
              </a:ext>
            </a:extLst>
          </p:cNvPr>
          <p:cNvPicPr>
            <a:picLocks noChangeAspect="1"/>
          </p:cNvPicPr>
          <p:nvPr/>
        </p:nvPicPr>
        <p:blipFill>
          <a:blip r:embed="rId5"/>
          <a:srcRect l="-1282" r="-1282"/>
          <a:stretch/>
        </p:blipFill>
        <p:spPr>
          <a:xfrm>
            <a:off x="929030" y="4745736"/>
            <a:ext cx="219456" cy="190195"/>
          </a:xfrm>
          <a:prstGeom prst="rect">
            <a:avLst/>
          </a:prstGeom>
        </p:spPr>
      </p:pic>
      <p:sp>
        <p:nvSpPr>
          <p:cNvPr id="27" name="Text 20">
            <a:extLst>
              <a:ext uri="{FF2B5EF4-FFF2-40B4-BE49-F238E27FC236}">
                <a16:creationId xmlns:a16="http://schemas.microsoft.com/office/drawing/2014/main" id="{7EF488EE-79EA-9A41-B51E-5E8428D23458}"/>
              </a:ext>
            </a:extLst>
          </p:cNvPr>
          <p:cNvSpPr txBox="1"/>
          <p:nvPr/>
        </p:nvSpPr>
        <p:spPr>
          <a:xfrm>
            <a:off x="1419149" y="4612234"/>
            <a:ext cx="1213409" cy="228600"/>
          </a:xfrm>
          <a:prstGeom prst="rect">
            <a:avLst/>
          </a:prstGeom>
          <a:noFill/>
          <a:ln/>
        </p:spPr>
        <p:txBody>
          <a:bodyPr wrap="square" lIns="0" tIns="0" rIns="0" bIns="0" rtlCol="0" anchor="ctr"/>
          <a:lstStyle/>
          <a:p>
            <a:pPr marL="0" indent="0" algn="l">
              <a:buNone/>
            </a:pPr>
            <a:r>
              <a:rPr lang="en-US" sz="1200" b="1" dirty="0">
                <a:solidFill>
                  <a:srgbClr val="2D3748"/>
                </a:solidFill>
                <a:latin typeface="Roboto Condensed" pitchFamily="34" charset="0"/>
                <a:ea typeface="Roboto Condensed" pitchFamily="34" charset="-122"/>
                <a:cs typeface="Roboto Condensed" pitchFamily="34" charset="-120"/>
              </a:rPr>
              <a:t>Local API Toggle</a:t>
            </a:r>
            <a:endParaRPr lang="en-US" sz="1200" dirty="0"/>
          </a:p>
        </p:txBody>
      </p:sp>
      <p:sp>
        <p:nvSpPr>
          <p:cNvPr id="28" name="Shape 21">
            <a:extLst>
              <a:ext uri="{FF2B5EF4-FFF2-40B4-BE49-F238E27FC236}">
                <a16:creationId xmlns:a16="http://schemas.microsoft.com/office/drawing/2014/main" id="{8E30E6C3-8F57-4276-1EF0-F2456A7426B0}"/>
              </a:ext>
            </a:extLst>
          </p:cNvPr>
          <p:cNvSpPr/>
          <p:nvPr/>
        </p:nvSpPr>
        <p:spPr>
          <a:xfrm>
            <a:off x="5629046" y="4688129"/>
            <a:ext cx="75895" cy="75895"/>
          </a:xfrm>
          <a:prstGeom prst="ellipse">
            <a:avLst/>
          </a:prstGeom>
          <a:solidFill>
            <a:srgbClr val="48BB78"/>
          </a:solidFill>
          <a:ln w="12700">
            <a:solidFill>
              <a:srgbClr val="FFFFFF">
                <a:alpha val="0"/>
              </a:srgbClr>
            </a:solidFill>
            <a:prstDash val="solid"/>
          </a:ln>
        </p:spPr>
        <p:txBody>
          <a:bodyPr/>
          <a:lstStyle/>
          <a:p>
            <a:endParaRPr lang="en-US"/>
          </a:p>
        </p:txBody>
      </p:sp>
      <p:sp>
        <p:nvSpPr>
          <p:cNvPr id="29" name="Text 22">
            <a:extLst>
              <a:ext uri="{FF2B5EF4-FFF2-40B4-BE49-F238E27FC236}">
                <a16:creationId xmlns:a16="http://schemas.microsoft.com/office/drawing/2014/main" id="{9295EA0F-F35D-F564-3955-03A2049DA4B9}"/>
              </a:ext>
            </a:extLst>
          </p:cNvPr>
          <p:cNvSpPr txBox="1"/>
          <p:nvPr/>
        </p:nvSpPr>
        <p:spPr>
          <a:xfrm>
            <a:off x="1410005" y="4916729"/>
            <a:ext cx="1236269"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Enable Local API</a:t>
            </a:r>
            <a:endParaRPr lang="en-US" sz="1000" dirty="0"/>
          </a:p>
        </p:txBody>
      </p:sp>
      <p:sp>
        <p:nvSpPr>
          <p:cNvPr id="30" name="Shape 23">
            <a:extLst>
              <a:ext uri="{FF2B5EF4-FFF2-40B4-BE49-F238E27FC236}">
                <a16:creationId xmlns:a16="http://schemas.microsoft.com/office/drawing/2014/main" id="{FA5CFAB7-9900-A870-41BF-954A16AB1C0F}"/>
              </a:ext>
            </a:extLst>
          </p:cNvPr>
          <p:cNvSpPr/>
          <p:nvPr/>
        </p:nvSpPr>
        <p:spPr>
          <a:xfrm>
            <a:off x="6210605" y="2316175"/>
            <a:ext cx="5372100" cy="1047902"/>
          </a:xfrm>
          <a:prstGeom prst="roundRect">
            <a:avLst>
              <a:gd name="adj" fmla="val 19039"/>
            </a:avLst>
          </a:prstGeom>
          <a:solidFill>
            <a:srgbClr val="FFFFFF"/>
          </a:solidFill>
          <a:ln w="12700">
            <a:solidFill>
              <a:srgbClr val="E2E8F0"/>
            </a:solidFill>
            <a:prstDash val="solid"/>
          </a:ln>
        </p:spPr>
        <p:txBody>
          <a:bodyPr/>
          <a:lstStyle/>
          <a:p>
            <a:endParaRPr lang="en-US"/>
          </a:p>
        </p:txBody>
      </p:sp>
      <p:pic>
        <p:nvPicPr>
          <p:cNvPr id="31" name="Image 5" descr="preencoded.png">
            <a:extLst>
              <a:ext uri="{FF2B5EF4-FFF2-40B4-BE49-F238E27FC236}">
                <a16:creationId xmlns:a16="http://schemas.microsoft.com/office/drawing/2014/main" id="{8B247860-9302-3969-7281-59F807065CBD}"/>
              </a:ext>
            </a:extLst>
          </p:cNvPr>
          <p:cNvPicPr>
            <a:picLocks noChangeAspect="1"/>
          </p:cNvPicPr>
          <p:nvPr/>
        </p:nvPicPr>
        <p:blipFill>
          <a:blip r:embed="rId6"/>
          <a:srcRect/>
          <a:stretch/>
        </p:blipFill>
        <p:spPr>
          <a:xfrm>
            <a:off x="6543446" y="2649931"/>
            <a:ext cx="190195" cy="190195"/>
          </a:xfrm>
          <a:prstGeom prst="rect">
            <a:avLst/>
          </a:prstGeom>
        </p:spPr>
      </p:pic>
      <p:sp>
        <p:nvSpPr>
          <p:cNvPr id="32" name="Text 24">
            <a:extLst>
              <a:ext uri="{FF2B5EF4-FFF2-40B4-BE49-F238E27FC236}">
                <a16:creationId xmlns:a16="http://schemas.microsoft.com/office/drawing/2014/main" id="{C9F455B0-35D0-A855-27B0-6C85629D5405}"/>
              </a:ext>
            </a:extLst>
          </p:cNvPr>
          <p:cNvSpPr txBox="1"/>
          <p:nvPr/>
        </p:nvSpPr>
        <p:spPr>
          <a:xfrm>
            <a:off x="7019849" y="2516429"/>
            <a:ext cx="566928" cy="228600"/>
          </a:xfrm>
          <a:prstGeom prst="rect">
            <a:avLst/>
          </a:prstGeom>
          <a:noFill/>
          <a:ln/>
        </p:spPr>
        <p:txBody>
          <a:bodyPr wrap="square" lIns="0" tIns="0" rIns="0" bIns="0" rtlCol="0" anchor="ctr"/>
          <a:lstStyle/>
          <a:p>
            <a:pPr marL="0" indent="0" algn="l">
              <a:buNone/>
            </a:pPr>
            <a:r>
              <a:rPr lang="en-US" sz="1200" b="1" dirty="0">
                <a:solidFill>
                  <a:srgbClr val="2D3748"/>
                </a:solidFill>
                <a:latin typeface="Roboto Condensed" pitchFamily="34" charset="0"/>
                <a:ea typeface="Roboto Condensed" pitchFamily="34" charset="-122"/>
                <a:cs typeface="Roboto Condensed" pitchFamily="34" charset="-120"/>
              </a:rPr>
              <a:t>Refresh</a:t>
            </a:r>
            <a:endParaRPr lang="en-US" sz="1200" dirty="0"/>
          </a:p>
        </p:txBody>
      </p:sp>
      <p:sp>
        <p:nvSpPr>
          <p:cNvPr id="33" name="Text 25">
            <a:extLst>
              <a:ext uri="{FF2B5EF4-FFF2-40B4-BE49-F238E27FC236}">
                <a16:creationId xmlns:a16="http://schemas.microsoft.com/office/drawing/2014/main" id="{50CF461B-9258-6C6C-40C1-D2DED28B44B3}"/>
              </a:ext>
            </a:extLst>
          </p:cNvPr>
          <p:cNvSpPr txBox="1"/>
          <p:nvPr/>
        </p:nvSpPr>
        <p:spPr>
          <a:xfrm>
            <a:off x="10341864" y="2554834"/>
            <a:ext cx="124724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Manual refresh only</a:t>
            </a:r>
            <a:endParaRPr lang="en-US" sz="900" dirty="0"/>
          </a:p>
        </p:txBody>
      </p:sp>
      <p:sp>
        <p:nvSpPr>
          <p:cNvPr id="34" name="Shape 26">
            <a:extLst>
              <a:ext uri="{FF2B5EF4-FFF2-40B4-BE49-F238E27FC236}">
                <a16:creationId xmlns:a16="http://schemas.microsoft.com/office/drawing/2014/main" id="{9120B9A7-6E4D-6D61-3639-E147A0CDE25B}"/>
              </a:ext>
            </a:extLst>
          </p:cNvPr>
          <p:cNvSpPr/>
          <p:nvPr/>
        </p:nvSpPr>
        <p:spPr>
          <a:xfrm>
            <a:off x="7019849" y="2820924"/>
            <a:ext cx="1324051" cy="342900"/>
          </a:xfrm>
          <a:prstGeom prst="roundRect">
            <a:avLst>
              <a:gd name="adj" fmla="val 88889"/>
            </a:avLst>
          </a:prstGeom>
          <a:solidFill>
            <a:srgbClr val="F3F4F6"/>
          </a:solidFill>
          <a:ln w="12700">
            <a:solidFill>
              <a:srgbClr val="FFFFFF">
                <a:alpha val="0"/>
              </a:srgbClr>
            </a:solidFill>
            <a:prstDash val="solid"/>
          </a:ln>
        </p:spPr>
        <p:txBody>
          <a:bodyPr/>
          <a:lstStyle/>
          <a:p>
            <a:endParaRPr lang="en-US"/>
          </a:p>
        </p:txBody>
      </p:sp>
      <p:pic>
        <p:nvPicPr>
          <p:cNvPr id="35" name="Image 6" descr="preencoded.png">
            <a:extLst>
              <a:ext uri="{FF2B5EF4-FFF2-40B4-BE49-F238E27FC236}">
                <a16:creationId xmlns:a16="http://schemas.microsoft.com/office/drawing/2014/main" id="{7AC1DAAD-8AFD-077A-0180-EA1A7455F36A}"/>
              </a:ext>
            </a:extLst>
          </p:cNvPr>
          <p:cNvPicPr>
            <a:picLocks noChangeAspect="1"/>
          </p:cNvPicPr>
          <p:nvPr/>
        </p:nvPicPr>
        <p:blipFill>
          <a:blip r:embed="rId7"/>
          <a:srcRect/>
          <a:stretch/>
        </p:blipFill>
        <p:spPr>
          <a:xfrm>
            <a:off x="7172554" y="2923337"/>
            <a:ext cx="133502" cy="133502"/>
          </a:xfrm>
          <a:prstGeom prst="rect">
            <a:avLst/>
          </a:prstGeom>
        </p:spPr>
      </p:pic>
      <p:sp>
        <p:nvSpPr>
          <p:cNvPr id="36" name="Text 27">
            <a:extLst>
              <a:ext uri="{FF2B5EF4-FFF2-40B4-BE49-F238E27FC236}">
                <a16:creationId xmlns:a16="http://schemas.microsoft.com/office/drawing/2014/main" id="{6E3A7DF6-9C26-536B-9D23-30B1FDCFB281}"/>
              </a:ext>
            </a:extLst>
          </p:cNvPr>
          <p:cNvSpPr txBox="1"/>
          <p:nvPr/>
        </p:nvSpPr>
        <p:spPr>
          <a:xfrm>
            <a:off x="7305142" y="2916936"/>
            <a:ext cx="963778" cy="152705"/>
          </a:xfrm>
          <a:prstGeom prst="rect">
            <a:avLst/>
          </a:prstGeom>
          <a:noFill/>
          <a:ln/>
        </p:spPr>
        <p:txBody>
          <a:bodyPr wrap="square" lIns="0" tIns="0" rIns="0" bIns="0" rtlCol="0" anchor="ctr"/>
          <a:lstStyle/>
          <a:p>
            <a:pPr marL="0" indent="0" algn="ctr">
              <a:buNone/>
            </a:pPr>
            <a:r>
              <a:rPr lang="en-US" sz="1000" dirty="0">
                <a:solidFill>
                  <a:srgbClr val="000000"/>
                </a:solidFill>
                <a:latin typeface="Raleway" pitchFamily="34" charset="0"/>
                <a:ea typeface="Raleway" pitchFamily="34" charset="-122"/>
                <a:cs typeface="Raleway" pitchFamily="34" charset="-120"/>
              </a:rPr>
              <a:t>Refresh Data</a:t>
            </a:r>
            <a:endParaRPr lang="en-US" sz="1000" dirty="0"/>
          </a:p>
        </p:txBody>
      </p:sp>
      <p:sp>
        <p:nvSpPr>
          <p:cNvPr id="37" name="Shape 28">
            <a:extLst>
              <a:ext uri="{FF2B5EF4-FFF2-40B4-BE49-F238E27FC236}">
                <a16:creationId xmlns:a16="http://schemas.microsoft.com/office/drawing/2014/main" id="{93740D6D-554A-572F-1283-E422BE5C35E1}"/>
              </a:ext>
            </a:extLst>
          </p:cNvPr>
          <p:cNvSpPr/>
          <p:nvPr/>
        </p:nvSpPr>
        <p:spPr>
          <a:xfrm>
            <a:off x="6210605" y="3516782"/>
            <a:ext cx="5372100" cy="1466698"/>
          </a:xfrm>
          <a:prstGeom prst="roundRect">
            <a:avLst>
              <a:gd name="adj" fmla="val 9716"/>
            </a:avLst>
          </a:prstGeom>
          <a:solidFill>
            <a:srgbClr val="FFFFFF"/>
          </a:solidFill>
          <a:ln w="12700">
            <a:solidFill>
              <a:srgbClr val="E2E8F0"/>
            </a:solidFill>
            <a:prstDash val="solid"/>
          </a:ln>
        </p:spPr>
        <p:txBody>
          <a:bodyPr/>
          <a:lstStyle/>
          <a:p>
            <a:endParaRPr lang="en-US"/>
          </a:p>
        </p:txBody>
      </p:sp>
      <p:sp>
        <p:nvSpPr>
          <p:cNvPr id="38" name="Text 29">
            <a:extLst>
              <a:ext uri="{FF2B5EF4-FFF2-40B4-BE49-F238E27FC236}">
                <a16:creationId xmlns:a16="http://schemas.microsoft.com/office/drawing/2014/main" id="{B103E679-E7DA-9F32-19CF-D4E1CE8F02B4}"/>
              </a:ext>
            </a:extLst>
          </p:cNvPr>
          <p:cNvSpPr txBox="1"/>
          <p:nvPr/>
        </p:nvSpPr>
        <p:spPr>
          <a:xfrm>
            <a:off x="6409944" y="3717036"/>
            <a:ext cx="1054303" cy="228600"/>
          </a:xfrm>
          <a:prstGeom prst="rect">
            <a:avLst/>
          </a:prstGeom>
          <a:noFill/>
          <a:ln/>
        </p:spPr>
        <p:txBody>
          <a:bodyPr wrap="square" lIns="0" tIns="0" rIns="0" bIns="0" rtlCol="0" anchor="ctr"/>
          <a:lstStyle/>
          <a:p>
            <a:pPr marL="0" indent="0" algn="l">
              <a:buNone/>
            </a:pPr>
            <a:r>
              <a:rPr lang="en-US" sz="1200" b="1" dirty="0">
                <a:solidFill>
                  <a:srgbClr val="2D3748"/>
                </a:solidFill>
                <a:latin typeface="Roboto Condensed" pitchFamily="34" charset="0"/>
                <a:ea typeface="Roboto Condensed" pitchFamily="34" charset="-122"/>
                <a:cs typeface="Roboto Condensed" pitchFamily="34" charset="-120"/>
              </a:rPr>
              <a:t>Current Status</a:t>
            </a:r>
            <a:endParaRPr lang="en-US" sz="1200" dirty="0"/>
          </a:p>
        </p:txBody>
      </p:sp>
      <p:sp>
        <p:nvSpPr>
          <p:cNvPr id="39" name="Text 30">
            <a:extLst>
              <a:ext uri="{FF2B5EF4-FFF2-40B4-BE49-F238E27FC236}">
                <a16:creationId xmlns:a16="http://schemas.microsoft.com/office/drawing/2014/main" id="{ECC13438-9CFE-3515-1375-BC9773C7D92D}"/>
              </a:ext>
            </a:extLst>
          </p:cNvPr>
          <p:cNvSpPr txBox="1"/>
          <p:nvPr/>
        </p:nvSpPr>
        <p:spPr>
          <a:xfrm>
            <a:off x="11049610" y="3754526"/>
            <a:ext cx="409651"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Active</a:t>
            </a:r>
            <a:endParaRPr lang="en-US" sz="900" dirty="0"/>
          </a:p>
        </p:txBody>
      </p:sp>
      <p:sp>
        <p:nvSpPr>
          <p:cNvPr id="40" name="Text 31">
            <a:extLst>
              <a:ext uri="{FF2B5EF4-FFF2-40B4-BE49-F238E27FC236}">
                <a16:creationId xmlns:a16="http://schemas.microsoft.com/office/drawing/2014/main" id="{CDF45FDB-236A-AB13-8E17-A00D59981C18}"/>
              </a:ext>
            </a:extLst>
          </p:cNvPr>
          <p:cNvSpPr txBox="1"/>
          <p:nvPr/>
        </p:nvSpPr>
        <p:spPr>
          <a:xfrm>
            <a:off x="6409944" y="4059936"/>
            <a:ext cx="1133856"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API Connection</a:t>
            </a:r>
            <a:endParaRPr lang="en-US" sz="1000" dirty="0"/>
          </a:p>
        </p:txBody>
      </p:sp>
      <p:sp>
        <p:nvSpPr>
          <p:cNvPr id="41" name="Text 32">
            <a:extLst>
              <a:ext uri="{FF2B5EF4-FFF2-40B4-BE49-F238E27FC236}">
                <a16:creationId xmlns:a16="http://schemas.microsoft.com/office/drawing/2014/main" id="{C8D87D78-AAB0-C17F-D00A-B9CAF0BA2EEC}"/>
              </a:ext>
            </a:extLst>
          </p:cNvPr>
          <p:cNvSpPr txBox="1"/>
          <p:nvPr/>
        </p:nvSpPr>
        <p:spPr>
          <a:xfrm>
            <a:off x="10699394" y="4059936"/>
            <a:ext cx="762610"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Connected</a:t>
            </a:r>
            <a:endParaRPr lang="en-US" sz="1000" dirty="0"/>
          </a:p>
        </p:txBody>
      </p:sp>
      <p:sp>
        <p:nvSpPr>
          <p:cNvPr id="42" name="Text 33">
            <a:extLst>
              <a:ext uri="{FF2B5EF4-FFF2-40B4-BE49-F238E27FC236}">
                <a16:creationId xmlns:a16="http://schemas.microsoft.com/office/drawing/2014/main" id="{ADB9EA85-E5B9-548A-C545-7E5069B27393}"/>
              </a:ext>
            </a:extLst>
          </p:cNvPr>
          <p:cNvSpPr txBox="1"/>
          <p:nvPr/>
        </p:nvSpPr>
        <p:spPr>
          <a:xfrm>
            <a:off x="6409944" y="4326026"/>
            <a:ext cx="907085"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Data Source</a:t>
            </a:r>
            <a:endParaRPr lang="en-US" sz="1000" dirty="0"/>
          </a:p>
        </p:txBody>
      </p:sp>
      <p:sp>
        <p:nvSpPr>
          <p:cNvPr id="43" name="Text 34">
            <a:extLst>
              <a:ext uri="{FF2B5EF4-FFF2-40B4-BE49-F238E27FC236}">
                <a16:creationId xmlns:a16="http://schemas.microsoft.com/office/drawing/2014/main" id="{B6596F5E-4C7D-8619-D7A1-57F9B02B9B6B}"/>
              </a:ext>
            </a:extLst>
          </p:cNvPr>
          <p:cNvSpPr txBox="1"/>
          <p:nvPr/>
        </p:nvSpPr>
        <p:spPr>
          <a:xfrm>
            <a:off x="10464394" y="4326026"/>
            <a:ext cx="1077163"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MSW Intercept</a:t>
            </a:r>
            <a:endParaRPr lang="en-US" sz="1000" dirty="0"/>
          </a:p>
        </p:txBody>
      </p:sp>
      <p:sp>
        <p:nvSpPr>
          <p:cNvPr id="44" name="Text 35">
            <a:extLst>
              <a:ext uri="{FF2B5EF4-FFF2-40B4-BE49-F238E27FC236}">
                <a16:creationId xmlns:a16="http://schemas.microsoft.com/office/drawing/2014/main" id="{2C5505B5-86C7-2967-B305-14AE16AC653C}"/>
              </a:ext>
            </a:extLst>
          </p:cNvPr>
          <p:cNvSpPr txBox="1"/>
          <p:nvPr/>
        </p:nvSpPr>
        <p:spPr>
          <a:xfrm>
            <a:off x="6409944" y="4593031"/>
            <a:ext cx="68031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Local API</a:t>
            </a:r>
            <a:endParaRPr lang="en-US" sz="1000" dirty="0"/>
          </a:p>
        </p:txBody>
      </p:sp>
      <p:sp>
        <p:nvSpPr>
          <p:cNvPr id="45" name="Text 36">
            <a:extLst>
              <a:ext uri="{FF2B5EF4-FFF2-40B4-BE49-F238E27FC236}">
                <a16:creationId xmlns:a16="http://schemas.microsoft.com/office/drawing/2014/main" id="{319630BC-C9EA-49E4-1408-C9A00B575FF0}"/>
              </a:ext>
            </a:extLst>
          </p:cNvPr>
          <p:cNvSpPr txBox="1"/>
          <p:nvPr/>
        </p:nvSpPr>
        <p:spPr>
          <a:xfrm>
            <a:off x="10871302" y="4593031"/>
            <a:ext cx="590702"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Enabled</a:t>
            </a:r>
            <a:endParaRPr lang="en-US" sz="1000" dirty="0"/>
          </a:p>
        </p:txBody>
      </p:sp>
      <p:sp>
        <p:nvSpPr>
          <p:cNvPr id="46" name="TextBox 45">
            <a:extLst>
              <a:ext uri="{FF2B5EF4-FFF2-40B4-BE49-F238E27FC236}">
                <a16:creationId xmlns:a16="http://schemas.microsoft.com/office/drawing/2014/main" id="{10E45CA0-5917-005B-870A-7D2E27AD1B7E}"/>
              </a:ext>
            </a:extLst>
          </p:cNvPr>
          <p:cNvSpPr txBox="1"/>
          <p:nvPr/>
        </p:nvSpPr>
        <p:spPr>
          <a:xfrm>
            <a:off x="12966492" y="4811843"/>
            <a:ext cx="0" cy="0"/>
          </a:xfrm>
          <a:prstGeom prst="rect">
            <a:avLst/>
          </a:prstGeom>
          <a:noFill/>
        </p:spPr>
        <p:txBody>
          <a:bodyPr wrap="none" lIns="0" tIns="0" rIns="0" bIns="0" rtlCol="0">
            <a:noAutofit/>
          </a:bodyPr>
          <a:lstStyle/>
          <a:p>
            <a:endParaRPr lang="en-PL" sz="1700" dirty="0" err="1">
              <a:solidFill>
                <a:schemeClr val="tx2"/>
              </a:solidFill>
            </a:endParaRPr>
          </a:p>
        </p:txBody>
      </p:sp>
    </p:spTree>
    <p:extLst>
      <p:ext uri="{BB962C8B-B14F-4D97-AF65-F5344CB8AC3E}">
        <p14:creationId xmlns:p14="http://schemas.microsoft.com/office/powerpoint/2010/main" val="19847621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FC3A5-F916-3B69-E99F-CC4555B2ED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0B6263-6750-3727-6B06-2D218CA12F35}"/>
              </a:ext>
            </a:extLst>
          </p:cNvPr>
          <p:cNvSpPr>
            <a:spLocks noGrp="1"/>
          </p:cNvSpPr>
          <p:nvPr>
            <p:ph type="sldNum" sz="quarter" idx="12"/>
          </p:nvPr>
        </p:nvSpPr>
        <p:spPr/>
        <p:txBody>
          <a:bodyPr/>
          <a:lstStyle/>
          <a:p>
            <a:fld id="{F01A0BEF-C76D-43A2-874C-09A8674B0D74}" type="slidenum">
              <a:rPr lang="en-GB" smtClean="0"/>
              <a:t>7</a:t>
            </a:fld>
            <a:endParaRPr lang="en-GB"/>
          </a:p>
        </p:txBody>
      </p:sp>
      <p:grpSp>
        <p:nvGrpSpPr>
          <p:cNvPr id="11" name="Group 10">
            <a:extLst>
              <a:ext uri="{FF2B5EF4-FFF2-40B4-BE49-F238E27FC236}">
                <a16:creationId xmlns:a16="http://schemas.microsoft.com/office/drawing/2014/main" id="{8FC5D994-576D-5BBB-ACA5-A28578183515}"/>
              </a:ext>
            </a:extLst>
          </p:cNvPr>
          <p:cNvGrpSpPr/>
          <p:nvPr/>
        </p:nvGrpSpPr>
        <p:grpSpPr>
          <a:xfrm>
            <a:off x="761695" y="1459382"/>
            <a:ext cx="10668305" cy="3939235"/>
            <a:chOff x="761695" y="609905"/>
            <a:chExt cx="10668305" cy="3939235"/>
          </a:xfrm>
        </p:grpSpPr>
        <p:sp>
          <p:nvSpPr>
            <p:cNvPr id="12" name="Text 5">
              <a:extLst>
                <a:ext uri="{FF2B5EF4-FFF2-40B4-BE49-F238E27FC236}">
                  <a16:creationId xmlns:a16="http://schemas.microsoft.com/office/drawing/2014/main" id="{EA22352A-C43A-EDE5-9C5A-A340672D86C4}"/>
                </a:ext>
              </a:extLst>
            </p:cNvPr>
            <p:cNvSpPr txBox="1"/>
            <p:nvPr/>
          </p:nvSpPr>
          <p:spPr>
            <a:xfrm>
              <a:off x="761695" y="609905"/>
              <a:ext cx="10668305" cy="638251"/>
            </a:xfrm>
            <a:prstGeom prst="rect">
              <a:avLst/>
            </a:prstGeom>
            <a:noFill/>
            <a:ln/>
          </p:spPr>
          <p:txBody>
            <a:bodyPr wrap="square" lIns="0" tIns="0" rIns="0" bIns="0" rtlCol="0" anchor="ctr"/>
            <a:lstStyle/>
            <a:p>
              <a:pPr marL="0" indent="0" algn="l">
                <a:buNone/>
              </a:pPr>
              <a:r>
                <a:rPr lang="en-US" sz="4900" b="1" kern="0" spc="75" dirty="0">
                  <a:solidFill>
                    <a:srgbClr val="091044"/>
                  </a:solidFill>
                  <a:latin typeface="Oswald" pitchFamily="34" charset="0"/>
                  <a:ea typeface="Oswald" pitchFamily="34" charset="-122"/>
                  <a:cs typeface="Oswald" pitchFamily="34" charset="-120"/>
                </a:rPr>
                <a:t>SCENARIO CATALOG USED IN DEMO</a:t>
              </a:r>
              <a:endParaRPr lang="en-US" sz="4900" dirty="0">
                <a:solidFill>
                  <a:srgbClr val="091044"/>
                </a:solidFill>
              </a:endParaRPr>
            </a:p>
          </p:txBody>
        </p:sp>
        <p:sp>
          <p:nvSpPr>
            <p:cNvPr id="13" name="Text 6">
              <a:extLst>
                <a:ext uri="{FF2B5EF4-FFF2-40B4-BE49-F238E27FC236}">
                  <a16:creationId xmlns:a16="http://schemas.microsoft.com/office/drawing/2014/main" id="{D7812E7F-5C21-7177-0B8E-F6C0915EBC06}"/>
                </a:ext>
              </a:extLst>
            </p:cNvPr>
            <p:cNvSpPr txBox="1"/>
            <p:nvPr/>
          </p:nvSpPr>
          <p:spPr>
            <a:xfrm>
              <a:off x="761695" y="1399032"/>
              <a:ext cx="8693201" cy="247802"/>
            </a:xfrm>
            <a:prstGeom prst="rect">
              <a:avLst/>
            </a:prstGeom>
            <a:noFill/>
            <a:ln/>
          </p:spPr>
          <p:txBody>
            <a:bodyPr wrap="square" lIns="0" tIns="0" rIns="0" bIns="0" rtlCol="0" anchor="ctr"/>
            <a:lstStyle/>
            <a:p>
              <a:pPr marL="0" indent="0" algn="l">
                <a:buNone/>
              </a:pPr>
              <a:r>
                <a:rPr lang="en-US" sz="1200" kern="0" spc="22" dirty="0">
                  <a:solidFill>
                    <a:srgbClr val="000000"/>
                  </a:solidFill>
                  <a:latin typeface="Raleway" pitchFamily="34" charset="0"/>
                  <a:ea typeface="Raleway" pitchFamily="34" charset="-122"/>
                  <a:cs typeface="Raleway" pitchFamily="34" charset="-120"/>
                </a:rPr>
                <a:t>Comprehensive test scenarios for validating frontend behavior under various API conditions.</a:t>
              </a:r>
              <a:endParaRPr lang="en-US" sz="1200" dirty="0"/>
            </a:p>
          </p:txBody>
        </p:sp>
        <p:sp>
          <p:nvSpPr>
            <p:cNvPr id="14" name="Shape 7">
              <a:extLst>
                <a:ext uri="{FF2B5EF4-FFF2-40B4-BE49-F238E27FC236}">
                  <a16:creationId xmlns:a16="http://schemas.microsoft.com/office/drawing/2014/main" id="{DAD35B38-0679-6BD0-C1C1-19B3DD803C16}"/>
                </a:ext>
              </a:extLst>
            </p:cNvPr>
            <p:cNvSpPr/>
            <p:nvPr/>
          </p:nvSpPr>
          <p:spPr>
            <a:xfrm>
              <a:off x="761695" y="1795882"/>
              <a:ext cx="5219395" cy="428854"/>
            </a:xfrm>
            <a:prstGeom prst="roundRect">
              <a:avLst>
                <a:gd name="adj" fmla="val 0"/>
              </a:avLst>
            </a:prstGeom>
            <a:solidFill>
              <a:srgbClr val="091044">
                <a:alpha val="13000"/>
              </a:srgbClr>
            </a:solidFill>
            <a:ln/>
          </p:spPr>
          <p:txBody>
            <a:bodyPr/>
            <a:lstStyle/>
            <a:p>
              <a:endParaRPr lang="en-US"/>
            </a:p>
          </p:txBody>
        </p:sp>
        <p:sp>
          <p:nvSpPr>
            <p:cNvPr id="15" name="Shape 8">
              <a:extLst>
                <a:ext uri="{FF2B5EF4-FFF2-40B4-BE49-F238E27FC236}">
                  <a16:creationId xmlns:a16="http://schemas.microsoft.com/office/drawing/2014/main" id="{D1CD1B4B-55CA-C83F-B5C5-4B0871837185}"/>
                </a:ext>
              </a:extLst>
            </p:cNvPr>
            <p:cNvSpPr/>
            <p:nvPr/>
          </p:nvSpPr>
          <p:spPr>
            <a:xfrm>
              <a:off x="761695" y="179588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16" name="Image 3" descr="preencoded.png">
              <a:extLst>
                <a:ext uri="{FF2B5EF4-FFF2-40B4-BE49-F238E27FC236}">
                  <a16:creationId xmlns:a16="http://schemas.microsoft.com/office/drawing/2014/main" id="{CFC76E29-08D4-4416-63DD-772CB66BB1A1}"/>
                </a:ext>
              </a:extLst>
            </p:cNvPr>
            <p:cNvPicPr>
              <a:picLocks noChangeAspect="1"/>
            </p:cNvPicPr>
            <p:nvPr/>
          </p:nvPicPr>
          <p:blipFill>
            <a:blip r:embed="rId3"/>
            <a:srcRect/>
            <a:stretch/>
          </p:blipFill>
          <p:spPr>
            <a:xfrm>
              <a:off x="952805" y="1932127"/>
              <a:ext cx="152705" cy="152705"/>
            </a:xfrm>
            <a:prstGeom prst="rect">
              <a:avLst/>
            </a:prstGeom>
          </p:spPr>
        </p:pic>
        <p:sp>
          <p:nvSpPr>
            <p:cNvPr id="17" name="Text 9">
              <a:extLst>
                <a:ext uri="{FF2B5EF4-FFF2-40B4-BE49-F238E27FC236}">
                  <a16:creationId xmlns:a16="http://schemas.microsoft.com/office/drawing/2014/main" id="{07EADDE0-5632-E5E7-CF99-BCDDAF0E3115}"/>
                </a:ext>
              </a:extLst>
            </p:cNvPr>
            <p:cNvSpPr txBox="1"/>
            <p:nvPr/>
          </p:nvSpPr>
          <p:spPr>
            <a:xfrm>
              <a:off x="1181405" y="1795882"/>
              <a:ext cx="762610"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happy-path</a:t>
              </a:r>
              <a:endParaRPr lang="en-US" sz="1200" dirty="0">
                <a:solidFill>
                  <a:srgbClr val="091044"/>
                </a:solidFill>
              </a:endParaRPr>
            </a:p>
          </p:txBody>
        </p:sp>
        <p:sp>
          <p:nvSpPr>
            <p:cNvPr id="18" name="Text 10">
              <a:extLst>
                <a:ext uri="{FF2B5EF4-FFF2-40B4-BE49-F238E27FC236}">
                  <a16:creationId xmlns:a16="http://schemas.microsoft.com/office/drawing/2014/main" id="{71CAD8CC-2EE2-229B-C0A8-E61D214FEDC4}"/>
                </a:ext>
              </a:extLst>
            </p:cNvPr>
            <p:cNvSpPr txBox="1"/>
            <p:nvPr/>
          </p:nvSpPr>
          <p:spPr>
            <a:xfrm>
              <a:off x="1954987" y="1795882"/>
              <a:ext cx="3086100"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Normal API response with expected data structure</a:t>
              </a:r>
              <a:endParaRPr lang="en-US" sz="1000" dirty="0"/>
            </a:p>
          </p:txBody>
        </p:sp>
        <p:sp>
          <p:nvSpPr>
            <p:cNvPr id="19" name="Shape 11">
              <a:extLst>
                <a:ext uri="{FF2B5EF4-FFF2-40B4-BE49-F238E27FC236}">
                  <a16:creationId xmlns:a16="http://schemas.microsoft.com/office/drawing/2014/main" id="{FDD1CA11-2DB1-97E6-610E-0777ED27EBEC}"/>
                </a:ext>
              </a:extLst>
            </p:cNvPr>
            <p:cNvSpPr/>
            <p:nvPr/>
          </p:nvSpPr>
          <p:spPr>
            <a:xfrm>
              <a:off x="761695" y="2336292"/>
              <a:ext cx="5219395" cy="428854"/>
            </a:xfrm>
            <a:prstGeom prst="roundRect">
              <a:avLst>
                <a:gd name="adj" fmla="val 0"/>
              </a:avLst>
            </a:prstGeom>
            <a:solidFill>
              <a:srgbClr val="091044">
                <a:alpha val="13000"/>
              </a:srgbClr>
            </a:solidFill>
            <a:ln/>
          </p:spPr>
          <p:txBody>
            <a:bodyPr/>
            <a:lstStyle/>
            <a:p>
              <a:endParaRPr lang="en-US"/>
            </a:p>
          </p:txBody>
        </p:sp>
        <p:sp>
          <p:nvSpPr>
            <p:cNvPr id="20" name="Shape 12">
              <a:extLst>
                <a:ext uri="{FF2B5EF4-FFF2-40B4-BE49-F238E27FC236}">
                  <a16:creationId xmlns:a16="http://schemas.microsoft.com/office/drawing/2014/main" id="{B19E67CB-FEF4-3151-2E9C-94768EF3C730}"/>
                </a:ext>
              </a:extLst>
            </p:cNvPr>
            <p:cNvSpPr/>
            <p:nvPr/>
          </p:nvSpPr>
          <p:spPr>
            <a:xfrm>
              <a:off x="761695" y="233629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21" name="Image 4" descr="preencoded.png">
              <a:extLst>
                <a:ext uri="{FF2B5EF4-FFF2-40B4-BE49-F238E27FC236}">
                  <a16:creationId xmlns:a16="http://schemas.microsoft.com/office/drawing/2014/main" id="{B6BF9864-B75D-AEE7-F72A-5D59D9385C1C}"/>
                </a:ext>
              </a:extLst>
            </p:cNvPr>
            <p:cNvPicPr>
              <a:picLocks noChangeAspect="1"/>
            </p:cNvPicPr>
            <p:nvPr/>
          </p:nvPicPr>
          <p:blipFill>
            <a:blip r:embed="rId4"/>
            <a:srcRect/>
            <a:stretch/>
          </p:blipFill>
          <p:spPr>
            <a:xfrm>
              <a:off x="952805" y="2473452"/>
              <a:ext cx="152705" cy="152705"/>
            </a:xfrm>
            <a:prstGeom prst="rect">
              <a:avLst/>
            </a:prstGeom>
          </p:spPr>
        </p:pic>
        <p:sp>
          <p:nvSpPr>
            <p:cNvPr id="22" name="Text 13">
              <a:extLst>
                <a:ext uri="{FF2B5EF4-FFF2-40B4-BE49-F238E27FC236}">
                  <a16:creationId xmlns:a16="http://schemas.microsoft.com/office/drawing/2014/main" id="{1DC617AD-8D48-D9B6-211F-C3CF42CB29DA}"/>
                </a:ext>
              </a:extLst>
            </p:cNvPr>
            <p:cNvSpPr txBox="1"/>
            <p:nvPr/>
          </p:nvSpPr>
          <p:spPr>
            <a:xfrm>
              <a:off x="1181405" y="2336292"/>
              <a:ext cx="523951"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slow-3s</a:t>
              </a:r>
              <a:endParaRPr lang="en-US" sz="1200" dirty="0">
                <a:solidFill>
                  <a:srgbClr val="091044"/>
                </a:solidFill>
              </a:endParaRPr>
            </a:p>
          </p:txBody>
        </p:sp>
        <p:sp>
          <p:nvSpPr>
            <p:cNvPr id="23" name="Text 14">
              <a:extLst>
                <a:ext uri="{FF2B5EF4-FFF2-40B4-BE49-F238E27FC236}">
                  <a16:creationId xmlns:a16="http://schemas.microsoft.com/office/drawing/2014/main" id="{8967EE03-D34D-F217-3021-276771C8BCC8}"/>
                </a:ext>
              </a:extLst>
            </p:cNvPr>
            <p:cNvSpPr txBox="1"/>
            <p:nvPr/>
          </p:nvSpPr>
          <p:spPr>
            <a:xfrm>
              <a:off x="1720901" y="2336292"/>
              <a:ext cx="2438705"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Delayed response to test loading states</a:t>
              </a:r>
              <a:endParaRPr lang="en-US" sz="1000" dirty="0"/>
            </a:p>
          </p:txBody>
        </p:sp>
        <p:sp>
          <p:nvSpPr>
            <p:cNvPr id="24" name="Shape 15">
              <a:extLst>
                <a:ext uri="{FF2B5EF4-FFF2-40B4-BE49-F238E27FC236}">
                  <a16:creationId xmlns:a16="http://schemas.microsoft.com/office/drawing/2014/main" id="{6777F607-1F1C-8C3D-4125-FD5EAE9FE8F4}"/>
                </a:ext>
              </a:extLst>
            </p:cNvPr>
            <p:cNvSpPr/>
            <p:nvPr/>
          </p:nvSpPr>
          <p:spPr>
            <a:xfrm>
              <a:off x="761695" y="2876702"/>
              <a:ext cx="5219395" cy="428854"/>
            </a:xfrm>
            <a:prstGeom prst="roundRect">
              <a:avLst>
                <a:gd name="adj" fmla="val 0"/>
              </a:avLst>
            </a:prstGeom>
            <a:solidFill>
              <a:srgbClr val="091044">
                <a:alpha val="13000"/>
              </a:srgbClr>
            </a:solidFill>
            <a:ln/>
          </p:spPr>
          <p:txBody>
            <a:bodyPr/>
            <a:lstStyle/>
            <a:p>
              <a:endParaRPr lang="en-US"/>
            </a:p>
          </p:txBody>
        </p:sp>
        <p:sp>
          <p:nvSpPr>
            <p:cNvPr id="25" name="Shape 16">
              <a:extLst>
                <a:ext uri="{FF2B5EF4-FFF2-40B4-BE49-F238E27FC236}">
                  <a16:creationId xmlns:a16="http://schemas.microsoft.com/office/drawing/2014/main" id="{2E044CC0-1E90-3748-E456-0E567859FD7E}"/>
                </a:ext>
              </a:extLst>
            </p:cNvPr>
            <p:cNvSpPr/>
            <p:nvPr/>
          </p:nvSpPr>
          <p:spPr>
            <a:xfrm>
              <a:off x="761695" y="287670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26" name="Image 5" descr="preencoded.png">
              <a:extLst>
                <a:ext uri="{FF2B5EF4-FFF2-40B4-BE49-F238E27FC236}">
                  <a16:creationId xmlns:a16="http://schemas.microsoft.com/office/drawing/2014/main" id="{C71B6506-A68E-C3B6-285E-5147A2A85E0A}"/>
                </a:ext>
              </a:extLst>
            </p:cNvPr>
            <p:cNvPicPr>
              <a:picLocks noChangeAspect="1"/>
            </p:cNvPicPr>
            <p:nvPr/>
          </p:nvPicPr>
          <p:blipFill>
            <a:blip r:embed="rId5"/>
            <a:srcRect/>
            <a:stretch/>
          </p:blipFill>
          <p:spPr>
            <a:xfrm>
              <a:off x="952805" y="3013862"/>
              <a:ext cx="152705" cy="152705"/>
            </a:xfrm>
            <a:prstGeom prst="rect">
              <a:avLst/>
            </a:prstGeom>
          </p:spPr>
        </p:pic>
        <p:sp>
          <p:nvSpPr>
            <p:cNvPr id="27" name="Text 17">
              <a:extLst>
                <a:ext uri="{FF2B5EF4-FFF2-40B4-BE49-F238E27FC236}">
                  <a16:creationId xmlns:a16="http://schemas.microsoft.com/office/drawing/2014/main" id="{BC89FA43-1911-42E3-6BD2-6F2E3E885B1D}"/>
                </a:ext>
              </a:extLst>
            </p:cNvPr>
            <p:cNvSpPr txBox="1"/>
            <p:nvPr/>
          </p:nvSpPr>
          <p:spPr>
            <a:xfrm>
              <a:off x="1181405" y="2876702"/>
              <a:ext cx="743407"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server-500</a:t>
              </a:r>
              <a:endParaRPr lang="en-US" sz="1200" dirty="0">
                <a:solidFill>
                  <a:srgbClr val="091044"/>
                </a:solidFill>
              </a:endParaRPr>
            </a:p>
          </p:txBody>
        </p:sp>
        <p:sp>
          <p:nvSpPr>
            <p:cNvPr id="28" name="Text 18">
              <a:extLst>
                <a:ext uri="{FF2B5EF4-FFF2-40B4-BE49-F238E27FC236}">
                  <a16:creationId xmlns:a16="http://schemas.microsoft.com/office/drawing/2014/main" id="{DA4C9413-2AC9-507E-A612-A7D2F745074D}"/>
                </a:ext>
              </a:extLst>
            </p:cNvPr>
            <p:cNvSpPr txBox="1"/>
            <p:nvPr/>
          </p:nvSpPr>
          <p:spPr>
            <a:xfrm>
              <a:off x="1940357" y="2876702"/>
              <a:ext cx="1793138"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Internal server error handling</a:t>
              </a:r>
              <a:endParaRPr lang="en-US" sz="1000" dirty="0"/>
            </a:p>
          </p:txBody>
        </p:sp>
        <p:sp>
          <p:nvSpPr>
            <p:cNvPr id="29" name="Shape 19">
              <a:extLst>
                <a:ext uri="{FF2B5EF4-FFF2-40B4-BE49-F238E27FC236}">
                  <a16:creationId xmlns:a16="http://schemas.microsoft.com/office/drawing/2014/main" id="{E60E4E97-10F3-BA86-9E3C-A62A84A227D8}"/>
                </a:ext>
              </a:extLst>
            </p:cNvPr>
            <p:cNvSpPr/>
            <p:nvPr/>
          </p:nvSpPr>
          <p:spPr>
            <a:xfrm>
              <a:off x="761695" y="3418027"/>
              <a:ext cx="5219395" cy="428854"/>
            </a:xfrm>
            <a:prstGeom prst="roundRect">
              <a:avLst>
                <a:gd name="adj" fmla="val 0"/>
              </a:avLst>
            </a:prstGeom>
            <a:solidFill>
              <a:srgbClr val="091044">
                <a:alpha val="13002"/>
              </a:srgbClr>
            </a:solidFill>
            <a:ln/>
          </p:spPr>
          <p:txBody>
            <a:bodyPr/>
            <a:lstStyle/>
            <a:p>
              <a:endParaRPr lang="en-US" dirty="0"/>
            </a:p>
          </p:txBody>
        </p:sp>
        <p:sp>
          <p:nvSpPr>
            <p:cNvPr id="30" name="Shape 20">
              <a:extLst>
                <a:ext uri="{FF2B5EF4-FFF2-40B4-BE49-F238E27FC236}">
                  <a16:creationId xmlns:a16="http://schemas.microsoft.com/office/drawing/2014/main" id="{5FF11A7C-8912-52B4-99A6-9518D493FB93}"/>
                </a:ext>
              </a:extLst>
            </p:cNvPr>
            <p:cNvSpPr/>
            <p:nvPr/>
          </p:nvSpPr>
          <p:spPr>
            <a:xfrm>
              <a:off x="761695" y="3418027"/>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31" name="Image 6" descr="preencoded.png">
              <a:extLst>
                <a:ext uri="{FF2B5EF4-FFF2-40B4-BE49-F238E27FC236}">
                  <a16:creationId xmlns:a16="http://schemas.microsoft.com/office/drawing/2014/main" id="{139A7053-DD70-4A6A-0CF5-0DC1A1448504}"/>
                </a:ext>
              </a:extLst>
            </p:cNvPr>
            <p:cNvPicPr>
              <a:picLocks noChangeAspect="1"/>
            </p:cNvPicPr>
            <p:nvPr/>
          </p:nvPicPr>
          <p:blipFill>
            <a:blip r:embed="rId6"/>
            <a:srcRect t="-180" b="-180"/>
            <a:stretch/>
          </p:blipFill>
          <p:spPr>
            <a:xfrm>
              <a:off x="952805" y="3555187"/>
              <a:ext cx="190195" cy="152705"/>
            </a:xfrm>
            <a:prstGeom prst="rect">
              <a:avLst/>
            </a:prstGeom>
          </p:spPr>
        </p:pic>
        <p:sp>
          <p:nvSpPr>
            <p:cNvPr id="32" name="Text 21">
              <a:extLst>
                <a:ext uri="{FF2B5EF4-FFF2-40B4-BE49-F238E27FC236}">
                  <a16:creationId xmlns:a16="http://schemas.microsoft.com/office/drawing/2014/main" id="{36DCC2D4-BA96-9452-DF2A-2602C2C7DBBE}"/>
                </a:ext>
              </a:extLst>
            </p:cNvPr>
            <p:cNvSpPr txBox="1"/>
            <p:nvPr/>
          </p:nvSpPr>
          <p:spPr>
            <a:xfrm>
              <a:off x="1218895" y="3418027"/>
              <a:ext cx="933602"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network-error</a:t>
              </a:r>
              <a:endParaRPr lang="en-US" sz="1200" dirty="0">
                <a:solidFill>
                  <a:srgbClr val="091044"/>
                </a:solidFill>
              </a:endParaRPr>
            </a:p>
          </p:txBody>
        </p:sp>
        <p:sp>
          <p:nvSpPr>
            <p:cNvPr id="33" name="Text 22">
              <a:extLst>
                <a:ext uri="{FF2B5EF4-FFF2-40B4-BE49-F238E27FC236}">
                  <a16:creationId xmlns:a16="http://schemas.microsoft.com/office/drawing/2014/main" id="{2A914FD5-DF4B-D920-774D-F2352E8B9C1D}"/>
                </a:ext>
              </a:extLst>
            </p:cNvPr>
            <p:cNvSpPr txBox="1"/>
            <p:nvPr/>
          </p:nvSpPr>
          <p:spPr>
            <a:xfrm>
              <a:off x="2168042" y="3418027"/>
              <a:ext cx="2400300"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Network connectivity failure simulation</a:t>
              </a:r>
              <a:endParaRPr lang="en-US" sz="1000" dirty="0"/>
            </a:p>
          </p:txBody>
        </p:sp>
        <p:sp>
          <p:nvSpPr>
            <p:cNvPr id="34" name="Shape 23">
              <a:extLst>
                <a:ext uri="{FF2B5EF4-FFF2-40B4-BE49-F238E27FC236}">
                  <a16:creationId xmlns:a16="http://schemas.microsoft.com/office/drawing/2014/main" id="{5DBD218D-2490-E220-A9C8-60DB938C067E}"/>
                </a:ext>
              </a:extLst>
            </p:cNvPr>
            <p:cNvSpPr/>
            <p:nvPr/>
          </p:nvSpPr>
          <p:spPr>
            <a:xfrm>
              <a:off x="6210605" y="1795882"/>
              <a:ext cx="5219395" cy="428854"/>
            </a:xfrm>
            <a:prstGeom prst="roundRect">
              <a:avLst>
                <a:gd name="adj" fmla="val 0"/>
              </a:avLst>
            </a:prstGeom>
            <a:solidFill>
              <a:srgbClr val="091044">
                <a:alpha val="13000"/>
              </a:srgbClr>
            </a:solidFill>
            <a:ln/>
          </p:spPr>
          <p:txBody>
            <a:bodyPr/>
            <a:lstStyle/>
            <a:p>
              <a:endParaRPr lang="en-US"/>
            </a:p>
          </p:txBody>
        </p:sp>
        <p:sp>
          <p:nvSpPr>
            <p:cNvPr id="35" name="Shape 24">
              <a:extLst>
                <a:ext uri="{FF2B5EF4-FFF2-40B4-BE49-F238E27FC236}">
                  <a16:creationId xmlns:a16="http://schemas.microsoft.com/office/drawing/2014/main" id="{661D045D-DD2F-B9D9-51DE-7EF3AD038ECC}"/>
                </a:ext>
              </a:extLst>
            </p:cNvPr>
            <p:cNvSpPr/>
            <p:nvPr/>
          </p:nvSpPr>
          <p:spPr>
            <a:xfrm>
              <a:off x="6210605" y="179588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36" name="Image 7" descr="preencoded.png">
              <a:extLst>
                <a:ext uri="{FF2B5EF4-FFF2-40B4-BE49-F238E27FC236}">
                  <a16:creationId xmlns:a16="http://schemas.microsoft.com/office/drawing/2014/main" id="{F099ADB0-32C2-9701-17C8-238232925E89}"/>
                </a:ext>
              </a:extLst>
            </p:cNvPr>
            <p:cNvPicPr>
              <a:picLocks noChangeAspect="1"/>
            </p:cNvPicPr>
            <p:nvPr/>
          </p:nvPicPr>
          <p:blipFill>
            <a:blip r:embed="rId7"/>
            <a:srcRect/>
            <a:stretch/>
          </p:blipFill>
          <p:spPr>
            <a:xfrm>
              <a:off x="6400800" y="1932127"/>
              <a:ext cx="152705" cy="152705"/>
            </a:xfrm>
            <a:prstGeom prst="rect">
              <a:avLst/>
            </a:prstGeom>
          </p:spPr>
        </p:pic>
        <p:sp>
          <p:nvSpPr>
            <p:cNvPr id="37" name="Text 25">
              <a:extLst>
                <a:ext uri="{FF2B5EF4-FFF2-40B4-BE49-F238E27FC236}">
                  <a16:creationId xmlns:a16="http://schemas.microsoft.com/office/drawing/2014/main" id="{33592352-5F05-892C-AD26-50E4B215F37D}"/>
                </a:ext>
              </a:extLst>
            </p:cNvPr>
            <p:cNvSpPr txBox="1"/>
            <p:nvPr/>
          </p:nvSpPr>
          <p:spPr>
            <a:xfrm>
              <a:off x="6629400" y="1795882"/>
              <a:ext cx="848563"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auth-expired</a:t>
              </a:r>
              <a:endParaRPr lang="en-US" sz="1200" dirty="0">
                <a:solidFill>
                  <a:srgbClr val="091044"/>
                </a:solidFill>
              </a:endParaRPr>
            </a:p>
          </p:txBody>
        </p:sp>
        <p:sp>
          <p:nvSpPr>
            <p:cNvPr id="38" name="Text 26">
              <a:extLst>
                <a:ext uri="{FF2B5EF4-FFF2-40B4-BE49-F238E27FC236}">
                  <a16:creationId xmlns:a16="http://schemas.microsoft.com/office/drawing/2014/main" id="{32BF7A9A-CFFB-9C12-FE52-47E0F907AF3A}"/>
                </a:ext>
              </a:extLst>
            </p:cNvPr>
            <p:cNvSpPr txBox="1"/>
            <p:nvPr/>
          </p:nvSpPr>
          <p:spPr>
            <a:xfrm>
              <a:off x="7494422" y="1795882"/>
              <a:ext cx="1942186"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Authentication token expiration</a:t>
              </a:r>
              <a:endParaRPr lang="en-US" sz="1000" dirty="0"/>
            </a:p>
          </p:txBody>
        </p:sp>
        <p:sp>
          <p:nvSpPr>
            <p:cNvPr id="39" name="Shape 27">
              <a:extLst>
                <a:ext uri="{FF2B5EF4-FFF2-40B4-BE49-F238E27FC236}">
                  <a16:creationId xmlns:a16="http://schemas.microsoft.com/office/drawing/2014/main" id="{3B868FA3-7997-E33C-7BDA-145D839BF00E}"/>
                </a:ext>
              </a:extLst>
            </p:cNvPr>
            <p:cNvSpPr/>
            <p:nvPr/>
          </p:nvSpPr>
          <p:spPr>
            <a:xfrm>
              <a:off x="6210605" y="2336292"/>
              <a:ext cx="5219395" cy="428854"/>
            </a:xfrm>
            <a:prstGeom prst="roundRect">
              <a:avLst>
                <a:gd name="adj" fmla="val 0"/>
              </a:avLst>
            </a:prstGeom>
            <a:solidFill>
              <a:srgbClr val="091044">
                <a:alpha val="13000"/>
              </a:srgbClr>
            </a:solidFill>
            <a:ln/>
          </p:spPr>
          <p:txBody>
            <a:bodyPr/>
            <a:lstStyle/>
            <a:p>
              <a:endParaRPr lang="en-US"/>
            </a:p>
          </p:txBody>
        </p:sp>
        <p:sp>
          <p:nvSpPr>
            <p:cNvPr id="40" name="Shape 28">
              <a:extLst>
                <a:ext uri="{FF2B5EF4-FFF2-40B4-BE49-F238E27FC236}">
                  <a16:creationId xmlns:a16="http://schemas.microsoft.com/office/drawing/2014/main" id="{FEB21B60-3835-B3B6-4514-269568F1517A}"/>
                </a:ext>
              </a:extLst>
            </p:cNvPr>
            <p:cNvSpPr/>
            <p:nvPr/>
          </p:nvSpPr>
          <p:spPr>
            <a:xfrm>
              <a:off x="6210605" y="233629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41" name="Image 8" descr="preencoded.png">
              <a:extLst>
                <a:ext uri="{FF2B5EF4-FFF2-40B4-BE49-F238E27FC236}">
                  <a16:creationId xmlns:a16="http://schemas.microsoft.com/office/drawing/2014/main" id="{18007C41-CCCA-9BAA-46F9-86037499AB24}"/>
                </a:ext>
              </a:extLst>
            </p:cNvPr>
            <p:cNvPicPr>
              <a:picLocks noChangeAspect="1"/>
            </p:cNvPicPr>
            <p:nvPr/>
          </p:nvPicPr>
          <p:blipFill>
            <a:blip r:embed="rId8"/>
            <a:srcRect l="-33" r="-33"/>
            <a:stretch/>
          </p:blipFill>
          <p:spPr>
            <a:xfrm>
              <a:off x="6400800" y="2473452"/>
              <a:ext cx="171907" cy="152705"/>
            </a:xfrm>
            <a:prstGeom prst="rect">
              <a:avLst/>
            </a:prstGeom>
          </p:spPr>
        </p:pic>
        <p:sp>
          <p:nvSpPr>
            <p:cNvPr id="42" name="Text 29">
              <a:extLst>
                <a:ext uri="{FF2B5EF4-FFF2-40B4-BE49-F238E27FC236}">
                  <a16:creationId xmlns:a16="http://schemas.microsoft.com/office/drawing/2014/main" id="{3A427376-3CF5-289A-7D6E-E57D47385FF2}"/>
                </a:ext>
              </a:extLst>
            </p:cNvPr>
            <p:cNvSpPr txBox="1"/>
            <p:nvPr/>
          </p:nvSpPr>
          <p:spPr>
            <a:xfrm>
              <a:off x="6648602" y="2336292"/>
              <a:ext cx="790956"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partial-data</a:t>
              </a:r>
              <a:endParaRPr lang="en-US" sz="1200" dirty="0">
                <a:solidFill>
                  <a:srgbClr val="091044"/>
                </a:solidFill>
              </a:endParaRPr>
            </a:p>
          </p:txBody>
        </p:sp>
        <p:sp>
          <p:nvSpPr>
            <p:cNvPr id="43" name="Text 30">
              <a:extLst>
                <a:ext uri="{FF2B5EF4-FFF2-40B4-BE49-F238E27FC236}">
                  <a16:creationId xmlns:a16="http://schemas.microsoft.com/office/drawing/2014/main" id="{DBB5095F-8DFB-7D6C-6290-84C4FF7DEF86}"/>
                </a:ext>
              </a:extLst>
            </p:cNvPr>
            <p:cNvSpPr txBox="1"/>
            <p:nvPr/>
          </p:nvSpPr>
          <p:spPr>
            <a:xfrm>
              <a:off x="7456018" y="2336292"/>
              <a:ext cx="1634947"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Incomplete data response</a:t>
              </a:r>
              <a:endParaRPr lang="en-US" sz="1000" dirty="0"/>
            </a:p>
          </p:txBody>
        </p:sp>
        <p:sp>
          <p:nvSpPr>
            <p:cNvPr id="44" name="Shape 31">
              <a:extLst>
                <a:ext uri="{FF2B5EF4-FFF2-40B4-BE49-F238E27FC236}">
                  <a16:creationId xmlns:a16="http://schemas.microsoft.com/office/drawing/2014/main" id="{37258D9D-F6F2-0F24-B4F4-9E4F9121834B}"/>
                </a:ext>
              </a:extLst>
            </p:cNvPr>
            <p:cNvSpPr/>
            <p:nvPr/>
          </p:nvSpPr>
          <p:spPr>
            <a:xfrm>
              <a:off x="6210605" y="2876702"/>
              <a:ext cx="5219395" cy="428854"/>
            </a:xfrm>
            <a:prstGeom prst="roundRect">
              <a:avLst>
                <a:gd name="adj" fmla="val 0"/>
              </a:avLst>
            </a:prstGeom>
            <a:solidFill>
              <a:srgbClr val="091044">
                <a:alpha val="13000"/>
              </a:srgbClr>
            </a:solidFill>
            <a:ln/>
          </p:spPr>
          <p:txBody>
            <a:bodyPr/>
            <a:lstStyle/>
            <a:p>
              <a:endParaRPr lang="en-US"/>
            </a:p>
          </p:txBody>
        </p:sp>
        <p:sp>
          <p:nvSpPr>
            <p:cNvPr id="45" name="Shape 32">
              <a:extLst>
                <a:ext uri="{FF2B5EF4-FFF2-40B4-BE49-F238E27FC236}">
                  <a16:creationId xmlns:a16="http://schemas.microsoft.com/office/drawing/2014/main" id="{2D1ACFAC-6A21-92FE-B055-0726C5F95C56}"/>
                </a:ext>
              </a:extLst>
            </p:cNvPr>
            <p:cNvSpPr/>
            <p:nvPr/>
          </p:nvSpPr>
          <p:spPr>
            <a:xfrm>
              <a:off x="6210605" y="2876702"/>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46" name="Image 9" descr="preencoded.png">
              <a:extLst>
                <a:ext uri="{FF2B5EF4-FFF2-40B4-BE49-F238E27FC236}">
                  <a16:creationId xmlns:a16="http://schemas.microsoft.com/office/drawing/2014/main" id="{6B6C9867-AAB6-E430-CF31-CEA72CE5AF8F}"/>
                </a:ext>
              </a:extLst>
            </p:cNvPr>
            <p:cNvPicPr>
              <a:picLocks noChangeAspect="1"/>
            </p:cNvPicPr>
            <p:nvPr/>
          </p:nvPicPr>
          <p:blipFill>
            <a:blip r:embed="rId9"/>
            <a:srcRect/>
            <a:stretch/>
          </p:blipFill>
          <p:spPr>
            <a:xfrm>
              <a:off x="6400800" y="3013862"/>
              <a:ext cx="152705" cy="152705"/>
            </a:xfrm>
            <a:prstGeom prst="rect">
              <a:avLst/>
            </a:prstGeom>
          </p:spPr>
        </p:pic>
        <p:sp>
          <p:nvSpPr>
            <p:cNvPr id="47" name="Text 33">
              <a:extLst>
                <a:ext uri="{FF2B5EF4-FFF2-40B4-BE49-F238E27FC236}">
                  <a16:creationId xmlns:a16="http://schemas.microsoft.com/office/drawing/2014/main" id="{90EDE11B-8BF5-4A86-3C41-C1949BC8F02C}"/>
                </a:ext>
              </a:extLst>
            </p:cNvPr>
            <p:cNvSpPr txBox="1"/>
            <p:nvPr/>
          </p:nvSpPr>
          <p:spPr>
            <a:xfrm>
              <a:off x="6629400" y="2876702"/>
              <a:ext cx="914400"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contract-drift</a:t>
              </a:r>
              <a:endParaRPr lang="en-US" sz="1200" dirty="0">
                <a:solidFill>
                  <a:srgbClr val="091044"/>
                </a:solidFill>
              </a:endParaRPr>
            </a:p>
          </p:txBody>
        </p:sp>
        <p:sp>
          <p:nvSpPr>
            <p:cNvPr id="48" name="Text 34">
              <a:extLst>
                <a:ext uri="{FF2B5EF4-FFF2-40B4-BE49-F238E27FC236}">
                  <a16:creationId xmlns:a16="http://schemas.microsoft.com/office/drawing/2014/main" id="{BA83CE4F-3D7A-35E7-CF04-DB836251091B}"/>
                </a:ext>
              </a:extLst>
            </p:cNvPr>
            <p:cNvSpPr txBox="1"/>
            <p:nvPr/>
          </p:nvSpPr>
          <p:spPr>
            <a:xfrm>
              <a:off x="7559345" y="2876702"/>
              <a:ext cx="1314907"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API schema changes</a:t>
              </a:r>
              <a:endParaRPr lang="en-US" sz="1000" dirty="0"/>
            </a:p>
          </p:txBody>
        </p:sp>
        <p:sp>
          <p:nvSpPr>
            <p:cNvPr id="49" name="Shape 35">
              <a:extLst>
                <a:ext uri="{FF2B5EF4-FFF2-40B4-BE49-F238E27FC236}">
                  <a16:creationId xmlns:a16="http://schemas.microsoft.com/office/drawing/2014/main" id="{CEBD994E-2CB7-A37E-54F8-DC5E63305F25}"/>
                </a:ext>
              </a:extLst>
            </p:cNvPr>
            <p:cNvSpPr/>
            <p:nvPr/>
          </p:nvSpPr>
          <p:spPr>
            <a:xfrm>
              <a:off x="6210605" y="3418027"/>
              <a:ext cx="5219395" cy="428854"/>
            </a:xfrm>
            <a:prstGeom prst="roundRect">
              <a:avLst>
                <a:gd name="adj" fmla="val 0"/>
              </a:avLst>
            </a:prstGeom>
            <a:solidFill>
              <a:srgbClr val="091044">
                <a:alpha val="13000"/>
              </a:srgbClr>
            </a:solidFill>
            <a:ln/>
          </p:spPr>
          <p:txBody>
            <a:bodyPr/>
            <a:lstStyle/>
            <a:p>
              <a:endParaRPr lang="en-US"/>
            </a:p>
          </p:txBody>
        </p:sp>
        <p:sp>
          <p:nvSpPr>
            <p:cNvPr id="50" name="Shape 36">
              <a:extLst>
                <a:ext uri="{FF2B5EF4-FFF2-40B4-BE49-F238E27FC236}">
                  <a16:creationId xmlns:a16="http://schemas.microsoft.com/office/drawing/2014/main" id="{89646544-2B4A-28A2-3A93-83C6B0CDCE2A}"/>
                </a:ext>
              </a:extLst>
            </p:cNvPr>
            <p:cNvSpPr/>
            <p:nvPr/>
          </p:nvSpPr>
          <p:spPr>
            <a:xfrm>
              <a:off x="6210605" y="3418027"/>
              <a:ext cx="38405" cy="428854"/>
            </a:xfrm>
            <a:prstGeom prst="roundRect">
              <a:avLst>
                <a:gd name="adj" fmla="val 846556"/>
              </a:avLst>
            </a:prstGeom>
            <a:solidFill>
              <a:srgbClr val="000000"/>
            </a:solidFill>
            <a:ln w="12700">
              <a:solidFill>
                <a:srgbClr val="000000">
                  <a:alpha val="0"/>
                </a:srgbClr>
              </a:solidFill>
              <a:prstDash val="solid"/>
            </a:ln>
          </p:spPr>
          <p:txBody>
            <a:bodyPr/>
            <a:lstStyle/>
            <a:p>
              <a:endParaRPr lang="en-US"/>
            </a:p>
          </p:txBody>
        </p:sp>
        <p:pic>
          <p:nvPicPr>
            <p:cNvPr id="51" name="Image 10" descr="preencoded.png">
              <a:extLst>
                <a:ext uri="{FF2B5EF4-FFF2-40B4-BE49-F238E27FC236}">
                  <a16:creationId xmlns:a16="http://schemas.microsoft.com/office/drawing/2014/main" id="{84F7D5BB-DF98-FC5C-0F2D-8C3E63414B19}"/>
                </a:ext>
              </a:extLst>
            </p:cNvPr>
            <p:cNvPicPr>
              <a:picLocks noChangeAspect="1"/>
            </p:cNvPicPr>
            <p:nvPr/>
          </p:nvPicPr>
          <p:blipFill>
            <a:blip r:embed="rId10"/>
            <a:srcRect t="-43" b="-43"/>
            <a:stretch/>
          </p:blipFill>
          <p:spPr>
            <a:xfrm>
              <a:off x="6400800" y="3555187"/>
              <a:ext cx="133502" cy="152705"/>
            </a:xfrm>
            <a:prstGeom prst="rect">
              <a:avLst/>
            </a:prstGeom>
          </p:spPr>
        </p:pic>
        <p:sp>
          <p:nvSpPr>
            <p:cNvPr id="52" name="Text 37">
              <a:extLst>
                <a:ext uri="{FF2B5EF4-FFF2-40B4-BE49-F238E27FC236}">
                  <a16:creationId xmlns:a16="http://schemas.microsoft.com/office/drawing/2014/main" id="{1D88C15E-6F5A-A7F5-43C7-38E56D5355B3}"/>
                </a:ext>
              </a:extLst>
            </p:cNvPr>
            <p:cNvSpPr txBox="1"/>
            <p:nvPr/>
          </p:nvSpPr>
          <p:spPr>
            <a:xfrm>
              <a:off x="6610198" y="3418027"/>
              <a:ext cx="362102" cy="428854"/>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flaky</a:t>
              </a:r>
              <a:endParaRPr lang="en-US" sz="1200" dirty="0">
                <a:solidFill>
                  <a:srgbClr val="091044"/>
                </a:solidFill>
              </a:endParaRPr>
            </a:p>
          </p:txBody>
        </p:sp>
        <p:sp>
          <p:nvSpPr>
            <p:cNvPr id="53" name="Text 38">
              <a:extLst>
                <a:ext uri="{FF2B5EF4-FFF2-40B4-BE49-F238E27FC236}">
                  <a16:creationId xmlns:a16="http://schemas.microsoft.com/office/drawing/2014/main" id="{6558B1D9-DE33-A66E-7B5A-2EE5FF302214}"/>
                </a:ext>
              </a:extLst>
            </p:cNvPr>
            <p:cNvSpPr txBox="1"/>
            <p:nvPr/>
          </p:nvSpPr>
          <p:spPr>
            <a:xfrm>
              <a:off x="6986930" y="3418027"/>
              <a:ext cx="1823314" cy="428854"/>
            </a:xfrm>
            <a:prstGeom prst="rect">
              <a:avLst/>
            </a:prstGeom>
            <a:noFill/>
            <a:ln/>
          </p:spPr>
          <p:txBody>
            <a:bodyPr wrap="square" lIns="0" tIns="0" rIns="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Intermittent response failures</a:t>
              </a:r>
              <a:endParaRPr lang="en-US" sz="1000" dirty="0"/>
            </a:p>
          </p:txBody>
        </p:sp>
        <p:sp>
          <p:nvSpPr>
            <p:cNvPr id="54" name="Shape 39">
              <a:extLst>
                <a:ext uri="{FF2B5EF4-FFF2-40B4-BE49-F238E27FC236}">
                  <a16:creationId xmlns:a16="http://schemas.microsoft.com/office/drawing/2014/main" id="{D5169C9C-71CA-79A3-190B-AB2DB42346C0}"/>
                </a:ext>
              </a:extLst>
            </p:cNvPr>
            <p:cNvSpPr/>
            <p:nvPr/>
          </p:nvSpPr>
          <p:spPr>
            <a:xfrm>
              <a:off x="761695" y="4111142"/>
              <a:ext cx="10668305" cy="437998"/>
            </a:xfrm>
            <a:prstGeom prst="roundRect">
              <a:avLst>
                <a:gd name="adj" fmla="val 72615"/>
              </a:avLst>
            </a:prstGeom>
            <a:solidFill>
              <a:srgbClr val="000000">
                <a:alpha val="5000"/>
              </a:srgbClr>
            </a:solidFill>
            <a:ln w="12700">
              <a:solidFill>
                <a:srgbClr val="FFFFFF">
                  <a:alpha val="0"/>
                </a:srgbClr>
              </a:solidFill>
              <a:prstDash val="solid"/>
            </a:ln>
          </p:spPr>
          <p:txBody>
            <a:bodyPr/>
            <a:lstStyle/>
            <a:p>
              <a:endParaRPr lang="en-US" dirty="0"/>
            </a:p>
          </p:txBody>
        </p:sp>
        <p:sp>
          <p:nvSpPr>
            <p:cNvPr id="55" name="Text 40">
              <a:extLst>
                <a:ext uri="{FF2B5EF4-FFF2-40B4-BE49-F238E27FC236}">
                  <a16:creationId xmlns:a16="http://schemas.microsoft.com/office/drawing/2014/main" id="{FF00AED3-6515-5AA8-A1F3-F5A04B9D3F29}"/>
                </a:ext>
              </a:extLst>
            </p:cNvPr>
            <p:cNvSpPr txBox="1"/>
            <p:nvPr/>
          </p:nvSpPr>
          <p:spPr>
            <a:xfrm>
              <a:off x="914401" y="4225443"/>
              <a:ext cx="10276114" cy="181052"/>
            </a:xfrm>
            <a:prstGeom prst="rect">
              <a:avLst/>
            </a:prstGeom>
            <a:noFill/>
            <a:ln/>
          </p:spPr>
          <p:txBody>
            <a:bodyPr wrap="square" lIns="0" tIns="0" rIns="0" bIns="0" rtlCol="0" anchor="ctr"/>
            <a:lstStyle/>
            <a:p>
              <a:pPr marL="0" indent="0" algn="l">
                <a:buNone/>
              </a:pPr>
              <a:r>
                <a:rPr lang="en-US" sz="1000" b="1" dirty="0">
                  <a:solidFill>
                    <a:srgbClr val="333333"/>
                  </a:solidFill>
                  <a:latin typeface="Raleway" pitchFamily="34" charset="0"/>
                  <a:ea typeface="Raleway" pitchFamily="34" charset="-122"/>
                  <a:cs typeface="Raleway" pitchFamily="34" charset="-120"/>
                </a:rPr>
                <a:t>Note:                                                                                               </a:t>
              </a:r>
              <a:r>
                <a:rPr lang="en-US" sz="1000" dirty="0">
                  <a:solidFill>
                    <a:srgbClr val="333333"/>
                  </a:solidFill>
                  <a:latin typeface="Raleway" pitchFamily="34" charset="0"/>
                  <a:ea typeface="Raleway" pitchFamily="34" charset="-122"/>
                  <a:cs typeface="Raleway" pitchFamily="34" charset="-120"/>
                </a:rPr>
                <a:t>In Bypass mode, the scenario control is                                             to ensure real API responses are used. </a:t>
              </a:r>
              <a:endParaRPr lang="en-US" sz="1000" dirty="0"/>
            </a:p>
          </p:txBody>
        </p:sp>
        <p:sp>
          <p:nvSpPr>
            <p:cNvPr id="56" name="Text 41">
              <a:extLst>
                <a:ext uri="{FF2B5EF4-FFF2-40B4-BE49-F238E27FC236}">
                  <a16:creationId xmlns:a16="http://schemas.microsoft.com/office/drawing/2014/main" id="{54FACFC5-0361-C707-719C-006D8EDDCD8B}"/>
                </a:ext>
              </a:extLst>
            </p:cNvPr>
            <p:cNvSpPr txBox="1"/>
            <p:nvPr/>
          </p:nvSpPr>
          <p:spPr>
            <a:xfrm>
              <a:off x="1218895" y="4234588"/>
              <a:ext cx="2857500" cy="171906"/>
            </a:xfrm>
            <a:prstGeom prst="rect">
              <a:avLst/>
            </a:prstGeom>
            <a:solidFill>
              <a:srgbClr val="FFFF00">
                <a:alpha val="30000"/>
              </a:srgbClr>
            </a:solidFill>
            <a:ln>
              <a:solidFill>
                <a:srgbClr val="FFFFFF">
                  <a:alpha val="0"/>
                </a:srgbClr>
              </a:solidFill>
            </a:ln>
          </p:spPr>
          <p:txBody>
            <a:bodyPr wrap="square" lIns="25400" tIns="0" rIns="2540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Scenario selection is meaningful in MSW mode.</a:t>
              </a:r>
              <a:endParaRPr lang="en-US" sz="1000" dirty="0"/>
            </a:p>
          </p:txBody>
        </p:sp>
        <p:sp>
          <p:nvSpPr>
            <p:cNvPr id="57" name="Text 42">
              <a:extLst>
                <a:ext uri="{FF2B5EF4-FFF2-40B4-BE49-F238E27FC236}">
                  <a16:creationId xmlns:a16="http://schemas.microsoft.com/office/drawing/2014/main" id="{439C23C2-DDA0-ABA6-C18C-E6FC06950DC1}"/>
                </a:ext>
              </a:extLst>
            </p:cNvPr>
            <p:cNvSpPr txBox="1"/>
            <p:nvPr/>
          </p:nvSpPr>
          <p:spPr>
            <a:xfrm>
              <a:off x="6434632" y="4234588"/>
              <a:ext cx="1342340" cy="171906"/>
            </a:xfrm>
            <a:prstGeom prst="rect">
              <a:avLst/>
            </a:prstGeom>
            <a:solidFill>
              <a:srgbClr val="FFFF00">
                <a:alpha val="30000"/>
              </a:srgbClr>
            </a:solidFill>
            <a:ln>
              <a:solidFill>
                <a:srgbClr val="FFFFFF">
                  <a:alpha val="0"/>
                </a:srgbClr>
              </a:solidFill>
            </a:ln>
          </p:spPr>
          <p:txBody>
            <a:bodyPr wrap="square" lIns="25400" tIns="0" rIns="25400" bIns="0" rtlCol="0" anchor="ctr"/>
            <a:lstStyle/>
            <a:p>
              <a:pPr marL="0" indent="0" algn="l">
                <a:buNone/>
              </a:pPr>
              <a:r>
                <a:rPr lang="en-US" sz="1000" dirty="0">
                  <a:solidFill>
                    <a:srgbClr val="333333"/>
                  </a:solidFill>
                  <a:latin typeface="Raleway" pitchFamily="34" charset="0"/>
                  <a:ea typeface="Raleway" pitchFamily="34" charset="-122"/>
                  <a:cs typeface="Raleway" pitchFamily="34" charset="-120"/>
                </a:rPr>
                <a:t>intentionally disabled</a:t>
              </a:r>
              <a:endParaRPr lang="en-US" sz="1000" dirty="0"/>
            </a:p>
          </p:txBody>
        </p:sp>
      </p:grpSp>
      <p:grpSp>
        <p:nvGrpSpPr>
          <p:cNvPr id="58" name="Group 57">
            <a:extLst>
              <a:ext uri="{FF2B5EF4-FFF2-40B4-BE49-F238E27FC236}">
                <a16:creationId xmlns:a16="http://schemas.microsoft.com/office/drawing/2014/main" id="{444DEE1C-C26C-E0F3-D0B1-BEDCFBFD5B1D}"/>
              </a:ext>
            </a:extLst>
          </p:cNvPr>
          <p:cNvGrpSpPr/>
          <p:nvPr/>
        </p:nvGrpSpPr>
        <p:grpSpPr>
          <a:xfrm>
            <a:off x="780897" y="858677"/>
            <a:ext cx="1438351" cy="362102"/>
            <a:chOff x="515801" y="858677"/>
            <a:chExt cx="1438351" cy="362102"/>
          </a:xfrm>
        </p:grpSpPr>
        <p:sp>
          <p:nvSpPr>
            <p:cNvPr id="59" name="Shape 1">
              <a:extLst>
                <a:ext uri="{FF2B5EF4-FFF2-40B4-BE49-F238E27FC236}">
                  <a16:creationId xmlns:a16="http://schemas.microsoft.com/office/drawing/2014/main" id="{68F8D1BB-3538-472A-BA02-0F8363340C53}"/>
                </a:ext>
              </a:extLst>
            </p:cNvPr>
            <p:cNvSpPr/>
            <p:nvPr/>
          </p:nvSpPr>
          <p:spPr>
            <a:xfrm>
              <a:off x="515801" y="858677"/>
              <a:ext cx="1438351" cy="362102"/>
            </a:xfrm>
            <a:prstGeom prst="roundRect">
              <a:avLst>
                <a:gd name="adj" fmla="val 252526"/>
              </a:avLst>
            </a:prstGeom>
            <a:solidFill>
              <a:srgbClr val="091044"/>
            </a:solidFill>
            <a:ln w="12700">
              <a:solidFill>
                <a:srgbClr val="FFFFFF">
                  <a:alpha val="0"/>
                </a:srgbClr>
              </a:solidFill>
              <a:prstDash val="solid"/>
            </a:ln>
          </p:spPr>
          <p:txBody>
            <a:bodyPr/>
            <a:lstStyle/>
            <a:p>
              <a:endParaRPr lang="en-US" dirty="0"/>
            </a:p>
          </p:txBody>
        </p:sp>
        <p:sp>
          <p:nvSpPr>
            <p:cNvPr id="60" name="Text 2">
              <a:extLst>
                <a:ext uri="{FF2B5EF4-FFF2-40B4-BE49-F238E27FC236}">
                  <a16:creationId xmlns:a16="http://schemas.microsoft.com/office/drawing/2014/main" id="{775CCC3F-7B0C-23A8-F285-7862071A0A34}"/>
                </a:ext>
              </a:extLst>
            </p:cNvPr>
            <p:cNvSpPr/>
            <p:nvPr/>
          </p:nvSpPr>
          <p:spPr>
            <a:xfrm>
              <a:off x="539118" y="858677"/>
              <a:ext cx="1415034" cy="362102"/>
            </a:xfrm>
            <a:prstGeom prst="rect">
              <a:avLst/>
            </a:prstGeom>
            <a:solidFill>
              <a:srgbClr val="091044">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chemeClr val="bg1"/>
                  </a:solidFill>
                  <a:latin typeface="Roboto Condensed" pitchFamily="34" charset="0"/>
                  <a:ea typeface="Roboto Condensed" pitchFamily="34" charset="-122"/>
                  <a:cs typeface="Roboto Condensed" pitchFamily="34" charset="-120"/>
                </a:rPr>
                <a:t>MEET.JS POLAND</a:t>
              </a:r>
              <a:endParaRPr lang="en-US" sz="1000" dirty="0">
                <a:solidFill>
                  <a:schemeClr val="bg1"/>
                </a:solidFill>
              </a:endParaRPr>
            </a:p>
          </p:txBody>
        </p:sp>
      </p:grpSp>
      <p:sp>
        <p:nvSpPr>
          <p:cNvPr id="61" name="TextBox 60">
            <a:extLst>
              <a:ext uri="{FF2B5EF4-FFF2-40B4-BE49-F238E27FC236}">
                <a16:creationId xmlns:a16="http://schemas.microsoft.com/office/drawing/2014/main" id="{29CB634C-4F31-849C-B97D-63B803052031}"/>
              </a:ext>
            </a:extLst>
          </p:cNvPr>
          <p:cNvSpPr txBox="1"/>
          <p:nvPr/>
        </p:nvSpPr>
        <p:spPr>
          <a:xfrm>
            <a:off x="-484909" y="2022764"/>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62" name="TextBox 61">
            <a:extLst>
              <a:ext uri="{FF2B5EF4-FFF2-40B4-BE49-F238E27FC236}">
                <a16:creationId xmlns:a16="http://schemas.microsoft.com/office/drawing/2014/main" id="{2A3DD436-FABC-D236-A353-13BE4B76B280}"/>
              </a:ext>
            </a:extLst>
          </p:cNvPr>
          <p:cNvSpPr txBox="1"/>
          <p:nvPr/>
        </p:nvSpPr>
        <p:spPr>
          <a:xfrm>
            <a:off x="5911273" y="4830618"/>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63" name="TextBox 62">
            <a:extLst>
              <a:ext uri="{FF2B5EF4-FFF2-40B4-BE49-F238E27FC236}">
                <a16:creationId xmlns:a16="http://schemas.microsoft.com/office/drawing/2014/main" id="{09D627B6-3649-4A99-4015-54D3E14D90C4}"/>
              </a:ext>
            </a:extLst>
          </p:cNvPr>
          <p:cNvSpPr txBox="1"/>
          <p:nvPr/>
        </p:nvSpPr>
        <p:spPr>
          <a:xfrm>
            <a:off x="5024582" y="4747491"/>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64" name="TextBox 63">
            <a:extLst>
              <a:ext uri="{FF2B5EF4-FFF2-40B4-BE49-F238E27FC236}">
                <a16:creationId xmlns:a16="http://schemas.microsoft.com/office/drawing/2014/main" id="{5903DE9C-99D1-3727-3D2B-D997A1C9535E}"/>
              </a:ext>
            </a:extLst>
          </p:cNvPr>
          <p:cNvSpPr txBox="1"/>
          <p:nvPr/>
        </p:nvSpPr>
        <p:spPr>
          <a:xfrm>
            <a:off x="4368800" y="4812145"/>
            <a:ext cx="0" cy="0"/>
          </a:xfrm>
          <a:prstGeom prst="rect">
            <a:avLst/>
          </a:prstGeom>
          <a:noFill/>
        </p:spPr>
        <p:txBody>
          <a:bodyPr wrap="none" lIns="0" tIns="0" rIns="0" bIns="0" rtlCol="0">
            <a:noAutofit/>
          </a:bodyPr>
          <a:lstStyle/>
          <a:p>
            <a:endParaRPr lang="en-PL" sz="1700" dirty="0" err="1">
              <a:solidFill>
                <a:schemeClr val="tx2"/>
              </a:solidFill>
            </a:endParaRPr>
          </a:p>
        </p:txBody>
      </p:sp>
      <p:sp>
        <p:nvSpPr>
          <p:cNvPr id="65" name="TextBox 64">
            <a:extLst>
              <a:ext uri="{FF2B5EF4-FFF2-40B4-BE49-F238E27FC236}">
                <a16:creationId xmlns:a16="http://schemas.microsoft.com/office/drawing/2014/main" id="{4694A529-84B1-7475-5A27-A1E7D0673866}"/>
              </a:ext>
            </a:extLst>
          </p:cNvPr>
          <p:cNvSpPr txBox="1"/>
          <p:nvPr/>
        </p:nvSpPr>
        <p:spPr>
          <a:xfrm>
            <a:off x="803564" y="4793673"/>
            <a:ext cx="0" cy="0"/>
          </a:xfrm>
          <a:prstGeom prst="rect">
            <a:avLst/>
          </a:prstGeom>
          <a:noFill/>
        </p:spPr>
        <p:txBody>
          <a:bodyPr wrap="none" lIns="0" tIns="0" rIns="0" bIns="0" rtlCol="0">
            <a:noAutofit/>
          </a:bodyPr>
          <a:lstStyle/>
          <a:p>
            <a:endParaRPr lang="en-PL" sz="1700" dirty="0" err="1">
              <a:solidFill>
                <a:schemeClr val="tx2"/>
              </a:solidFill>
            </a:endParaRPr>
          </a:p>
        </p:txBody>
      </p:sp>
    </p:spTree>
    <p:extLst>
      <p:ext uri="{BB962C8B-B14F-4D97-AF65-F5344CB8AC3E}">
        <p14:creationId xmlns:p14="http://schemas.microsoft.com/office/powerpoint/2010/main" val="291119961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5F22-5AAA-4FF4-8935-4A2942E4BC2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A50497-4CD4-C7BE-6B9D-6EF4D7D058A8}"/>
              </a:ext>
            </a:extLst>
          </p:cNvPr>
          <p:cNvSpPr>
            <a:spLocks noGrp="1"/>
          </p:cNvSpPr>
          <p:nvPr>
            <p:ph type="sldNum" sz="quarter" idx="12"/>
          </p:nvPr>
        </p:nvSpPr>
        <p:spPr/>
        <p:txBody>
          <a:bodyPr/>
          <a:lstStyle/>
          <a:p>
            <a:fld id="{F01A0BEF-C76D-43A2-874C-09A8674B0D74}" type="slidenum">
              <a:rPr lang="en-GB" smtClean="0"/>
              <a:t>8</a:t>
            </a:fld>
            <a:endParaRPr lang="en-GB"/>
          </a:p>
        </p:txBody>
      </p:sp>
      <p:sp>
        <p:nvSpPr>
          <p:cNvPr id="9" name="Text 5">
            <a:extLst>
              <a:ext uri="{FF2B5EF4-FFF2-40B4-BE49-F238E27FC236}">
                <a16:creationId xmlns:a16="http://schemas.microsoft.com/office/drawing/2014/main" id="{0EFA8915-1CD4-EE4E-B167-3217D00361C4}"/>
              </a:ext>
            </a:extLst>
          </p:cNvPr>
          <p:cNvSpPr txBox="1"/>
          <p:nvPr/>
        </p:nvSpPr>
        <p:spPr>
          <a:xfrm>
            <a:off x="609905" y="914400"/>
            <a:ext cx="11163910"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DEMO CASE 1</a:t>
            </a:r>
            <a:endParaRPr lang="en-US" sz="4800" dirty="0">
              <a:solidFill>
                <a:srgbClr val="091044"/>
              </a:solidFill>
            </a:endParaRPr>
          </a:p>
        </p:txBody>
      </p:sp>
      <p:sp>
        <p:nvSpPr>
          <p:cNvPr id="10" name="Text 6">
            <a:extLst>
              <a:ext uri="{FF2B5EF4-FFF2-40B4-BE49-F238E27FC236}">
                <a16:creationId xmlns:a16="http://schemas.microsoft.com/office/drawing/2014/main" id="{CA3DACE9-2597-006A-81B6-6430F51494BF}"/>
              </a:ext>
            </a:extLst>
          </p:cNvPr>
          <p:cNvSpPr txBox="1"/>
          <p:nvPr/>
        </p:nvSpPr>
        <p:spPr>
          <a:xfrm>
            <a:off x="609905" y="1661465"/>
            <a:ext cx="11087100" cy="267005"/>
          </a:xfrm>
          <a:prstGeom prst="rect">
            <a:avLst/>
          </a:prstGeom>
          <a:noFill/>
          <a:ln/>
        </p:spPr>
        <p:txBody>
          <a:bodyPr wrap="square" lIns="0" tIns="0" rIns="0" bIns="0" rtlCol="0" anchor="ctr"/>
          <a:lstStyle/>
          <a:p>
            <a:pPr marL="0" indent="0" algn="l">
              <a:buNone/>
            </a:pPr>
            <a:r>
              <a:rPr lang="en-US" sz="1300" dirty="0">
                <a:solidFill>
                  <a:srgbClr val="4B5563"/>
                </a:solidFill>
                <a:latin typeface="Raleway" pitchFamily="34" charset="0"/>
                <a:ea typeface="Raleway" pitchFamily="34" charset="-122"/>
                <a:cs typeface="Raleway" pitchFamily="34" charset="-120"/>
              </a:rPr>
              <a:t>Backend Endpoint + MSW Intercept - Frontend stays unblocked when backend is down</a:t>
            </a:r>
            <a:endParaRPr lang="en-US" sz="1300" dirty="0"/>
          </a:p>
        </p:txBody>
      </p:sp>
      <p:sp>
        <p:nvSpPr>
          <p:cNvPr id="11" name="Shape 7">
            <a:extLst>
              <a:ext uri="{FF2B5EF4-FFF2-40B4-BE49-F238E27FC236}">
                <a16:creationId xmlns:a16="http://schemas.microsoft.com/office/drawing/2014/main" id="{A41367AF-5600-2E98-4124-62CF460A83D6}"/>
              </a:ext>
            </a:extLst>
          </p:cNvPr>
          <p:cNvSpPr/>
          <p:nvPr/>
        </p:nvSpPr>
        <p:spPr>
          <a:xfrm>
            <a:off x="609905" y="2156155"/>
            <a:ext cx="5372100" cy="1695298"/>
          </a:xfrm>
          <a:prstGeom prst="roundRect">
            <a:avLst>
              <a:gd name="adj" fmla="val 7272"/>
            </a:avLst>
          </a:prstGeom>
          <a:solidFill>
            <a:srgbClr val="FFFFFF"/>
          </a:solidFill>
          <a:ln w="12700">
            <a:solidFill>
              <a:srgbClr val="E2E8F0"/>
            </a:solidFill>
            <a:prstDash val="solid"/>
          </a:ln>
        </p:spPr>
        <p:txBody>
          <a:bodyPr/>
          <a:lstStyle/>
          <a:p>
            <a:endParaRPr lang="en-US"/>
          </a:p>
        </p:txBody>
      </p:sp>
      <p:sp>
        <p:nvSpPr>
          <p:cNvPr id="12" name="Shape 8">
            <a:extLst>
              <a:ext uri="{FF2B5EF4-FFF2-40B4-BE49-F238E27FC236}">
                <a16:creationId xmlns:a16="http://schemas.microsoft.com/office/drawing/2014/main" id="{71A68359-586A-BDD3-4368-31E2ACDF8989}"/>
              </a:ext>
            </a:extLst>
          </p:cNvPr>
          <p:cNvSpPr/>
          <p:nvPr/>
        </p:nvSpPr>
        <p:spPr>
          <a:xfrm>
            <a:off x="809244" y="2414016"/>
            <a:ext cx="304495" cy="304495"/>
          </a:xfrm>
          <a:prstGeom prst="ellipse">
            <a:avLst/>
          </a:prstGeom>
          <a:solidFill>
            <a:srgbClr val="3B82F6"/>
          </a:solidFill>
          <a:ln w="12700">
            <a:solidFill>
              <a:srgbClr val="FFFFFF">
                <a:alpha val="0"/>
              </a:srgbClr>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E8C0A0D5-4979-3E40-892C-0927EB2D0E61}"/>
              </a:ext>
            </a:extLst>
          </p:cNvPr>
          <p:cNvPicPr>
            <a:picLocks noChangeAspect="1"/>
          </p:cNvPicPr>
          <p:nvPr/>
        </p:nvPicPr>
        <p:blipFill>
          <a:blip r:embed="rId3"/>
          <a:srcRect/>
          <a:stretch/>
        </p:blipFill>
        <p:spPr>
          <a:xfrm>
            <a:off x="895198" y="2499055"/>
            <a:ext cx="133502" cy="133502"/>
          </a:xfrm>
          <a:prstGeom prst="rect">
            <a:avLst/>
          </a:prstGeom>
        </p:spPr>
      </p:pic>
      <p:sp>
        <p:nvSpPr>
          <p:cNvPr id="14" name="Text 9">
            <a:extLst>
              <a:ext uri="{FF2B5EF4-FFF2-40B4-BE49-F238E27FC236}">
                <a16:creationId xmlns:a16="http://schemas.microsoft.com/office/drawing/2014/main" id="{0EA8DF4B-3A6F-080A-79A0-F0E289666B2B}"/>
              </a:ext>
            </a:extLst>
          </p:cNvPr>
          <p:cNvSpPr txBox="1"/>
          <p:nvPr/>
        </p:nvSpPr>
        <p:spPr>
          <a:xfrm>
            <a:off x="1228954" y="2356409"/>
            <a:ext cx="1369771" cy="228600"/>
          </a:xfrm>
          <a:prstGeom prst="rect">
            <a:avLst/>
          </a:prstGeom>
          <a:noFill/>
          <a:ln/>
        </p:spPr>
        <p:txBody>
          <a:bodyPr wrap="square" lIns="0" tIns="0" rIns="0" bIns="0" rtlCol="0" anchor="ctr"/>
          <a:lstStyle/>
          <a:p>
            <a:pPr marL="0" indent="0" algn="l">
              <a:buNone/>
            </a:pPr>
            <a:r>
              <a:rPr lang="en-US" sz="1200" b="1" dirty="0">
                <a:solidFill>
                  <a:srgbClr val="091044"/>
                </a:solidFill>
                <a:latin typeface="Raleway" pitchFamily="34" charset="0"/>
                <a:ea typeface="Raleway" pitchFamily="34" charset="-122"/>
                <a:cs typeface="Raleway" pitchFamily="34" charset="-120"/>
              </a:rPr>
              <a:t>Backend Server</a:t>
            </a:r>
            <a:endParaRPr lang="en-US" sz="1200" dirty="0">
              <a:solidFill>
                <a:srgbClr val="091044"/>
              </a:solidFill>
            </a:endParaRPr>
          </a:p>
        </p:txBody>
      </p:sp>
      <p:sp>
        <p:nvSpPr>
          <p:cNvPr id="15" name="Text 10">
            <a:extLst>
              <a:ext uri="{FF2B5EF4-FFF2-40B4-BE49-F238E27FC236}">
                <a16:creationId xmlns:a16="http://schemas.microsoft.com/office/drawing/2014/main" id="{BC79DF33-B6EC-817F-6E9D-F2A83D8AF40C}"/>
              </a:ext>
            </a:extLst>
          </p:cNvPr>
          <p:cNvSpPr txBox="1"/>
          <p:nvPr/>
        </p:nvSpPr>
        <p:spPr>
          <a:xfrm>
            <a:off x="1228954" y="2585009"/>
            <a:ext cx="1228954"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localhost:8787</a:t>
            </a:r>
            <a:endParaRPr lang="en-US" sz="1000" dirty="0"/>
          </a:p>
        </p:txBody>
      </p:sp>
      <p:sp>
        <p:nvSpPr>
          <p:cNvPr id="16" name="Shape 11">
            <a:extLst>
              <a:ext uri="{FF2B5EF4-FFF2-40B4-BE49-F238E27FC236}">
                <a16:creationId xmlns:a16="http://schemas.microsoft.com/office/drawing/2014/main" id="{169BA057-9242-1FE9-DD03-49E34E890859}"/>
              </a:ext>
            </a:extLst>
          </p:cNvPr>
          <p:cNvSpPr/>
          <p:nvPr/>
        </p:nvSpPr>
        <p:spPr>
          <a:xfrm>
            <a:off x="5198364" y="2427732"/>
            <a:ext cx="590702"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sp>
        <p:nvSpPr>
          <p:cNvPr id="17" name="Shape 12">
            <a:extLst>
              <a:ext uri="{FF2B5EF4-FFF2-40B4-BE49-F238E27FC236}">
                <a16:creationId xmlns:a16="http://schemas.microsoft.com/office/drawing/2014/main" id="{53235517-2D14-BF99-2900-2FF121DE294A}"/>
              </a:ext>
            </a:extLst>
          </p:cNvPr>
          <p:cNvSpPr/>
          <p:nvPr/>
        </p:nvSpPr>
        <p:spPr>
          <a:xfrm>
            <a:off x="5312664" y="2528316"/>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18" name="Text 13">
            <a:extLst>
              <a:ext uri="{FF2B5EF4-FFF2-40B4-BE49-F238E27FC236}">
                <a16:creationId xmlns:a16="http://schemas.microsoft.com/office/drawing/2014/main" id="{C8D48520-89F7-B38E-C188-81706470FE0E}"/>
              </a:ext>
            </a:extLst>
          </p:cNvPr>
          <p:cNvSpPr txBox="1"/>
          <p:nvPr/>
        </p:nvSpPr>
        <p:spPr>
          <a:xfrm>
            <a:off x="5464454" y="2466137"/>
            <a:ext cx="286207" cy="200254"/>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ON</a:t>
            </a:r>
            <a:endParaRPr lang="en-US" sz="1000" dirty="0"/>
          </a:p>
        </p:txBody>
      </p:sp>
      <p:sp>
        <p:nvSpPr>
          <p:cNvPr id="19" name="Text 14">
            <a:extLst>
              <a:ext uri="{FF2B5EF4-FFF2-40B4-BE49-F238E27FC236}">
                <a16:creationId xmlns:a16="http://schemas.microsoft.com/office/drawing/2014/main" id="{8CF81FC9-1659-968F-ED98-D6F59A3A8DD3}"/>
              </a:ext>
            </a:extLst>
          </p:cNvPr>
          <p:cNvSpPr txBox="1"/>
          <p:nvPr/>
        </p:nvSpPr>
        <p:spPr>
          <a:xfrm>
            <a:off x="809244" y="2927909"/>
            <a:ext cx="46725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Status</a:t>
            </a:r>
            <a:endParaRPr lang="en-US" sz="1000" dirty="0"/>
          </a:p>
        </p:txBody>
      </p:sp>
      <p:sp>
        <p:nvSpPr>
          <p:cNvPr id="20" name="Text 15">
            <a:extLst>
              <a:ext uri="{FF2B5EF4-FFF2-40B4-BE49-F238E27FC236}">
                <a16:creationId xmlns:a16="http://schemas.microsoft.com/office/drawing/2014/main" id="{E27E949F-F55C-A757-74D2-99C6C3A39E29}"/>
              </a:ext>
            </a:extLst>
          </p:cNvPr>
          <p:cNvSpPr txBox="1"/>
          <p:nvPr/>
        </p:nvSpPr>
        <p:spPr>
          <a:xfrm>
            <a:off x="5271516" y="2927909"/>
            <a:ext cx="590702"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Running</a:t>
            </a:r>
            <a:endParaRPr lang="en-US" sz="1000" dirty="0"/>
          </a:p>
        </p:txBody>
      </p:sp>
      <p:sp>
        <p:nvSpPr>
          <p:cNvPr id="21" name="Text 16">
            <a:extLst>
              <a:ext uri="{FF2B5EF4-FFF2-40B4-BE49-F238E27FC236}">
                <a16:creationId xmlns:a16="http://schemas.microsoft.com/office/drawing/2014/main" id="{23816242-B442-B782-2B91-178ED3AB09D6}"/>
              </a:ext>
            </a:extLst>
          </p:cNvPr>
          <p:cNvSpPr txBox="1"/>
          <p:nvPr/>
        </p:nvSpPr>
        <p:spPr>
          <a:xfrm>
            <a:off x="809244" y="3194914"/>
            <a:ext cx="107899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Response Time</a:t>
            </a:r>
            <a:endParaRPr lang="en-US" sz="1000" dirty="0"/>
          </a:p>
        </p:txBody>
      </p:sp>
      <p:sp>
        <p:nvSpPr>
          <p:cNvPr id="22" name="Text 17">
            <a:extLst>
              <a:ext uri="{FF2B5EF4-FFF2-40B4-BE49-F238E27FC236}">
                <a16:creationId xmlns:a16="http://schemas.microsoft.com/office/drawing/2014/main" id="{8306B5FE-BD42-102D-F73E-ACBAC5FDE247}"/>
              </a:ext>
            </a:extLst>
          </p:cNvPr>
          <p:cNvSpPr txBox="1"/>
          <p:nvPr/>
        </p:nvSpPr>
        <p:spPr>
          <a:xfrm>
            <a:off x="5448910" y="3194914"/>
            <a:ext cx="409651"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45ms</a:t>
            </a:r>
            <a:endParaRPr lang="en-US" sz="1000" dirty="0"/>
          </a:p>
        </p:txBody>
      </p:sp>
      <p:sp>
        <p:nvSpPr>
          <p:cNvPr id="23" name="Text 18">
            <a:extLst>
              <a:ext uri="{FF2B5EF4-FFF2-40B4-BE49-F238E27FC236}">
                <a16:creationId xmlns:a16="http://schemas.microsoft.com/office/drawing/2014/main" id="{7CF284D6-91FA-B4D4-08F8-246D4B26F06C}"/>
              </a:ext>
            </a:extLst>
          </p:cNvPr>
          <p:cNvSpPr txBox="1"/>
          <p:nvPr/>
        </p:nvSpPr>
        <p:spPr>
          <a:xfrm>
            <a:off x="809244" y="3461004"/>
            <a:ext cx="534010"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Uptime</a:t>
            </a:r>
            <a:endParaRPr lang="en-US" sz="1000" dirty="0"/>
          </a:p>
        </p:txBody>
      </p:sp>
      <p:sp>
        <p:nvSpPr>
          <p:cNvPr id="24" name="Text 19">
            <a:extLst>
              <a:ext uri="{FF2B5EF4-FFF2-40B4-BE49-F238E27FC236}">
                <a16:creationId xmlns:a16="http://schemas.microsoft.com/office/drawing/2014/main" id="{F6900847-8689-D661-B3F2-2835D44FF07B}"/>
              </a:ext>
            </a:extLst>
          </p:cNvPr>
          <p:cNvSpPr txBox="1"/>
          <p:nvPr/>
        </p:nvSpPr>
        <p:spPr>
          <a:xfrm>
            <a:off x="5426964" y="3461004"/>
            <a:ext cx="438912"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99.9%</a:t>
            </a:r>
            <a:endParaRPr lang="en-US" sz="1000" dirty="0"/>
          </a:p>
        </p:txBody>
      </p:sp>
      <p:sp>
        <p:nvSpPr>
          <p:cNvPr id="25" name="Shape 20">
            <a:extLst>
              <a:ext uri="{FF2B5EF4-FFF2-40B4-BE49-F238E27FC236}">
                <a16:creationId xmlns:a16="http://schemas.microsoft.com/office/drawing/2014/main" id="{2E2C301A-AF47-9852-37AA-A055E036BFA2}"/>
              </a:ext>
            </a:extLst>
          </p:cNvPr>
          <p:cNvSpPr/>
          <p:nvPr/>
        </p:nvSpPr>
        <p:spPr>
          <a:xfrm>
            <a:off x="609905" y="4004158"/>
            <a:ext cx="5372100" cy="1429207"/>
          </a:xfrm>
          <a:prstGeom prst="roundRect">
            <a:avLst>
              <a:gd name="adj" fmla="val 10237"/>
            </a:avLst>
          </a:prstGeom>
          <a:solidFill>
            <a:srgbClr val="FFFFFF"/>
          </a:solidFill>
          <a:ln w="12700">
            <a:solidFill>
              <a:srgbClr val="E2E8F0"/>
            </a:solidFill>
            <a:prstDash val="solid"/>
          </a:ln>
        </p:spPr>
        <p:txBody>
          <a:bodyPr/>
          <a:lstStyle/>
          <a:p>
            <a:endParaRPr lang="en-US"/>
          </a:p>
        </p:txBody>
      </p:sp>
      <p:sp>
        <p:nvSpPr>
          <p:cNvPr id="26" name="Shape 21">
            <a:extLst>
              <a:ext uri="{FF2B5EF4-FFF2-40B4-BE49-F238E27FC236}">
                <a16:creationId xmlns:a16="http://schemas.microsoft.com/office/drawing/2014/main" id="{3A9BC818-FB98-D8A2-F2B3-BDE9C93336F6}"/>
              </a:ext>
            </a:extLst>
          </p:cNvPr>
          <p:cNvSpPr/>
          <p:nvPr/>
        </p:nvSpPr>
        <p:spPr>
          <a:xfrm>
            <a:off x="809244" y="4261104"/>
            <a:ext cx="304495" cy="304495"/>
          </a:xfrm>
          <a:prstGeom prst="ellipse">
            <a:avLst/>
          </a:prstGeom>
          <a:solidFill>
            <a:srgbClr val="3B82F6"/>
          </a:solidFill>
          <a:ln w="12700">
            <a:solidFill>
              <a:srgbClr val="FFFFFF">
                <a:alpha val="0"/>
              </a:srgbClr>
            </a:solidFill>
            <a:prstDash val="solid"/>
          </a:ln>
        </p:spPr>
        <p:txBody>
          <a:bodyPr/>
          <a:lstStyle/>
          <a:p>
            <a:endParaRPr lang="en-US"/>
          </a:p>
        </p:txBody>
      </p:sp>
      <p:pic>
        <p:nvPicPr>
          <p:cNvPr id="27" name="Image 2" descr="preencoded.png">
            <a:extLst>
              <a:ext uri="{FF2B5EF4-FFF2-40B4-BE49-F238E27FC236}">
                <a16:creationId xmlns:a16="http://schemas.microsoft.com/office/drawing/2014/main" id="{AFECC2E2-E64D-CD89-79A6-314D9F1E8D19}"/>
              </a:ext>
            </a:extLst>
          </p:cNvPr>
          <p:cNvPicPr>
            <a:picLocks noChangeAspect="1"/>
          </p:cNvPicPr>
          <p:nvPr/>
        </p:nvPicPr>
        <p:blipFill>
          <a:blip r:embed="rId4"/>
          <a:srcRect l="-1507" r="-1507"/>
          <a:stretch/>
        </p:blipFill>
        <p:spPr>
          <a:xfrm>
            <a:off x="875995" y="4347058"/>
            <a:ext cx="171907" cy="133502"/>
          </a:xfrm>
          <a:prstGeom prst="rect">
            <a:avLst/>
          </a:prstGeom>
        </p:spPr>
      </p:pic>
      <p:sp>
        <p:nvSpPr>
          <p:cNvPr id="28" name="Text 22">
            <a:extLst>
              <a:ext uri="{FF2B5EF4-FFF2-40B4-BE49-F238E27FC236}">
                <a16:creationId xmlns:a16="http://schemas.microsoft.com/office/drawing/2014/main" id="{9CEEA903-6137-895C-78BE-86333F42517B}"/>
              </a:ext>
            </a:extLst>
          </p:cNvPr>
          <p:cNvSpPr txBox="1"/>
          <p:nvPr/>
        </p:nvSpPr>
        <p:spPr>
          <a:xfrm>
            <a:off x="1228954" y="4204411"/>
            <a:ext cx="1505102" cy="228600"/>
          </a:xfrm>
          <a:prstGeom prst="rect">
            <a:avLst/>
          </a:prstGeom>
          <a:noFill/>
          <a:ln/>
        </p:spPr>
        <p:txBody>
          <a:bodyPr wrap="square" lIns="0" tIns="0" rIns="0" bIns="0" rtlCol="0" anchor="ctr"/>
          <a:lstStyle/>
          <a:p>
            <a:pPr marL="0" indent="0" algn="l">
              <a:buNone/>
            </a:pPr>
            <a:r>
              <a:rPr lang="en-US" sz="1200" b="1" dirty="0">
                <a:solidFill>
                  <a:srgbClr val="091044"/>
                </a:solidFill>
                <a:latin typeface="Raleway" pitchFamily="34" charset="0"/>
                <a:ea typeface="Raleway" pitchFamily="34" charset="-122"/>
                <a:cs typeface="Raleway" pitchFamily="34" charset="-120"/>
              </a:rPr>
              <a:t>MSW Intercept</a:t>
            </a:r>
            <a:endParaRPr lang="en-US" sz="1200" dirty="0">
              <a:solidFill>
                <a:srgbClr val="091044"/>
              </a:solidFill>
            </a:endParaRPr>
          </a:p>
        </p:txBody>
      </p:sp>
      <p:sp>
        <p:nvSpPr>
          <p:cNvPr id="29" name="Text 23">
            <a:extLst>
              <a:ext uri="{FF2B5EF4-FFF2-40B4-BE49-F238E27FC236}">
                <a16:creationId xmlns:a16="http://schemas.microsoft.com/office/drawing/2014/main" id="{63AB49DC-F3D1-E802-8D0E-001DD47E1CD9}"/>
              </a:ext>
            </a:extLst>
          </p:cNvPr>
          <p:cNvSpPr txBox="1"/>
          <p:nvPr/>
        </p:nvSpPr>
        <p:spPr>
          <a:xfrm>
            <a:off x="1228954" y="4433011"/>
            <a:ext cx="1700784"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Network layer mocking</a:t>
            </a:r>
            <a:endParaRPr lang="en-US" sz="1000" dirty="0"/>
          </a:p>
        </p:txBody>
      </p:sp>
      <p:sp>
        <p:nvSpPr>
          <p:cNvPr id="30" name="Shape 24">
            <a:extLst>
              <a:ext uri="{FF2B5EF4-FFF2-40B4-BE49-F238E27FC236}">
                <a16:creationId xmlns:a16="http://schemas.microsoft.com/office/drawing/2014/main" id="{B20EF57C-D944-BBB9-989B-67FB12E87376}"/>
              </a:ext>
            </a:extLst>
          </p:cNvPr>
          <p:cNvSpPr/>
          <p:nvPr/>
        </p:nvSpPr>
        <p:spPr>
          <a:xfrm>
            <a:off x="5007254" y="4275734"/>
            <a:ext cx="780898"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sp>
        <p:nvSpPr>
          <p:cNvPr id="31" name="Shape 25">
            <a:extLst>
              <a:ext uri="{FF2B5EF4-FFF2-40B4-BE49-F238E27FC236}">
                <a16:creationId xmlns:a16="http://schemas.microsoft.com/office/drawing/2014/main" id="{2C9629E6-4D9E-67B2-36E1-962026B8C953}"/>
              </a:ext>
            </a:extLst>
          </p:cNvPr>
          <p:cNvSpPr/>
          <p:nvPr/>
        </p:nvSpPr>
        <p:spPr>
          <a:xfrm>
            <a:off x="5121554" y="4375404"/>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32" name="Text 26">
            <a:extLst>
              <a:ext uri="{FF2B5EF4-FFF2-40B4-BE49-F238E27FC236}">
                <a16:creationId xmlns:a16="http://schemas.microsoft.com/office/drawing/2014/main" id="{FAB15953-C6CE-7926-293E-D81B429A54D1}"/>
              </a:ext>
            </a:extLst>
          </p:cNvPr>
          <p:cNvSpPr txBox="1"/>
          <p:nvPr/>
        </p:nvSpPr>
        <p:spPr>
          <a:xfrm>
            <a:off x="5274259" y="4314139"/>
            <a:ext cx="476402" cy="200254"/>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Active</a:t>
            </a:r>
            <a:endParaRPr lang="en-US" sz="1000" dirty="0"/>
          </a:p>
        </p:txBody>
      </p:sp>
      <p:sp>
        <p:nvSpPr>
          <p:cNvPr id="33" name="Text 27">
            <a:extLst>
              <a:ext uri="{FF2B5EF4-FFF2-40B4-BE49-F238E27FC236}">
                <a16:creationId xmlns:a16="http://schemas.microsoft.com/office/drawing/2014/main" id="{BB20938A-6870-B4A3-3042-0D813E02ADD0}"/>
              </a:ext>
            </a:extLst>
          </p:cNvPr>
          <p:cNvSpPr txBox="1"/>
          <p:nvPr/>
        </p:nvSpPr>
        <p:spPr>
          <a:xfrm>
            <a:off x="809244" y="4775911"/>
            <a:ext cx="46725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Status</a:t>
            </a:r>
            <a:endParaRPr lang="en-US" sz="1000" dirty="0"/>
          </a:p>
        </p:txBody>
      </p:sp>
      <p:sp>
        <p:nvSpPr>
          <p:cNvPr id="34" name="Text 28">
            <a:extLst>
              <a:ext uri="{FF2B5EF4-FFF2-40B4-BE49-F238E27FC236}">
                <a16:creationId xmlns:a16="http://schemas.microsoft.com/office/drawing/2014/main" id="{0B910578-9CFD-BC56-AA9D-061776173152}"/>
              </a:ext>
            </a:extLst>
          </p:cNvPr>
          <p:cNvSpPr txBox="1"/>
          <p:nvPr/>
        </p:nvSpPr>
        <p:spPr>
          <a:xfrm>
            <a:off x="5039258" y="4775911"/>
            <a:ext cx="884225"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Intercepting</a:t>
            </a:r>
            <a:endParaRPr lang="en-US" sz="1000" dirty="0"/>
          </a:p>
        </p:txBody>
      </p:sp>
      <p:sp>
        <p:nvSpPr>
          <p:cNvPr id="35" name="Text 29">
            <a:extLst>
              <a:ext uri="{FF2B5EF4-FFF2-40B4-BE49-F238E27FC236}">
                <a16:creationId xmlns:a16="http://schemas.microsoft.com/office/drawing/2014/main" id="{A1CB95A6-56D6-26BC-F592-B2387D44306A}"/>
              </a:ext>
            </a:extLst>
          </p:cNvPr>
          <p:cNvSpPr txBox="1"/>
          <p:nvPr/>
        </p:nvSpPr>
        <p:spPr>
          <a:xfrm>
            <a:off x="809244" y="5042916"/>
            <a:ext cx="72603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Scenarios</a:t>
            </a:r>
            <a:endParaRPr lang="en-US" sz="1000" dirty="0"/>
          </a:p>
        </p:txBody>
      </p:sp>
      <p:sp>
        <p:nvSpPr>
          <p:cNvPr id="36" name="Text 30">
            <a:extLst>
              <a:ext uri="{FF2B5EF4-FFF2-40B4-BE49-F238E27FC236}">
                <a16:creationId xmlns:a16="http://schemas.microsoft.com/office/drawing/2014/main" id="{FBE65A58-6DF0-0A3B-4D2C-30B114FB4086}"/>
              </a:ext>
            </a:extLst>
          </p:cNvPr>
          <p:cNvSpPr txBox="1"/>
          <p:nvPr/>
        </p:nvSpPr>
        <p:spPr>
          <a:xfrm>
            <a:off x="5121554" y="5042916"/>
            <a:ext cx="793699"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8 available</a:t>
            </a:r>
            <a:endParaRPr lang="en-US" sz="1000" dirty="0"/>
          </a:p>
        </p:txBody>
      </p:sp>
      <p:sp>
        <p:nvSpPr>
          <p:cNvPr id="37" name="Shape 31">
            <a:extLst>
              <a:ext uri="{FF2B5EF4-FFF2-40B4-BE49-F238E27FC236}">
                <a16:creationId xmlns:a16="http://schemas.microsoft.com/office/drawing/2014/main" id="{5CF0A4F1-38C8-E7E3-56DF-98A22D403438}"/>
              </a:ext>
            </a:extLst>
          </p:cNvPr>
          <p:cNvSpPr/>
          <p:nvPr/>
        </p:nvSpPr>
        <p:spPr>
          <a:xfrm>
            <a:off x="6210605" y="2156155"/>
            <a:ext cx="5372100" cy="2952598"/>
          </a:xfrm>
          <a:prstGeom prst="roundRect">
            <a:avLst>
              <a:gd name="adj" fmla="val 2398"/>
            </a:avLst>
          </a:prstGeom>
          <a:solidFill>
            <a:srgbClr val="FFFFFF"/>
          </a:solidFill>
          <a:ln w="12700">
            <a:solidFill>
              <a:srgbClr val="E2E8F0"/>
            </a:solidFill>
            <a:prstDash val="solid"/>
          </a:ln>
        </p:spPr>
        <p:txBody>
          <a:bodyPr/>
          <a:lstStyle/>
          <a:p>
            <a:endParaRPr lang="en-US"/>
          </a:p>
        </p:txBody>
      </p:sp>
      <p:sp>
        <p:nvSpPr>
          <p:cNvPr id="38" name="Text 32">
            <a:extLst>
              <a:ext uri="{FF2B5EF4-FFF2-40B4-BE49-F238E27FC236}">
                <a16:creationId xmlns:a16="http://schemas.microsoft.com/office/drawing/2014/main" id="{2878AED4-1A76-AADF-5453-55A17AAC65F8}"/>
              </a:ext>
            </a:extLst>
          </p:cNvPr>
          <p:cNvSpPr txBox="1"/>
          <p:nvPr/>
        </p:nvSpPr>
        <p:spPr>
          <a:xfrm>
            <a:off x="6409944" y="2356409"/>
            <a:ext cx="1286561" cy="228600"/>
          </a:xfrm>
          <a:prstGeom prst="rect">
            <a:avLst/>
          </a:prstGeom>
          <a:noFill/>
          <a:ln/>
        </p:spPr>
        <p:txBody>
          <a:bodyPr wrap="square" lIns="0" tIns="0" rIns="0" bIns="0" rtlCol="0" anchor="ctr"/>
          <a:lstStyle/>
          <a:p>
            <a:pPr marL="0" indent="0" algn="l">
              <a:buNone/>
            </a:pPr>
            <a:r>
              <a:rPr lang="en-US" sz="1200" b="1" dirty="0">
                <a:solidFill>
                  <a:srgbClr val="091044"/>
                </a:solidFill>
                <a:latin typeface="Raleway" pitchFamily="34" charset="0"/>
                <a:ea typeface="Raleway" pitchFamily="34" charset="-122"/>
                <a:cs typeface="Raleway" pitchFamily="34" charset="-120"/>
              </a:rPr>
              <a:t>Demo Sequence</a:t>
            </a:r>
            <a:endParaRPr lang="en-US" sz="1200" dirty="0">
              <a:solidFill>
                <a:srgbClr val="091044"/>
              </a:solidFill>
            </a:endParaRPr>
          </a:p>
        </p:txBody>
      </p:sp>
      <p:sp>
        <p:nvSpPr>
          <p:cNvPr id="39" name="Text 33">
            <a:extLst>
              <a:ext uri="{FF2B5EF4-FFF2-40B4-BE49-F238E27FC236}">
                <a16:creationId xmlns:a16="http://schemas.microsoft.com/office/drawing/2014/main" id="{0BC710BD-F805-C9E7-14B6-4BE3CDF201F8}"/>
              </a:ext>
            </a:extLst>
          </p:cNvPr>
          <p:cNvSpPr txBox="1"/>
          <p:nvPr/>
        </p:nvSpPr>
        <p:spPr>
          <a:xfrm>
            <a:off x="10879531" y="2375611"/>
            <a:ext cx="600761"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Step 1-5</a:t>
            </a:r>
            <a:endParaRPr lang="en-US" sz="1000" dirty="0"/>
          </a:p>
        </p:txBody>
      </p:sp>
      <p:sp>
        <p:nvSpPr>
          <p:cNvPr id="40" name="Shape 34">
            <a:extLst>
              <a:ext uri="{FF2B5EF4-FFF2-40B4-BE49-F238E27FC236}">
                <a16:creationId xmlns:a16="http://schemas.microsoft.com/office/drawing/2014/main" id="{956FA107-DC20-42AE-C71B-45263AD46F76}"/>
              </a:ext>
            </a:extLst>
          </p:cNvPr>
          <p:cNvSpPr/>
          <p:nvPr/>
        </p:nvSpPr>
        <p:spPr>
          <a:xfrm>
            <a:off x="6409944" y="2756916"/>
            <a:ext cx="304495" cy="304495"/>
          </a:xfrm>
          <a:prstGeom prst="ellipse">
            <a:avLst/>
          </a:prstGeom>
          <a:solidFill>
            <a:srgbClr val="3B82F6"/>
          </a:solidFill>
          <a:ln w="12700">
            <a:solidFill>
              <a:srgbClr val="FFFFFF">
                <a:alpha val="0"/>
              </a:srgbClr>
            </a:solidFill>
            <a:prstDash val="solid"/>
          </a:ln>
        </p:spPr>
        <p:txBody>
          <a:bodyPr/>
          <a:lstStyle/>
          <a:p>
            <a:endParaRPr lang="en-US"/>
          </a:p>
        </p:txBody>
      </p:sp>
      <p:sp>
        <p:nvSpPr>
          <p:cNvPr id="41" name="Text 35">
            <a:extLst>
              <a:ext uri="{FF2B5EF4-FFF2-40B4-BE49-F238E27FC236}">
                <a16:creationId xmlns:a16="http://schemas.microsoft.com/office/drawing/2014/main" id="{B619410F-52E0-F6D2-9419-EB9001F871F9}"/>
              </a:ext>
            </a:extLst>
          </p:cNvPr>
          <p:cNvSpPr/>
          <p:nvPr/>
        </p:nvSpPr>
        <p:spPr>
          <a:xfrm>
            <a:off x="6381598" y="27569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1</a:t>
            </a:r>
            <a:endParaRPr lang="en-US" sz="1000" dirty="0"/>
          </a:p>
        </p:txBody>
      </p:sp>
      <p:sp>
        <p:nvSpPr>
          <p:cNvPr id="42" name="Text 36">
            <a:extLst>
              <a:ext uri="{FF2B5EF4-FFF2-40B4-BE49-F238E27FC236}">
                <a16:creationId xmlns:a16="http://schemas.microsoft.com/office/drawing/2014/main" id="{A1A7FD2E-70FC-D2E0-3224-49BF152BD1FA}"/>
              </a:ext>
            </a:extLst>
          </p:cNvPr>
          <p:cNvSpPr txBox="1"/>
          <p:nvPr/>
        </p:nvSpPr>
        <p:spPr>
          <a:xfrm>
            <a:off x="6829654" y="2737714"/>
            <a:ext cx="1881835"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Select Backend Endpoint</a:t>
            </a:r>
            <a:endParaRPr lang="en-US" sz="1000" dirty="0"/>
          </a:p>
        </p:txBody>
      </p:sp>
      <p:sp>
        <p:nvSpPr>
          <p:cNvPr id="43" name="Text 37">
            <a:extLst>
              <a:ext uri="{FF2B5EF4-FFF2-40B4-BE49-F238E27FC236}">
                <a16:creationId xmlns:a16="http://schemas.microsoft.com/office/drawing/2014/main" id="{329C4872-5220-AA20-F27C-D7D40FEC1393}"/>
              </a:ext>
            </a:extLst>
          </p:cNvPr>
          <p:cNvSpPr txBox="1"/>
          <p:nvPr/>
        </p:nvSpPr>
        <p:spPr>
          <a:xfrm>
            <a:off x="11098987" y="2756916"/>
            <a:ext cx="36210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Done</a:t>
            </a:r>
            <a:endParaRPr lang="en-US" sz="900" dirty="0"/>
          </a:p>
        </p:txBody>
      </p:sp>
      <p:sp>
        <p:nvSpPr>
          <p:cNvPr id="44" name="Text 38">
            <a:extLst>
              <a:ext uri="{FF2B5EF4-FFF2-40B4-BE49-F238E27FC236}">
                <a16:creationId xmlns:a16="http://schemas.microsoft.com/office/drawing/2014/main" id="{89C49026-27AE-1861-F55B-9A8ED99CD8C5}"/>
              </a:ext>
            </a:extLst>
          </p:cNvPr>
          <p:cNvSpPr txBox="1"/>
          <p:nvPr/>
        </p:nvSpPr>
        <p:spPr>
          <a:xfrm>
            <a:off x="6829654" y="2927909"/>
            <a:ext cx="466801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Choose localhost:8787 as target</a:t>
            </a:r>
            <a:endParaRPr lang="en-US" sz="900" dirty="0"/>
          </a:p>
        </p:txBody>
      </p:sp>
      <p:sp>
        <p:nvSpPr>
          <p:cNvPr id="45" name="Shape 39">
            <a:extLst>
              <a:ext uri="{FF2B5EF4-FFF2-40B4-BE49-F238E27FC236}">
                <a16:creationId xmlns:a16="http://schemas.microsoft.com/office/drawing/2014/main" id="{A7433B10-3633-8AC1-0B04-F7E079ADF6EF}"/>
              </a:ext>
            </a:extLst>
          </p:cNvPr>
          <p:cNvSpPr/>
          <p:nvPr/>
        </p:nvSpPr>
        <p:spPr>
          <a:xfrm>
            <a:off x="6409944" y="3214116"/>
            <a:ext cx="304495" cy="304495"/>
          </a:xfrm>
          <a:prstGeom prst="ellipse">
            <a:avLst/>
          </a:prstGeom>
          <a:solidFill>
            <a:srgbClr val="3B82F6"/>
          </a:solidFill>
          <a:ln w="12700">
            <a:solidFill>
              <a:srgbClr val="FFFFFF">
                <a:alpha val="0"/>
              </a:srgbClr>
            </a:solidFill>
            <a:prstDash val="solid"/>
          </a:ln>
        </p:spPr>
        <p:txBody>
          <a:bodyPr/>
          <a:lstStyle/>
          <a:p>
            <a:endParaRPr lang="en-US"/>
          </a:p>
        </p:txBody>
      </p:sp>
      <p:sp>
        <p:nvSpPr>
          <p:cNvPr id="46" name="Text 40">
            <a:extLst>
              <a:ext uri="{FF2B5EF4-FFF2-40B4-BE49-F238E27FC236}">
                <a16:creationId xmlns:a16="http://schemas.microsoft.com/office/drawing/2014/main" id="{E1750945-82A1-741F-B661-7685E2936EBE}"/>
              </a:ext>
            </a:extLst>
          </p:cNvPr>
          <p:cNvSpPr/>
          <p:nvPr/>
        </p:nvSpPr>
        <p:spPr>
          <a:xfrm>
            <a:off x="6381598" y="32141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2</a:t>
            </a:r>
            <a:endParaRPr lang="en-US" sz="1000" dirty="0"/>
          </a:p>
        </p:txBody>
      </p:sp>
      <p:sp>
        <p:nvSpPr>
          <p:cNvPr id="47" name="Text 41">
            <a:extLst>
              <a:ext uri="{FF2B5EF4-FFF2-40B4-BE49-F238E27FC236}">
                <a16:creationId xmlns:a16="http://schemas.microsoft.com/office/drawing/2014/main" id="{1A88F20C-290B-75DE-560F-FAAEA4CF59C7}"/>
              </a:ext>
            </a:extLst>
          </p:cNvPr>
          <p:cNvSpPr txBox="1"/>
          <p:nvPr/>
        </p:nvSpPr>
        <p:spPr>
          <a:xfrm>
            <a:off x="6829654" y="3194914"/>
            <a:ext cx="1621231"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Select MSW Intercept</a:t>
            </a:r>
            <a:endParaRPr lang="en-US" sz="1000" dirty="0"/>
          </a:p>
        </p:txBody>
      </p:sp>
      <p:sp>
        <p:nvSpPr>
          <p:cNvPr id="48" name="Text 42">
            <a:extLst>
              <a:ext uri="{FF2B5EF4-FFF2-40B4-BE49-F238E27FC236}">
                <a16:creationId xmlns:a16="http://schemas.microsoft.com/office/drawing/2014/main" id="{3CF7DADD-7BAF-B0CE-E886-A02EA7BC3777}"/>
              </a:ext>
            </a:extLst>
          </p:cNvPr>
          <p:cNvSpPr txBox="1"/>
          <p:nvPr/>
        </p:nvSpPr>
        <p:spPr>
          <a:xfrm>
            <a:off x="11098987" y="3214116"/>
            <a:ext cx="36210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Done</a:t>
            </a:r>
            <a:endParaRPr lang="en-US" sz="900" dirty="0"/>
          </a:p>
        </p:txBody>
      </p:sp>
      <p:sp>
        <p:nvSpPr>
          <p:cNvPr id="49" name="Text 43">
            <a:extLst>
              <a:ext uri="{FF2B5EF4-FFF2-40B4-BE49-F238E27FC236}">
                <a16:creationId xmlns:a16="http://schemas.microsoft.com/office/drawing/2014/main" id="{71AFEC2E-C87A-B9C4-20E2-9D91E5C10367}"/>
              </a:ext>
            </a:extLst>
          </p:cNvPr>
          <p:cNvSpPr txBox="1"/>
          <p:nvPr/>
        </p:nvSpPr>
        <p:spPr>
          <a:xfrm>
            <a:off x="6829654" y="3385109"/>
            <a:ext cx="466801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Enable network interception</a:t>
            </a:r>
            <a:endParaRPr lang="en-US" sz="900" dirty="0"/>
          </a:p>
        </p:txBody>
      </p:sp>
      <p:sp>
        <p:nvSpPr>
          <p:cNvPr id="50" name="Shape 44">
            <a:extLst>
              <a:ext uri="{FF2B5EF4-FFF2-40B4-BE49-F238E27FC236}">
                <a16:creationId xmlns:a16="http://schemas.microsoft.com/office/drawing/2014/main" id="{8C32F7E6-82A2-05A5-00C3-036DA43151BA}"/>
              </a:ext>
            </a:extLst>
          </p:cNvPr>
          <p:cNvSpPr/>
          <p:nvPr/>
        </p:nvSpPr>
        <p:spPr>
          <a:xfrm>
            <a:off x="6409944" y="3671316"/>
            <a:ext cx="304495" cy="304495"/>
          </a:xfrm>
          <a:prstGeom prst="ellipse">
            <a:avLst/>
          </a:prstGeom>
          <a:solidFill>
            <a:srgbClr val="3B82F6"/>
          </a:solidFill>
          <a:ln w="12700">
            <a:solidFill>
              <a:srgbClr val="FFFFFF">
                <a:alpha val="0"/>
              </a:srgbClr>
            </a:solidFill>
            <a:prstDash val="solid"/>
          </a:ln>
        </p:spPr>
        <p:txBody>
          <a:bodyPr/>
          <a:lstStyle/>
          <a:p>
            <a:endParaRPr lang="en-US"/>
          </a:p>
        </p:txBody>
      </p:sp>
      <p:sp>
        <p:nvSpPr>
          <p:cNvPr id="51" name="Text 45">
            <a:extLst>
              <a:ext uri="{FF2B5EF4-FFF2-40B4-BE49-F238E27FC236}">
                <a16:creationId xmlns:a16="http://schemas.microsoft.com/office/drawing/2014/main" id="{CDD0B022-E875-1B19-4F02-7B4BDF334A3D}"/>
              </a:ext>
            </a:extLst>
          </p:cNvPr>
          <p:cNvSpPr/>
          <p:nvPr/>
        </p:nvSpPr>
        <p:spPr>
          <a:xfrm>
            <a:off x="6381598" y="36713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3</a:t>
            </a:r>
            <a:endParaRPr lang="en-US" sz="1000" dirty="0"/>
          </a:p>
        </p:txBody>
      </p:sp>
      <p:sp>
        <p:nvSpPr>
          <p:cNvPr id="52" name="Text 46">
            <a:extLst>
              <a:ext uri="{FF2B5EF4-FFF2-40B4-BE49-F238E27FC236}">
                <a16:creationId xmlns:a16="http://schemas.microsoft.com/office/drawing/2014/main" id="{16E97991-A5E1-BF8E-7093-F520CC27681D}"/>
              </a:ext>
            </a:extLst>
          </p:cNvPr>
          <p:cNvSpPr txBox="1"/>
          <p:nvPr/>
        </p:nvSpPr>
        <p:spPr>
          <a:xfrm>
            <a:off x="6829654" y="3652114"/>
            <a:ext cx="1244498"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Show happy-path</a:t>
            </a:r>
            <a:endParaRPr lang="en-US" sz="1000" dirty="0"/>
          </a:p>
        </p:txBody>
      </p:sp>
      <p:sp>
        <p:nvSpPr>
          <p:cNvPr id="53" name="Text 47">
            <a:extLst>
              <a:ext uri="{FF2B5EF4-FFF2-40B4-BE49-F238E27FC236}">
                <a16:creationId xmlns:a16="http://schemas.microsoft.com/office/drawing/2014/main" id="{FE4E1478-1BD8-1028-086F-C118353C85CF}"/>
              </a:ext>
            </a:extLst>
          </p:cNvPr>
          <p:cNvSpPr txBox="1"/>
          <p:nvPr/>
        </p:nvSpPr>
        <p:spPr>
          <a:xfrm>
            <a:off x="11055096" y="3671316"/>
            <a:ext cx="409651"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Active</a:t>
            </a:r>
            <a:endParaRPr lang="en-US" sz="900" dirty="0"/>
          </a:p>
        </p:txBody>
      </p:sp>
      <p:sp>
        <p:nvSpPr>
          <p:cNvPr id="54" name="Text 48">
            <a:extLst>
              <a:ext uri="{FF2B5EF4-FFF2-40B4-BE49-F238E27FC236}">
                <a16:creationId xmlns:a16="http://schemas.microsoft.com/office/drawing/2014/main" id="{CED04E50-4CEB-9BBC-0600-0A6CFF15EA47}"/>
              </a:ext>
            </a:extLst>
          </p:cNvPr>
          <p:cNvSpPr txBox="1"/>
          <p:nvPr/>
        </p:nvSpPr>
        <p:spPr>
          <a:xfrm>
            <a:off x="6829654" y="3842309"/>
            <a:ext cx="466801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Normal response scenario</a:t>
            </a:r>
            <a:endParaRPr lang="en-US" sz="900" dirty="0"/>
          </a:p>
        </p:txBody>
      </p:sp>
      <p:sp>
        <p:nvSpPr>
          <p:cNvPr id="55" name="Shape 49">
            <a:extLst>
              <a:ext uri="{FF2B5EF4-FFF2-40B4-BE49-F238E27FC236}">
                <a16:creationId xmlns:a16="http://schemas.microsoft.com/office/drawing/2014/main" id="{20595037-C9D0-DE89-C023-AB0E35A5B3D1}"/>
              </a:ext>
            </a:extLst>
          </p:cNvPr>
          <p:cNvSpPr/>
          <p:nvPr/>
        </p:nvSpPr>
        <p:spPr>
          <a:xfrm>
            <a:off x="6409944" y="4128516"/>
            <a:ext cx="304495" cy="304495"/>
          </a:xfrm>
          <a:prstGeom prst="ellipse">
            <a:avLst/>
          </a:prstGeom>
          <a:solidFill>
            <a:srgbClr val="E2E8F0"/>
          </a:solidFill>
          <a:ln w="12700">
            <a:solidFill>
              <a:srgbClr val="FFFFFF">
                <a:alpha val="0"/>
              </a:srgbClr>
            </a:solidFill>
            <a:prstDash val="solid"/>
          </a:ln>
        </p:spPr>
        <p:txBody>
          <a:bodyPr/>
          <a:lstStyle/>
          <a:p>
            <a:endParaRPr lang="en-US"/>
          </a:p>
        </p:txBody>
      </p:sp>
      <p:sp>
        <p:nvSpPr>
          <p:cNvPr id="56" name="Text 50">
            <a:extLst>
              <a:ext uri="{FF2B5EF4-FFF2-40B4-BE49-F238E27FC236}">
                <a16:creationId xmlns:a16="http://schemas.microsoft.com/office/drawing/2014/main" id="{0329CB9B-11C1-8F8F-02FA-CCC818860745}"/>
              </a:ext>
            </a:extLst>
          </p:cNvPr>
          <p:cNvSpPr/>
          <p:nvPr/>
        </p:nvSpPr>
        <p:spPr>
          <a:xfrm>
            <a:off x="6381598" y="41285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4A5568"/>
                </a:solidFill>
                <a:latin typeface="Raleway" pitchFamily="34" charset="0"/>
                <a:ea typeface="Raleway" pitchFamily="34" charset="-122"/>
                <a:cs typeface="Raleway" pitchFamily="34" charset="-120"/>
              </a:rPr>
              <a:t>4</a:t>
            </a:r>
            <a:endParaRPr lang="en-US" sz="1000" dirty="0"/>
          </a:p>
        </p:txBody>
      </p:sp>
      <p:sp>
        <p:nvSpPr>
          <p:cNvPr id="57" name="Text 51">
            <a:extLst>
              <a:ext uri="{FF2B5EF4-FFF2-40B4-BE49-F238E27FC236}">
                <a16:creationId xmlns:a16="http://schemas.microsoft.com/office/drawing/2014/main" id="{F0A79C99-3F82-81EC-BA90-79825C864516}"/>
              </a:ext>
            </a:extLst>
          </p:cNvPr>
          <p:cNvSpPr txBox="1"/>
          <p:nvPr/>
        </p:nvSpPr>
        <p:spPr>
          <a:xfrm>
            <a:off x="6829654" y="4109314"/>
            <a:ext cx="1541678"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Switch to server-500</a:t>
            </a:r>
            <a:endParaRPr lang="en-US" sz="1000" dirty="0"/>
          </a:p>
        </p:txBody>
      </p:sp>
      <p:sp>
        <p:nvSpPr>
          <p:cNvPr id="58" name="Text 52">
            <a:extLst>
              <a:ext uri="{FF2B5EF4-FFF2-40B4-BE49-F238E27FC236}">
                <a16:creationId xmlns:a16="http://schemas.microsoft.com/office/drawing/2014/main" id="{65D448A3-B139-FF9F-5A13-BFE9CD54ED2C}"/>
              </a:ext>
            </a:extLst>
          </p:cNvPr>
          <p:cNvSpPr txBox="1"/>
          <p:nvPr/>
        </p:nvSpPr>
        <p:spPr>
          <a:xfrm>
            <a:off x="10945368" y="4128516"/>
            <a:ext cx="514807" cy="152705"/>
          </a:xfrm>
          <a:prstGeom prst="rect">
            <a:avLst/>
          </a:prstGeom>
          <a:noFill/>
          <a:ln/>
        </p:spPr>
        <p:txBody>
          <a:bodyPr wrap="square" lIns="0" tIns="0" rIns="0" bIns="0" rtlCol="0" anchor="ctr"/>
          <a:lstStyle/>
          <a:p>
            <a:pPr marL="0" indent="0" algn="l">
              <a:buNone/>
            </a:pPr>
            <a:r>
              <a:rPr lang="en-US" sz="900" dirty="0">
                <a:solidFill>
                  <a:srgbClr val="9CA3AF"/>
                </a:solidFill>
                <a:latin typeface="Raleway" pitchFamily="34" charset="0"/>
                <a:ea typeface="Raleway" pitchFamily="34" charset="-122"/>
                <a:cs typeface="Raleway" pitchFamily="34" charset="-120"/>
              </a:rPr>
              <a:t>Pending</a:t>
            </a:r>
            <a:endParaRPr lang="en-US" sz="900" dirty="0"/>
          </a:p>
        </p:txBody>
      </p:sp>
      <p:sp>
        <p:nvSpPr>
          <p:cNvPr id="59" name="Text 53">
            <a:extLst>
              <a:ext uri="{FF2B5EF4-FFF2-40B4-BE49-F238E27FC236}">
                <a16:creationId xmlns:a16="http://schemas.microsoft.com/office/drawing/2014/main" id="{7818F2EF-8724-C103-5094-DBEC51FAA466}"/>
              </a:ext>
            </a:extLst>
          </p:cNvPr>
          <p:cNvSpPr txBox="1"/>
          <p:nvPr/>
        </p:nvSpPr>
        <p:spPr>
          <a:xfrm>
            <a:off x="6829654" y="4299509"/>
            <a:ext cx="466801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Error scenario test</a:t>
            </a:r>
            <a:endParaRPr lang="en-US" sz="900" dirty="0"/>
          </a:p>
        </p:txBody>
      </p:sp>
      <p:sp>
        <p:nvSpPr>
          <p:cNvPr id="60" name="Shape 54">
            <a:extLst>
              <a:ext uri="{FF2B5EF4-FFF2-40B4-BE49-F238E27FC236}">
                <a16:creationId xmlns:a16="http://schemas.microsoft.com/office/drawing/2014/main" id="{80BF3FC2-DC9B-4664-4AC5-9CF0BEC32A37}"/>
              </a:ext>
            </a:extLst>
          </p:cNvPr>
          <p:cNvSpPr/>
          <p:nvPr/>
        </p:nvSpPr>
        <p:spPr>
          <a:xfrm>
            <a:off x="6409944" y="4585716"/>
            <a:ext cx="304495" cy="304495"/>
          </a:xfrm>
          <a:prstGeom prst="ellipse">
            <a:avLst/>
          </a:prstGeom>
          <a:solidFill>
            <a:srgbClr val="E2E8F0"/>
          </a:solidFill>
          <a:ln w="12700">
            <a:solidFill>
              <a:srgbClr val="FFFFFF">
                <a:alpha val="0"/>
              </a:srgbClr>
            </a:solidFill>
            <a:prstDash val="solid"/>
          </a:ln>
        </p:spPr>
        <p:txBody>
          <a:bodyPr/>
          <a:lstStyle/>
          <a:p>
            <a:endParaRPr lang="en-US"/>
          </a:p>
        </p:txBody>
      </p:sp>
      <p:sp>
        <p:nvSpPr>
          <p:cNvPr id="61" name="Text 55">
            <a:extLst>
              <a:ext uri="{FF2B5EF4-FFF2-40B4-BE49-F238E27FC236}">
                <a16:creationId xmlns:a16="http://schemas.microsoft.com/office/drawing/2014/main" id="{ED6295FE-99BE-FFA0-9039-7A7449C7F1C5}"/>
              </a:ext>
            </a:extLst>
          </p:cNvPr>
          <p:cNvSpPr/>
          <p:nvPr/>
        </p:nvSpPr>
        <p:spPr>
          <a:xfrm>
            <a:off x="6381598" y="45857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4A5568"/>
                </a:solidFill>
                <a:latin typeface="Raleway" pitchFamily="34" charset="0"/>
                <a:ea typeface="Raleway" pitchFamily="34" charset="-122"/>
                <a:cs typeface="Raleway" pitchFamily="34" charset="-120"/>
              </a:rPr>
              <a:t>5</a:t>
            </a:r>
            <a:endParaRPr lang="en-US" sz="1000" dirty="0"/>
          </a:p>
        </p:txBody>
      </p:sp>
      <p:sp>
        <p:nvSpPr>
          <p:cNvPr id="62" name="Text 56">
            <a:extLst>
              <a:ext uri="{FF2B5EF4-FFF2-40B4-BE49-F238E27FC236}">
                <a16:creationId xmlns:a16="http://schemas.microsoft.com/office/drawing/2014/main" id="{9DE7D3CF-8F2F-8F33-2887-60184778F15C}"/>
              </a:ext>
            </a:extLst>
          </p:cNvPr>
          <p:cNvSpPr txBox="1"/>
          <p:nvPr/>
        </p:nvSpPr>
        <p:spPr>
          <a:xfrm>
            <a:off x="6829654" y="4566514"/>
            <a:ext cx="1655064"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Stop backend process</a:t>
            </a:r>
            <a:endParaRPr lang="en-US" sz="1000" dirty="0"/>
          </a:p>
        </p:txBody>
      </p:sp>
      <p:sp>
        <p:nvSpPr>
          <p:cNvPr id="63" name="Text 57">
            <a:extLst>
              <a:ext uri="{FF2B5EF4-FFF2-40B4-BE49-F238E27FC236}">
                <a16:creationId xmlns:a16="http://schemas.microsoft.com/office/drawing/2014/main" id="{5C5D4A36-1CFD-E399-89E4-02F0699A0F1C}"/>
              </a:ext>
            </a:extLst>
          </p:cNvPr>
          <p:cNvSpPr txBox="1"/>
          <p:nvPr/>
        </p:nvSpPr>
        <p:spPr>
          <a:xfrm>
            <a:off x="10945368" y="4585716"/>
            <a:ext cx="514807" cy="152705"/>
          </a:xfrm>
          <a:prstGeom prst="rect">
            <a:avLst/>
          </a:prstGeom>
          <a:noFill/>
          <a:ln/>
        </p:spPr>
        <p:txBody>
          <a:bodyPr wrap="square" lIns="0" tIns="0" rIns="0" bIns="0" rtlCol="0" anchor="ctr"/>
          <a:lstStyle/>
          <a:p>
            <a:pPr marL="0" indent="0" algn="l">
              <a:buNone/>
            </a:pPr>
            <a:r>
              <a:rPr lang="en-US" sz="900" dirty="0">
                <a:solidFill>
                  <a:srgbClr val="9CA3AF"/>
                </a:solidFill>
                <a:latin typeface="Raleway" pitchFamily="34" charset="0"/>
                <a:ea typeface="Raleway" pitchFamily="34" charset="-122"/>
                <a:cs typeface="Raleway" pitchFamily="34" charset="-120"/>
              </a:rPr>
              <a:t>Pending</a:t>
            </a:r>
            <a:endParaRPr lang="en-US" sz="900" dirty="0"/>
          </a:p>
        </p:txBody>
      </p:sp>
      <p:sp>
        <p:nvSpPr>
          <p:cNvPr id="64" name="Text 58">
            <a:extLst>
              <a:ext uri="{FF2B5EF4-FFF2-40B4-BE49-F238E27FC236}">
                <a16:creationId xmlns:a16="http://schemas.microsoft.com/office/drawing/2014/main" id="{EE9F8875-BF34-4461-CBCB-214B7FC782C3}"/>
              </a:ext>
            </a:extLst>
          </p:cNvPr>
          <p:cNvSpPr txBox="1"/>
          <p:nvPr/>
        </p:nvSpPr>
        <p:spPr>
          <a:xfrm>
            <a:off x="6829654" y="4756709"/>
            <a:ext cx="466801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Verify frontend continues</a:t>
            </a:r>
            <a:endParaRPr lang="en-US" sz="900" dirty="0"/>
          </a:p>
        </p:txBody>
      </p:sp>
      <p:sp>
        <p:nvSpPr>
          <p:cNvPr id="65" name="Text 59">
            <a:extLst>
              <a:ext uri="{FF2B5EF4-FFF2-40B4-BE49-F238E27FC236}">
                <a16:creationId xmlns:a16="http://schemas.microsoft.com/office/drawing/2014/main" id="{F22D64C4-9FEA-AFFF-AE69-099ABF60E26E}"/>
              </a:ext>
            </a:extLst>
          </p:cNvPr>
          <p:cNvSpPr txBox="1"/>
          <p:nvPr/>
        </p:nvSpPr>
        <p:spPr>
          <a:xfrm>
            <a:off x="815645" y="5585155"/>
            <a:ext cx="2286914"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 Frontend continues through MSW</a:t>
            </a:r>
            <a:endParaRPr lang="en-US" sz="1000" dirty="0"/>
          </a:p>
        </p:txBody>
      </p:sp>
      <p:pic>
        <p:nvPicPr>
          <p:cNvPr id="66" name="Image 3" descr="preencoded.png">
            <a:extLst>
              <a:ext uri="{FF2B5EF4-FFF2-40B4-BE49-F238E27FC236}">
                <a16:creationId xmlns:a16="http://schemas.microsoft.com/office/drawing/2014/main" id="{2603EEFA-1CA8-F685-C697-5113C99A8C7B}"/>
              </a:ext>
            </a:extLst>
          </p:cNvPr>
          <p:cNvPicPr>
            <a:picLocks noChangeAspect="1"/>
          </p:cNvPicPr>
          <p:nvPr/>
        </p:nvPicPr>
        <p:blipFill>
          <a:blip r:embed="rId5"/>
          <a:srcRect/>
          <a:stretch/>
        </p:blipFill>
        <p:spPr>
          <a:xfrm>
            <a:off x="609905" y="5611673"/>
            <a:ext cx="133502" cy="133502"/>
          </a:xfrm>
          <a:prstGeom prst="rect">
            <a:avLst/>
          </a:prstGeom>
        </p:spPr>
      </p:pic>
      <p:sp>
        <p:nvSpPr>
          <p:cNvPr id="67" name="Text 60">
            <a:extLst>
              <a:ext uri="{FF2B5EF4-FFF2-40B4-BE49-F238E27FC236}">
                <a16:creationId xmlns:a16="http://schemas.microsoft.com/office/drawing/2014/main" id="{EB712899-B0BA-B565-458B-12AD2D1EEA3C}"/>
              </a:ext>
            </a:extLst>
          </p:cNvPr>
          <p:cNvSpPr txBox="1"/>
          <p:nvPr/>
        </p:nvSpPr>
        <p:spPr>
          <a:xfrm>
            <a:off x="3255264" y="5585155"/>
            <a:ext cx="1702613"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 Backend warning visible</a:t>
            </a:r>
            <a:endParaRPr lang="en-US" sz="1000" dirty="0"/>
          </a:p>
        </p:txBody>
      </p:sp>
      <p:pic>
        <p:nvPicPr>
          <p:cNvPr id="68" name="Image 4" descr="preencoded.png">
            <a:extLst>
              <a:ext uri="{FF2B5EF4-FFF2-40B4-BE49-F238E27FC236}">
                <a16:creationId xmlns:a16="http://schemas.microsoft.com/office/drawing/2014/main" id="{069B92BD-8F0A-4F5C-A57B-5244CCB339BC}"/>
              </a:ext>
            </a:extLst>
          </p:cNvPr>
          <p:cNvPicPr>
            <a:picLocks noChangeAspect="1"/>
          </p:cNvPicPr>
          <p:nvPr/>
        </p:nvPicPr>
        <p:blipFill>
          <a:blip r:embed="rId6"/>
          <a:srcRect/>
          <a:stretch/>
        </p:blipFill>
        <p:spPr>
          <a:xfrm>
            <a:off x="3049524" y="5611673"/>
            <a:ext cx="133502" cy="133502"/>
          </a:xfrm>
          <a:prstGeom prst="rect">
            <a:avLst/>
          </a:prstGeom>
        </p:spPr>
      </p:pic>
    </p:spTree>
    <p:extLst>
      <p:ext uri="{BB962C8B-B14F-4D97-AF65-F5344CB8AC3E}">
        <p14:creationId xmlns:p14="http://schemas.microsoft.com/office/powerpoint/2010/main" val="421823154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EB42-2759-4E0C-F6F4-DA5C5E93A743}"/>
            </a:ext>
          </a:extLst>
        </p:cNvPr>
        <p:cNvGrpSpPr/>
        <p:nvPr/>
      </p:nvGrpSpPr>
      <p:grpSpPr>
        <a:xfrm>
          <a:off x="0" y="0"/>
          <a:ext cx="0" cy="0"/>
          <a:chOff x="0" y="0"/>
          <a:chExt cx="0" cy="0"/>
        </a:xfrm>
      </p:grpSpPr>
      <p:sp>
        <p:nvSpPr>
          <p:cNvPr id="3" name="Shape 2">
            <a:extLst>
              <a:ext uri="{FF2B5EF4-FFF2-40B4-BE49-F238E27FC236}">
                <a16:creationId xmlns:a16="http://schemas.microsoft.com/office/drawing/2014/main" id="{F7619D00-3858-59D4-307D-FF588A5A4BAC}"/>
              </a:ext>
            </a:extLst>
          </p:cNvPr>
          <p:cNvSpPr/>
          <p:nvPr/>
        </p:nvSpPr>
        <p:spPr>
          <a:xfrm>
            <a:off x="10084918" y="795715"/>
            <a:ext cx="1429207" cy="400507"/>
          </a:xfrm>
          <a:prstGeom prst="roundRect">
            <a:avLst>
              <a:gd name="adj" fmla="val 228311"/>
            </a:avLst>
          </a:prstGeom>
          <a:solidFill>
            <a:srgbClr val="FFFFFF"/>
          </a:solidFill>
          <a:ln w="25400">
            <a:solidFill>
              <a:srgbClr val="000000"/>
            </a:solidFill>
            <a:prstDash val="solid"/>
          </a:ln>
        </p:spPr>
        <p:txBody>
          <a:bodyPr/>
          <a:lstStyle/>
          <a:p>
            <a:endParaRPr lang="en-US"/>
          </a:p>
        </p:txBody>
      </p:sp>
      <p:sp>
        <p:nvSpPr>
          <p:cNvPr id="5" name="Text 3">
            <a:extLst>
              <a:ext uri="{FF2B5EF4-FFF2-40B4-BE49-F238E27FC236}">
                <a16:creationId xmlns:a16="http://schemas.microsoft.com/office/drawing/2014/main" id="{C23FAA68-D04E-A2FF-ECED-699883AA73C1}"/>
              </a:ext>
            </a:extLst>
          </p:cNvPr>
          <p:cNvSpPr/>
          <p:nvPr/>
        </p:nvSpPr>
        <p:spPr>
          <a:xfrm>
            <a:off x="10055657" y="795715"/>
            <a:ext cx="1485900" cy="400507"/>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rgbClr val="000000"/>
                </a:solidFill>
                <a:latin typeface="Saira Condensed" pitchFamily="34" charset="0"/>
                <a:ea typeface="Saira Condensed" pitchFamily="34" charset="-122"/>
                <a:cs typeface="Saira Condensed" pitchFamily="34" charset="-120"/>
              </a:rPr>
              <a:t>MSW Beyond Tests</a:t>
            </a:r>
            <a:endParaRPr lang="en-US" sz="1000" dirty="0"/>
          </a:p>
        </p:txBody>
      </p:sp>
      <p:sp>
        <p:nvSpPr>
          <p:cNvPr id="7" name="Text 5">
            <a:extLst>
              <a:ext uri="{FF2B5EF4-FFF2-40B4-BE49-F238E27FC236}">
                <a16:creationId xmlns:a16="http://schemas.microsoft.com/office/drawing/2014/main" id="{66442E3A-C89C-2B16-528C-3C6A743075E0}"/>
              </a:ext>
            </a:extLst>
          </p:cNvPr>
          <p:cNvSpPr txBox="1"/>
          <p:nvPr/>
        </p:nvSpPr>
        <p:spPr>
          <a:xfrm>
            <a:off x="609905" y="1709741"/>
            <a:ext cx="11087100" cy="267005"/>
          </a:xfrm>
          <a:prstGeom prst="rect">
            <a:avLst/>
          </a:prstGeom>
          <a:noFill/>
          <a:ln/>
        </p:spPr>
        <p:txBody>
          <a:bodyPr wrap="square" lIns="0" tIns="0" rIns="0" bIns="0" rtlCol="0" anchor="ctr"/>
          <a:lstStyle/>
          <a:p>
            <a:pPr marL="0" indent="0" algn="l">
              <a:buNone/>
            </a:pPr>
            <a:r>
              <a:rPr lang="en-US" sz="1300" b="1" dirty="0">
                <a:solidFill>
                  <a:srgbClr val="374151"/>
                </a:solidFill>
                <a:latin typeface="Raleway" pitchFamily="34" charset="0"/>
                <a:ea typeface="Raleway" pitchFamily="34" charset="-122"/>
                <a:cs typeface="Raleway" pitchFamily="34" charset="-120"/>
              </a:rPr>
              <a:t>Backend Endpoint + Bypass to Real API</a:t>
            </a:r>
            <a:endParaRPr lang="en-US" sz="1300" dirty="0"/>
          </a:p>
        </p:txBody>
      </p:sp>
      <p:sp>
        <p:nvSpPr>
          <p:cNvPr id="8" name="Text 6">
            <a:extLst>
              <a:ext uri="{FF2B5EF4-FFF2-40B4-BE49-F238E27FC236}">
                <a16:creationId xmlns:a16="http://schemas.microsoft.com/office/drawing/2014/main" id="{6E4E8891-2ECF-B775-EAFA-48CFC68FA3F5}"/>
              </a:ext>
            </a:extLst>
          </p:cNvPr>
          <p:cNvSpPr txBox="1"/>
          <p:nvPr/>
        </p:nvSpPr>
        <p:spPr>
          <a:xfrm>
            <a:off x="609905" y="2205346"/>
            <a:ext cx="8610905" cy="505663"/>
          </a:xfrm>
          <a:prstGeom prst="rect">
            <a:avLst/>
          </a:prstGeom>
          <a:noFill/>
          <a:ln/>
        </p:spPr>
        <p:txBody>
          <a:bodyPr wrap="square" lIns="0" tIns="0" rIns="0" bIns="0" rtlCol="0" anchor="ctr"/>
          <a:lstStyle/>
          <a:p>
            <a:pPr marL="0" indent="0" algn="l">
              <a:buNone/>
            </a:pPr>
            <a:r>
              <a:rPr lang="en-US" sz="1300" dirty="0">
                <a:solidFill>
                  <a:srgbClr val="000000"/>
                </a:solidFill>
                <a:latin typeface="Raleway" pitchFamily="34" charset="0"/>
                <a:ea typeface="Raleway" pitchFamily="34" charset="-122"/>
                <a:cs typeface="Raleway" pitchFamily="34" charset="-120"/>
              </a:rPr>
              <a:t>This demo case proves that the real integration path remains available and honest. When the backend is ON, real responses load normally. When it's OFF, requests fail with a clear backend unreachable warning.</a:t>
            </a:r>
            <a:endParaRPr lang="en-US" sz="1300" dirty="0"/>
          </a:p>
        </p:txBody>
      </p:sp>
      <p:sp>
        <p:nvSpPr>
          <p:cNvPr id="70" name="Shape 7">
            <a:extLst>
              <a:ext uri="{FF2B5EF4-FFF2-40B4-BE49-F238E27FC236}">
                <a16:creationId xmlns:a16="http://schemas.microsoft.com/office/drawing/2014/main" id="{840805DE-E914-B154-017E-8CC42CDF4649}"/>
              </a:ext>
            </a:extLst>
          </p:cNvPr>
          <p:cNvSpPr/>
          <p:nvPr/>
        </p:nvSpPr>
        <p:spPr>
          <a:xfrm>
            <a:off x="609905" y="3012761"/>
            <a:ext cx="5333695" cy="2000707"/>
          </a:xfrm>
          <a:prstGeom prst="roundRect">
            <a:avLst>
              <a:gd name="adj" fmla="val 3482"/>
            </a:avLst>
          </a:prstGeom>
          <a:solidFill>
            <a:srgbClr val="FFFFFF"/>
          </a:solidFill>
          <a:ln w="12700">
            <a:solidFill>
              <a:srgbClr val="E5E7EB"/>
            </a:solidFill>
            <a:prstDash val="solid"/>
          </a:ln>
        </p:spPr>
        <p:txBody>
          <a:bodyPr/>
          <a:lstStyle/>
          <a:p>
            <a:endParaRPr lang="en-US"/>
          </a:p>
        </p:txBody>
      </p:sp>
      <p:sp>
        <p:nvSpPr>
          <p:cNvPr id="71" name="Shape 8">
            <a:extLst>
              <a:ext uri="{FF2B5EF4-FFF2-40B4-BE49-F238E27FC236}">
                <a16:creationId xmlns:a16="http://schemas.microsoft.com/office/drawing/2014/main" id="{69B13AE5-BE34-4E91-7D06-9A8DBBA19E8A}"/>
              </a:ext>
            </a:extLst>
          </p:cNvPr>
          <p:cNvSpPr/>
          <p:nvPr/>
        </p:nvSpPr>
        <p:spPr>
          <a:xfrm>
            <a:off x="771754" y="3251420"/>
            <a:ext cx="114300" cy="114300"/>
          </a:xfrm>
          <a:prstGeom prst="ellipse">
            <a:avLst/>
          </a:prstGeom>
          <a:solidFill>
            <a:srgbClr val="22C55E"/>
          </a:solidFill>
          <a:ln w="12700">
            <a:solidFill>
              <a:srgbClr val="FFFFFF">
                <a:alpha val="0"/>
              </a:srgbClr>
            </a:solidFill>
            <a:prstDash val="solid"/>
          </a:ln>
        </p:spPr>
        <p:txBody>
          <a:bodyPr/>
          <a:lstStyle/>
          <a:p>
            <a:endParaRPr lang="en-US"/>
          </a:p>
        </p:txBody>
      </p:sp>
      <p:sp>
        <p:nvSpPr>
          <p:cNvPr id="72" name="Text 9">
            <a:extLst>
              <a:ext uri="{FF2B5EF4-FFF2-40B4-BE49-F238E27FC236}">
                <a16:creationId xmlns:a16="http://schemas.microsoft.com/office/drawing/2014/main" id="{65841814-6EDE-407A-9D53-038C15F95B07}"/>
              </a:ext>
            </a:extLst>
          </p:cNvPr>
          <p:cNvSpPr txBox="1"/>
          <p:nvPr/>
        </p:nvSpPr>
        <p:spPr>
          <a:xfrm>
            <a:off x="961949" y="3175524"/>
            <a:ext cx="1870862"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Raleway" pitchFamily="34" charset="0"/>
                <a:ea typeface="Raleway" pitchFamily="34" charset="-122"/>
                <a:cs typeface="Raleway" pitchFamily="34" charset="-120"/>
              </a:rPr>
              <a:t>Backend Server ON</a:t>
            </a:r>
            <a:endParaRPr lang="en-US" sz="1300" dirty="0"/>
          </a:p>
        </p:txBody>
      </p:sp>
      <p:sp>
        <p:nvSpPr>
          <p:cNvPr id="73" name="Text 10">
            <a:extLst>
              <a:ext uri="{FF2B5EF4-FFF2-40B4-BE49-F238E27FC236}">
                <a16:creationId xmlns:a16="http://schemas.microsoft.com/office/drawing/2014/main" id="{56B6E1CC-C2D4-7C52-D952-1AFC2A357C8A}"/>
              </a:ext>
            </a:extLst>
          </p:cNvPr>
          <p:cNvSpPr txBox="1"/>
          <p:nvPr/>
        </p:nvSpPr>
        <p:spPr>
          <a:xfrm>
            <a:off x="5283403" y="3213015"/>
            <a:ext cx="600761"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 Active</a:t>
            </a:r>
            <a:endParaRPr lang="en-US" sz="1000" dirty="0"/>
          </a:p>
        </p:txBody>
      </p:sp>
      <p:sp>
        <p:nvSpPr>
          <p:cNvPr id="74" name="Shape 11">
            <a:extLst>
              <a:ext uri="{FF2B5EF4-FFF2-40B4-BE49-F238E27FC236}">
                <a16:creationId xmlns:a16="http://schemas.microsoft.com/office/drawing/2014/main" id="{DDA62130-CB6C-94BD-34FD-601D1657E394}"/>
              </a:ext>
            </a:extLst>
          </p:cNvPr>
          <p:cNvSpPr/>
          <p:nvPr/>
        </p:nvSpPr>
        <p:spPr>
          <a:xfrm>
            <a:off x="771754" y="3594320"/>
            <a:ext cx="5009998" cy="647395"/>
          </a:xfrm>
          <a:prstGeom prst="roundRect">
            <a:avLst>
              <a:gd name="adj" fmla="val 16617"/>
            </a:avLst>
          </a:prstGeom>
          <a:solidFill>
            <a:srgbClr val="F9FAFB"/>
          </a:solidFill>
          <a:ln w="12700">
            <a:solidFill>
              <a:srgbClr val="FFFFFF">
                <a:alpha val="0"/>
              </a:srgbClr>
            </a:solidFill>
            <a:prstDash val="solid"/>
          </a:ln>
        </p:spPr>
        <p:txBody>
          <a:bodyPr/>
          <a:lstStyle/>
          <a:p>
            <a:endParaRPr lang="en-US"/>
          </a:p>
        </p:txBody>
      </p:sp>
      <p:sp>
        <p:nvSpPr>
          <p:cNvPr id="75" name="Text 12">
            <a:extLst>
              <a:ext uri="{FF2B5EF4-FFF2-40B4-BE49-F238E27FC236}">
                <a16:creationId xmlns:a16="http://schemas.microsoft.com/office/drawing/2014/main" id="{F5880669-3B05-2BDE-40BB-F2A6A40E74E4}"/>
              </a:ext>
            </a:extLst>
          </p:cNvPr>
          <p:cNvSpPr txBox="1"/>
          <p:nvPr/>
        </p:nvSpPr>
        <p:spPr>
          <a:xfrm>
            <a:off x="886054" y="3708620"/>
            <a:ext cx="489661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API Endpoint</a:t>
            </a:r>
            <a:endParaRPr lang="en-US" sz="1000" dirty="0"/>
          </a:p>
        </p:txBody>
      </p:sp>
      <p:sp>
        <p:nvSpPr>
          <p:cNvPr id="76" name="Text 13">
            <a:extLst>
              <a:ext uri="{FF2B5EF4-FFF2-40B4-BE49-F238E27FC236}">
                <a16:creationId xmlns:a16="http://schemas.microsoft.com/office/drawing/2014/main" id="{14D6ABF5-BB87-3EE9-FC31-72C84734E6B6}"/>
              </a:ext>
            </a:extLst>
          </p:cNvPr>
          <p:cNvSpPr txBox="1"/>
          <p:nvPr/>
        </p:nvSpPr>
        <p:spPr>
          <a:xfrm>
            <a:off x="886054" y="3937220"/>
            <a:ext cx="4896612" cy="191110"/>
          </a:xfrm>
          <a:prstGeom prst="rect">
            <a:avLst/>
          </a:prstGeom>
          <a:noFill/>
          <a:ln/>
        </p:spPr>
        <p:txBody>
          <a:bodyPr wrap="square" lIns="0" tIns="0" rIns="0" bIns="0" rtlCol="0" anchor="ctr"/>
          <a:lstStyle/>
          <a:p>
            <a:pPr marL="0" indent="0" algn="l">
              <a:buNone/>
            </a:pPr>
            <a:r>
              <a:rPr lang="en-US" sz="1000" dirty="0">
                <a:solidFill>
                  <a:srgbClr val="2563EB"/>
                </a:solidFill>
                <a:latin typeface="ui-monospace" pitchFamily="34" charset="0"/>
                <a:ea typeface="ui-monospace" pitchFamily="34" charset="-122"/>
                <a:cs typeface="ui-monospace" pitchFamily="34" charset="-120"/>
              </a:rPr>
              <a:t>localhost:8787/api/data</a:t>
            </a:r>
            <a:endParaRPr lang="en-US" sz="1000" dirty="0"/>
          </a:p>
        </p:txBody>
      </p:sp>
      <p:pic>
        <p:nvPicPr>
          <p:cNvPr id="77" name="Image 1" descr="preencoded.png">
            <a:extLst>
              <a:ext uri="{FF2B5EF4-FFF2-40B4-BE49-F238E27FC236}">
                <a16:creationId xmlns:a16="http://schemas.microsoft.com/office/drawing/2014/main" id="{72AE85B3-BBB9-F310-41E6-2AAB8CAB499F}"/>
              </a:ext>
            </a:extLst>
          </p:cNvPr>
          <p:cNvPicPr>
            <a:picLocks noChangeAspect="1"/>
          </p:cNvPicPr>
          <p:nvPr/>
        </p:nvPicPr>
        <p:blipFill>
          <a:blip r:embed="rId3"/>
          <a:srcRect/>
          <a:stretch/>
        </p:blipFill>
        <p:spPr>
          <a:xfrm>
            <a:off x="771754" y="4384361"/>
            <a:ext cx="133502" cy="133502"/>
          </a:xfrm>
          <a:prstGeom prst="rect">
            <a:avLst/>
          </a:prstGeom>
        </p:spPr>
      </p:pic>
      <p:sp>
        <p:nvSpPr>
          <p:cNvPr id="78" name="Text 14">
            <a:extLst>
              <a:ext uri="{FF2B5EF4-FFF2-40B4-BE49-F238E27FC236}">
                <a16:creationId xmlns:a16="http://schemas.microsoft.com/office/drawing/2014/main" id="{E77B71F2-9EE3-1DEB-5410-2BB20ECED09E}"/>
              </a:ext>
            </a:extLst>
          </p:cNvPr>
          <p:cNvSpPr txBox="1"/>
          <p:nvPr/>
        </p:nvSpPr>
        <p:spPr>
          <a:xfrm>
            <a:off x="981151" y="4356015"/>
            <a:ext cx="2165299"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Real responses load normally</a:t>
            </a:r>
            <a:endParaRPr lang="en-US" sz="1000" dirty="0"/>
          </a:p>
        </p:txBody>
      </p:sp>
      <p:pic>
        <p:nvPicPr>
          <p:cNvPr id="79" name="Image 2" descr="preencoded.png">
            <a:extLst>
              <a:ext uri="{FF2B5EF4-FFF2-40B4-BE49-F238E27FC236}">
                <a16:creationId xmlns:a16="http://schemas.microsoft.com/office/drawing/2014/main" id="{D0AF5890-A255-78F7-AC44-FE62827277F1}"/>
              </a:ext>
            </a:extLst>
          </p:cNvPr>
          <p:cNvPicPr>
            <a:picLocks noChangeAspect="1"/>
          </p:cNvPicPr>
          <p:nvPr/>
        </p:nvPicPr>
        <p:blipFill>
          <a:blip r:embed="rId3"/>
          <a:srcRect/>
          <a:stretch/>
        </p:blipFill>
        <p:spPr>
          <a:xfrm>
            <a:off x="771754" y="4689771"/>
            <a:ext cx="133502" cy="133502"/>
          </a:xfrm>
          <a:prstGeom prst="rect">
            <a:avLst/>
          </a:prstGeom>
        </p:spPr>
      </p:pic>
      <p:sp>
        <p:nvSpPr>
          <p:cNvPr id="80" name="Text 15">
            <a:extLst>
              <a:ext uri="{FF2B5EF4-FFF2-40B4-BE49-F238E27FC236}">
                <a16:creationId xmlns:a16="http://schemas.microsoft.com/office/drawing/2014/main" id="{1D61E31B-ADDB-1467-40CE-530945C09BF6}"/>
              </a:ext>
            </a:extLst>
          </p:cNvPr>
          <p:cNvSpPr txBox="1"/>
          <p:nvPr/>
        </p:nvSpPr>
        <p:spPr>
          <a:xfrm>
            <a:off x="981151" y="4661424"/>
            <a:ext cx="200710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Integration validation works</a:t>
            </a:r>
            <a:endParaRPr lang="en-US" sz="1000" dirty="0"/>
          </a:p>
        </p:txBody>
      </p:sp>
      <p:sp>
        <p:nvSpPr>
          <p:cNvPr id="81" name="Shape 16">
            <a:extLst>
              <a:ext uri="{FF2B5EF4-FFF2-40B4-BE49-F238E27FC236}">
                <a16:creationId xmlns:a16="http://schemas.microsoft.com/office/drawing/2014/main" id="{EF65EAB8-0D70-E212-15AE-070FD70FE5D6}"/>
              </a:ext>
            </a:extLst>
          </p:cNvPr>
          <p:cNvSpPr/>
          <p:nvPr/>
        </p:nvSpPr>
        <p:spPr>
          <a:xfrm>
            <a:off x="6248095" y="3012761"/>
            <a:ext cx="5333695" cy="2000707"/>
          </a:xfrm>
          <a:prstGeom prst="roundRect">
            <a:avLst>
              <a:gd name="adj" fmla="val 3482"/>
            </a:avLst>
          </a:prstGeom>
          <a:solidFill>
            <a:srgbClr val="FFFFFF"/>
          </a:solidFill>
          <a:ln w="12700">
            <a:solidFill>
              <a:srgbClr val="E5E7EB"/>
            </a:solidFill>
            <a:prstDash val="solid"/>
          </a:ln>
        </p:spPr>
        <p:txBody>
          <a:bodyPr/>
          <a:lstStyle/>
          <a:p>
            <a:endParaRPr lang="en-US"/>
          </a:p>
        </p:txBody>
      </p:sp>
      <p:sp>
        <p:nvSpPr>
          <p:cNvPr id="82" name="Shape 17">
            <a:extLst>
              <a:ext uri="{FF2B5EF4-FFF2-40B4-BE49-F238E27FC236}">
                <a16:creationId xmlns:a16="http://schemas.microsoft.com/office/drawing/2014/main" id="{843B2FAF-F75E-7B23-C91B-8980ED2EFC6E}"/>
              </a:ext>
            </a:extLst>
          </p:cNvPr>
          <p:cNvSpPr/>
          <p:nvPr/>
        </p:nvSpPr>
        <p:spPr>
          <a:xfrm>
            <a:off x="6409944" y="3251420"/>
            <a:ext cx="114300" cy="114300"/>
          </a:xfrm>
          <a:prstGeom prst="ellipse">
            <a:avLst/>
          </a:prstGeom>
          <a:solidFill>
            <a:srgbClr val="EF4444"/>
          </a:solidFill>
          <a:ln w="12700">
            <a:solidFill>
              <a:srgbClr val="FFFFFF">
                <a:alpha val="0"/>
              </a:srgbClr>
            </a:solidFill>
            <a:prstDash val="solid"/>
          </a:ln>
        </p:spPr>
        <p:txBody>
          <a:bodyPr/>
          <a:lstStyle/>
          <a:p>
            <a:endParaRPr lang="en-US"/>
          </a:p>
        </p:txBody>
      </p:sp>
      <p:sp>
        <p:nvSpPr>
          <p:cNvPr id="83" name="Text 18">
            <a:extLst>
              <a:ext uri="{FF2B5EF4-FFF2-40B4-BE49-F238E27FC236}">
                <a16:creationId xmlns:a16="http://schemas.microsoft.com/office/drawing/2014/main" id="{7F9AC899-4D7F-C982-70C6-511B781B420E}"/>
              </a:ext>
            </a:extLst>
          </p:cNvPr>
          <p:cNvSpPr txBox="1"/>
          <p:nvPr/>
        </p:nvSpPr>
        <p:spPr>
          <a:xfrm>
            <a:off x="6601054" y="3175524"/>
            <a:ext cx="1961388"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Raleway" pitchFamily="34" charset="0"/>
                <a:ea typeface="Raleway" pitchFamily="34" charset="-122"/>
                <a:cs typeface="Raleway" pitchFamily="34" charset="-120"/>
              </a:rPr>
              <a:t>Backend Server OFF</a:t>
            </a:r>
            <a:endParaRPr lang="en-US" sz="1300" dirty="0"/>
          </a:p>
        </p:txBody>
      </p:sp>
      <p:sp>
        <p:nvSpPr>
          <p:cNvPr id="84" name="Text 19">
            <a:extLst>
              <a:ext uri="{FF2B5EF4-FFF2-40B4-BE49-F238E27FC236}">
                <a16:creationId xmlns:a16="http://schemas.microsoft.com/office/drawing/2014/main" id="{EA8D92B0-6E74-71A8-B943-27CD36200D20}"/>
              </a:ext>
            </a:extLst>
          </p:cNvPr>
          <p:cNvSpPr txBox="1"/>
          <p:nvPr/>
        </p:nvSpPr>
        <p:spPr>
          <a:xfrm>
            <a:off x="10819181" y="3213015"/>
            <a:ext cx="726034" cy="191110"/>
          </a:xfrm>
          <a:prstGeom prst="rect">
            <a:avLst/>
          </a:prstGeom>
          <a:noFill/>
          <a:ln/>
        </p:spPr>
        <p:txBody>
          <a:bodyPr wrap="square" lIns="0" tIns="0" rIns="0" bIns="0" rtlCol="0" anchor="ctr"/>
          <a:lstStyle/>
          <a:p>
            <a:pPr marL="0" indent="0" algn="l">
              <a:buNone/>
            </a:pPr>
            <a:r>
              <a:rPr lang="en-US" sz="1000" dirty="0">
                <a:solidFill>
                  <a:srgbClr val="DC2626"/>
                </a:solidFill>
                <a:latin typeface="Raleway" pitchFamily="34" charset="0"/>
                <a:ea typeface="Raleway" pitchFamily="34" charset="-122"/>
                <a:cs typeface="Raleway" pitchFamily="34" charset="-120"/>
              </a:rPr>
              <a:t>● Inactive</a:t>
            </a:r>
            <a:endParaRPr lang="en-US" sz="1000" dirty="0"/>
          </a:p>
        </p:txBody>
      </p:sp>
      <p:sp>
        <p:nvSpPr>
          <p:cNvPr id="85" name="Shape 20">
            <a:extLst>
              <a:ext uri="{FF2B5EF4-FFF2-40B4-BE49-F238E27FC236}">
                <a16:creationId xmlns:a16="http://schemas.microsoft.com/office/drawing/2014/main" id="{359A4F14-1911-C899-00CC-A00A0FC21F8B}"/>
              </a:ext>
            </a:extLst>
          </p:cNvPr>
          <p:cNvSpPr/>
          <p:nvPr/>
        </p:nvSpPr>
        <p:spPr>
          <a:xfrm>
            <a:off x="6409944" y="3594320"/>
            <a:ext cx="5009998" cy="647395"/>
          </a:xfrm>
          <a:prstGeom prst="roundRect">
            <a:avLst>
              <a:gd name="adj" fmla="val 16617"/>
            </a:avLst>
          </a:prstGeom>
          <a:solidFill>
            <a:srgbClr val="F9FAFB"/>
          </a:solidFill>
          <a:ln w="12700">
            <a:solidFill>
              <a:srgbClr val="FFFFFF">
                <a:alpha val="0"/>
              </a:srgbClr>
            </a:solidFill>
            <a:prstDash val="solid"/>
          </a:ln>
        </p:spPr>
        <p:txBody>
          <a:bodyPr/>
          <a:lstStyle/>
          <a:p>
            <a:endParaRPr lang="en-US"/>
          </a:p>
        </p:txBody>
      </p:sp>
      <p:sp>
        <p:nvSpPr>
          <p:cNvPr id="86" name="Text 21">
            <a:extLst>
              <a:ext uri="{FF2B5EF4-FFF2-40B4-BE49-F238E27FC236}">
                <a16:creationId xmlns:a16="http://schemas.microsoft.com/office/drawing/2014/main" id="{DEEC360E-B517-897C-C849-953A61E81BEC}"/>
              </a:ext>
            </a:extLst>
          </p:cNvPr>
          <p:cNvSpPr txBox="1"/>
          <p:nvPr/>
        </p:nvSpPr>
        <p:spPr>
          <a:xfrm>
            <a:off x="6524244" y="3708620"/>
            <a:ext cx="489661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API Endpoint</a:t>
            </a:r>
            <a:endParaRPr lang="en-US" sz="1000" dirty="0"/>
          </a:p>
        </p:txBody>
      </p:sp>
      <p:sp>
        <p:nvSpPr>
          <p:cNvPr id="87" name="Text 22">
            <a:extLst>
              <a:ext uri="{FF2B5EF4-FFF2-40B4-BE49-F238E27FC236}">
                <a16:creationId xmlns:a16="http://schemas.microsoft.com/office/drawing/2014/main" id="{BC76DE3D-49DA-D81E-BB51-C0707245C768}"/>
              </a:ext>
            </a:extLst>
          </p:cNvPr>
          <p:cNvSpPr txBox="1"/>
          <p:nvPr/>
        </p:nvSpPr>
        <p:spPr>
          <a:xfrm>
            <a:off x="6524244" y="3937220"/>
            <a:ext cx="4896612" cy="191110"/>
          </a:xfrm>
          <a:prstGeom prst="rect">
            <a:avLst/>
          </a:prstGeom>
          <a:noFill/>
          <a:ln/>
        </p:spPr>
        <p:txBody>
          <a:bodyPr wrap="square" lIns="0" tIns="0" rIns="0" bIns="0" rtlCol="0" anchor="ctr"/>
          <a:lstStyle/>
          <a:p>
            <a:pPr marL="0" indent="0" algn="l">
              <a:buNone/>
            </a:pPr>
            <a:r>
              <a:rPr lang="en-US" sz="1000" dirty="0">
                <a:solidFill>
                  <a:srgbClr val="9CA3AF"/>
                </a:solidFill>
                <a:latin typeface="ui-monospace" pitchFamily="34" charset="0"/>
                <a:ea typeface="ui-monospace" pitchFamily="34" charset="-122"/>
                <a:cs typeface="ui-monospace" pitchFamily="34" charset="-120"/>
              </a:rPr>
              <a:t>localhost:8787/api/data</a:t>
            </a:r>
            <a:endParaRPr lang="en-US" sz="1000" dirty="0"/>
          </a:p>
        </p:txBody>
      </p:sp>
      <p:pic>
        <p:nvPicPr>
          <p:cNvPr id="88" name="Image 3" descr="preencoded.png">
            <a:extLst>
              <a:ext uri="{FF2B5EF4-FFF2-40B4-BE49-F238E27FC236}">
                <a16:creationId xmlns:a16="http://schemas.microsoft.com/office/drawing/2014/main" id="{1CED77AF-8C86-0FE0-5519-160E0144F422}"/>
              </a:ext>
            </a:extLst>
          </p:cNvPr>
          <p:cNvPicPr>
            <a:picLocks noChangeAspect="1"/>
          </p:cNvPicPr>
          <p:nvPr/>
        </p:nvPicPr>
        <p:blipFill>
          <a:blip r:embed="rId4"/>
          <a:srcRect/>
          <a:stretch/>
        </p:blipFill>
        <p:spPr>
          <a:xfrm>
            <a:off x="6409944" y="4384361"/>
            <a:ext cx="133502" cy="133502"/>
          </a:xfrm>
          <a:prstGeom prst="rect">
            <a:avLst/>
          </a:prstGeom>
        </p:spPr>
      </p:pic>
      <p:sp>
        <p:nvSpPr>
          <p:cNvPr id="89" name="Text 23">
            <a:extLst>
              <a:ext uri="{FF2B5EF4-FFF2-40B4-BE49-F238E27FC236}">
                <a16:creationId xmlns:a16="http://schemas.microsoft.com/office/drawing/2014/main" id="{FB049744-90A1-CD1B-92E4-6D3AE87E153A}"/>
              </a:ext>
            </a:extLst>
          </p:cNvPr>
          <p:cNvSpPr txBox="1"/>
          <p:nvPr/>
        </p:nvSpPr>
        <p:spPr>
          <a:xfrm>
            <a:off x="6620256" y="4356015"/>
            <a:ext cx="191566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Request fails with warning</a:t>
            </a:r>
            <a:endParaRPr lang="en-US" sz="1000" dirty="0"/>
          </a:p>
        </p:txBody>
      </p:sp>
      <p:pic>
        <p:nvPicPr>
          <p:cNvPr id="90" name="Image 4" descr="preencoded.png">
            <a:extLst>
              <a:ext uri="{FF2B5EF4-FFF2-40B4-BE49-F238E27FC236}">
                <a16:creationId xmlns:a16="http://schemas.microsoft.com/office/drawing/2014/main" id="{58F0C768-0C9D-92FF-6799-B74956FF2F3D}"/>
              </a:ext>
            </a:extLst>
          </p:cNvPr>
          <p:cNvPicPr>
            <a:picLocks noChangeAspect="1"/>
          </p:cNvPicPr>
          <p:nvPr/>
        </p:nvPicPr>
        <p:blipFill>
          <a:blip r:embed="rId5"/>
          <a:srcRect/>
          <a:stretch/>
        </p:blipFill>
        <p:spPr>
          <a:xfrm>
            <a:off x="6409944" y="4689771"/>
            <a:ext cx="133502" cy="133502"/>
          </a:xfrm>
          <a:prstGeom prst="rect">
            <a:avLst/>
          </a:prstGeom>
        </p:spPr>
      </p:pic>
      <p:sp>
        <p:nvSpPr>
          <p:cNvPr id="91" name="Text 24">
            <a:extLst>
              <a:ext uri="{FF2B5EF4-FFF2-40B4-BE49-F238E27FC236}">
                <a16:creationId xmlns:a16="http://schemas.microsoft.com/office/drawing/2014/main" id="{604B866F-2715-405D-8B56-C1FDF7FB6176}"/>
              </a:ext>
            </a:extLst>
          </p:cNvPr>
          <p:cNvSpPr txBox="1"/>
          <p:nvPr/>
        </p:nvSpPr>
        <p:spPr>
          <a:xfrm>
            <a:off x="6620256" y="4661424"/>
            <a:ext cx="2232965"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Backend unreachable warning</a:t>
            </a:r>
            <a:endParaRPr lang="en-US" sz="1000" dirty="0"/>
          </a:p>
        </p:txBody>
      </p:sp>
      <p:sp>
        <p:nvSpPr>
          <p:cNvPr id="92" name="Shape 25">
            <a:extLst>
              <a:ext uri="{FF2B5EF4-FFF2-40B4-BE49-F238E27FC236}">
                <a16:creationId xmlns:a16="http://schemas.microsoft.com/office/drawing/2014/main" id="{B423E52F-EE5D-56CC-41F7-846CC9CCCFE9}"/>
              </a:ext>
            </a:extLst>
          </p:cNvPr>
          <p:cNvSpPr/>
          <p:nvPr/>
        </p:nvSpPr>
        <p:spPr>
          <a:xfrm>
            <a:off x="609905" y="5189948"/>
            <a:ext cx="3562502" cy="780898"/>
          </a:xfrm>
          <a:prstGeom prst="roundRect">
            <a:avLst>
              <a:gd name="adj" fmla="val 22848"/>
            </a:avLst>
          </a:prstGeom>
          <a:solidFill>
            <a:srgbClr val="EFF6FF"/>
          </a:solidFill>
          <a:ln w="12700">
            <a:solidFill>
              <a:srgbClr val="BFDBFE"/>
            </a:solidFill>
            <a:prstDash val="solid"/>
          </a:ln>
        </p:spPr>
        <p:txBody>
          <a:bodyPr/>
          <a:lstStyle/>
          <a:p>
            <a:endParaRPr lang="en-US"/>
          </a:p>
        </p:txBody>
      </p:sp>
      <p:sp>
        <p:nvSpPr>
          <p:cNvPr id="93" name="Text 26">
            <a:extLst>
              <a:ext uri="{FF2B5EF4-FFF2-40B4-BE49-F238E27FC236}">
                <a16:creationId xmlns:a16="http://schemas.microsoft.com/office/drawing/2014/main" id="{A4828DB0-1027-EC36-13B4-5D6C4CA7722C}"/>
              </a:ext>
            </a:extLst>
          </p:cNvPr>
          <p:cNvSpPr txBox="1"/>
          <p:nvPr/>
        </p:nvSpPr>
        <p:spPr>
          <a:xfrm>
            <a:off x="771754" y="5351797"/>
            <a:ext cx="3353105"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Raleway" pitchFamily="34" charset="0"/>
                <a:ea typeface="Raleway" pitchFamily="34" charset="-122"/>
                <a:cs typeface="Raleway" pitchFamily="34" charset="-120"/>
              </a:rPr>
              <a:t>Real Integration</a:t>
            </a:r>
            <a:endParaRPr lang="en-US" sz="1200" dirty="0"/>
          </a:p>
        </p:txBody>
      </p:sp>
      <p:sp>
        <p:nvSpPr>
          <p:cNvPr id="94" name="Text 27">
            <a:extLst>
              <a:ext uri="{FF2B5EF4-FFF2-40B4-BE49-F238E27FC236}">
                <a16:creationId xmlns:a16="http://schemas.microsoft.com/office/drawing/2014/main" id="{633B6522-BC8C-9CA1-C8C5-09D8FB592B95}"/>
              </a:ext>
            </a:extLst>
          </p:cNvPr>
          <p:cNvSpPr txBox="1"/>
          <p:nvPr/>
        </p:nvSpPr>
        <p:spPr>
          <a:xfrm>
            <a:off x="771754" y="5617887"/>
            <a:ext cx="3353105" cy="191110"/>
          </a:xfrm>
          <a:prstGeom prst="rect">
            <a:avLst/>
          </a:prstGeom>
          <a:noFill/>
          <a:ln/>
        </p:spPr>
        <p:txBody>
          <a:bodyPr wrap="square" lIns="0" tIns="0" rIns="0" bIns="0" rtlCol="0" anchor="ctr"/>
          <a:lstStyle/>
          <a:p>
            <a:pPr marL="0" indent="0" algn="l">
              <a:buNone/>
            </a:pPr>
            <a:r>
              <a:rPr lang="en-US" sz="1000" dirty="0">
                <a:solidFill>
                  <a:srgbClr val="2563EB"/>
                </a:solidFill>
                <a:latin typeface="Raleway" pitchFamily="34" charset="0"/>
                <a:ea typeface="Raleway" pitchFamily="34" charset="-122"/>
                <a:cs typeface="Raleway" pitchFamily="34" charset="-120"/>
              </a:rPr>
              <a:t>Validates actual API behavior</a:t>
            </a:r>
            <a:endParaRPr lang="en-US" sz="1000" dirty="0"/>
          </a:p>
        </p:txBody>
      </p:sp>
      <p:sp>
        <p:nvSpPr>
          <p:cNvPr id="95" name="Shape 28">
            <a:extLst>
              <a:ext uri="{FF2B5EF4-FFF2-40B4-BE49-F238E27FC236}">
                <a16:creationId xmlns:a16="http://schemas.microsoft.com/office/drawing/2014/main" id="{2B58F3B5-6320-0D1F-2E25-0B5DF6CA4978}"/>
              </a:ext>
            </a:extLst>
          </p:cNvPr>
          <p:cNvSpPr/>
          <p:nvPr/>
        </p:nvSpPr>
        <p:spPr>
          <a:xfrm>
            <a:off x="4317797" y="5189948"/>
            <a:ext cx="3562502" cy="780898"/>
          </a:xfrm>
          <a:prstGeom prst="roundRect">
            <a:avLst>
              <a:gd name="adj" fmla="val 22848"/>
            </a:avLst>
          </a:prstGeom>
          <a:solidFill>
            <a:srgbClr val="ECFDF5"/>
          </a:solidFill>
          <a:ln w="12700">
            <a:solidFill>
              <a:srgbClr val="A7F3D0"/>
            </a:solidFill>
            <a:prstDash val="solid"/>
          </a:ln>
        </p:spPr>
        <p:txBody>
          <a:bodyPr/>
          <a:lstStyle/>
          <a:p>
            <a:endParaRPr lang="en-US"/>
          </a:p>
        </p:txBody>
      </p:sp>
      <p:sp>
        <p:nvSpPr>
          <p:cNvPr id="96" name="Text 29">
            <a:extLst>
              <a:ext uri="{FF2B5EF4-FFF2-40B4-BE49-F238E27FC236}">
                <a16:creationId xmlns:a16="http://schemas.microsoft.com/office/drawing/2014/main" id="{C985B011-D9A1-4E26-A7CF-B3574CA9AE52}"/>
              </a:ext>
            </a:extLst>
          </p:cNvPr>
          <p:cNvSpPr txBox="1"/>
          <p:nvPr/>
        </p:nvSpPr>
        <p:spPr>
          <a:xfrm>
            <a:off x="4479646" y="5351797"/>
            <a:ext cx="3353105" cy="228600"/>
          </a:xfrm>
          <a:prstGeom prst="rect">
            <a:avLst/>
          </a:prstGeom>
          <a:noFill/>
          <a:ln/>
        </p:spPr>
        <p:txBody>
          <a:bodyPr wrap="square" lIns="0" tIns="0" rIns="0" bIns="0" rtlCol="0" anchor="ctr"/>
          <a:lstStyle/>
          <a:p>
            <a:pPr marL="0" indent="0" algn="l">
              <a:buNone/>
            </a:pPr>
            <a:r>
              <a:rPr lang="en-US" sz="1200" b="1" dirty="0">
                <a:solidFill>
                  <a:srgbClr val="065F46"/>
                </a:solidFill>
                <a:latin typeface="Raleway" pitchFamily="34" charset="0"/>
                <a:ea typeface="Raleway" pitchFamily="34" charset="-122"/>
                <a:cs typeface="Raleway" pitchFamily="34" charset="-120"/>
              </a:rPr>
              <a:t>Honest Feedback</a:t>
            </a:r>
            <a:endParaRPr lang="en-US" sz="1200" dirty="0"/>
          </a:p>
        </p:txBody>
      </p:sp>
      <p:sp>
        <p:nvSpPr>
          <p:cNvPr id="97" name="Text 30">
            <a:extLst>
              <a:ext uri="{FF2B5EF4-FFF2-40B4-BE49-F238E27FC236}">
                <a16:creationId xmlns:a16="http://schemas.microsoft.com/office/drawing/2014/main" id="{9B872999-0429-5537-AA7A-F32B1B8DB4C3}"/>
              </a:ext>
            </a:extLst>
          </p:cNvPr>
          <p:cNvSpPr txBox="1"/>
          <p:nvPr/>
        </p:nvSpPr>
        <p:spPr>
          <a:xfrm>
            <a:off x="4479646" y="5617887"/>
            <a:ext cx="3353105" cy="191110"/>
          </a:xfrm>
          <a:prstGeom prst="rect">
            <a:avLst/>
          </a:prstGeom>
          <a:noFill/>
          <a:ln/>
        </p:spPr>
        <p:txBody>
          <a:bodyPr wrap="square" lIns="0" tIns="0" rIns="0" bIns="0" rtlCol="0" anchor="ctr"/>
          <a:lstStyle/>
          <a:p>
            <a:pPr marL="0" indent="0" algn="l">
              <a:buNone/>
            </a:pPr>
            <a:r>
              <a:rPr lang="en-US" sz="1000" dirty="0">
                <a:solidFill>
                  <a:srgbClr val="059669"/>
                </a:solidFill>
                <a:latin typeface="Raleway" pitchFamily="34" charset="0"/>
                <a:ea typeface="Raleway" pitchFamily="34" charset="-122"/>
                <a:cs typeface="Raleway" pitchFamily="34" charset="-120"/>
              </a:rPr>
              <a:t>Clear failure messages</a:t>
            </a:r>
            <a:endParaRPr lang="en-US" sz="1000" dirty="0"/>
          </a:p>
        </p:txBody>
      </p:sp>
      <p:sp>
        <p:nvSpPr>
          <p:cNvPr id="98" name="Shape 31">
            <a:extLst>
              <a:ext uri="{FF2B5EF4-FFF2-40B4-BE49-F238E27FC236}">
                <a16:creationId xmlns:a16="http://schemas.microsoft.com/office/drawing/2014/main" id="{DD3A17B1-A2B1-FCCE-F3E4-3A5CA7C739DE}"/>
              </a:ext>
            </a:extLst>
          </p:cNvPr>
          <p:cNvSpPr/>
          <p:nvPr/>
        </p:nvSpPr>
        <p:spPr>
          <a:xfrm>
            <a:off x="8026603" y="5189948"/>
            <a:ext cx="3562502" cy="780898"/>
          </a:xfrm>
          <a:prstGeom prst="roundRect">
            <a:avLst>
              <a:gd name="adj" fmla="val 22848"/>
            </a:avLst>
          </a:prstGeom>
          <a:solidFill>
            <a:srgbClr val="F5F3FF"/>
          </a:solidFill>
          <a:ln w="12700">
            <a:solidFill>
              <a:srgbClr val="DDD6FE"/>
            </a:solidFill>
            <a:prstDash val="solid"/>
          </a:ln>
        </p:spPr>
        <p:txBody>
          <a:bodyPr/>
          <a:lstStyle/>
          <a:p>
            <a:endParaRPr lang="en-US"/>
          </a:p>
        </p:txBody>
      </p:sp>
      <p:sp>
        <p:nvSpPr>
          <p:cNvPr id="99" name="Text 32">
            <a:extLst>
              <a:ext uri="{FF2B5EF4-FFF2-40B4-BE49-F238E27FC236}">
                <a16:creationId xmlns:a16="http://schemas.microsoft.com/office/drawing/2014/main" id="{6DDBE81A-BC07-014B-36F1-1F9214A04BAC}"/>
              </a:ext>
            </a:extLst>
          </p:cNvPr>
          <p:cNvSpPr txBox="1"/>
          <p:nvPr/>
        </p:nvSpPr>
        <p:spPr>
          <a:xfrm>
            <a:off x="8188452" y="5351797"/>
            <a:ext cx="3353105" cy="228600"/>
          </a:xfrm>
          <a:prstGeom prst="rect">
            <a:avLst/>
          </a:prstGeom>
          <a:noFill/>
          <a:ln/>
        </p:spPr>
        <p:txBody>
          <a:bodyPr wrap="square" lIns="0" tIns="0" rIns="0" bIns="0" rtlCol="0" anchor="ctr"/>
          <a:lstStyle/>
          <a:p>
            <a:pPr marL="0" indent="0" algn="l">
              <a:buNone/>
            </a:pPr>
            <a:r>
              <a:rPr lang="en-US" sz="1200" b="1" dirty="0">
                <a:solidFill>
                  <a:srgbClr val="5B21B6"/>
                </a:solidFill>
                <a:latin typeface="Raleway" pitchFamily="34" charset="0"/>
                <a:ea typeface="Raleway" pitchFamily="34" charset="-122"/>
                <a:cs typeface="Raleway" pitchFamily="34" charset="-120"/>
              </a:rPr>
              <a:t>Safe Fallback</a:t>
            </a:r>
            <a:endParaRPr lang="en-US" sz="1200" dirty="0"/>
          </a:p>
        </p:txBody>
      </p:sp>
      <p:sp>
        <p:nvSpPr>
          <p:cNvPr id="100" name="Text 33">
            <a:extLst>
              <a:ext uri="{FF2B5EF4-FFF2-40B4-BE49-F238E27FC236}">
                <a16:creationId xmlns:a16="http://schemas.microsoft.com/office/drawing/2014/main" id="{5BB68D0F-32DF-39DA-49DF-45C2559C8485}"/>
              </a:ext>
            </a:extLst>
          </p:cNvPr>
          <p:cNvSpPr txBox="1"/>
          <p:nvPr/>
        </p:nvSpPr>
        <p:spPr>
          <a:xfrm>
            <a:off x="8188452" y="5617887"/>
            <a:ext cx="3353105" cy="191110"/>
          </a:xfrm>
          <a:prstGeom prst="rect">
            <a:avLst/>
          </a:prstGeom>
          <a:noFill/>
          <a:ln/>
        </p:spPr>
        <p:txBody>
          <a:bodyPr wrap="square" lIns="0" tIns="0" rIns="0" bIns="0" rtlCol="0" anchor="ctr"/>
          <a:lstStyle/>
          <a:p>
            <a:pPr marL="0" indent="0" algn="l">
              <a:buNone/>
            </a:pPr>
            <a:r>
              <a:rPr lang="en-US" sz="1000" dirty="0">
                <a:solidFill>
                  <a:srgbClr val="7C3AED"/>
                </a:solidFill>
                <a:latin typeface="Raleway" pitchFamily="34" charset="0"/>
                <a:ea typeface="Raleway" pitchFamily="34" charset="-122"/>
                <a:cs typeface="Raleway" pitchFamily="34" charset="-120"/>
              </a:rPr>
              <a:t>No silent failures</a:t>
            </a:r>
            <a:endParaRPr lang="en-US" sz="1000" dirty="0"/>
          </a:p>
        </p:txBody>
      </p:sp>
      <p:sp>
        <p:nvSpPr>
          <p:cNvPr id="101" name="Text 5">
            <a:extLst>
              <a:ext uri="{FF2B5EF4-FFF2-40B4-BE49-F238E27FC236}">
                <a16:creationId xmlns:a16="http://schemas.microsoft.com/office/drawing/2014/main" id="{4CFE1E79-2E6B-78AB-511B-BBAEA97D99F1}"/>
              </a:ext>
            </a:extLst>
          </p:cNvPr>
          <p:cNvSpPr txBox="1"/>
          <p:nvPr/>
        </p:nvSpPr>
        <p:spPr>
          <a:xfrm>
            <a:off x="609905" y="914400"/>
            <a:ext cx="3514954"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DEMO CASE 2</a:t>
            </a:r>
            <a:endParaRPr lang="en-US" sz="4800" dirty="0">
              <a:solidFill>
                <a:srgbClr val="091044"/>
              </a:solidFill>
            </a:endParaRPr>
          </a:p>
        </p:txBody>
      </p:sp>
    </p:spTree>
    <p:extLst>
      <p:ext uri="{BB962C8B-B14F-4D97-AF65-F5344CB8AC3E}">
        <p14:creationId xmlns:p14="http://schemas.microsoft.com/office/powerpoint/2010/main" val="410869086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619F4-122B-7B3B-8B7F-FC704736D1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AECA41-5A6D-9DF4-B03A-E8BB25D4CF61}"/>
              </a:ext>
            </a:extLst>
          </p:cNvPr>
          <p:cNvSpPr>
            <a:spLocks noGrp="1"/>
          </p:cNvSpPr>
          <p:nvPr>
            <p:ph type="sldNum" sz="quarter" idx="12"/>
          </p:nvPr>
        </p:nvSpPr>
        <p:spPr/>
        <p:txBody>
          <a:bodyPr/>
          <a:lstStyle/>
          <a:p>
            <a:fld id="{F01A0BEF-C76D-43A2-874C-09A8674B0D74}" type="slidenum">
              <a:rPr lang="en-GB" smtClean="0"/>
              <a:t>10</a:t>
            </a:fld>
            <a:endParaRPr lang="en-GB"/>
          </a:p>
        </p:txBody>
      </p:sp>
      <p:sp>
        <p:nvSpPr>
          <p:cNvPr id="6" name="Text 5">
            <a:extLst>
              <a:ext uri="{FF2B5EF4-FFF2-40B4-BE49-F238E27FC236}">
                <a16:creationId xmlns:a16="http://schemas.microsoft.com/office/drawing/2014/main" id="{069196DB-5EB3-C00E-ACE2-3FE93D8B6F2E}"/>
              </a:ext>
            </a:extLst>
          </p:cNvPr>
          <p:cNvSpPr txBox="1"/>
          <p:nvPr/>
        </p:nvSpPr>
        <p:spPr>
          <a:xfrm>
            <a:off x="609905" y="2013150"/>
            <a:ext cx="7189398" cy="326114"/>
          </a:xfrm>
          <a:prstGeom prst="rect">
            <a:avLst/>
          </a:prstGeom>
          <a:noFill/>
          <a:ln/>
        </p:spPr>
        <p:txBody>
          <a:bodyPr wrap="square" lIns="0" tIns="0" rIns="0" bIns="0" rtlCol="0" anchor="ctr"/>
          <a:lstStyle/>
          <a:p>
            <a:pPr marL="0" indent="0" algn="l">
              <a:buNone/>
            </a:pPr>
            <a:r>
              <a:rPr lang="en-US" sz="1400" dirty="0">
                <a:solidFill>
                  <a:srgbClr val="000000"/>
                </a:solidFill>
                <a:latin typeface="Raleway" pitchFamily="34" charset="0"/>
                <a:ea typeface="Raleway" pitchFamily="34" charset="-122"/>
                <a:cs typeface="Raleway" pitchFamily="34" charset="-120"/>
              </a:rPr>
              <a:t> Use this case to prove: </a:t>
            </a:r>
            <a:r>
              <a:rPr lang="en-US" sz="1400" b="1" dirty="0">
                <a:solidFill>
                  <a:srgbClr val="000000"/>
                </a:solidFill>
                <a:latin typeface="Raleway" pitchFamily="34" charset="0"/>
                <a:ea typeface="Raleway" pitchFamily="34" charset="-122"/>
                <a:cs typeface="Raleway" pitchFamily="34" charset="-120"/>
              </a:rPr>
              <a:t>local fallback can be controlled explicitly during demo/dev</a:t>
            </a:r>
            <a:r>
              <a:rPr lang="en-US" sz="1400" dirty="0">
                <a:solidFill>
                  <a:srgbClr val="000000"/>
                </a:solidFill>
                <a:latin typeface="Raleway" pitchFamily="34" charset="0"/>
                <a:ea typeface="Raleway" pitchFamily="34" charset="-122"/>
                <a:cs typeface="Raleway" pitchFamily="34" charset="-120"/>
              </a:rPr>
              <a:t>. </a:t>
            </a:r>
            <a:endParaRPr lang="en-US" sz="1400" dirty="0"/>
          </a:p>
        </p:txBody>
      </p:sp>
      <p:sp>
        <p:nvSpPr>
          <p:cNvPr id="7" name="Shape 6">
            <a:extLst>
              <a:ext uri="{FF2B5EF4-FFF2-40B4-BE49-F238E27FC236}">
                <a16:creationId xmlns:a16="http://schemas.microsoft.com/office/drawing/2014/main" id="{BD79F5AD-DA4F-7073-3C00-7E7FCCAE2112}"/>
              </a:ext>
            </a:extLst>
          </p:cNvPr>
          <p:cNvSpPr/>
          <p:nvPr/>
        </p:nvSpPr>
        <p:spPr>
          <a:xfrm>
            <a:off x="625450" y="2620518"/>
            <a:ext cx="4953305" cy="819302"/>
          </a:xfrm>
          <a:prstGeom prst="roundRect">
            <a:avLst>
              <a:gd name="adj" fmla="val 20764"/>
            </a:avLst>
          </a:prstGeom>
          <a:solidFill>
            <a:srgbClr val="FFFFFF"/>
          </a:solidFill>
          <a:ln w="12700">
            <a:solidFill>
              <a:srgbClr val="E5E7EB"/>
            </a:solidFill>
            <a:prstDash val="solid"/>
          </a:ln>
        </p:spPr>
        <p:txBody>
          <a:bodyPr/>
          <a:lstStyle/>
          <a:p>
            <a:endParaRPr lang="en-US"/>
          </a:p>
        </p:txBody>
      </p:sp>
      <p:sp>
        <p:nvSpPr>
          <p:cNvPr id="8" name="Text 7">
            <a:extLst>
              <a:ext uri="{FF2B5EF4-FFF2-40B4-BE49-F238E27FC236}">
                <a16:creationId xmlns:a16="http://schemas.microsoft.com/office/drawing/2014/main" id="{4CE73859-0916-6713-B94C-AD9A8DC972BE}"/>
              </a:ext>
            </a:extLst>
          </p:cNvPr>
          <p:cNvSpPr txBox="1"/>
          <p:nvPr/>
        </p:nvSpPr>
        <p:spPr>
          <a:xfrm>
            <a:off x="787299" y="2782367"/>
            <a:ext cx="1383487"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Raleway" pitchFamily="34" charset="0"/>
                <a:ea typeface="Raleway" pitchFamily="34" charset="-122"/>
                <a:cs typeface="Raleway" pitchFamily="34" charset="-120"/>
              </a:rPr>
              <a:t>Local API Status</a:t>
            </a:r>
            <a:endParaRPr lang="en-US" sz="1200" dirty="0"/>
          </a:p>
        </p:txBody>
      </p:sp>
      <p:sp>
        <p:nvSpPr>
          <p:cNvPr id="9" name="Text 8">
            <a:extLst>
              <a:ext uri="{FF2B5EF4-FFF2-40B4-BE49-F238E27FC236}">
                <a16:creationId xmlns:a16="http://schemas.microsoft.com/office/drawing/2014/main" id="{9AE4E39C-519D-3929-73A1-615A4A35FA93}"/>
              </a:ext>
            </a:extLst>
          </p:cNvPr>
          <p:cNvSpPr txBox="1"/>
          <p:nvPr/>
        </p:nvSpPr>
        <p:spPr>
          <a:xfrm>
            <a:off x="4797857" y="2801569"/>
            <a:ext cx="737006"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/api route</a:t>
            </a:r>
            <a:endParaRPr lang="en-US" sz="1000" dirty="0"/>
          </a:p>
        </p:txBody>
      </p:sp>
      <p:sp>
        <p:nvSpPr>
          <p:cNvPr id="10" name="Shape 9">
            <a:extLst>
              <a:ext uri="{FF2B5EF4-FFF2-40B4-BE49-F238E27FC236}">
                <a16:creationId xmlns:a16="http://schemas.microsoft.com/office/drawing/2014/main" id="{E4FE154A-0F91-6EE5-CBCF-D2ABEC2CA6CD}"/>
              </a:ext>
            </a:extLst>
          </p:cNvPr>
          <p:cNvSpPr/>
          <p:nvPr/>
        </p:nvSpPr>
        <p:spPr>
          <a:xfrm>
            <a:off x="787299" y="3125267"/>
            <a:ext cx="114300" cy="114300"/>
          </a:xfrm>
          <a:prstGeom prst="ellipse">
            <a:avLst/>
          </a:prstGeom>
          <a:solidFill>
            <a:srgbClr val="22C55E"/>
          </a:solidFill>
          <a:ln w="12700">
            <a:solidFill>
              <a:srgbClr val="FFFFFF">
                <a:alpha val="0"/>
              </a:srgbClr>
            </a:solidFill>
            <a:prstDash val="solid"/>
          </a:ln>
        </p:spPr>
        <p:txBody>
          <a:bodyPr/>
          <a:lstStyle/>
          <a:p>
            <a:endParaRPr lang="en-US"/>
          </a:p>
        </p:txBody>
      </p:sp>
      <p:sp>
        <p:nvSpPr>
          <p:cNvPr id="11" name="Text 10">
            <a:extLst>
              <a:ext uri="{FF2B5EF4-FFF2-40B4-BE49-F238E27FC236}">
                <a16:creationId xmlns:a16="http://schemas.microsoft.com/office/drawing/2014/main" id="{92294C94-FBD8-ED8F-1C40-C08ABE9C89C6}"/>
              </a:ext>
            </a:extLst>
          </p:cNvPr>
          <p:cNvSpPr txBox="1"/>
          <p:nvPr/>
        </p:nvSpPr>
        <p:spPr>
          <a:xfrm>
            <a:off x="978409" y="3086862"/>
            <a:ext cx="590702"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Enabled</a:t>
            </a:r>
            <a:endParaRPr lang="en-US" sz="1000" dirty="0"/>
          </a:p>
        </p:txBody>
      </p:sp>
      <p:sp>
        <p:nvSpPr>
          <p:cNvPr id="12" name="Text 11">
            <a:extLst>
              <a:ext uri="{FF2B5EF4-FFF2-40B4-BE49-F238E27FC236}">
                <a16:creationId xmlns:a16="http://schemas.microsoft.com/office/drawing/2014/main" id="{AC3F9E81-53FE-6F1A-B8D1-622E740447AC}"/>
              </a:ext>
            </a:extLst>
          </p:cNvPr>
          <p:cNvSpPr txBox="1"/>
          <p:nvPr/>
        </p:nvSpPr>
        <p:spPr>
          <a:xfrm>
            <a:off x="1641349" y="3086862"/>
            <a:ext cx="1598371" cy="191110"/>
          </a:xfrm>
          <a:prstGeom prst="rect">
            <a:avLst/>
          </a:prstGeom>
          <a:noFill/>
          <a:ln/>
        </p:spPr>
        <p:txBody>
          <a:bodyPr wrap="square" lIns="0" tIns="0" rIns="0" bIns="0" rtlCol="0" anchor="ctr"/>
          <a:lstStyle/>
          <a:p>
            <a:pPr marL="0" indent="0" algn="l">
              <a:buNone/>
            </a:pPr>
            <a:r>
              <a:rPr lang="en-US" sz="1000" dirty="0">
                <a:solidFill>
                  <a:srgbClr val="9CA3AF"/>
                </a:solidFill>
                <a:latin typeface="Raleway" pitchFamily="34" charset="0"/>
                <a:ea typeface="Raleway" pitchFamily="34" charset="-122"/>
                <a:cs typeface="Raleway" pitchFamily="34" charset="-120"/>
              </a:rPr>
              <a:t>Next.js route handlers</a:t>
            </a:r>
            <a:endParaRPr lang="en-US" sz="1000" dirty="0"/>
          </a:p>
        </p:txBody>
      </p:sp>
      <p:sp>
        <p:nvSpPr>
          <p:cNvPr id="13" name="Shape 12">
            <a:extLst>
              <a:ext uri="{FF2B5EF4-FFF2-40B4-BE49-F238E27FC236}">
                <a16:creationId xmlns:a16="http://schemas.microsoft.com/office/drawing/2014/main" id="{797DB4F8-2089-6C82-DE48-EF0BB21B4692}"/>
              </a:ext>
            </a:extLst>
          </p:cNvPr>
          <p:cNvSpPr/>
          <p:nvPr/>
        </p:nvSpPr>
        <p:spPr>
          <a:xfrm>
            <a:off x="625450" y="3591611"/>
            <a:ext cx="4953305" cy="819302"/>
          </a:xfrm>
          <a:prstGeom prst="roundRect">
            <a:avLst>
              <a:gd name="adj" fmla="val 20764"/>
            </a:avLst>
          </a:prstGeom>
          <a:solidFill>
            <a:srgbClr val="FFFFFF"/>
          </a:solidFill>
          <a:ln w="12700">
            <a:solidFill>
              <a:srgbClr val="E5E7EB"/>
            </a:solidFill>
            <a:prstDash val="solid"/>
          </a:ln>
        </p:spPr>
        <p:txBody>
          <a:bodyPr/>
          <a:lstStyle/>
          <a:p>
            <a:endParaRPr lang="en-US"/>
          </a:p>
        </p:txBody>
      </p:sp>
      <p:sp>
        <p:nvSpPr>
          <p:cNvPr id="14" name="Text 13">
            <a:extLst>
              <a:ext uri="{FF2B5EF4-FFF2-40B4-BE49-F238E27FC236}">
                <a16:creationId xmlns:a16="http://schemas.microsoft.com/office/drawing/2014/main" id="{34EAB5F9-73C5-45E3-ACAF-2BB8115C1082}"/>
              </a:ext>
            </a:extLst>
          </p:cNvPr>
          <p:cNvSpPr txBox="1"/>
          <p:nvPr/>
        </p:nvSpPr>
        <p:spPr>
          <a:xfrm>
            <a:off x="787299" y="3754374"/>
            <a:ext cx="1054303"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Raleway" pitchFamily="34" charset="0"/>
                <a:ea typeface="Raleway" pitchFamily="34" charset="-122"/>
                <a:cs typeface="Raleway" pitchFamily="34" charset="-120"/>
              </a:rPr>
              <a:t>Data Source</a:t>
            </a:r>
            <a:endParaRPr lang="en-US" sz="1200" dirty="0"/>
          </a:p>
        </p:txBody>
      </p:sp>
      <p:sp>
        <p:nvSpPr>
          <p:cNvPr id="15" name="Text 14">
            <a:extLst>
              <a:ext uri="{FF2B5EF4-FFF2-40B4-BE49-F238E27FC236}">
                <a16:creationId xmlns:a16="http://schemas.microsoft.com/office/drawing/2014/main" id="{59AF9EA7-BE60-8317-DFE9-BFAFA43E82B0}"/>
              </a:ext>
            </a:extLst>
          </p:cNvPr>
          <p:cNvSpPr txBox="1"/>
          <p:nvPr/>
        </p:nvSpPr>
        <p:spPr>
          <a:xfrm>
            <a:off x="4277564" y="3772662"/>
            <a:ext cx="1360627"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Bypass to Real API</a:t>
            </a:r>
            <a:endParaRPr lang="en-US" sz="1000" dirty="0"/>
          </a:p>
        </p:txBody>
      </p:sp>
      <p:sp>
        <p:nvSpPr>
          <p:cNvPr id="16" name="Shape 15">
            <a:extLst>
              <a:ext uri="{FF2B5EF4-FFF2-40B4-BE49-F238E27FC236}">
                <a16:creationId xmlns:a16="http://schemas.microsoft.com/office/drawing/2014/main" id="{27BEC6B1-03F2-A4FA-7A67-923124784C6C}"/>
              </a:ext>
            </a:extLst>
          </p:cNvPr>
          <p:cNvSpPr/>
          <p:nvPr/>
        </p:nvSpPr>
        <p:spPr>
          <a:xfrm>
            <a:off x="787299" y="4097274"/>
            <a:ext cx="114300" cy="114300"/>
          </a:xfrm>
          <a:prstGeom prst="ellipse">
            <a:avLst/>
          </a:prstGeom>
          <a:solidFill>
            <a:srgbClr val="22C55E"/>
          </a:solidFill>
          <a:ln w="12700">
            <a:solidFill>
              <a:srgbClr val="FFFFFF">
                <a:alpha val="0"/>
              </a:srgbClr>
            </a:solidFill>
            <a:prstDash val="solid"/>
          </a:ln>
        </p:spPr>
        <p:txBody>
          <a:bodyPr/>
          <a:lstStyle/>
          <a:p>
            <a:endParaRPr lang="en-US"/>
          </a:p>
        </p:txBody>
      </p:sp>
      <p:sp>
        <p:nvSpPr>
          <p:cNvPr id="17" name="Text 16">
            <a:extLst>
              <a:ext uri="{FF2B5EF4-FFF2-40B4-BE49-F238E27FC236}">
                <a16:creationId xmlns:a16="http://schemas.microsoft.com/office/drawing/2014/main" id="{E6543A5D-5273-03CF-167B-975A8298107E}"/>
              </a:ext>
            </a:extLst>
          </p:cNvPr>
          <p:cNvSpPr txBox="1"/>
          <p:nvPr/>
        </p:nvSpPr>
        <p:spPr>
          <a:xfrm>
            <a:off x="978409" y="4058869"/>
            <a:ext cx="600761"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Real API</a:t>
            </a:r>
            <a:endParaRPr lang="en-US" sz="1000" dirty="0"/>
          </a:p>
        </p:txBody>
      </p:sp>
      <p:sp>
        <p:nvSpPr>
          <p:cNvPr id="18" name="Text 17">
            <a:extLst>
              <a:ext uri="{FF2B5EF4-FFF2-40B4-BE49-F238E27FC236}">
                <a16:creationId xmlns:a16="http://schemas.microsoft.com/office/drawing/2014/main" id="{11DD0997-5B8C-D7EB-A7BF-653C1D373791}"/>
              </a:ext>
            </a:extLst>
          </p:cNvPr>
          <p:cNvSpPr txBox="1"/>
          <p:nvPr/>
        </p:nvSpPr>
        <p:spPr>
          <a:xfrm>
            <a:off x="1634948" y="4058869"/>
            <a:ext cx="830275" cy="191110"/>
          </a:xfrm>
          <a:prstGeom prst="rect">
            <a:avLst/>
          </a:prstGeom>
          <a:noFill/>
          <a:ln/>
        </p:spPr>
        <p:txBody>
          <a:bodyPr wrap="square" lIns="0" tIns="0" rIns="0" bIns="0" rtlCol="0" anchor="ctr"/>
          <a:lstStyle/>
          <a:p>
            <a:pPr marL="0" indent="0" algn="l">
              <a:buNone/>
            </a:pPr>
            <a:r>
              <a:rPr lang="en-US" sz="1000" dirty="0">
                <a:solidFill>
                  <a:srgbClr val="9CA3AF"/>
                </a:solidFill>
                <a:latin typeface="Raleway" pitchFamily="34" charset="0"/>
                <a:ea typeface="Raleway" pitchFamily="34" charset="-122"/>
                <a:cs typeface="Raleway" pitchFamily="34" charset="-120"/>
              </a:rPr>
              <a:t>No mocking</a:t>
            </a:r>
            <a:endParaRPr lang="en-US" sz="1000" dirty="0"/>
          </a:p>
        </p:txBody>
      </p:sp>
      <p:sp>
        <p:nvSpPr>
          <p:cNvPr id="19" name="Shape 18">
            <a:extLst>
              <a:ext uri="{FF2B5EF4-FFF2-40B4-BE49-F238E27FC236}">
                <a16:creationId xmlns:a16="http://schemas.microsoft.com/office/drawing/2014/main" id="{ED540761-5D4D-5C0E-F566-6F63D11505F5}"/>
              </a:ext>
            </a:extLst>
          </p:cNvPr>
          <p:cNvSpPr/>
          <p:nvPr/>
        </p:nvSpPr>
        <p:spPr>
          <a:xfrm>
            <a:off x="6324905" y="2629662"/>
            <a:ext cx="5105095" cy="3676802"/>
          </a:xfrm>
          <a:prstGeom prst="roundRect">
            <a:avLst>
              <a:gd name="adj" fmla="val 1031"/>
            </a:avLst>
          </a:prstGeom>
          <a:solidFill>
            <a:srgbClr val="F9FAFB"/>
          </a:solidFill>
          <a:ln w="12700">
            <a:solidFill>
              <a:srgbClr val="E5E7EB"/>
            </a:solidFill>
            <a:prstDash val="solid"/>
          </a:ln>
        </p:spPr>
        <p:txBody>
          <a:bodyPr/>
          <a:lstStyle/>
          <a:p>
            <a:endParaRPr lang="en-US"/>
          </a:p>
        </p:txBody>
      </p:sp>
      <p:sp>
        <p:nvSpPr>
          <p:cNvPr id="20" name="Text 19">
            <a:extLst>
              <a:ext uri="{FF2B5EF4-FFF2-40B4-BE49-F238E27FC236}">
                <a16:creationId xmlns:a16="http://schemas.microsoft.com/office/drawing/2014/main" id="{09DFE2DB-1927-4B46-BED6-12CDE9F43D5F}"/>
              </a:ext>
            </a:extLst>
          </p:cNvPr>
          <p:cNvSpPr txBox="1"/>
          <p:nvPr/>
        </p:nvSpPr>
        <p:spPr>
          <a:xfrm>
            <a:off x="6562649" y="2867406"/>
            <a:ext cx="4743907"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Suggested Sequence</a:t>
            </a:r>
            <a:endParaRPr lang="en-US" sz="1200" dirty="0"/>
          </a:p>
        </p:txBody>
      </p:sp>
      <p:sp>
        <p:nvSpPr>
          <p:cNvPr id="21" name="Shape 20">
            <a:extLst>
              <a:ext uri="{FF2B5EF4-FFF2-40B4-BE49-F238E27FC236}">
                <a16:creationId xmlns:a16="http://schemas.microsoft.com/office/drawing/2014/main" id="{CBAA7082-9C9A-561E-6094-59E39088E03E}"/>
              </a:ext>
            </a:extLst>
          </p:cNvPr>
          <p:cNvSpPr/>
          <p:nvPr/>
        </p:nvSpPr>
        <p:spPr>
          <a:xfrm>
            <a:off x="6562649" y="3248711"/>
            <a:ext cx="304495" cy="304495"/>
          </a:xfrm>
          <a:prstGeom prst="ellipse">
            <a:avLst/>
          </a:prstGeom>
          <a:solidFill>
            <a:srgbClr val="DBEAFE"/>
          </a:solidFill>
          <a:ln w="12700">
            <a:solidFill>
              <a:srgbClr val="FFFFFF">
                <a:alpha val="0"/>
              </a:srgbClr>
            </a:solidFill>
            <a:prstDash val="solid"/>
          </a:ln>
        </p:spPr>
        <p:txBody>
          <a:bodyPr/>
          <a:lstStyle/>
          <a:p>
            <a:endParaRPr lang="en-US"/>
          </a:p>
        </p:txBody>
      </p:sp>
      <p:sp>
        <p:nvSpPr>
          <p:cNvPr id="22" name="Text 21">
            <a:extLst>
              <a:ext uri="{FF2B5EF4-FFF2-40B4-BE49-F238E27FC236}">
                <a16:creationId xmlns:a16="http://schemas.microsoft.com/office/drawing/2014/main" id="{746F90C8-70D4-E576-1E8A-62EF1E1A5C5E}"/>
              </a:ext>
            </a:extLst>
          </p:cNvPr>
          <p:cNvSpPr/>
          <p:nvPr/>
        </p:nvSpPr>
        <p:spPr>
          <a:xfrm>
            <a:off x="6534302" y="3248711"/>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2563EB"/>
                </a:solidFill>
                <a:latin typeface="Raleway" pitchFamily="34" charset="0"/>
                <a:ea typeface="Raleway" pitchFamily="34" charset="-122"/>
                <a:cs typeface="Raleway" pitchFamily="34" charset="-120"/>
              </a:rPr>
              <a:t>1</a:t>
            </a:r>
            <a:endParaRPr lang="en-US" sz="1000" dirty="0"/>
          </a:p>
        </p:txBody>
      </p:sp>
      <p:sp>
        <p:nvSpPr>
          <p:cNvPr id="23" name="Text 22">
            <a:extLst>
              <a:ext uri="{FF2B5EF4-FFF2-40B4-BE49-F238E27FC236}">
                <a16:creationId xmlns:a16="http://schemas.microsoft.com/office/drawing/2014/main" id="{29416F87-3848-854B-9D3E-32FC2E786B79}"/>
              </a:ext>
            </a:extLst>
          </p:cNvPr>
          <p:cNvSpPr txBox="1"/>
          <p:nvPr/>
        </p:nvSpPr>
        <p:spPr>
          <a:xfrm>
            <a:off x="6981444" y="3248711"/>
            <a:ext cx="1911096"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Select Local API (/api)</a:t>
            </a:r>
            <a:endParaRPr lang="en-US" sz="1000" dirty="0"/>
          </a:p>
        </p:txBody>
      </p:sp>
      <p:sp>
        <p:nvSpPr>
          <p:cNvPr id="24" name="Text 23">
            <a:extLst>
              <a:ext uri="{FF2B5EF4-FFF2-40B4-BE49-F238E27FC236}">
                <a16:creationId xmlns:a16="http://schemas.microsoft.com/office/drawing/2014/main" id="{2FB20F25-4140-C852-C763-04A0515898AA}"/>
              </a:ext>
            </a:extLst>
          </p:cNvPr>
          <p:cNvSpPr txBox="1"/>
          <p:nvPr/>
        </p:nvSpPr>
        <p:spPr>
          <a:xfrm>
            <a:off x="6981444" y="3438906"/>
            <a:ext cx="2085746"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Choose local endpoint for testing</a:t>
            </a:r>
            <a:endParaRPr lang="en-US" sz="900" dirty="0"/>
          </a:p>
        </p:txBody>
      </p:sp>
      <p:sp>
        <p:nvSpPr>
          <p:cNvPr id="25" name="Shape 24">
            <a:extLst>
              <a:ext uri="{FF2B5EF4-FFF2-40B4-BE49-F238E27FC236}">
                <a16:creationId xmlns:a16="http://schemas.microsoft.com/office/drawing/2014/main" id="{034E96B6-A092-9A0A-9809-78ABE903641C}"/>
              </a:ext>
            </a:extLst>
          </p:cNvPr>
          <p:cNvSpPr/>
          <p:nvPr/>
        </p:nvSpPr>
        <p:spPr>
          <a:xfrm>
            <a:off x="6562649" y="3744316"/>
            <a:ext cx="304495" cy="304495"/>
          </a:xfrm>
          <a:prstGeom prst="ellipse">
            <a:avLst/>
          </a:prstGeom>
          <a:solidFill>
            <a:srgbClr val="DBEAFE"/>
          </a:solidFill>
          <a:ln w="12700">
            <a:solidFill>
              <a:srgbClr val="FFFFFF">
                <a:alpha val="0"/>
              </a:srgbClr>
            </a:solidFill>
            <a:prstDash val="solid"/>
          </a:ln>
        </p:spPr>
        <p:txBody>
          <a:bodyPr/>
          <a:lstStyle/>
          <a:p>
            <a:endParaRPr lang="en-US"/>
          </a:p>
        </p:txBody>
      </p:sp>
      <p:sp>
        <p:nvSpPr>
          <p:cNvPr id="26" name="Text 25">
            <a:extLst>
              <a:ext uri="{FF2B5EF4-FFF2-40B4-BE49-F238E27FC236}">
                <a16:creationId xmlns:a16="http://schemas.microsoft.com/office/drawing/2014/main" id="{0699CB9C-2C21-D93E-5DEF-2C68CB098490}"/>
              </a:ext>
            </a:extLst>
          </p:cNvPr>
          <p:cNvSpPr/>
          <p:nvPr/>
        </p:nvSpPr>
        <p:spPr>
          <a:xfrm>
            <a:off x="6534302" y="37443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2563EB"/>
                </a:solidFill>
                <a:latin typeface="Raleway" pitchFamily="34" charset="0"/>
                <a:ea typeface="Raleway" pitchFamily="34" charset="-122"/>
                <a:cs typeface="Raleway" pitchFamily="34" charset="-120"/>
              </a:rPr>
              <a:t>2</a:t>
            </a:r>
            <a:endParaRPr lang="en-US" sz="1000" dirty="0"/>
          </a:p>
        </p:txBody>
      </p:sp>
      <p:sp>
        <p:nvSpPr>
          <p:cNvPr id="27" name="Text 26">
            <a:extLst>
              <a:ext uri="{FF2B5EF4-FFF2-40B4-BE49-F238E27FC236}">
                <a16:creationId xmlns:a16="http://schemas.microsoft.com/office/drawing/2014/main" id="{3681D3C1-5749-E0FF-3C39-AFA8625BCE56}"/>
              </a:ext>
            </a:extLst>
          </p:cNvPr>
          <p:cNvSpPr txBox="1"/>
          <p:nvPr/>
        </p:nvSpPr>
        <p:spPr>
          <a:xfrm>
            <a:off x="6981444" y="3744316"/>
            <a:ext cx="1893722"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Select Bypass to Real API</a:t>
            </a:r>
            <a:endParaRPr lang="en-US" sz="1000" dirty="0"/>
          </a:p>
        </p:txBody>
      </p:sp>
      <p:sp>
        <p:nvSpPr>
          <p:cNvPr id="28" name="Text 27">
            <a:extLst>
              <a:ext uri="{FF2B5EF4-FFF2-40B4-BE49-F238E27FC236}">
                <a16:creationId xmlns:a16="http://schemas.microsoft.com/office/drawing/2014/main" id="{B7522373-203C-51C2-6908-B9A4D32C232C}"/>
              </a:ext>
            </a:extLst>
          </p:cNvPr>
          <p:cNvSpPr txBox="1"/>
          <p:nvPr/>
        </p:nvSpPr>
        <p:spPr>
          <a:xfrm>
            <a:off x="6981444" y="3934511"/>
            <a:ext cx="189372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Enable real API integration</a:t>
            </a:r>
            <a:endParaRPr lang="en-US" sz="900" dirty="0"/>
          </a:p>
        </p:txBody>
      </p:sp>
      <p:sp>
        <p:nvSpPr>
          <p:cNvPr id="29" name="Shape 28">
            <a:extLst>
              <a:ext uri="{FF2B5EF4-FFF2-40B4-BE49-F238E27FC236}">
                <a16:creationId xmlns:a16="http://schemas.microsoft.com/office/drawing/2014/main" id="{18B71538-DB90-8277-5A69-2839477E8E4D}"/>
              </a:ext>
            </a:extLst>
          </p:cNvPr>
          <p:cNvSpPr/>
          <p:nvPr/>
        </p:nvSpPr>
        <p:spPr>
          <a:xfrm>
            <a:off x="6562649" y="4239006"/>
            <a:ext cx="304495" cy="304495"/>
          </a:xfrm>
          <a:prstGeom prst="ellipse">
            <a:avLst/>
          </a:prstGeom>
          <a:solidFill>
            <a:srgbClr val="DBEAFE"/>
          </a:solidFill>
          <a:ln w="12700">
            <a:solidFill>
              <a:srgbClr val="FFFFFF">
                <a:alpha val="0"/>
              </a:srgbClr>
            </a:solidFill>
            <a:prstDash val="solid"/>
          </a:ln>
        </p:spPr>
        <p:txBody>
          <a:bodyPr/>
          <a:lstStyle/>
          <a:p>
            <a:endParaRPr lang="en-US"/>
          </a:p>
        </p:txBody>
      </p:sp>
      <p:sp>
        <p:nvSpPr>
          <p:cNvPr id="30" name="Text 29">
            <a:extLst>
              <a:ext uri="{FF2B5EF4-FFF2-40B4-BE49-F238E27FC236}">
                <a16:creationId xmlns:a16="http://schemas.microsoft.com/office/drawing/2014/main" id="{1ED5DC2C-00B7-28C0-AB7F-5988D9B13F34}"/>
              </a:ext>
            </a:extLst>
          </p:cNvPr>
          <p:cNvSpPr/>
          <p:nvPr/>
        </p:nvSpPr>
        <p:spPr>
          <a:xfrm>
            <a:off x="6534302" y="423900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2563EB"/>
                </a:solidFill>
                <a:latin typeface="Raleway" pitchFamily="34" charset="0"/>
                <a:ea typeface="Raleway" pitchFamily="34" charset="-122"/>
                <a:cs typeface="Raleway" pitchFamily="34" charset="-120"/>
              </a:rPr>
              <a:t>3</a:t>
            </a:r>
            <a:endParaRPr lang="en-US" sz="1000" dirty="0"/>
          </a:p>
        </p:txBody>
      </p:sp>
      <p:sp>
        <p:nvSpPr>
          <p:cNvPr id="31" name="Text 30">
            <a:extLst>
              <a:ext uri="{FF2B5EF4-FFF2-40B4-BE49-F238E27FC236}">
                <a16:creationId xmlns:a16="http://schemas.microsoft.com/office/drawing/2014/main" id="{084B14BD-639A-200C-97CB-036513B9B351}"/>
              </a:ext>
            </a:extLst>
          </p:cNvPr>
          <p:cNvSpPr txBox="1"/>
          <p:nvPr/>
        </p:nvSpPr>
        <p:spPr>
          <a:xfrm>
            <a:off x="6981444" y="4239006"/>
            <a:ext cx="1723644"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Show baseline success</a:t>
            </a:r>
            <a:endParaRPr lang="en-US" sz="1000" dirty="0"/>
          </a:p>
        </p:txBody>
      </p:sp>
      <p:sp>
        <p:nvSpPr>
          <p:cNvPr id="32" name="Text 31">
            <a:extLst>
              <a:ext uri="{FF2B5EF4-FFF2-40B4-BE49-F238E27FC236}">
                <a16:creationId xmlns:a16="http://schemas.microsoft.com/office/drawing/2014/main" id="{CC713FC6-F763-03CA-127D-DA990158B9E0}"/>
              </a:ext>
            </a:extLst>
          </p:cNvPr>
          <p:cNvSpPr txBox="1"/>
          <p:nvPr/>
        </p:nvSpPr>
        <p:spPr>
          <a:xfrm>
            <a:off x="6981444" y="4430116"/>
            <a:ext cx="1723644"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Verify real API responses</a:t>
            </a:r>
            <a:endParaRPr lang="en-US" sz="900" dirty="0"/>
          </a:p>
        </p:txBody>
      </p:sp>
      <p:sp>
        <p:nvSpPr>
          <p:cNvPr id="33" name="Shape 32">
            <a:extLst>
              <a:ext uri="{FF2B5EF4-FFF2-40B4-BE49-F238E27FC236}">
                <a16:creationId xmlns:a16="http://schemas.microsoft.com/office/drawing/2014/main" id="{8907309E-19FA-E911-D89C-F0B0599FC75E}"/>
              </a:ext>
            </a:extLst>
          </p:cNvPr>
          <p:cNvSpPr/>
          <p:nvPr/>
        </p:nvSpPr>
        <p:spPr>
          <a:xfrm>
            <a:off x="6562649" y="4734611"/>
            <a:ext cx="304495" cy="304495"/>
          </a:xfrm>
          <a:prstGeom prst="ellipse">
            <a:avLst/>
          </a:prstGeom>
          <a:solidFill>
            <a:srgbClr val="FEE2E2"/>
          </a:solidFill>
          <a:ln w="12700">
            <a:solidFill>
              <a:srgbClr val="FFFFFF">
                <a:alpha val="0"/>
              </a:srgbClr>
            </a:solidFill>
            <a:prstDash val="solid"/>
          </a:ln>
        </p:spPr>
        <p:txBody>
          <a:bodyPr/>
          <a:lstStyle/>
          <a:p>
            <a:endParaRPr lang="en-US"/>
          </a:p>
        </p:txBody>
      </p:sp>
      <p:sp>
        <p:nvSpPr>
          <p:cNvPr id="34" name="Text 33">
            <a:extLst>
              <a:ext uri="{FF2B5EF4-FFF2-40B4-BE49-F238E27FC236}">
                <a16:creationId xmlns:a16="http://schemas.microsoft.com/office/drawing/2014/main" id="{FE5BD9EA-AE4C-2E82-C651-DF2973D77733}"/>
              </a:ext>
            </a:extLst>
          </p:cNvPr>
          <p:cNvSpPr/>
          <p:nvPr/>
        </p:nvSpPr>
        <p:spPr>
          <a:xfrm>
            <a:off x="6534302" y="4734611"/>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DC2626"/>
                </a:solidFill>
                <a:latin typeface="Raleway" pitchFamily="34" charset="0"/>
                <a:ea typeface="Raleway" pitchFamily="34" charset="-122"/>
                <a:cs typeface="Raleway" pitchFamily="34" charset="-120"/>
              </a:rPr>
              <a:t>4</a:t>
            </a:r>
            <a:endParaRPr lang="en-US" sz="1000" dirty="0"/>
          </a:p>
        </p:txBody>
      </p:sp>
      <p:sp>
        <p:nvSpPr>
          <p:cNvPr id="35" name="Text 34">
            <a:extLst>
              <a:ext uri="{FF2B5EF4-FFF2-40B4-BE49-F238E27FC236}">
                <a16:creationId xmlns:a16="http://schemas.microsoft.com/office/drawing/2014/main" id="{4F849A5E-064C-8923-F0E9-1CE254D793CC}"/>
              </a:ext>
            </a:extLst>
          </p:cNvPr>
          <p:cNvSpPr txBox="1"/>
          <p:nvPr/>
        </p:nvSpPr>
        <p:spPr>
          <a:xfrm>
            <a:off x="6981444" y="4734611"/>
            <a:ext cx="1688897"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Click Disable Local API</a:t>
            </a:r>
            <a:endParaRPr lang="en-US" sz="1000" dirty="0"/>
          </a:p>
        </p:txBody>
      </p:sp>
      <p:sp>
        <p:nvSpPr>
          <p:cNvPr id="36" name="Text 35">
            <a:extLst>
              <a:ext uri="{FF2B5EF4-FFF2-40B4-BE49-F238E27FC236}">
                <a16:creationId xmlns:a16="http://schemas.microsoft.com/office/drawing/2014/main" id="{22AC3F96-9DB2-D848-30BF-7F10D97F0394}"/>
              </a:ext>
            </a:extLst>
          </p:cNvPr>
          <p:cNvSpPr txBox="1"/>
          <p:nvPr/>
        </p:nvSpPr>
        <p:spPr>
          <a:xfrm>
            <a:off x="6981444" y="4924806"/>
            <a:ext cx="1688897"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Simulate unavailable route</a:t>
            </a:r>
            <a:endParaRPr lang="en-US" sz="900" dirty="0"/>
          </a:p>
        </p:txBody>
      </p:sp>
      <p:sp>
        <p:nvSpPr>
          <p:cNvPr id="37" name="Shape 36">
            <a:extLst>
              <a:ext uri="{FF2B5EF4-FFF2-40B4-BE49-F238E27FC236}">
                <a16:creationId xmlns:a16="http://schemas.microsoft.com/office/drawing/2014/main" id="{CF39A075-68F6-DC69-6247-99EE729871C9}"/>
              </a:ext>
            </a:extLst>
          </p:cNvPr>
          <p:cNvSpPr/>
          <p:nvPr/>
        </p:nvSpPr>
        <p:spPr>
          <a:xfrm>
            <a:off x="6562649" y="5230216"/>
            <a:ext cx="304495" cy="304495"/>
          </a:xfrm>
          <a:prstGeom prst="ellipse">
            <a:avLst/>
          </a:prstGeom>
          <a:solidFill>
            <a:srgbClr val="FEE2E2"/>
          </a:solidFill>
          <a:ln w="12700">
            <a:solidFill>
              <a:srgbClr val="FFFFFF">
                <a:alpha val="0"/>
              </a:srgbClr>
            </a:solidFill>
            <a:prstDash val="solid"/>
          </a:ln>
        </p:spPr>
        <p:txBody>
          <a:bodyPr/>
          <a:lstStyle/>
          <a:p>
            <a:endParaRPr lang="en-US"/>
          </a:p>
        </p:txBody>
      </p:sp>
      <p:sp>
        <p:nvSpPr>
          <p:cNvPr id="38" name="Text 37">
            <a:extLst>
              <a:ext uri="{FF2B5EF4-FFF2-40B4-BE49-F238E27FC236}">
                <a16:creationId xmlns:a16="http://schemas.microsoft.com/office/drawing/2014/main" id="{20755E10-B82A-7E5C-5F87-1ED49FD15184}"/>
              </a:ext>
            </a:extLst>
          </p:cNvPr>
          <p:cNvSpPr/>
          <p:nvPr/>
        </p:nvSpPr>
        <p:spPr>
          <a:xfrm>
            <a:off x="6534302" y="523021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DC2626"/>
                </a:solidFill>
                <a:latin typeface="Raleway" pitchFamily="34" charset="0"/>
                <a:ea typeface="Raleway" pitchFamily="34" charset="-122"/>
                <a:cs typeface="Raleway" pitchFamily="34" charset="-120"/>
              </a:rPr>
              <a:t>5</a:t>
            </a:r>
            <a:endParaRPr lang="en-US" sz="1000" dirty="0"/>
          </a:p>
        </p:txBody>
      </p:sp>
      <p:sp>
        <p:nvSpPr>
          <p:cNvPr id="39" name="Text 38">
            <a:extLst>
              <a:ext uri="{FF2B5EF4-FFF2-40B4-BE49-F238E27FC236}">
                <a16:creationId xmlns:a16="http://schemas.microsoft.com/office/drawing/2014/main" id="{33D0699B-DC80-CBAB-1483-0681A0FFD1F7}"/>
              </a:ext>
            </a:extLst>
          </p:cNvPr>
          <p:cNvSpPr txBox="1"/>
          <p:nvPr/>
        </p:nvSpPr>
        <p:spPr>
          <a:xfrm>
            <a:off x="6981444" y="5230216"/>
            <a:ext cx="2845613"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Refresh → show failure + local warning</a:t>
            </a:r>
            <a:endParaRPr lang="en-US" sz="1000" dirty="0"/>
          </a:p>
        </p:txBody>
      </p:sp>
      <p:sp>
        <p:nvSpPr>
          <p:cNvPr id="40" name="Text 39">
            <a:extLst>
              <a:ext uri="{FF2B5EF4-FFF2-40B4-BE49-F238E27FC236}">
                <a16:creationId xmlns:a16="http://schemas.microsoft.com/office/drawing/2014/main" id="{F4B6AAEA-D85C-00CA-FD0C-0B182E2A5807}"/>
              </a:ext>
            </a:extLst>
          </p:cNvPr>
          <p:cNvSpPr txBox="1"/>
          <p:nvPr/>
        </p:nvSpPr>
        <p:spPr>
          <a:xfrm>
            <a:off x="6981444" y="5420411"/>
            <a:ext cx="2487168"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Observe error handling</a:t>
            </a:r>
            <a:endParaRPr lang="en-US" sz="900" dirty="0"/>
          </a:p>
        </p:txBody>
      </p:sp>
      <p:sp>
        <p:nvSpPr>
          <p:cNvPr id="41" name="Shape 40">
            <a:extLst>
              <a:ext uri="{FF2B5EF4-FFF2-40B4-BE49-F238E27FC236}">
                <a16:creationId xmlns:a16="http://schemas.microsoft.com/office/drawing/2014/main" id="{FAF63E03-61F7-7E14-9EE1-E713B60BE259}"/>
              </a:ext>
            </a:extLst>
          </p:cNvPr>
          <p:cNvSpPr/>
          <p:nvPr/>
        </p:nvSpPr>
        <p:spPr>
          <a:xfrm>
            <a:off x="6562649" y="5724906"/>
            <a:ext cx="304495" cy="304495"/>
          </a:xfrm>
          <a:prstGeom prst="ellipse">
            <a:avLst/>
          </a:prstGeom>
          <a:solidFill>
            <a:srgbClr val="D1FAE5"/>
          </a:solidFill>
          <a:ln w="12700">
            <a:solidFill>
              <a:srgbClr val="FFFFFF">
                <a:alpha val="0"/>
              </a:srgbClr>
            </a:solidFill>
            <a:prstDash val="solid"/>
          </a:ln>
        </p:spPr>
        <p:txBody>
          <a:bodyPr/>
          <a:lstStyle/>
          <a:p>
            <a:endParaRPr lang="en-US"/>
          </a:p>
        </p:txBody>
      </p:sp>
      <p:sp>
        <p:nvSpPr>
          <p:cNvPr id="42" name="Text 41">
            <a:extLst>
              <a:ext uri="{FF2B5EF4-FFF2-40B4-BE49-F238E27FC236}">
                <a16:creationId xmlns:a16="http://schemas.microsoft.com/office/drawing/2014/main" id="{A7EB2747-1846-D8EE-F56B-5830AE6B19AE}"/>
              </a:ext>
            </a:extLst>
          </p:cNvPr>
          <p:cNvSpPr/>
          <p:nvPr/>
        </p:nvSpPr>
        <p:spPr>
          <a:xfrm>
            <a:off x="6534302" y="5724906"/>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059669"/>
                </a:solidFill>
                <a:latin typeface="Raleway" pitchFamily="34" charset="0"/>
                <a:ea typeface="Raleway" pitchFamily="34" charset="-122"/>
                <a:cs typeface="Raleway" pitchFamily="34" charset="-120"/>
              </a:rPr>
              <a:t>6</a:t>
            </a:r>
            <a:endParaRPr lang="en-US" sz="1000" dirty="0"/>
          </a:p>
        </p:txBody>
      </p:sp>
      <p:sp>
        <p:nvSpPr>
          <p:cNvPr id="43" name="Text 42">
            <a:extLst>
              <a:ext uri="{FF2B5EF4-FFF2-40B4-BE49-F238E27FC236}">
                <a16:creationId xmlns:a16="http://schemas.microsoft.com/office/drawing/2014/main" id="{B3B9D47F-FE59-57FA-CE72-DDF4919A3C0A}"/>
              </a:ext>
            </a:extLst>
          </p:cNvPr>
          <p:cNvSpPr txBox="1"/>
          <p:nvPr/>
        </p:nvSpPr>
        <p:spPr>
          <a:xfrm>
            <a:off x="6981444" y="5724906"/>
            <a:ext cx="1711757" cy="191110"/>
          </a:xfrm>
          <a:prstGeom prst="rect">
            <a:avLst/>
          </a:prstGeom>
          <a:noFill/>
          <a:ln/>
        </p:spPr>
        <p:txBody>
          <a:bodyPr wrap="square" lIns="0" tIns="0" rIns="0" bIns="0" rtlCol="0" anchor="ctr"/>
          <a:lstStyle/>
          <a:p>
            <a:pPr marL="0" indent="0" algn="l">
              <a:buNone/>
            </a:pPr>
            <a:r>
              <a:rPr lang="en-US" sz="1000" dirty="0">
                <a:solidFill>
                  <a:srgbClr val="374151"/>
                </a:solidFill>
                <a:latin typeface="Raleway" pitchFamily="34" charset="0"/>
                <a:ea typeface="Raleway" pitchFamily="34" charset="-122"/>
                <a:cs typeface="Raleway" pitchFamily="34" charset="-120"/>
              </a:rPr>
              <a:t>Re-enable and recover</a:t>
            </a:r>
            <a:endParaRPr lang="en-US" sz="1000" dirty="0"/>
          </a:p>
        </p:txBody>
      </p:sp>
      <p:sp>
        <p:nvSpPr>
          <p:cNvPr id="44" name="Text 43">
            <a:extLst>
              <a:ext uri="{FF2B5EF4-FFF2-40B4-BE49-F238E27FC236}">
                <a16:creationId xmlns:a16="http://schemas.microsoft.com/office/drawing/2014/main" id="{894158AB-31A8-D278-FD4C-C141A42B17DC}"/>
              </a:ext>
            </a:extLst>
          </p:cNvPr>
          <p:cNvSpPr txBox="1"/>
          <p:nvPr/>
        </p:nvSpPr>
        <p:spPr>
          <a:xfrm>
            <a:off x="6981444" y="5916016"/>
            <a:ext cx="1515161"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Restore functionality</a:t>
            </a:r>
            <a:endParaRPr lang="en-US" sz="900" dirty="0"/>
          </a:p>
        </p:txBody>
      </p:sp>
      <p:sp>
        <p:nvSpPr>
          <p:cNvPr id="45" name="Text 5">
            <a:extLst>
              <a:ext uri="{FF2B5EF4-FFF2-40B4-BE49-F238E27FC236}">
                <a16:creationId xmlns:a16="http://schemas.microsoft.com/office/drawing/2014/main" id="{9DAD5F9F-3BC3-E6E8-F614-C71AD26AB0E6}"/>
              </a:ext>
            </a:extLst>
          </p:cNvPr>
          <p:cNvSpPr txBox="1"/>
          <p:nvPr/>
        </p:nvSpPr>
        <p:spPr>
          <a:xfrm>
            <a:off x="626365" y="1663370"/>
            <a:ext cx="6848856" cy="305410"/>
          </a:xfrm>
          <a:prstGeom prst="rect">
            <a:avLst/>
          </a:prstGeom>
          <a:noFill/>
          <a:ln/>
        </p:spPr>
        <p:txBody>
          <a:bodyPr wrap="square" lIns="0" tIns="0" rIns="0" bIns="0" rtlCol="0" anchor="ctr"/>
          <a:lstStyle/>
          <a:p>
            <a:r>
              <a:rPr lang="en-US" b="1" kern="0" spc="75" dirty="0">
                <a:solidFill>
                  <a:srgbClr val="000000"/>
                </a:solidFill>
                <a:latin typeface="Saira Condensed" pitchFamily="34" charset="0"/>
                <a:ea typeface="Saira Condensed" pitchFamily="34" charset="-122"/>
                <a:cs typeface="Saira Condensed" pitchFamily="34" charset="-120"/>
              </a:rPr>
              <a:t>Local API + Bypass to Real API</a:t>
            </a:r>
            <a:endParaRPr lang="en-US" dirty="0"/>
          </a:p>
        </p:txBody>
      </p:sp>
      <p:sp>
        <p:nvSpPr>
          <p:cNvPr id="46" name="Shape 2">
            <a:extLst>
              <a:ext uri="{FF2B5EF4-FFF2-40B4-BE49-F238E27FC236}">
                <a16:creationId xmlns:a16="http://schemas.microsoft.com/office/drawing/2014/main" id="{9D93DAAD-AD91-178C-74F4-2BE8B66A585E}"/>
              </a:ext>
            </a:extLst>
          </p:cNvPr>
          <p:cNvSpPr/>
          <p:nvPr/>
        </p:nvSpPr>
        <p:spPr>
          <a:xfrm>
            <a:off x="10084918" y="795715"/>
            <a:ext cx="1429207" cy="400507"/>
          </a:xfrm>
          <a:prstGeom prst="roundRect">
            <a:avLst>
              <a:gd name="adj" fmla="val 228311"/>
            </a:avLst>
          </a:prstGeom>
          <a:solidFill>
            <a:srgbClr val="FFFFFF"/>
          </a:solidFill>
          <a:ln w="25400">
            <a:solidFill>
              <a:srgbClr val="000000"/>
            </a:solidFill>
            <a:prstDash val="solid"/>
          </a:ln>
        </p:spPr>
        <p:txBody>
          <a:bodyPr/>
          <a:lstStyle/>
          <a:p>
            <a:endParaRPr lang="en-US"/>
          </a:p>
        </p:txBody>
      </p:sp>
      <p:sp>
        <p:nvSpPr>
          <p:cNvPr id="47" name="Text 3">
            <a:extLst>
              <a:ext uri="{FF2B5EF4-FFF2-40B4-BE49-F238E27FC236}">
                <a16:creationId xmlns:a16="http://schemas.microsoft.com/office/drawing/2014/main" id="{DD4D50BA-F5E4-CFFB-0A2F-BD46BF078506}"/>
              </a:ext>
            </a:extLst>
          </p:cNvPr>
          <p:cNvSpPr/>
          <p:nvPr/>
        </p:nvSpPr>
        <p:spPr>
          <a:xfrm>
            <a:off x="10055657" y="795715"/>
            <a:ext cx="1485900" cy="400507"/>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rgbClr val="000000"/>
                </a:solidFill>
                <a:latin typeface="Saira Condensed" pitchFamily="34" charset="0"/>
                <a:ea typeface="Saira Condensed" pitchFamily="34" charset="-122"/>
                <a:cs typeface="Saira Condensed" pitchFamily="34" charset="-120"/>
              </a:rPr>
              <a:t>MSW Beyond Tests</a:t>
            </a:r>
            <a:endParaRPr lang="en-US" sz="1000" dirty="0"/>
          </a:p>
        </p:txBody>
      </p:sp>
      <p:sp>
        <p:nvSpPr>
          <p:cNvPr id="49" name="Text 5">
            <a:extLst>
              <a:ext uri="{FF2B5EF4-FFF2-40B4-BE49-F238E27FC236}">
                <a16:creationId xmlns:a16="http://schemas.microsoft.com/office/drawing/2014/main" id="{1DC99153-BBE0-0E08-62E2-399E2DE4F961}"/>
              </a:ext>
            </a:extLst>
          </p:cNvPr>
          <p:cNvSpPr txBox="1"/>
          <p:nvPr/>
        </p:nvSpPr>
        <p:spPr>
          <a:xfrm>
            <a:off x="609905" y="914400"/>
            <a:ext cx="3514954"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DEMO CASE 3</a:t>
            </a:r>
            <a:endParaRPr lang="en-US" sz="4800" dirty="0">
              <a:solidFill>
                <a:srgbClr val="091044"/>
              </a:solidFill>
            </a:endParaRPr>
          </a:p>
        </p:txBody>
      </p:sp>
    </p:spTree>
    <p:extLst>
      <p:ext uri="{BB962C8B-B14F-4D97-AF65-F5344CB8AC3E}">
        <p14:creationId xmlns:p14="http://schemas.microsoft.com/office/powerpoint/2010/main" val="6290044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E641-7A44-5E4A-C573-A6901F87F1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3BAC4B-EC74-D1BE-25F0-3D282324C149}"/>
              </a:ext>
            </a:extLst>
          </p:cNvPr>
          <p:cNvSpPr>
            <a:spLocks noGrp="1"/>
          </p:cNvSpPr>
          <p:nvPr>
            <p:ph type="sldNum" sz="quarter" idx="12"/>
          </p:nvPr>
        </p:nvSpPr>
        <p:spPr/>
        <p:txBody>
          <a:bodyPr/>
          <a:lstStyle/>
          <a:p>
            <a:fld id="{F01A0BEF-C76D-43A2-874C-09A8674B0D74}" type="slidenum">
              <a:rPr lang="en-GB" smtClean="0"/>
              <a:t>11</a:t>
            </a:fld>
            <a:endParaRPr lang="en-GB"/>
          </a:p>
        </p:txBody>
      </p:sp>
      <p:sp>
        <p:nvSpPr>
          <p:cNvPr id="5" name="Text 6">
            <a:extLst>
              <a:ext uri="{FF2B5EF4-FFF2-40B4-BE49-F238E27FC236}">
                <a16:creationId xmlns:a16="http://schemas.microsoft.com/office/drawing/2014/main" id="{E10B9432-A849-D6F1-89EC-823235169ADF}"/>
              </a:ext>
            </a:extLst>
          </p:cNvPr>
          <p:cNvSpPr txBox="1"/>
          <p:nvPr/>
        </p:nvSpPr>
        <p:spPr>
          <a:xfrm>
            <a:off x="609905" y="2040629"/>
            <a:ext cx="6810451" cy="810158"/>
          </a:xfrm>
          <a:prstGeom prst="rect">
            <a:avLst/>
          </a:prstGeom>
          <a:noFill/>
          <a:ln/>
        </p:spPr>
        <p:txBody>
          <a:bodyPr wrap="square" lIns="0" tIns="0" rIns="0" bIns="0" rtlCol="0" anchor="ctr"/>
          <a:lstStyle/>
          <a:p>
            <a:pPr marL="0" indent="0" algn="l">
              <a:buNone/>
            </a:pPr>
            <a:r>
              <a:rPr lang="en-US" sz="1300" dirty="0">
                <a:solidFill>
                  <a:srgbClr val="000000"/>
                </a:solidFill>
                <a:latin typeface="Raleway" pitchFamily="34" charset="0"/>
                <a:ea typeface="Raleway" pitchFamily="34" charset="-122"/>
                <a:cs typeface="Raleway" pitchFamily="34" charset="-120"/>
              </a:rPr>
              <a:t>This scenario demonstrates how MSW can isolate frontend development from local route availability, allowing you to continue development even when the local API layer is disabled.</a:t>
            </a:r>
            <a:endParaRPr lang="en-US" sz="1300" dirty="0"/>
          </a:p>
        </p:txBody>
      </p:sp>
      <p:sp>
        <p:nvSpPr>
          <p:cNvPr id="6" name="Shape 7">
            <a:extLst>
              <a:ext uri="{FF2B5EF4-FFF2-40B4-BE49-F238E27FC236}">
                <a16:creationId xmlns:a16="http://schemas.microsoft.com/office/drawing/2014/main" id="{54DDE758-D78F-D505-AFF8-C75ABBF29E9F}"/>
              </a:ext>
            </a:extLst>
          </p:cNvPr>
          <p:cNvSpPr/>
          <p:nvPr/>
        </p:nvSpPr>
        <p:spPr>
          <a:xfrm>
            <a:off x="609905" y="2922636"/>
            <a:ext cx="6734556" cy="2457907"/>
          </a:xfrm>
          <a:prstGeom prst="roundRect">
            <a:avLst>
              <a:gd name="adj" fmla="val 2307"/>
            </a:avLst>
          </a:prstGeom>
          <a:solidFill>
            <a:srgbClr val="F8FAFC"/>
          </a:solidFill>
          <a:ln w="12700">
            <a:solidFill>
              <a:srgbClr val="E2E8F0"/>
            </a:solidFill>
            <a:prstDash val="solid"/>
          </a:ln>
        </p:spPr>
        <p:txBody>
          <a:bodyPr/>
          <a:lstStyle/>
          <a:p>
            <a:endParaRPr lang="en-US"/>
          </a:p>
        </p:txBody>
      </p:sp>
      <p:sp>
        <p:nvSpPr>
          <p:cNvPr id="7" name="Text 8">
            <a:extLst>
              <a:ext uri="{FF2B5EF4-FFF2-40B4-BE49-F238E27FC236}">
                <a16:creationId xmlns:a16="http://schemas.microsoft.com/office/drawing/2014/main" id="{F63EC2AE-2236-3BD5-C861-A3A0D28DE1BB}"/>
              </a:ext>
            </a:extLst>
          </p:cNvPr>
          <p:cNvSpPr txBox="1"/>
          <p:nvPr/>
        </p:nvSpPr>
        <p:spPr>
          <a:xfrm>
            <a:off x="848564" y="3160380"/>
            <a:ext cx="2179930"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Raleway" pitchFamily="34" charset="0"/>
                <a:ea typeface="Raleway" pitchFamily="34" charset="-122"/>
                <a:cs typeface="Raleway" pitchFamily="34" charset="-120"/>
              </a:rPr>
              <a:t>Local API Status</a:t>
            </a:r>
            <a:endParaRPr lang="en-US" sz="1300" dirty="0"/>
          </a:p>
        </p:txBody>
      </p:sp>
      <p:sp>
        <p:nvSpPr>
          <p:cNvPr id="8" name="Text 9">
            <a:extLst>
              <a:ext uri="{FF2B5EF4-FFF2-40B4-BE49-F238E27FC236}">
                <a16:creationId xmlns:a16="http://schemas.microsoft.com/office/drawing/2014/main" id="{8F3C7C2F-75A8-DCBC-1331-7240E997DC65}"/>
              </a:ext>
            </a:extLst>
          </p:cNvPr>
          <p:cNvSpPr txBox="1"/>
          <p:nvPr/>
        </p:nvSpPr>
        <p:spPr>
          <a:xfrm>
            <a:off x="848564" y="3464875"/>
            <a:ext cx="249448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Current state of the local API layer</a:t>
            </a:r>
            <a:endParaRPr lang="en-US" sz="1000" dirty="0"/>
          </a:p>
        </p:txBody>
      </p:sp>
      <p:sp>
        <p:nvSpPr>
          <p:cNvPr id="9" name="Shape 10">
            <a:extLst>
              <a:ext uri="{FF2B5EF4-FFF2-40B4-BE49-F238E27FC236}">
                <a16:creationId xmlns:a16="http://schemas.microsoft.com/office/drawing/2014/main" id="{8D39BCCA-9AA7-6506-D231-A561FF401FE9}"/>
              </a:ext>
            </a:extLst>
          </p:cNvPr>
          <p:cNvSpPr/>
          <p:nvPr/>
        </p:nvSpPr>
        <p:spPr>
          <a:xfrm>
            <a:off x="6065216" y="3231703"/>
            <a:ext cx="1037844" cy="352044"/>
          </a:xfrm>
          <a:prstGeom prst="roundRect">
            <a:avLst>
              <a:gd name="adj" fmla="val 259740"/>
            </a:avLst>
          </a:prstGeom>
          <a:solidFill>
            <a:srgbClr val="DCFCE7"/>
          </a:solidFill>
          <a:ln w="12700">
            <a:solidFill>
              <a:srgbClr val="FFFFFF">
                <a:alpha val="0"/>
              </a:srgbClr>
            </a:solidFill>
            <a:prstDash val="solid"/>
          </a:ln>
        </p:spPr>
        <p:txBody>
          <a:bodyPr/>
          <a:lstStyle/>
          <a:p>
            <a:endParaRPr lang="en-US"/>
          </a:p>
        </p:txBody>
      </p:sp>
      <p:pic>
        <p:nvPicPr>
          <p:cNvPr id="10" name="Image 1" descr="preencoded.png">
            <a:extLst>
              <a:ext uri="{FF2B5EF4-FFF2-40B4-BE49-F238E27FC236}">
                <a16:creationId xmlns:a16="http://schemas.microsoft.com/office/drawing/2014/main" id="{BC7265CB-8D56-7297-F09C-F8F70BEE9C2B}"/>
              </a:ext>
            </a:extLst>
          </p:cNvPr>
          <p:cNvPicPr>
            <a:picLocks noChangeAspect="1"/>
          </p:cNvPicPr>
          <p:nvPr/>
        </p:nvPicPr>
        <p:blipFill>
          <a:blip r:embed="rId3"/>
          <a:srcRect/>
          <a:stretch/>
        </p:blipFill>
        <p:spPr>
          <a:xfrm>
            <a:off x="6217920" y="3341431"/>
            <a:ext cx="133502" cy="133502"/>
          </a:xfrm>
          <a:prstGeom prst="rect">
            <a:avLst/>
          </a:prstGeom>
        </p:spPr>
      </p:pic>
      <p:sp>
        <p:nvSpPr>
          <p:cNvPr id="11" name="Text 11">
            <a:extLst>
              <a:ext uri="{FF2B5EF4-FFF2-40B4-BE49-F238E27FC236}">
                <a16:creationId xmlns:a16="http://schemas.microsoft.com/office/drawing/2014/main" id="{D314F776-DB79-FF8D-3C5E-9E05C32FEF68}"/>
              </a:ext>
            </a:extLst>
          </p:cNvPr>
          <p:cNvSpPr txBox="1"/>
          <p:nvPr/>
        </p:nvSpPr>
        <p:spPr>
          <a:xfrm>
            <a:off x="6427318" y="3231703"/>
            <a:ext cx="581558" cy="352958"/>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Enabled</a:t>
            </a:r>
            <a:endParaRPr lang="en-US" sz="1000" dirty="0"/>
          </a:p>
        </p:txBody>
      </p:sp>
      <p:sp>
        <p:nvSpPr>
          <p:cNvPr id="12" name="Text 12">
            <a:extLst>
              <a:ext uri="{FF2B5EF4-FFF2-40B4-BE49-F238E27FC236}">
                <a16:creationId xmlns:a16="http://schemas.microsoft.com/office/drawing/2014/main" id="{ACC8B5FE-7899-DF52-7BD0-60C766A36C49}"/>
              </a:ext>
            </a:extLst>
          </p:cNvPr>
          <p:cNvSpPr txBox="1"/>
          <p:nvPr/>
        </p:nvSpPr>
        <p:spPr>
          <a:xfrm>
            <a:off x="848564" y="3807775"/>
            <a:ext cx="2298802"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Raleway" pitchFamily="34" charset="0"/>
                <a:ea typeface="Raleway" pitchFamily="34" charset="-122"/>
                <a:cs typeface="Raleway" pitchFamily="34" charset="-120"/>
              </a:rPr>
              <a:t>MSW Intercept</a:t>
            </a:r>
            <a:endParaRPr lang="en-US" sz="1300" dirty="0"/>
          </a:p>
        </p:txBody>
      </p:sp>
      <p:sp>
        <p:nvSpPr>
          <p:cNvPr id="13" name="Text 13">
            <a:extLst>
              <a:ext uri="{FF2B5EF4-FFF2-40B4-BE49-F238E27FC236}">
                <a16:creationId xmlns:a16="http://schemas.microsoft.com/office/drawing/2014/main" id="{A74DA3C5-DA7F-83E8-19D1-95411EF95011}"/>
              </a:ext>
            </a:extLst>
          </p:cNvPr>
          <p:cNvSpPr txBox="1"/>
          <p:nvPr/>
        </p:nvSpPr>
        <p:spPr>
          <a:xfrm>
            <a:off x="848564" y="4113185"/>
            <a:ext cx="262981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Network request interception status</a:t>
            </a:r>
            <a:endParaRPr lang="en-US" sz="1000" dirty="0"/>
          </a:p>
        </p:txBody>
      </p:sp>
      <p:sp>
        <p:nvSpPr>
          <p:cNvPr id="14" name="Shape 14">
            <a:extLst>
              <a:ext uri="{FF2B5EF4-FFF2-40B4-BE49-F238E27FC236}">
                <a16:creationId xmlns:a16="http://schemas.microsoft.com/office/drawing/2014/main" id="{264FBAEB-D93B-59FE-0DFE-00FDB6F2E950}"/>
              </a:ext>
            </a:extLst>
          </p:cNvPr>
          <p:cNvSpPr/>
          <p:nvPr/>
        </p:nvSpPr>
        <p:spPr>
          <a:xfrm>
            <a:off x="6195060" y="3879098"/>
            <a:ext cx="914400" cy="352044"/>
          </a:xfrm>
          <a:prstGeom prst="roundRect">
            <a:avLst>
              <a:gd name="adj" fmla="val 259740"/>
            </a:avLst>
          </a:prstGeom>
          <a:solidFill>
            <a:srgbClr val="DCFCE7"/>
          </a:solidFill>
          <a:ln w="12700">
            <a:solidFill>
              <a:srgbClr val="FFFFFF">
                <a:alpha val="0"/>
              </a:srgbClr>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595D1BE8-4851-B708-9B15-291F3E261DF9}"/>
              </a:ext>
            </a:extLst>
          </p:cNvPr>
          <p:cNvPicPr>
            <a:picLocks noChangeAspect="1"/>
          </p:cNvPicPr>
          <p:nvPr/>
        </p:nvPicPr>
        <p:blipFill>
          <a:blip r:embed="rId3"/>
          <a:srcRect/>
          <a:stretch/>
        </p:blipFill>
        <p:spPr>
          <a:xfrm>
            <a:off x="6347765" y="3988826"/>
            <a:ext cx="133502" cy="133502"/>
          </a:xfrm>
          <a:prstGeom prst="rect">
            <a:avLst/>
          </a:prstGeom>
        </p:spPr>
      </p:pic>
      <p:sp>
        <p:nvSpPr>
          <p:cNvPr id="16" name="Text 15">
            <a:extLst>
              <a:ext uri="{FF2B5EF4-FFF2-40B4-BE49-F238E27FC236}">
                <a16:creationId xmlns:a16="http://schemas.microsoft.com/office/drawing/2014/main" id="{39BF4BA6-AB9E-04DA-817C-5F2217F02489}"/>
              </a:ext>
            </a:extLst>
          </p:cNvPr>
          <p:cNvSpPr txBox="1"/>
          <p:nvPr/>
        </p:nvSpPr>
        <p:spPr>
          <a:xfrm>
            <a:off x="6557163" y="3879098"/>
            <a:ext cx="457200" cy="352958"/>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Active</a:t>
            </a:r>
            <a:endParaRPr lang="en-US" sz="1000" dirty="0"/>
          </a:p>
        </p:txBody>
      </p:sp>
      <p:sp>
        <p:nvSpPr>
          <p:cNvPr id="17" name="Shape 16">
            <a:extLst>
              <a:ext uri="{FF2B5EF4-FFF2-40B4-BE49-F238E27FC236}">
                <a16:creationId xmlns:a16="http://schemas.microsoft.com/office/drawing/2014/main" id="{BD7C6ACA-95C5-910D-8190-885C7F7C3EDF}"/>
              </a:ext>
            </a:extLst>
          </p:cNvPr>
          <p:cNvSpPr/>
          <p:nvPr/>
        </p:nvSpPr>
        <p:spPr>
          <a:xfrm>
            <a:off x="848564" y="4456085"/>
            <a:ext cx="6258154" cy="685800"/>
          </a:xfrm>
          <a:prstGeom prst="roundRect">
            <a:avLst>
              <a:gd name="adj" fmla="val 29630"/>
            </a:avLst>
          </a:prstGeom>
          <a:solidFill>
            <a:srgbClr val="EFF6FF"/>
          </a:solidFill>
          <a:ln w="12700">
            <a:solidFill>
              <a:srgbClr val="FFFFFF">
                <a:alpha val="0"/>
              </a:srgbClr>
            </a:solidFill>
            <a:prstDash val="solid"/>
          </a:ln>
        </p:spPr>
        <p:txBody>
          <a:bodyPr/>
          <a:lstStyle/>
          <a:p>
            <a:endParaRPr lang="en-US"/>
          </a:p>
        </p:txBody>
      </p:sp>
      <p:sp>
        <p:nvSpPr>
          <p:cNvPr id="18" name="Text 17">
            <a:extLst>
              <a:ext uri="{FF2B5EF4-FFF2-40B4-BE49-F238E27FC236}">
                <a16:creationId xmlns:a16="http://schemas.microsoft.com/office/drawing/2014/main" id="{8A6567F9-4330-5D4C-CB2C-8E425C7C2918}"/>
              </a:ext>
            </a:extLst>
          </p:cNvPr>
          <p:cNvSpPr txBox="1"/>
          <p:nvPr/>
        </p:nvSpPr>
        <p:spPr>
          <a:xfrm>
            <a:off x="1000354" y="4607875"/>
            <a:ext cx="6029554" cy="381305"/>
          </a:xfrm>
          <a:prstGeom prst="rect">
            <a:avLst/>
          </a:prstGeom>
          <a:noFill/>
          <a:ln/>
        </p:spPr>
        <p:txBody>
          <a:bodyPr wrap="square" lIns="0" tIns="0" rIns="0" bIns="0" rtlCol="0" anchor="ctr"/>
          <a:lstStyle/>
          <a:p>
            <a:pPr marL="0" indent="0" algn="l">
              <a:buNone/>
            </a:pPr>
            <a:r>
              <a:rPr lang="en-US" sz="1000" b="1" dirty="0">
                <a:solidFill>
                  <a:srgbClr val="1E40AF"/>
                </a:solidFill>
                <a:latin typeface="Raleway" pitchFamily="34" charset="0"/>
                <a:ea typeface="Raleway" pitchFamily="34" charset="-122"/>
                <a:cs typeface="Raleway" pitchFamily="34" charset="-120"/>
              </a:rPr>
              <a:t>Key Insight:</a:t>
            </a:r>
            <a:r>
              <a:rPr lang="en-US" sz="1000" dirty="0">
                <a:solidFill>
                  <a:srgbClr val="1E40AF"/>
                </a:solidFill>
                <a:latin typeface="Raleway" pitchFamily="34" charset="0"/>
                <a:ea typeface="Raleway" pitchFamily="34" charset="-122"/>
                <a:cs typeface="Raleway" pitchFamily="34" charset="-120"/>
              </a:rPr>
              <a:t> Even when local route layer is disabled, we can continue scenario-driven frontend development through MSW intercept. </a:t>
            </a:r>
            <a:endParaRPr lang="en-US" sz="1000" dirty="0"/>
          </a:p>
        </p:txBody>
      </p:sp>
      <p:sp>
        <p:nvSpPr>
          <p:cNvPr id="19" name="Shape 18">
            <a:extLst>
              <a:ext uri="{FF2B5EF4-FFF2-40B4-BE49-F238E27FC236}">
                <a16:creationId xmlns:a16="http://schemas.microsoft.com/office/drawing/2014/main" id="{241FBF54-6A68-BCA8-926D-48DDAEEDDEC0}"/>
              </a:ext>
            </a:extLst>
          </p:cNvPr>
          <p:cNvSpPr/>
          <p:nvPr/>
        </p:nvSpPr>
        <p:spPr>
          <a:xfrm>
            <a:off x="7875269" y="2172615"/>
            <a:ext cx="3562502" cy="3047695"/>
          </a:xfrm>
          <a:prstGeom prst="roundRect">
            <a:avLst>
              <a:gd name="adj" fmla="val 1500"/>
            </a:avLst>
          </a:prstGeom>
          <a:solidFill>
            <a:srgbClr val="F8FAFC"/>
          </a:solidFill>
          <a:ln w="12700">
            <a:solidFill>
              <a:srgbClr val="E2E8F0"/>
            </a:solidFill>
            <a:prstDash val="solid"/>
          </a:ln>
        </p:spPr>
        <p:txBody>
          <a:bodyPr/>
          <a:lstStyle/>
          <a:p>
            <a:endParaRPr lang="en-US"/>
          </a:p>
        </p:txBody>
      </p:sp>
      <p:sp>
        <p:nvSpPr>
          <p:cNvPr id="20" name="Text 19">
            <a:extLst>
              <a:ext uri="{FF2B5EF4-FFF2-40B4-BE49-F238E27FC236}">
                <a16:creationId xmlns:a16="http://schemas.microsoft.com/office/drawing/2014/main" id="{D6200D41-CF1D-3D73-96A4-855C6C8AFA87}"/>
              </a:ext>
            </a:extLst>
          </p:cNvPr>
          <p:cNvSpPr txBox="1"/>
          <p:nvPr/>
        </p:nvSpPr>
        <p:spPr>
          <a:xfrm>
            <a:off x="8113013" y="2411274"/>
            <a:ext cx="3200400" cy="267005"/>
          </a:xfrm>
          <a:prstGeom prst="rect">
            <a:avLst/>
          </a:prstGeom>
          <a:noFill/>
          <a:ln/>
        </p:spPr>
        <p:txBody>
          <a:bodyPr wrap="square" lIns="0" tIns="0" rIns="0" bIns="0" rtlCol="0" anchor="ctr"/>
          <a:lstStyle/>
          <a:p>
            <a:pPr marL="0" indent="0" algn="l">
              <a:buNone/>
            </a:pPr>
            <a:r>
              <a:rPr lang="en-US" sz="1300" b="1" dirty="0">
                <a:solidFill>
                  <a:srgbClr val="000000"/>
                </a:solidFill>
                <a:latin typeface="Raleway" pitchFamily="34" charset="0"/>
                <a:ea typeface="Raleway" pitchFamily="34" charset="-122"/>
                <a:cs typeface="Raleway" pitchFamily="34" charset="-120"/>
              </a:rPr>
              <a:t>Test Scenarios</a:t>
            </a:r>
            <a:endParaRPr lang="en-US" sz="1300" dirty="0"/>
          </a:p>
        </p:txBody>
      </p:sp>
      <p:sp>
        <p:nvSpPr>
          <p:cNvPr id="21" name="Shape 20">
            <a:extLst>
              <a:ext uri="{FF2B5EF4-FFF2-40B4-BE49-F238E27FC236}">
                <a16:creationId xmlns:a16="http://schemas.microsoft.com/office/drawing/2014/main" id="{5EF900B9-B9B4-6F68-34B9-BE1922FF8832}"/>
              </a:ext>
            </a:extLst>
          </p:cNvPr>
          <p:cNvSpPr/>
          <p:nvPr/>
        </p:nvSpPr>
        <p:spPr>
          <a:xfrm>
            <a:off x="8113013" y="2754174"/>
            <a:ext cx="3086100" cy="362102"/>
          </a:xfrm>
          <a:prstGeom prst="roundRect">
            <a:avLst>
              <a:gd name="adj" fmla="val 53163"/>
            </a:avLst>
          </a:prstGeom>
          <a:solidFill>
            <a:srgbClr val="FFFFFF"/>
          </a:solidFill>
          <a:ln w="12700">
            <a:solidFill>
              <a:srgbClr val="E5E7EB"/>
            </a:solidFill>
            <a:prstDash val="solid"/>
          </a:ln>
        </p:spPr>
        <p:txBody>
          <a:bodyPr/>
          <a:lstStyle/>
          <a:p>
            <a:endParaRPr lang="en-US"/>
          </a:p>
        </p:txBody>
      </p:sp>
      <p:sp>
        <p:nvSpPr>
          <p:cNvPr id="22" name="Text 21">
            <a:extLst>
              <a:ext uri="{FF2B5EF4-FFF2-40B4-BE49-F238E27FC236}">
                <a16:creationId xmlns:a16="http://schemas.microsoft.com/office/drawing/2014/main" id="{458476D3-5D46-A935-CD9B-E66339A57280}"/>
              </a:ext>
            </a:extLst>
          </p:cNvPr>
          <p:cNvSpPr txBox="1"/>
          <p:nvPr/>
        </p:nvSpPr>
        <p:spPr>
          <a:xfrm>
            <a:off x="8198967" y="2840127"/>
            <a:ext cx="829361"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happy-path</a:t>
            </a:r>
            <a:endParaRPr lang="en-US" sz="1000" dirty="0"/>
          </a:p>
        </p:txBody>
      </p:sp>
      <p:sp>
        <p:nvSpPr>
          <p:cNvPr id="23" name="Text 22">
            <a:extLst>
              <a:ext uri="{FF2B5EF4-FFF2-40B4-BE49-F238E27FC236}">
                <a16:creationId xmlns:a16="http://schemas.microsoft.com/office/drawing/2014/main" id="{65D201C9-5352-7B50-540D-CCD079D49ABE}"/>
              </a:ext>
            </a:extLst>
          </p:cNvPr>
          <p:cNvSpPr txBox="1"/>
          <p:nvPr/>
        </p:nvSpPr>
        <p:spPr>
          <a:xfrm>
            <a:off x="10525201" y="2858415"/>
            <a:ext cx="66751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 Working</a:t>
            </a:r>
            <a:endParaRPr lang="en-US" sz="900" dirty="0"/>
          </a:p>
        </p:txBody>
      </p:sp>
      <p:sp>
        <p:nvSpPr>
          <p:cNvPr id="24" name="Shape 23">
            <a:extLst>
              <a:ext uri="{FF2B5EF4-FFF2-40B4-BE49-F238E27FC236}">
                <a16:creationId xmlns:a16="http://schemas.microsoft.com/office/drawing/2014/main" id="{BA266488-0E4B-4E42-A93C-2D1B983DAD86}"/>
              </a:ext>
            </a:extLst>
          </p:cNvPr>
          <p:cNvSpPr/>
          <p:nvPr/>
        </p:nvSpPr>
        <p:spPr>
          <a:xfrm>
            <a:off x="8113013" y="3192171"/>
            <a:ext cx="3086100" cy="362102"/>
          </a:xfrm>
          <a:prstGeom prst="roundRect">
            <a:avLst>
              <a:gd name="adj" fmla="val 53163"/>
            </a:avLst>
          </a:prstGeom>
          <a:solidFill>
            <a:srgbClr val="FFFFFF"/>
          </a:solidFill>
          <a:ln w="12700">
            <a:solidFill>
              <a:srgbClr val="E5E7EB"/>
            </a:solidFill>
            <a:prstDash val="solid"/>
          </a:ln>
        </p:spPr>
        <p:txBody>
          <a:bodyPr/>
          <a:lstStyle/>
          <a:p>
            <a:endParaRPr lang="en-US"/>
          </a:p>
        </p:txBody>
      </p:sp>
      <p:sp>
        <p:nvSpPr>
          <p:cNvPr id="25" name="Text 24">
            <a:extLst>
              <a:ext uri="{FF2B5EF4-FFF2-40B4-BE49-F238E27FC236}">
                <a16:creationId xmlns:a16="http://schemas.microsoft.com/office/drawing/2014/main" id="{CED0A7E6-D36C-3F0B-6260-8D8DE50A61F2}"/>
              </a:ext>
            </a:extLst>
          </p:cNvPr>
          <p:cNvSpPr txBox="1"/>
          <p:nvPr/>
        </p:nvSpPr>
        <p:spPr>
          <a:xfrm>
            <a:off x="8198967" y="3278125"/>
            <a:ext cx="566928"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slow-3s</a:t>
            </a:r>
            <a:endParaRPr lang="en-US" sz="1000" dirty="0"/>
          </a:p>
        </p:txBody>
      </p:sp>
      <p:sp>
        <p:nvSpPr>
          <p:cNvPr id="26" name="Text 25">
            <a:extLst>
              <a:ext uri="{FF2B5EF4-FFF2-40B4-BE49-F238E27FC236}">
                <a16:creationId xmlns:a16="http://schemas.microsoft.com/office/drawing/2014/main" id="{1E986D19-C45E-AD42-3E24-49919F742D20}"/>
              </a:ext>
            </a:extLst>
          </p:cNvPr>
          <p:cNvSpPr txBox="1"/>
          <p:nvPr/>
        </p:nvSpPr>
        <p:spPr>
          <a:xfrm>
            <a:off x="10525201" y="3297327"/>
            <a:ext cx="66751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 Working</a:t>
            </a:r>
            <a:endParaRPr lang="en-US" sz="900" dirty="0"/>
          </a:p>
        </p:txBody>
      </p:sp>
      <p:sp>
        <p:nvSpPr>
          <p:cNvPr id="27" name="Shape 26">
            <a:extLst>
              <a:ext uri="{FF2B5EF4-FFF2-40B4-BE49-F238E27FC236}">
                <a16:creationId xmlns:a16="http://schemas.microsoft.com/office/drawing/2014/main" id="{EAF9D92A-955E-EF81-14FD-B4AE7DCBF082}"/>
              </a:ext>
            </a:extLst>
          </p:cNvPr>
          <p:cNvSpPr/>
          <p:nvPr/>
        </p:nvSpPr>
        <p:spPr>
          <a:xfrm>
            <a:off x="8113013" y="3630169"/>
            <a:ext cx="3086100" cy="362102"/>
          </a:xfrm>
          <a:prstGeom prst="roundRect">
            <a:avLst>
              <a:gd name="adj" fmla="val 53163"/>
            </a:avLst>
          </a:prstGeom>
          <a:solidFill>
            <a:srgbClr val="FFFFFF"/>
          </a:solidFill>
          <a:ln w="12700">
            <a:solidFill>
              <a:srgbClr val="E5E7EB"/>
            </a:solidFill>
            <a:prstDash val="solid"/>
          </a:ln>
        </p:spPr>
        <p:txBody>
          <a:bodyPr/>
          <a:lstStyle/>
          <a:p>
            <a:endParaRPr lang="en-US"/>
          </a:p>
        </p:txBody>
      </p:sp>
      <p:sp>
        <p:nvSpPr>
          <p:cNvPr id="28" name="Text 27">
            <a:extLst>
              <a:ext uri="{FF2B5EF4-FFF2-40B4-BE49-F238E27FC236}">
                <a16:creationId xmlns:a16="http://schemas.microsoft.com/office/drawing/2014/main" id="{53F74451-4EA8-6A0C-489C-F85D756E639C}"/>
              </a:ext>
            </a:extLst>
          </p:cNvPr>
          <p:cNvSpPr txBox="1"/>
          <p:nvPr/>
        </p:nvSpPr>
        <p:spPr>
          <a:xfrm>
            <a:off x="8198967" y="3716122"/>
            <a:ext cx="805586"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server-500</a:t>
            </a:r>
            <a:endParaRPr lang="en-US" sz="1000" dirty="0"/>
          </a:p>
        </p:txBody>
      </p:sp>
      <p:sp>
        <p:nvSpPr>
          <p:cNvPr id="29" name="Text 28">
            <a:extLst>
              <a:ext uri="{FF2B5EF4-FFF2-40B4-BE49-F238E27FC236}">
                <a16:creationId xmlns:a16="http://schemas.microsoft.com/office/drawing/2014/main" id="{CBEE286A-38A6-EE5F-085E-6D0B3617CD6B}"/>
              </a:ext>
            </a:extLst>
          </p:cNvPr>
          <p:cNvSpPr txBox="1"/>
          <p:nvPr/>
        </p:nvSpPr>
        <p:spPr>
          <a:xfrm>
            <a:off x="10525201" y="3735325"/>
            <a:ext cx="66751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 Working</a:t>
            </a:r>
            <a:endParaRPr lang="en-US" sz="900" dirty="0"/>
          </a:p>
        </p:txBody>
      </p:sp>
      <p:sp>
        <p:nvSpPr>
          <p:cNvPr id="30" name="Shape 29">
            <a:extLst>
              <a:ext uri="{FF2B5EF4-FFF2-40B4-BE49-F238E27FC236}">
                <a16:creationId xmlns:a16="http://schemas.microsoft.com/office/drawing/2014/main" id="{F3A29A1A-E002-D858-4E4B-CB9D27D3AEA8}"/>
              </a:ext>
            </a:extLst>
          </p:cNvPr>
          <p:cNvSpPr/>
          <p:nvPr/>
        </p:nvSpPr>
        <p:spPr>
          <a:xfrm>
            <a:off x="8113013" y="4068166"/>
            <a:ext cx="3086100" cy="362102"/>
          </a:xfrm>
          <a:prstGeom prst="roundRect">
            <a:avLst>
              <a:gd name="adj" fmla="val 53163"/>
            </a:avLst>
          </a:prstGeom>
          <a:solidFill>
            <a:srgbClr val="FFFFFF"/>
          </a:solidFill>
          <a:ln w="12700">
            <a:solidFill>
              <a:srgbClr val="E5E7EB"/>
            </a:solidFill>
            <a:prstDash val="solid"/>
          </a:ln>
        </p:spPr>
        <p:txBody>
          <a:bodyPr/>
          <a:lstStyle/>
          <a:p>
            <a:endParaRPr lang="en-US"/>
          </a:p>
        </p:txBody>
      </p:sp>
      <p:sp>
        <p:nvSpPr>
          <p:cNvPr id="31" name="Text 30">
            <a:extLst>
              <a:ext uri="{FF2B5EF4-FFF2-40B4-BE49-F238E27FC236}">
                <a16:creationId xmlns:a16="http://schemas.microsoft.com/office/drawing/2014/main" id="{059024EC-2131-0F89-43AC-3C89216CBCFD}"/>
              </a:ext>
            </a:extLst>
          </p:cNvPr>
          <p:cNvSpPr txBox="1"/>
          <p:nvPr/>
        </p:nvSpPr>
        <p:spPr>
          <a:xfrm>
            <a:off x="8198967" y="4154120"/>
            <a:ext cx="1020470"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network-error</a:t>
            </a:r>
            <a:endParaRPr lang="en-US" sz="1000" dirty="0"/>
          </a:p>
        </p:txBody>
      </p:sp>
      <p:sp>
        <p:nvSpPr>
          <p:cNvPr id="32" name="Text 31">
            <a:extLst>
              <a:ext uri="{FF2B5EF4-FFF2-40B4-BE49-F238E27FC236}">
                <a16:creationId xmlns:a16="http://schemas.microsoft.com/office/drawing/2014/main" id="{A899BE8C-9E2D-8E73-C4F2-1E606D7EC941}"/>
              </a:ext>
            </a:extLst>
          </p:cNvPr>
          <p:cNvSpPr txBox="1"/>
          <p:nvPr/>
        </p:nvSpPr>
        <p:spPr>
          <a:xfrm>
            <a:off x="10525201" y="4173322"/>
            <a:ext cx="667512"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 Working</a:t>
            </a:r>
            <a:endParaRPr lang="en-US" sz="900" dirty="0"/>
          </a:p>
        </p:txBody>
      </p:sp>
      <p:sp>
        <p:nvSpPr>
          <p:cNvPr id="33" name="Shape 32">
            <a:extLst>
              <a:ext uri="{FF2B5EF4-FFF2-40B4-BE49-F238E27FC236}">
                <a16:creationId xmlns:a16="http://schemas.microsoft.com/office/drawing/2014/main" id="{FD8CB396-E627-1451-FB39-F1C9B2CDF59B}"/>
              </a:ext>
            </a:extLst>
          </p:cNvPr>
          <p:cNvSpPr/>
          <p:nvPr/>
        </p:nvSpPr>
        <p:spPr>
          <a:xfrm>
            <a:off x="8113013" y="4582974"/>
            <a:ext cx="3086100" cy="400507"/>
          </a:xfrm>
          <a:prstGeom prst="roundRect">
            <a:avLst>
              <a:gd name="adj" fmla="val 43488"/>
            </a:avLst>
          </a:prstGeom>
          <a:solidFill>
            <a:srgbClr val="F3F4F6"/>
          </a:solidFill>
          <a:ln w="12700">
            <a:solidFill>
              <a:srgbClr val="D1D5DB"/>
            </a:solidFill>
            <a:prstDash val="solid"/>
          </a:ln>
        </p:spPr>
        <p:txBody>
          <a:bodyPr/>
          <a:lstStyle/>
          <a:p>
            <a:endParaRPr lang="en-US"/>
          </a:p>
        </p:txBody>
      </p:sp>
      <p:sp>
        <p:nvSpPr>
          <p:cNvPr id="34" name="Text 33">
            <a:extLst>
              <a:ext uri="{FF2B5EF4-FFF2-40B4-BE49-F238E27FC236}">
                <a16:creationId xmlns:a16="http://schemas.microsoft.com/office/drawing/2014/main" id="{C28E84B2-BA9C-EAE1-B326-BB1739AB0067}"/>
              </a:ext>
            </a:extLst>
          </p:cNvPr>
          <p:cNvSpPr txBox="1"/>
          <p:nvPr/>
        </p:nvSpPr>
        <p:spPr>
          <a:xfrm>
            <a:off x="8914028" y="4687215"/>
            <a:ext cx="1484986" cy="181051"/>
          </a:xfrm>
          <a:prstGeom prst="rect">
            <a:avLst/>
          </a:prstGeom>
          <a:noFill/>
          <a:ln/>
        </p:spPr>
        <p:txBody>
          <a:bodyPr wrap="square" lIns="0" tIns="0" rIns="0" bIns="0" rtlCol="0" anchor="ctr"/>
          <a:lstStyle/>
          <a:p>
            <a:pPr marL="0" indent="0" algn="ctr">
              <a:buNone/>
            </a:pPr>
            <a:r>
              <a:rPr lang="en-US" sz="1200" b="1" dirty="0">
                <a:solidFill>
                  <a:srgbClr val="1F2937"/>
                </a:solidFill>
                <a:latin typeface="Raleway" pitchFamily="34" charset="0"/>
                <a:ea typeface="Raleway" pitchFamily="34" charset="-122"/>
                <a:cs typeface="Raleway" pitchFamily="34" charset="-120"/>
              </a:rPr>
              <a:t>Disable Local API</a:t>
            </a:r>
            <a:endParaRPr lang="en-US" sz="1200" dirty="0"/>
          </a:p>
        </p:txBody>
      </p:sp>
      <p:sp>
        <p:nvSpPr>
          <p:cNvPr id="35" name="Text 5">
            <a:extLst>
              <a:ext uri="{FF2B5EF4-FFF2-40B4-BE49-F238E27FC236}">
                <a16:creationId xmlns:a16="http://schemas.microsoft.com/office/drawing/2014/main" id="{46DF9CCA-C61B-54B8-5472-5A756D51330C}"/>
              </a:ext>
            </a:extLst>
          </p:cNvPr>
          <p:cNvSpPr txBox="1"/>
          <p:nvPr/>
        </p:nvSpPr>
        <p:spPr>
          <a:xfrm>
            <a:off x="609905" y="914400"/>
            <a:ext cx="3514954"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DEMO CASE 4</a:t>
            </a:r>
            <a:endParaRPr lang="en-US" sz="4800" dirty="0">
              <a:solidFill>
                <a:srgbClr val="091044"/>
              </a:solidFill>
            </a:endParaRPr>
          </a:p>
        </p:txBody>
      </p:sp>
      <p:sp>
        <p:nvSpPr>
          <p:cNvPr id="36" name="Text 5">
            <a:extLst>
              <a:ext uri="{FF2B5EF4-FFF2-40B4-BE49-F238E27FC236}">
                <a16:creationId xmlns:a16="http://schemas.microsoft.com/office/drawing/2014/main" id="{D2E62D08-4285-89B7-1C79-D8CA7E11BF31}"/>
              </a:ext>
            </a:extLst>
          </p:cNvPr>
          <p:cNvSpPr txBox="1"/>
          <p:nvPr/>
        </p:nvSpPr>
        <p:spPr>
          <a:xfrm>
            <a:off x="626365" y="1663370"/>
            <a:ext cx="6848856" cy="305410"/>
          </a:xfrm>
          <a:prstGeom prst="rect">
            <a:avLst/>
          </a:prstGeom>
          <a:noFill/>
          <a:ln/>
        </p:spPr>
        <p:txBody>
          <a:bodyPr wrap="square" lIns="0" tIns="0" rIns="0" bIns="0" rtlCol="0" anchor="ctr"/>
          <a:lstStyle/>
          <a:p>
            <a:r>
              <a:rPr lang="en-US" b="1" dirty="0">
                <a:solidFill>
                  <a:srgbClr val="1F2937"/>
                </a:solidFill>
                <a:latin typeface="Raleway" pitchFamily="34" charset="0"/>
                <a:ea typeface="Raleway" pitchFamily="34" charset="-122"/>
                <a:cs typeface="Raleway" pitchFamily="34" charset="-120"/>
              </a:rPr>
              <a:t>Local API + MSW Intercept</a:t>
            </a:r>
            <a:endParaRPr lang="en-US" dirty="0"/>
          </a:p>
        </p:txBody>
      </p:sp>
    </p:spTree>
    <p:extLst>
      <p:ext uri="{BB962C8B-B14F-4D97-AF65-F5344CB8AC3E}">
        <p14:creationId xmlns:p14="http://schemas.microsoft.com/office/powerpoint/2010/main" val="79276330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1A760-CA09-1368-F4CA-52C12687DFC2}"/>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BF0B4E2F-65B7-2CF7-AA80-281E6E7FDB7D}"/>
              </a:ext>
            </a:extLst>
          </p:cNvPr>
          <p:cNvSpPr txBox="1"/>
          <p:nvPr/>
        </p:nvSpPr>
        <p:spPr>
          <a:xfrm>
            <a:off x="609905" y="1343254"/>
            <a:ext cx="11163910" cy="476402"/>
          </a:xfrm>
          <a:prstGeom prst="rect">
            <a:avLst/>
          </a:prstGeom>
          <a:noFill/>
          <a:ln/>
        </p:spPr>
        <p:txBody>
          <a:bodyPr wrap="square" lIns="0" tIns="0" rIns="0" bIns="0" rtlCol="0" anchor="ctr"/>
          <a:lstStyle/>
          <a:p>
            <a:pPr marL="0" indent="0" algn="l">
              <a:buNone/>
            </a:pPr>
            <a:r>
              <a:rPr lang="en-US" sz="4200" b="1" kern="0" spc="75" dirty="0">
                <a:solidFill>
                  <a:srgbClr val="091044"/>
                </a:solidFill>
                <a:latin typeface="Roboto Condensed" pitchFamily="34" charset="0"/>
                <a:ea typeface="Roboto Condensed" pitchFamily="34" charset="-122"/>
                <a:cs typeface="Roboto Condensed" pitchFamily="34" charset="-120"/>
              </a:rPr>
              <a:t>COMBINED DEMO MATRIX</a:t>
            </a:r>
            <a:endParaRPr lang="en-US" sz="4200" dirty="0">
              <a:solidFill>
                <a:srgbClr val="091044"/>
              </a:solidFill>
            </a:endParaRPr>
          </a:p>
        </p:txBody>
      </p:sp>
      <p:sp>
        <p:nvSpPr>
          <p:cNvPr id="6" name="Shape 5">
            <a:extLst>
              <a:ext uri="{FF2B5EF4-FFF2-40B4-BE49-F238E27FC236}">
                <a16:creationId xmlns:a16="http://schemas.microsoft.com/office/drawing/2014/main" id="{1A55885D-3705-1CDF-38A6-69E298CF0789}"/>
              </a:ext>
            </a:extLst>
          </p:cNvPr>
          <p:cNvSpPr/>
          <p:nvPr/>
        </p:nvSpPr>
        <p:spPr>
          <a:xfrm>
            <a:off x="609905" y="1954073"/>
            <a:ext cx="5372100" cy="2057400"/>
          </a:xfrm>
          <a:prstGeom prst="roundRect">
            <a:avLst>
              <a:gd name="adj" fmla="val 4938"/>
            </a:avLst>
          </a:prstGeom>
          <a:solidFill>
            <a:srgbClr val="FFFFFF"/>
          </a:solidFill>
          <a:ln w="12700">
            <a:solidFill>
              <a:srgbClr val="E2E8F0"/>
            </a:solidFill>
            <a:prstDash val="solid"/>
          </a:ln>
        </p:spPr>
        <p:txBody>
          <a:bodyPr/>
          <a:lstStyle/>
          <a:p>
            <a:endParaRPr lang="en-US"/>
          </a:p>
        </p:txBody>
      </p:sp>
      <p:sp>
        <p:nvSpPr>
          <p:cNvPr id="7" name="Shape 6">
            <a:extLst>
              <a:ext uri="{FF2B5EF4-FFF2-40B4-BE49-F238E27FC236}">
                <a16:creationId xmlns:a16="http://schemas.microsoft.com/office/drawing/2014/main" id="{79767756-90D1-EAA5-3552-22CE389A458B}"/>
              </a:ext>
            </a:extLst>
          </p:cNvPr>
          <p:cNvSpPr/>
          <p:nvPr/>
        </p:nvSpPr>
        <p:spPr>
          <a:xfrm>
            <a:off x="771754" y="2115922"/>
            <a:ext cx="304495" cy="304495"/>
          </a:xfrm>
          <a:prstGeom prst="roundRect">
            <a:avLst>
              <a:gd name="adj" fmla="val 150150"/>
            </a:avLst>
          </a:prstGeom>
          <a:solidFill>
            <a:srgbClr val="D1FAE5"/>
          </a:solidFill>
          <a:ln w="12700">
            <a:solidFill>
              <a:srgbClr val="FFFFFF">
                <a:alpha val="0"/>
              </a:srgbClr>
            </a:solidFill>
            <a:prstDash val="solid"/>
          </a:ln>
        </p:spPr>
        <p:txBody>
          <a:bodyPr/>
          <a:lstStyle/>
          <a:p>
            <a:endParaRPr lang="en-US"/>
          </a:p>
        </p:txBody>
      </p:sp>
      <p:pic>
        <p:nvPicPr>
          <p:cNvPr id="8" name="Image 1" descr="preencoded.png">
            <a:extLst>
              <a:ext uri="{FF2B5EF4-FFF2-40B4-BE49-F238E27FC236}">
                <a16:creationId xmlns:a16="http://schemas.microsoft.com/office/drawing/2014/main" id="{DDF9AC32-BA77-6464-F3A7-E430A1B2E80C}"/>
              </a:ext>
            </a:extLst>
          </p:cNvPr>
          <p:cNvPicPr>
            <a:picLocks noChangeAspect="1"/>
          </p:cNvPicPr>
          <p:nvPr/>
        </p:nvPicPr>
        <p:blipFill>
          <a:blip r:embed="rId3"/>
          <a:srcRect/>
          <a:stretch/>
        </p:blipFill>
        <p:spPr>
          <a:xfrm>
            <a:off x="857707" y="2201875"/>
            <a:ext cx="133502" cy="133502"/>
          </a:xfrm>
          <a:prstGeom prst="rect">
            <a:avLst/>
          </a:prstGeom>
        </p:spPr>
      </p:pic>
      <p:sp>
        <p:nvSpPr>
          <p:cNvPr id="9" name="Text 7">
            <a:extLst>
              <a:ext uri="{FF2B5EF4-FFF2-40B4-BE49-F238E27FC236}">
                <a16:creationId xmlns:a16="http://schemas.microsoft.com/office/drawing/2014/main" id="{55D7CD6F-5240-B3B4-A161-1C42C6CD6682}"/>
              </a:ext>
            </a:extLst>
          </p:cNvPr>
          <p:cNvSpPr txBox="1"/>
          <p:nvPr/>
        </p:nvSpPr>
        <p:spPr>
          <a:xfrm>
            <a:off x="1152144" y="2142439"/>
            <a:ext cx="1281074"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Backend + MSW</a:t>
            </a:r>
            <a:endParaRPr lang="en-US" sz="1300" dirty="0"/>
          </a:p>
        </p:txBody>
      </p:sp>
      <p:sp>
        <p:nvSpPr>
          <p:cNvPr id="10" name="Shape 8">
            <a:extLst>
              <a:ext uri="{FF2B5EF4-FFF2-40B4-BE49-F238E27FC236}">
                <a16:creationId xmlns:a16="http://schemas.microsoft.com/office/drawing/2014/main" id="{7AD1ADB8-3103-0428-9A8F-51127E0FF842}"/>
              </a:ext>
            </a:extLst>
          </p:cNvPr>
          <p:cNvSpPr/>
          <p:nvPr/>
        </p:nvSpPr>
        <p:spPr>
          <a:xfrm>
            <a:off x="5126126" y="2144268"/>
            <a:ext cx="694944" cy="247802"/>
          </a:xfrm>
          <a:prstGeom prst="roundRect">
            <a:avLst>
              <a:gd name="adj" fmla="val 369004"/>
            </a:avLst>
          </a:prstGeom>
          <a:solidFill>
            <a:srgbClr val="DCFCE7"/>
          </a:solidFill>
          <a:ln w="12700">
            <a:solidFill>
              <a:srgbClr val="FFFFFF">
                <a:alpha val="0"/>
              </a:srgbClr>
            </a:solidFill>
            <a:prstDash val="solid"/>
          </a:ln>
        </p:spPr>
        <p:txBody>
          <a:bodyPr/>
          <a:lstStyle/>
          <a:p>
            <a:endParaRPr lang="en-US"/>
          </a:p>
        </p:txBody>
      </p:sp>
      <p:sp>
        <p:nvSpPr>
          <p:cNvPr id="11" name="Text 9">
            <a:extLst>
              <a:ext uri="{FF2B5EF4-FFF2-40B4-BE49-F238E27FC236}">
                <a16:creationId xmlns:a16="http://schemas.microsoft.com/office/drawing/2014/main" id="{A8CC2D8B-BAD9-9AB5-D749-1E25A21D037C}"/>
              </a:ext>
            </a:extLst>
          </p:cNvPr>
          <p:cNvSpPr/>
          <p:nvPr/>
        </p:nvSpPr>
        <p:spPr>
          <a:xfrm>
            <a:off x="5097780" y="2144268"/>
            <a:ext cx="752551"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166534"/>
                </a:solidFill>
                <a:latin typeface="Raleway" pitchFamily="34" charset="0"/>
                <a:ea typeface="Raleway" pitchFamily="34" charset="-122"/>
                <a:cs typeface="Raleway" pitchFamily="34" charset="-120"/>
              </a:rPr>
              <a:t>Resilient</a:t>
            </a:r>
            <a:endParaRPr lang="en-US" sz="900" dirty="0"/>
          </a:p>
        </p:txBody>
      </p:sp>
      <p:sp>
        <p:nvSpPr>
          <p:cNvPr id="12" name="Text 10">
            <a:extLst>
              <a:ext uri="{FF2B5EF4-FFF2-40B4-BE49-F238E27FC236}">
                <a16:creationId xmlns:a16="http://schemas.microsoft.com/office/drawing/2014/main" id="{6C61832C-78AB-E9A9-B146-2AC2FC47C470}"/>
              </a:ext>
            </a:extLst>
          </p:cNvPr>
          <p:cNvSpPr txBox="1"/>
          <p:nvPr/>
        </p:nvSpPr>
        <p:spPr>
          <a:xfrm>
            <a:off x="771754" y="2534717"/>
            <a:ext cx="5125212" cy="381305"/>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Use MSW to intercept requests to backend endpoints, ensuring frontend remains unblocked even when backend is down.</a:t>
            </a:r>
            <a:endParaRPr lang="en-US" sz="1000" dirty="0"/>
          </a:p>
        </p:txBody>
      </p:sp>
      <p:sp>
        <p:nvSpPr>
          <p:cNvPr id="13" name="Shape 11">
            <a:extLst>
              <a:ext uri="{FF2B5EF4-FFF2-40B4-BE49-F238E27FC236}">
                <a16:creationId xmlns:a16="http://schemas.microsoft.com/office/drawing/2014/main" id="{8D521419-30E8-BF44-FBB5-3D957C91ED69}"/>
              </a:ext>
            </a:extLst>
          </p:cNvPr>
          <p:cNvSpPr/>
          <p:nvPr/>
        </p:nvSpPr>
        <p:spPr>
          <a:xfrm>
            <a:off x="771754" y="3725266"/>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14" name="Text 12">
            <a:extLst>
              <a:ext uri="{FF2B5EF4-FFF2-40B4-BE49-F238E27FC236}">
                <a16:creationId xmlns:a16="http://schemas.microsoft.com/office/drawing/2014/main" id="{1E9B765C-11DC-2BC3-286A-E43820D63496}"/>
              </a:ext>
            </a:extLst>
          </p:cNvPr>
          <p:cNvSpPr txBox="1"/>
          <p:nvPr/>
        </p:nvSpPr>
        <p:spPr>
          <a:xfrm>
            <a:off x="923544" y="3677717"/>
            <a:ext cx="1351483"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Backend-independent</a:t>
            </a:r>
            <a:endParaRPr lang="en-US" sz="900" dirty="0"/>
          </a:p>
        </p:txBody>
      </p:sp>
      <p:sp>
        <p:nvSpPr>
          <p:cNvPr id="15" name="Text 13">
            <a:extLst>
              <a:ext uri="{FF2B5EF4-FFF2-40B4-BE49-F238E27FC236}">
                <a16:creationId xmlns:a16="http://schemas.microsoft.com/office/drawing/2014/main" id="{3C9F549A-16DE-1769-76D5-AC50266CF961}"/>
              </a:ext>
            </a:extLst>
          </p:cNvPr>
          <p:cNvSpPr txBox="1"/>
          <p:nvPr/>
        </p:nvSpPr>
        <p:spPr>
          <a:xfrm>
            <a:off x="4906670" y="3677717"/>
            <a:ext cx="1088136"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Primary workflow</a:t>
            </a:r>
            <a:endParaRPr lang="en-US" sz="900" dirty="0"/>
          </a:p>
        </p:txBody>
      </p:sp>
      <p:sp>
        <p:nvSpPr>
          <p:cNvPr id="16" name="Shape 14">
            <a:extLst>
              <a:ext uri="{FF2B5EF4-FFF2-40B4-BE49-F238E27FC236}">
                <a16:creationId xmlns:a16="http://schemas.microsoft.com/office/drawing/2014/main" id="{5F619352-63D1-6FEF-1888-CB874248E835}"/>
              </a:ext>
            </a:extLst>
          </p:cNvPr>
          <p:cNvSpPr/>
          <p:nvPr/>
        </p:nvSpPr>
        <p:spPr>
          <a:xfrm>
            <a:off x="6210605" y="1954073"/>
            <a:ext cx="5372100" cy="2057400"/>
          </a:xfrm>
          <a:prstGeom prst="roundRect">
            <a:avLst>
              <a:gd name="adj" fmla="val 4938"/>
            </a:avLst>
          </a:prstGeom>
          <a:solidFill>
            <a:srgbClr val="FFFFFF"/>
          </a:solidFill>
          <a:ln w="12700">
            <a:solidFill>
              <a:srgbClr val="E2E8F0"/>
            </a:solidFill>
            <a:prstDash val="solid"/>
          </a:ln>
        </p:spPr>
        <p:txBody>
          <a:bodyPr/>
          <a:lstStyle/>
          <a:p>
            <a:endParaRPr lang="en-US"/>
          </a:p>
        </p:txBody>
      </p:sp>
      <p:sp>
        <p:nvSpPr>
          <p:cNvPr id="17" name="Shape 15">
            <a:extLst>
              <a:ext uri="{FF2B5EF4-FFF2-40B4-BE49-F238E27FC236}">
                <a16:creationId xmlns:a16="http://schemas.microsoft.com/office/drawing/2014/main" id="{D962B061-06F2-B28B-362B-D56B156F13C6}"/>
              </a:ext>
            </a:extLst>
          </p:cNvPr>
          <p:cNvSpPr/>
          <p:nvPr/>
        </p:nvSpPr>
        <p:spPr>
          <a:xfrm>
            <a:off x="6372454" y="2115922"/>
            <a:ext cx="304495" cy="304495"/>
          </a:xfrm>
          <a:prstGeom prst="roundRect">
            <a:avLst>
              <a:gd name="adj" fmla="val 150150"/>
            </a:avLst>
          </a:prstGeom>
          <a:solidFill>
            <a:srgbClr val="DBEAFE"/>
          </a:solidFill>
          <a:ln w="12700">
            <a:solidFill>
              <a:srgbClr val="FFFFFF">
                <a:alpha val="0"/>
              </a:srgbClr>
            </a:solidFill>
            <a:prstDash val="solid"/>
          </a:ln>
        </p:spPr>
        <p:txBody>
          <a:bodyPr/>
          <a:lstStyle/>
          <a:p>
            <a:endParaRPr lang="en-US"/>
          </a:p>
        </p:txBody>
      </p:sp>
      <p:pic>
        <p:nvPicPr>
          <p:cNvPr id="18" name="Image 2" descr="preencoded.png">
            <a:extLst>
              <a:ext uri="{FF2B5EF4-FFF2-40B4-BE49-F238E27FC236}">
                <a16:creationId xmlns:a16="http://schemas.microsoft.com/office/drawing/2014/main" id="{884D7A37-0BD9-D779-1987-DE82DA1D5963}"/>
              </a:ext>
            </a:extLst>
          </p:cNvPr>
          <p:cNvPicPr>
            <a:picLocks noChangeAspect="1"/>
          </p:cNvPicPr>
          <p:nvPr/>
        </p:nvPicPr>
        <p:blipFill>
          <a:blip r:embed="rId4"/>
          <a:srcRect/>
          <a:stretch/>
        </p:blipFill>
        <p:spPr>
          <a:xfrm>
            <a:off x="6458407" y="2201875"/>
            <a:ext cx="133502" cy="133502"/>
          </a:xfrm>
          <a:prstGeom prst="rect">
            <a:avLst/>
          </a:prstGeom>
        </p:spPr>
      </p:pic>
      <p:sp>
        <p:nvSpPr>
          <p:cNvPr id="19" name="Text 16">
            <a:extLst>
              <a:ext uri="{FF2B5EF4-FFF2-40B4-BE49-F238E27FC236}">
                <a16:creationId xmlns:a16="http://schemas.microsoft.com/office/drawing/2014/main" id="{DD66BC6F-1EB8-B68D-73B9-B9C3CF31E381}"/>
              </a:ext>
            </a:extLst>
          </p:cNvPr>
          <p:cNvSpPr txBox="1"/>
          <p:nvPr/>
        </p:nvSpPr>
        <p:spPr>
          <a:xfrm>
            <a:off x="6752844" y="2142439"/>
            <a:ext cx="1451153"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Backend + Bypass</a:t>
            </a:r>
            <a:endParaRPr lang="en-US" sz="1300" dirty="0"/>
          </a:p>
        </p:txBody>
      </p:sp>
      <p:sp>
        <p:nvSpPr>
          <p:cNvPr id="20" name="Shape 17">
            <a:extLst>
              <a:ext uri="{FF2B5EF4-FFF2-40B4-BE49-F238E27FC236}">
                <a16:creationId xmlns:a16="http://schemas.microsoft.com/office/drawing/2014/main" id="{E1C432CB-2949-ADBB-2D1F-05C4B24923A6}"/>
              </a:ext>
            </a:extLst>
          </p:cNvPr>
          <p:cNvSpPr/>
          <p:nvPr/>
        </p:nvSpPr>
        <p:spPr>
          <a:xfrm>
            <a:off x="10750601" y="2144268"/>
            <a:ext cx="676656" cy="247802"/>
          </a:xfrm>
          <a:prstGeom prst="roundRect">
            <a:avLst>
              <a:gd name="adj" fmla="val 369004"/>
            </a:avLst>
          </a:prstGeom>
          <a:solidFill>
            <a:srgbClr val="DBEAFE"/>
          </a:solidFill>
          <a:ln w="12700">
            <a:solidFill>
              <a:srgbClr val="FFFFFF">
                <a:alpha val="0"/>
              </a:srgbClr>
            </a:solidFill>
            <a:prstDash val="solid"/>
          </a:ln>
        </p:spPr>
        <p:txBody>
          <a:bodyPr/>
          <a:lstStyle/>
          <a:p>
            <a:endParaRPr lang="en-US"/>
          </a:p>
        </p:txBody>
      </p:sp>
      <p:sp>
        <p:nvSpPr>
          <p:cNvPr id="21" name="Text 18">
            <a:extLst>
              <a:ext uri="{FF2B5EF4-FFF2-40B4-BE49-F238E27FC236}">
                <a16:creationId xmlns:a16="http://schemas.microsoft.com/office/drawing/2014/main" id="{4B2250F1-2C8E-8390-E552-FBD71054942F}"/>
              </a:ext>
            </a:extLst>
          </p:cNvPr>
          <p:cNvSpPr/>
          <p:nvPr/>
        </p:nvSpPr>
        <p:spPr>
          <a:xfrm>
            <a:off x="10722254" y="2144268"/>
            <a:ext cx="734263"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1E40AF"/>
                </a:solidFill>
                <a:latin typeface="Raleway" pitchFamily="34" charset="0"/>
                <a:ea typeface="Raleway" pitchFamily="34" charset="-122"/>
                <a:cs typeface="Raleway" pitchFamily="34" charset="-120"/>
              </a:rPr>
              <a:t>Real API</a:t>
            </a:r>
            <a:endParaRPr lang="en-US" sz="900" dirty="0"/>
          </a:p>
        </p:txBody>
      </p:sp>
      <p:sp>
        <p:nvSpPr>
          <p:cNvPr id="22" name="Text 19">
            <a:extLst>
              <a:ext uri="{FF2B5EF4-FFF2-40B4-BE49-F238E27FC236}">
                <a16:creationId xmlns:a16="http://schemas.microsoft.com/office/drawing/2014/main" id="{03D639D8-3914-72EB-A33B-71D5B4493A69}"/>
              </a:ext>
            </a:extLst>
          </p:cNvPr>
          <p:cNvSpPr txBox="1"/>
          <p:nvPr/>
        </p:nvSpPr>
        <p:spPr>
          <a:xfrm>
            <a:off x="6372454" y="2534717"/>
            <a:ext cx="5125212" cy="381305"/>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Direct connection to backend for true integration validation - no mocking, real responses only.</a:t>
            </a:r>
            <a:endParaRPr lang="en-US" sz="1000" dirty="0"/>
          </a:p>
        </p:txBody>
      </p:sp>
      <p:sp>
        <p:nvSpPr>
          <p:cNvPr id="23" name="Shape 20">
            <a:extLst>
              <a:ext uri="{FF2B5EF4-FFF2-40B4-BE49-F238E27FC236}">
                <a16:creationId xmlns:a16="http://schemas.microsoft.com/office/drawing/2014/main" id="{CFFA0633-1F71-0BFA-8BBD-BAE03301C10D}"/>
              </a:ext>
            </a:extLst>
          </p:cNvPr>
          <p:cNvSpPr/>
          <p:nvPr/>
        </p:nvSpPr>
        <p:spPr>
          <a:xfrm>
            <a:off x="6372454" y="3725266"/>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24" name="Text 21">
            <a:extLst>
              <a:ext uri="{FF2B5EF4-FFF2-40B4-BE49-F238E27FC236}">
                <a16:creationId xmlns:a16="http://schemas.microsoft.com/office/drawing/2014/main" id="{ED5E925E-534A-8436-506F-AD8C2B0B5F2A}"/>
              </a:ext>
            </a:extLst>
          </p:cNvPr>
          <p:cNvSpPr txBox="1"/>
          <p:nvPr/>
        </p:nvSpPr>
        <p:spPr>
          <a:xfrm>
            <a:off x="6524244" y="3677717"/>
            <a:ext cx="986638"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Real integration</a:t>
            </a:r>
            <a:endParaRPr lang="en-US" sz="900" dirty="0"/>
          </a:p>
        </p:txBody>
      </p:sp>
      <p:sp>
        <p:nvSpPr>
          <p:cNvPr id="25" name="Text 22">
            <a:extLst>
              <a:ext uri="{FF2B5EF4-FFF2-40B4-BE49-F238E27FC236}">
                <a16:creationId xmlns:a16="http://schemas.microsoft.com/office/drawing/2014/main" id="{E7AB8ED2-9F6E-D5AC-3851-F51404AF523B}"/>
              </a:ext>
            </a:extLst>
          </p:cNvPr>
          <p:cNvSpPr txBox="1"/>
          <p:nvPr/>
        </p:nvSpPr>
        <p:spPr>
          <a:xfrm>
            <a:off x="10559491" y="3677717"/>
            <a:ext cx="1032358"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Validation mode</a:t>
            </a:r>
            <a:endParaRPr lang="en-US" sz="900" dirty="0"/>
          </a:p>
        </p:txBody>
      </p:sp>
      <p:sp>
        <p:nvSpPr>
          <p:cNvPr id="26" name="Shape 23">
            <a:extLst>
              <a:ext uri="{FF2B5EF4-FFF2-40B4-BE49-F238E27FC236}">
                <a16:creationId xmlns:a16="http://schemas.microsoft.com/office/drawing/2014/main" id="{DAA246FB-7DEC-E677-19D2-8FC77F4F8E52}"/>
              </a:ext>
            </a:extLst>
          </p:cNvPr>
          <p:cNvSpPr/>
          <p:nvPr/>
        </p:nvSpPr>
        <p:spPr>
          <a:xfrm>
            <a:off x="609905" y="4240073"/>
            <a:ext cx="5372100" cy="2057400"/>
          </a:xfrm>
          <a:prstGeom prst="roundRect">
            <a:avLst>
              <a:gd name="adj" fmla="val 4938"/>
            </a:avLst>
          </a:prstGeom>
          <a:solidFill>
            <a:srgbClr val="FFFFFF"/>
          </a:solidFill>
          <a:ln w="12700">
            <a:solidFill>
              <a:srgbClr val="E2E8F0"/>
            </a:solidFill>
            <a:prstDash val="solid"/>
          </a:ln>
        </p:spPr>
        <p:txBody>
          <a:bodyPr/>
          <a:lstStyle/>
          <a:p>
            <a:endParaRPr lang="en-US"/>
          </a:p>
        </p:txBody>
      </p:sp>
      <p:sp>
        <p:nvSpPr>
          <p:cNvPr id="27" name="Shape 24">
            <a:extLst>
              <a:ext uri="{FF2B5EF4-FFF2-40B4-BE49-F238E27FC236}">
                <a16:creationId xmlns:a16="http://schemas.microsoft.com/office/drawing/2014/main" id="{66CA0D20-932C-5A76-A335-4F52FF531DF6}"/>
              </a:ext>
            </a:extLst>
          </p:cNvPr>
          <p:cNvSpPr/>
          <p:nvPr/>
        </p:nvSpPr>
        <p:spPr>
          <a:xfrm>
            <a:off x="771754" y="4401922"/>
            <a:ext cx="304495" cy="304495"/>
          </a:xfrm>
          <a:prstGeom prst="roundRect">
            <a:avLst>
              <a:gd name="adj" fmla="val 150150"/>
            </a:avLst>
          </a:prstGeom>
          <a:solidFill>
            <a:srgbClr val="EDE9FE"/>
          </a:solidFill>
          <a:ln w="12700">
            <a:solidFill>
              <a:srgbClr val="FFFFFF">
                <a:alpha val="0"/>
              </a:srgbClr>
            </a:solidFill>
            <a:prstDash val="solid"/>
          </a:ln>
        </p:spPr>
        <p:txBody>
          <a:bodyPr/>
          <a:lstStyle/>
          <a:p>
            <a:endParaRPr lang="en-US"/>
          </a:p>
        </p:txBody>
      </p:sp>
      <p:pic>
        <p:nvPicPr>
          <p:cNvPr id="28" name="Image 3" descr="preencoded.png">
            <a:extLst>
              <a:ext uri="{FF2B5EF4-FFF2-40B4-BE49-F238E27FC236}">
                <a16:creationId xmlns:a16="http://schemas.microsoft.com/office/drawing/2014/main" id="{9E2EE4BD-621B-56B7-36B9-2B1E1B10B98D}"/>
              </a:ext>
            </a:extLst>
          </p:cNvPr>
          <p:cNvPicPr>
            <a:picLocks noChangeAspect="1"/>
          </p:cNvPicPr>
          <p:nvPr/>
        </p:nvPicPr>
        <p:blipFill>
          <a:blip r:embed="rId5"/>
          <a:srcRect t="-1100" b="-1100"/>
          <a:stretch/>
        </p:blipFill>
        <p:spPr>
          <a:xfrm>
            <a:off x="866851" y="4487875"/>
            <a:ext cx="114300" cy="133502"/>
          </a:xfrm>
          <a:prstGeom prst="rect">
            <a:avLst/>
          </a:prstGeom>
        </p:spPr>
      </p:pic>
      <p:sp>
        <p:nvSpPr>
          <p:cNvPr id="29" name="Text 25">
            <a:extLst>
              <a:ext uri="{FF2B5EF4-FFF2-40B4-BE49-F238E27FC236}">
                <a16:creationId xmlns:a16="http://schemas.microsoft.com/office/drawing/2014/main" id="{F5B6019A-E31C-12B4-2103-7E9074DBF46A}"/>
              </a:ext>
            </a:extLst>
          </p:cNvPr>
          <p:cNvSpPr txBox="1"/>
          <p:nvPr/>
        </p:nvSpPr>
        <p:spPr>
          <a:xfrm>
            <a:off x="1152144" y="4428439"/>
            <a:ext cx="1201522"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Local + Bypass</a:t>
            </a:r>
            <a:endParaRPr lang="en-US" sz="1300" dirty="0"/>
          </a:p>
        </p:txBody>
      </p:sp>
      <p:sp>
        <p:nvSpPr>
          <p:cNvPr id="30" name="Shape 26">
            <a:extLst>
              <a:ext uri="{FF2B5EF4-FFF2-40B4-BE49-F238E27FC236}">
                <a16:creationId xmlns:a16="http://schemas.microsoft.com/office/drawing/2014/main" id="{8842D0FF-97D6-BE77-6275-7659FD854887}"/>
              </a:ext>
            </a:extLst>
          </p:cNvPr>
          <p:cNvSpPr/>
          <p:nvPr/>
        </p:nvSpPr>
        <p:spPr>
          <a:xfrm>
            <a:off x="5092294" y="4430268"/>
            <a:ext cx="733349" cy="247802"/>
          </a:xfrm>
          <a:prstGeom prst="roundRect">
            <a:avLst>
              <a:gd name="adj" fmla="val 369004"/>
            </a:avLst>
          </a:prstGeom>
          <a:solidFill>
            <a:srgbClr val="F3E8FF"/>
          </a:solidFill>
          <a:ln w="12700">
            <a:solidFill>
              <a:srgbClr val="FFFFFF">
                <a:alpha val="0"/>
              </a:srgbClr>
            </a:solidFill>
            <a:prstDash val="solid"/>
          </a:ln>
        </p:spPr>
        <p:txBody>
          <a:bodyPr/>
          <a:lstStyle/>
          <a:p>
            <a:endParaRPr lang="en-US"/>
          </a:p>
        </p:txBody>
      </p:sp>
      <p:sp>
        <p:nvSpPr>
          <p:cNvPr id="31" name="Text 27">
            <a:extLst>
              <a:ext uri="{FF2B5EF4-FFF2-40B4-BE49-F238E27FC236}">
                <a16:creationId xmlns:a16="http://schemas.microsoft.com/office/drawing/2014/main" id="{B948E96A-FB19-A6E9-99CF-6B26A1775A9C}"/>
              </a:ext>
            </a:extLst>
          </p:cNvPr>
          <p:cNvSpPr/>
          <p:nvPr/>
        </p:nvSpPr>
        <p:spPr>
          <a:xfrm>
            <a:off x="5063947" y="4430268"/>
            <a:ext cx="790956"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7C3AED"/>
                </a:solidFill>
                <a:latin typeface="Raleway" pitchFamily="34" charset="0"/>
                <a:ea typeface="Raleway" pitchFamily="34" charset="-122"/>
                <a:cs typeface="Raleway" pitchFamily="34" charset="-120"/>
              </a:rPr>
              <a:t>Local API</a:t>
            </a:r>
            <a:endParaRPr lang="en-US" sz="900" dirty="0"/>
          </a:p>
        </p:txBody>
      </p:sp>
      <p:sp>
        <p:nvSpPr>
          <p:cNvPr id="32" name="Text 28">
            <a:extLst>
              <a:ext uri="{FF2B5EF4-FFF2-40B4-BE49-F238E27FC236}">
                <a16:creationId xmlns:a16="http://schemas.microsoft.com/office/drawing/2014/main" id="{748B3079-3FFB-2178-A9E2-8A6E7F06B2BA}"/>
              </a:ext>
            </a:extLst>
          </p:cNvPr>
          <p:cNvSpPr txBox="1"/>
          <p:nvPr/>
        </p:nvSpPr>
        <p:spPr>
          <a:xfrm>
            <a:off x="771754" y="4820717"/>
            <a:ext cx="5125212" cy="381305"/>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Test local route behavior with real API calls to ensure proper integration with local development server.</a:t>
            </a:r>
            <a:endParaRPr lang="en-US" sz="1000" dirty="0"/>
          </a:p>
        </p:txBody>
      </p:sp>
      <p:sp>
        <p:nvSpPr>
          <p:cNvPr id="33" name="Shape 29">
            <a:extLst>
              <a:ext uri="{FF2B5EF4-FFF2-40B4-BE49-F238E27FC236}">
                <a16:creationId xmlns:a16="http://schemas.microsoft.com/office/drawing/2014/main" id="{DFB2AB60-44B6-D422-A333-F483E44A4DA9}"/>
              </a:ext>
            </a:extLst>
          </p:cNvPr>
          <p:cNvSpPr/>
          <p:nvPr/>
        </p:nvSpPr>
        <p:spPr>
          <a:xfrm>
            <a:off x="771754" y="6011266"/>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34" name="Text 30">
            <a:extLst>
              <a:ext uri="{FF2B5EF4-FFF2-40B4-BE49-F238E27FC236}">
                <a16:creationId xmlns:a16="http://schemas.microsoft.com/office/drawing/2014/main" id="{E0514C53-48DF-A436-B49F-A270EC525AE3}"/>
              </a:ext>
            </a:extLst>
          </p:cNvPr>
          <p:cNvSpPr txBox="1"/>
          <p:nvPr/>
        </p:nvSpPr>
        <p:spPr>
          <a:xfrm>
            <a:off x="923544" y="5963717"/>
            <a:ext cx="986638"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Local validation</a:t>
            </a:r>
            <a:endParaRPr lang="en-US" sz="900" dirty="0"/>
          </a:p>
        </p:txBody>
      </p:sp>
      <p:sp>
        <p:nvSpPr>
          <p:cNvPr id="35" name="Text 31">
            <a:extLst>
              <a:ext uri="{FF2B5EF4-FFF2-40B4-BE49-F238E27FC236}">
                <a16:creationId xmlns:a16="http://schemas.microsoft.com/office/drawing/2014/main" id="{5EE1F902-F389-52D6-0222-B9B240883516}"/>
              </a:ext>
            </a:extLst>
          </p:cNvPr>
          <p:cNvSpPr txBox="1"/>
          <p:nvPr/>
        </p:nvSpPr>
        <p:spPr>
          <a:xfrm>
            <a:off x="5274259" y="5963717"/>
            <a:ext cx="629107"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Dev mode</a:t>
            </a:r>
            <a:endParaRPr lang="en-US" sz="900" dirty="0"/>
          </a:p>
        </p:txBody>
      </p:sp>
      <p:sp>
        <p:nvSpPr>
          <p:cNvPr id="36" name="Shape 32">
            <a:extLst>
              <a:ext uri="{FF2B5EF4-FFF2-40B4-BE49-F238E27FC236}">
                <a16:creationId xmlns:a16="http://schemas.microsoft.com/office/drawing/2014/main" id="{9433ED03-31D3-6FE2-5832-0035D228074F}"/>
              </a:ext>
            </a:extLst>
          </p:cNvPr>
          <p:cNvSpPr/>
          <p:nvPr/>
        </p:nvSpPr>
        <p:spPr>
          <a:xfrm>
            <a:off x="6210605" y="4240073"/>
            <a:ext cx="5372100" cy="2057400"/>
          </a:xfrm>
          <a:prstGeom prst="roundRect">
            <a:avLst>
              <a:gd name="adj" fmla="val 4938"/>
            </a:avLst>
          </a:prstGeom>
          <a:solidFill>
            <a:srgbClr val="FFFFFF"/>
          </a:solidFill>
          <a:ln w="12700">
            <a:solidFill>
              <a:srgbClr val="E2E8F0"/>
            </a:solidFill>
            <a:prstDash val="solid"/>
          </a:ln>
        </p:spPr>
        <p:txBody>
          <a:bodyPr/>
          <a:lstStyle/>
          <a:p>
            <a:endParaRPr lang="en-US" dirty="0"/>
          </a:p>
        </p:txBody>
      </p:sp>
      <p:pic>
        <p:nvPicPr>
          <p:cNvPr id="37" name="Image 4" descr="preencoded.png">
            <a:extLst>
              <a:ext uri="{FF2B5EF4-FFF2-40B4-BE49-F238E27FC236}">
                <a16:creationId xmlns:a16="http://schemas.microsoft.com/office/drawing/2014/main" id="{91CDFE40-B2D4-40CC-7EF4-090D1CBD289F}"/>
              </a:ext>
            </a:extLst>
          </p:cNvPr>
          <p:cNvPicPr>
            <a:picLocks noChangeAspect="1"/>
          </p:cNvPicPr>
          <p:nvPr/>
        </p:nvPicPr>
        <p:blipFill>
          <a:blip r:embed="rId6"/>
          <a:srcRect/>
          <a:stretch/>
        </p:blipFill>
        <p:spPr>
          <a:xfrm>
            <a:off x="6458407" y="4487875"/>
            <a:ext cx="133502" cy="133502"/>
          </a:xfrm>
          <a:prstGeom prst="rect">
            <a:avLst/>
          </a:prstGeom>
        </p:spPr>
      </p:pic>
      <p:sp>
        <p:nvSpPr>
          <p:cNvPr id="38" name="Text 33">
            <a:extLst>
              <a:ext uri="{FF2B5EF4-FFF2-40B4-BE49-F238E27FC236}">
                <a16:creationId xmlns:a16="http://schemas.microsoft.com/office/drawing/2014/main" id="{0EFBC276-6D0A-A365-8018-F6B301154F31}"/>
              </a:ext>
            </a:extLst>
          </p:cNvPr>
          <p:cNvSpPr txBox="1"/>
          <p:nvPr/>
        </p:nvSpPr>
        <p:spPr>
          <a:xfrm>
            <a:off x="6752844" y="4428439"/>
            <a:ext cx="1032358"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Local + MSW</a:t>
            </a:r>
            <a:endParaRPr lang="en-US" sz="1300" dirty="0"/>
          </a:p>
        </p:txBody>
      </p:sp>
      <p:sp>
        <p:nvSpPr>
          <p:cNvPr id="39" name="Shape 34">
            <a:extLst>
              <a:ext uri="{FF2B5EF4-FFF2-40B4-BE49-F238E27FC236}">
                <a16:creationId xmlns:a16="http://schemas.microsoft.com/office/drawing/2014/main" id="{AE06D615-4012-CCD5-AA15-666EE6C32917}"/>
              </a:ext>
            </a:extLst>
          </p:cNvPr>
          <p:cNvSpPr/>
          <p:nvPr/>
        </p:nvSpPr>
        <p:spPr>
          <a:xfrm>
            <a:off x="10756087" y="4430268"/>
            <a:ext cx="666598" cy="247802"/>
          </a:xfrm>
          <a:prstGeom prst="roundRect">
            <a:avLst>
              <a:gd name="adj" fmla="val 369004"/>
            </a:avLst>
          </a:prstGeom>
          <a:solidFill>
            <a:srgbClr val="FFEDD5"/>
          </a:solidFill>
          <a:ln w="12700">
            <a:solidFill>
              <a:srgbClr val="FFFFFF">
                <a:alpha val="0"/>
              </a:srgbClr>
            </a:solidFill>
            <a:prstDash val="solid"/>
          </a:ln>
        </p:spPr>
        <p:txBody>
          <a:bodyPr/>
          <a:lstStyle/>
          <a:p>
            <a:endParaRPr lang="en-US"/>
          </a:p>
        </p:txBody>
      </p:sp>
      <p:sp>
        <p:nvSpPr>
          <p:cNvPr id="40" name="Text 35">
            <a:extLst>
              <a:ext uri="{FF2B5EF4-FFF2-40B4-BE49-F238E27FC236}">
                <a16:creationId xmlns:a16="http://schemas.microsoft.com/office/drawing/2014/main" id="{C16F6718-4AA9-F264-1396-3B4452833BEF}"/>
              </a:ext>
            </a:extLst>
          </p:cNvPr>
          <p:cNvSpPr/>
          <p:nvPr/>
        </p:nvSpPr>
        <p:spPr>
          <a:xfrm>
            <a:off x="10727741" y="4430268"/>
            <a:ext cx="724205"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9A3412"/>
                </a:solidFill>
                <a:latin typeface="Raleway" pitchFamily="34" charset="0"/>
                <a:ea typeface="Raleway" pitchFamily="34" charset="-122"/>
                <a:cs typeface="Raleway" pitchFamily="34" charset="-120"/>
              </a:rPr>
              <a:t>Isolated</a:t>
            </a:r>
            <a:endParaRPr lang="en-US" sz="900" dirty="0"/>
          </a:p>
        </p:txBody>
      </p:sp>
      <p:sp>
        <p:nvSpPr>
          <p:cNvPr id="41" name="Text 36">
            <a:extLst>
              <a:ext uri="{FF2B5EF4-FFF2-40B4-BE49-F238E27FC236}">
                <a16:creationId xmlns:a16="http://schemas.microsoft.com/office/drawing/2014/main" id="{3ED8EE16-8623-88D0-DAA6-07D74403CFD3}"/>
              </a:ext>
            </a:extLst>
          </p:cNvPr>
          <p:cNvSpPr txBox="1"/>
          <p:nvPr/>
        </p:nvSpPr>
        <p:spPr>
          <a:xfrm>
            <a:off x="6372454" y="4820717"/>
            <a:ext cx="5125212" cy="381305"/>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MSW can isolate frontend progress from local route availability, enabling scenario-driven development.</a:t>
            </a:r>
            <a:endParaRPr lang="en-US" sz="1000" dirty="0"/>
          </a:p>
        </p:txBody>
      </p:sp>
      <p:sp>
        <p:nvSpPr>
          <p:cNvPr id="42" name="Shape 37">
            <a:extLst>
              <a:ext uri="{FF2B5EF4-FFF2-40B4-BE49-F238E27FC236}">
                <a16:creationId xmlns:a16="http://schemas.microsoft.com/office/drawing/2014/main" id="{94D0A7F0-19AA-963A-B742-7CEFF289E7E8}"/>
              </a:ext>
            </a:extLst>
          </p:cNvPr>
          <p:cNvSpPr/>
          <p:nvPr/>
        </p:nvSpPr>
        <p:spPr>
          <a:xfrm>
            <a:off x="6372454" y="6011266"/>
            <a:ext cx="75895" cy="75895"/>
          </a:xfrm>
          <a:prstGeom prst="ellipse">
            <a:avLst/>
          </a:prstGeom>
          <a:solidFill>
            <a:srgbClr val="10B981"/>
          </a:solidFill>
          <a:ln w="12700">
            <a:solidFill>
              <a:srgbClr val="FFFFFF">
                <a:alpha val="0"/>
              </a:srgbClr>
            </a:solidFill>
            <a:prstDash val="solid"/>
          </a:ln>
        </p:spPr>
        <p:txBody>
          <a:bodyPr/>
          <a:lstStyle/>
          <a:p>
            <a:endParaRPr lang="en-US"/>
          </a:p>
        </p:txBody>
      </p:sp>
      <p:sp>
        <p:nvSpPr>
          <p:cNvPr id="43" name="Text 38">
            <a:extLst>
              <a:ext uri="{FF2B5EF4-FFF2-40B4-BE49-F238E27FC236}">
                <a16:creationId xmlns:a16="http://schemas.microsoft.com/office/drawing/2014/main" id="{D1FC3468-9C8D-6843-375A-522CDEF05D72}"/>
              </a:ext>
            </a:extLst>
          </p:cNvPr>
          <p:cNvSpPr txBox="1"/>
          <p:nvPr/>
        </p:nvSpPr>
        <p:spPr>
          <a:xfrm>
            <a:off x="6524244" y="5963717"/>
            <a:ext cx="963778"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Isolated testing</a:t>
            </a:r>
            <a:endParaRPr lang="en-US" sz="900" dirty="0"/>
          </a:p>
        </p:txBody>
      </p:sp>
      <p:sp>
        <p:nvSpPr>
          <p:cNvPr id="44" name="Text 39">
            <a:extLst>
              <a:ext uri="{FF2B5EF4-FFF2-40B4-BE49-F238E27FC236}">
                <a16:creationId xmlns:a16="http://schemas.microsoft.com/office/drawing/2014/main" id="{62197783-39D1-6987-6BA3-D451CC554111}"/>
              </a:ext>
            </a:extLst>
          </p:cNvPr>
          <p:cNvSpPr txBox="1"/>
          <p:nvPr/>
        </p:nvSpPr>
        <p:spPr>
          <a:xfrm>
            <a:off x="10618927" y="5963717"/>
            <a:ext cx="924458" cy="171907"/>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Scenario mode</a:t>
            </a:r>
            <a:endParaRPr lang="en-US" sz="900" dirty="0"/>
          </a:p>
        </p:txBody>
      </p:sp>
      <p:grpSp>
        <p:nvGrpSpPr>
          <p:cNvPr id="46" name="Group 45">
            <a:extLst>
              <a:ext uri="{FF2B5EF4-FFF2-40B4-BE49-F238E27FC236}">
                <a16:creationId xmlns:a16="http://schemas.microsoft.com/office/drawing/2014/main" id="{76D80119-CE3D-398C-D78E-A5C920E424E3}"/>
              </a:ext>
            </a:extLst>
          </p:cNvPr>
          <p:cNvGrpSpPr/>
          <p:nvPr/>
        </p:nvGrpSpPr>
        <p:grpSpPr>
          <a:xfrm>
            <a:off x="609905" y="846735"/>
            <a:ext cx="1438351" cy="362102"/>
            <a:chOff x="515801" y="858677"/>
            <a:chExt cx="1438351" cy="362102"/>
          </a:xfrm>
        </p:grpSpPr>
        <p:sp>
          <p:nvSpPr>
            <p:cNvPr id="47" name="Shape 1">
              <a:extLst>
                <a:ext uri="{FF2B5EF4-FFF2-40B4-BE49-F238E27FC236}">
                  <a16:creationId xmlns:a16="http://schemas.microsoft.com/office/drawing/2014/main" id="{44002E5C-BC9B-1D03-EB0E-9B7D39934283}"/>
                </a:ext>
              </a:extLst>
            </p:cNvPr>
            <p:cNvSpPr/>
            <p:nvPr/>
          </p:nvSpPr>
          <p:spPr>
            <a:xfrm>
              <a:off x="515801" y="858677"/>
              <a:ext cx="1438351" cy="362102"/>
            </a:xfrm>
            <a:prstGeom prst="roundRect">
              <a:avLst>
                <a:gd name="adj" fmla="val 252526"/>
              </a:avLst>
            </a:prstGeom>
            <a:solidFill>
              <a:srgbClr val="091044"/>
            </a:solidFill>
            <a:ln w="12700">
              <a:solidFill>
                <a:srgbClr val="FFFFFF">
                  <a:alpha val="0"/>
                </a:srgbClr>
              </a:solidFill>
              <a:prstDash val="solid"/>
            </a:ln>
          </p:spPr>
          <p:txBody>
            <a:bodyPr/>
            <a:lstStyle/>
            <a:p>
              <a:endParaRPr lang="en-US" dirty="0"/>
            </a:p>
          </p:txBody>
        </p:sp>
        <p:sp>
          <p:nvSpPr>
            <p:cNvPr id="48" name="Text 2">
              <a:extLst>
                <a:ext uri="{FF2B5EF4-FFF2-40B4-BE49-F238E27FC236}">
                  <a16:creationId xmlns:a16="http://schemas.microsoft.com/office/drawing/2014/main" id="{F136571A-234C-2863-4F77-260BF1EA9621}"/>
                </a:ext>
              </a:extLst>
            </p:cNvPr>
            <p:cNvSpPr/>
            <p:nvPr/>
          </p:nvSpPr>
          <p:spPr>
            <a:xfrm>
              <a:off x="539118" y="858677"/>
              <a:ext cx="1415034" cy="362102"/>
            </a:xfrm>
            <a:prstGeom prst="rect">
              <a:avLst/>
            </a:prstGeom>
            <a:solidFill>
              <a:srgbClr val="091044">
                <a:alpha val="0"/>
              </a:srgbClr>
            </a:solidFill>
            <a:ln>
              <a:solidFill>
                <a:srgbClr val="FFFFFF">
                  <a:alpha val="0"/>
                </a:srgbClr>
              </a:solidFill>
            </a:ln>
          </p:spPr>
          <p:txBody>
            <a:bodyPr wrap="square" lIns="228600" tIns="76200" rIns="228600" bIns="76200" rtlCol="0" anchor="ctr"/>
            <a:lstStyle/>
            <a:p>
              <a:pPr marL="0" indent="0" algn="ctr">
                <a:buNone/>
              </a:pPr>
              <a:r>
                <a:rPr lang="en-US" sz="1000" b="1" dirty="0">
                  <a:solidFill>
                    <a:schemeClr val="bg1"/>
                  </a:solidFill>
                  <a:latin typeface="Roboto Condensed" pitchFamily="34" charset="0"/>
                  <a:ea typeface="Roboto Condensed" pitchFamily="34" charset="-122"/>
                  <a:cs typeface="Roboto Condensed" pitchFamily="34" charset="-120"/>
                </a:rPr>
                <a:t>MEET.JS POLAND</a:t>
              </a:r>
              <a:endParaRPr lang="en-US" sz="1000" dirty="0">
                <a:solidFill>
                  <a:schemeClr val="bg1"/>
                </a:solidFill>
              </a:endParaRPr>
            </a:p>
          </p:txBody>
        </p:sp>
      </p:grpSp>
    </p:spTree>
    <p:extLst>
      <p:ext uri="{BB962C8B-B14F-4D97-AF65-F5344CB8AC3E}">
        <p14:creationId xmlns:p14="http://schemas.microsoft.com/office/powerpoint/2010/main" val="5266828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4068-0249-5CE7-2A46-49F0E95CB342}"/>
            </a:ext>
          </a:extLst>
        </p:cNvPr>
        <p:cNvGrpSpPr/>
        <p:nvPr/>
      </p:nvGrpSpPr>
      <p:grpSpPr>
        <a:xfrm>
          <a:off x="0" y="0"/>
          <a:ext cx="0" cy="0"/>
          <a:chOff x="0" y="0"/>
          <a:chExt cx="0" cy="0"/>
        </a:xfrm>
      </p:grpSpPr>
      <p:sp>
        <p:nvSpPr>
          <p:cNvPr id="2" name="Text 5">
            <a:extLst>
              <a:ext uri="{FF2B5EF4-FFF2-40B4-BE49-F238E27FC236}">
                <a16:creationId xmlns:a16="http://schemas.microsoft.com/office/drawing/2014/main" id="{A51F9EF1-4DC9-49B8-DBA1-604D54098FB6}"/>
              </a:ext>
            </a:extLst>
          </p:cNvPr>
          <p:cNvSpPr txBox="1"/>
          <p:nvPr/>
        </p:nvSpPr>
        <p:spPr>
          <a:xfrm>
            <a:off x="761695" y="914400"/>
            <a:ext cx="10840212" cy="1515161"/>
          </a:xfrm>
          <a:prstGeom prst="rect">
            <a:avLst/>
          </a:prstGeom>
          <a:noFill/>
          <a:ln/>
        </p:spPr>
        <p:txBody>
          <a:bodyPr wrap="square" lIns="0" tIns="0" rIns="0" bIns="0" rtlCol="0" anchor="ctr"/>
          <a:lstStyle/>
          <a:p>
            <a:pPr marL="0" indent="0" algn="l">
              <a:buNone/>
            </a:pPr>
            <a:r>
              <a:rPr lang="en-US" sz="5400" b="1" kern="0" spc="75" dirty="0">
                <a:solidFill>
                  <a:srgbClr val="091044"/>
                </a:solidFill>
                <a:latin typeface="Roboto Condensed" pitchFamily="34" charset="0"/>
                <a:ea typeface="Roboto Condensed" pitchFamily="34" charset="-122"/>
                <a:cs typeface="Roboto Condensed" pitchFamily="34" charset="-120"/>
              </a:rPr>
              <a:t>SIMILAR TOOLS: LANDSCAPE OVERVIEW</a:t>
            </a:r>
            <a:endParaRPr lang="en-US" sz="5400" dirty="0">
              <a:solidFill>
                <a:srgbClr val="091044"/>
              </a:solidFill>
            </a:endParaRPr>
          </a:p>
        </p:txBody>
      </p:sp>
      <p:sp>
        <p:nvSpPr>
          <p:cNvPr id="3" name="Text 6">
            <a:extLst>
              <a:ext uri="{FF2B5EF4-FFF2-40B4-BE49-F238E27FC236}">
                <a16:creationId xmlns:a16="http://schemas.microsoft.com/office/drawing/2014/main" id="{281C71E6-4EB0-F018-5C13-3BEB15CB60A7}"/>
              </a:ext>
            </a:extLst>
          </p:cNvPr>
          <p:cNvSpPr txBox="1"/>
          <p:nvPr/>
        </p:nvSpPr>
        <p:spPr>
          <a:xfrm>
            <a:off x="761695" y="2575865"/>
            <a:ext cx="10782605" cy="257861"/>
          </a:xfrm>
          <a:prstGeom prst="rect">
            <a:avLst/>
          </a:prstGeom>
          <a:noFill/>
          <a:ln/>
        </p:spPr>
        <p:txBody>
          <a:bodyPr wrap="square" lIns="0" tIns="0" rIns="0" bIns="0" rtlCol="0" anchor="ctr"/>
          <a:lstStyle/>
          <a:p>
            <a:pPr marL="0" indent="0" algn="l">
              <a:buNone/>
            </a:pPr>
            <a:r>
              <a:rPr lang="en-US" sz="1300" kern="0" spc="38" dirty="0">
                <a:solidFill>
                  <a:srgbClr val="000000"/>
                </a:solidFill>
                <a:latin typeface="Raleway" pitchFamily="34" charset="0"/>
                <a:ea typeface="Raleway" pitchFamily="34" charset="-122"/>
                <a:cs typeface="Raleway" pitchFamily="34" charset="-120"/>
              </a:rPr>
              <a:t>A comprehensive comparison of API mocking tools available for frontend development</a:t>
            </a:r>
            <a:endParaRPr lang="en-US" sz="1300" dirty="0"/>
          </a:p>
        </p:txBody>
      </p:sp>
      <p:sp>
        <p:nvSpPr>
          <p:cNvPr id="5" name="Shape 7">
            <a:extLst>
              <a:ext uri="{FF2B5EF4-FFF2-40B4-BE49-F238E27FC236}">
                <a16:creationId xmlns:a16="http://schemas.microsoft.com/office/drawing/2014/main" id="{D06E25C7-4FD2-48F0-9590-4E2D6A33CD1C}"/>
              </a:ext>
            </a:extLst>
          </p:cNvPr>
          <p:cNvSpPr/>
          <p:nvPr/>
        </p:nvSpPr>
        <p:spPr>
          <a:xfrm>
            <a:off x="761695" y="3055925"/>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6" name="Shape 8">
            <a:extLst>
              <a:ext uri="{FF2B5EF4-FFF2-40B4-BE49-F238E27FC236}">
                <a16:creationId xmlns:a16="http://schemas.microsoft.com/office/drawing/2014/main" id="{5B424DF9-E2CD-35F4-DBF2-F91132FE571B}"/>
              </a:ext>
            </a:extLst>
          </p:cNvPr>
          <p:cNvSpPr/>
          <p:nvPr/>
        </p:nvSpPr>
        <p:spPr>
          <a:xfrm>
            <a:off x="914400" y="3207715"/>
            <a:ext cx="381305" cy="381305"/>
          </a:xfrm>
          <a:prstGeom prst="roundRect">
            <a:avLst>
              <a:gd name="adj" fmla="val 95923"/>
            </a:avLst>
          </a:prstGeom>
          <a:solidFill>
            <a:srgbClr val="E3F2FD"/>
          </a:solidFill>
          <a:ln w="12700">
            <a:solidFill>
              <a:srgbClr val="FFFFFF">
                <a:alpha val="0"/>
              </a:srgbClr>
            </a:solidFill>
            <a:prstDash val="solid"/>
          </a:ln>
        </p:spPr>
        <p:txBody>
          <a:bodyPr/>
          <a:lstStyle/>
          <a:p>
            <a:endParaRPr lang="en-US"/>
          </a:p>
        </p:txBody>
      </p:sp>
      <p:pic>
        <p:nvPicPr>
          <p:cNvPr id="7" name="Image 3" descr="preencoded.png">
            <a:extLst>
              <a:ext uri="{FF2B5EF4-FFF2-40B4-BE49-F238E27FC236}">
                <a16:creationId xmlns:a16="http://schemas.microsoft.com/office/drawing/2014/main" id="{DB1B7E5F-6D2D-FC1D-7E7E-9F3F244FB675}"/>
              </a:ext>
            </a:extLst>
          </p:cNvPr>
          <p:cNvPicPr>
            <a:picLocks noChangeAspect="1"/>
          </p:cNvPicPr>
          <p:nvPr/>
        </p:nvPicPr>
        <p:blipFill>
          <a:blip r:embed="rId3"/>
          <a:srcRect/>
          <a:stretch/>
        </p:blipFill>
        <p:spPr>
          <a:xfrm>
            <a:off x="985723" y="3303727"/>
            <a:ext cx="237744" cy="190195"/>
          </a:xfrm>
          <a:prstGeom prst="rect">
            <a:avLst/>
          </a:prstGeom>
        </p:spPr>
      </p:pic>
      <p:sp>
        <p:nvSpPr>
          <p:cNvPr id="8" name="Text 9">
            <a:extLst>
              <a:ext uri="{FF2B5EF4-FFF2-40B4-BE49-F238E27FC236}">
                <a16:creationId xmlns:a16="http://schemas.microsoft.com/office/drawing/2014/main" id="{BF3362E9-5E38-F786-F2F8-AD21480C6957}"/>
              </a:ext>
            </a:extLst>
          </p:cNvPr>
          <p:cNvSpPr txBox="1"/>
          <p:nvPr/>
        </p:nvSpPr>
        <p:spPr>
          <a:xfrm>
            <a:off x="1447495" y="3207715"/>
            <a:ext cx="428854"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MSW</a:t>
            </a:r>
            <a:endParaRPr lang="en-US" sz="1300" dirty="0"/>
          </a:p>
        </p:txBody>
      </p:sp>
      <p:sp>
        <p:nvSpPr>
          <p:cNvPr id="9" name="Shape 10">
            <a:extLst>
              <a:ext uri="{FF2B5EF4-FFF2-40B4-BE49-F238E27FC236}">
                <a16:creationId xmlns:a16="http://schemas.microsoft.com/office/drawing/2014/main" id="{2CDA0683-6E25-A3B8-41A3-242666F306C8}"/>
              </a:ext>
            </a:extLst>
          </p:cNvPr>
          <p:cNvSpPr/>
          <p:nvPr/>
        </p:nvSpPr>
        <p:spPr>
          <a:xfrm>
            <a:off x="3119933" y="3210458"/>
            <a:ext cx="952805" cy="247802"/>
          </a:xfrm>
          <a:prstGeom prst="roundRect">
            <a:avLst>
              <a:gd name="adj" fmla="val 113540"/>
            </a:avLst>
          </a:prstGeom>
          <a:solidFill>
            <a:srgbClr val="E3F2FD"/>
          </a:solidFill>
          <a:ln w="12700">
            <a:solidFill>
              <a:srgbClr val="FFFFFF">
                <a:alpha val="0"/>
              </a:srgbClr>
            </a:solidFill>
            <a:prstDash val="solid"/>
          </a:ln>
        </p:spPr>
        <p:txBody>
          <a:bodyPr/>
          <a:lstStyle/>
          <a:p>
            <a:endParaRPr lang="en-US"/>
          </a:p>
        </p:txBody>
      </p:sp>
      <p:sp>
        <p:nvSpPr>
          <p:cNvPr id="10" name="Text 11">
            <a:extLst>
              <a:ext uri="{FF2B5EF4-FFF2-40B4-BE49-F238E27FC236}">
                <a16:creationId xmlns:a16="http://schemas.microsoft.com/office/drawing/2014/main" id="{E73916B0-7809-CDE3-5ECB-308AFC77CFCD}"/>
              </a:ext>
            </a:extLst>
          </p:cNvPr>
          <p:cNvSpPr txBox="1"/>
          <p:nvPr/>
        </p:nvSpPr>
        <p:spPr>
          <a:xfrm>
            <a:off x="3119933" y="3210458"/>
            <a:ext cx="1010412"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1976D2"/>
                </a:solidFill>
                <a:latin typeface="Raleway" pitchFamily="34" charset="0"/>
                <a:ea typeface="Raleway" pitchFamily="34" charset="-122"/>
                <a:cs typeface="Raleway" pitchFamily="34" charset="-120"/>
              </a:rPr>
              <a:t>Network Layer</a:t>
            </a:r>
            <a:endParaRPr lang="en-US" sz="900" dirty="0"/>
          </a:p>
        </p:txBody>
      </p:sp>
      <p:sp>
        <p:nvSpPr>
          <p:cNvPr id="11" name="Text 12">
            <a:extLst>
              <a:ext uri="{FF2B5EF4-FFF2-40B4-BE49-F238E27FC236}">
                <a16:creationId xmlns:a16="http://schemas.microsoft.com/office/drawing/2014/main" id="{76F1A6AA-B159-FE66-33F5-FD3275F50AD5}"/>
              </a:ext>
            </a:extLst>
          </p:cNvPr>
          <p:cNvSpPr txBox="1"/>
          <p:nvPr/>
        </p:nvSpPr>
        <p:spPr>
          <a:xfrm>
            <a:off x="1447495" y="3497580"/>
            <a:ext cx="2695651" cy="562356"/>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Network interception in browser/node; app-level realism. Works at the network layer, not component layer.</a:t>
            </a:r>
            <a:endParaRPr lang="en-US" sz="1000" dirty="0"/>
          </a:p>
        </p:txBody>
      </p:sp>
      <p:sp>
        <p:nvSpPr>
          <p:cNvPr id="12" name="Shape 13">
            <a:extLst>
              <a:ext uri="{FF2B5EF4-FFF2-40B4-BE49-F238E27FC236}">
                <a16:creationId xmlns:a16="http://schemas.microsoft.com/office/drawing/2014/main" id="{ADD8FFE5-423F-44F3-1794-70CDC3E615C3}"/>
              </a:ext>
            </a:extLst>
          </p:cNvPr>
          <p:cNvSpPr/>
          <p:nvPr/>
        </p:nvSpPr>
        <p:spPr>
          <a:xfrm>
            <a:off x="4369003" y="3055925"/>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13" name="Shape 14">
            <a:extLst>
              <a:ext uri="{FF2B5EF4-FFF2-40B4-BE49-F238E27FC236}">
                <a16:creationId xmlns:a16="http://schemas.microsoft.com/office/drawing/2014/main" id="{1D8EC9BC-CB38-000F-8E58-7E679A7AB294}"/>
              </a:ext>
            </a:extLst>
          </p:cNvPr>
          <p:cNvSpPr/>
          <p:nvPr/>
        </p:nvSpPr>
        <p:spPr>
          <a:xfrm>
            <a:off x="4520794" y="3207715"/>
            <a:ext cx="381305" cy="381305"/>
          </a:xfrm>
          <a:prstGeom prst="roundRect">
            <a:avLst>
              <a:gd name="adj" fmla="val 95923"/>
            </a:avLst>
          </a:prstGeom>
          <a:solidFill>
            <a:srgbClr val="FFF3E0"/>
          </a:solidFill>
          <a:ln w="12700">
            <a:solidFill>
              <a:srgbClr val="FFFFFF">
                <a:alpha val="0"/>
              </a:srgbClr>
            </a:solidFill>
            <a:prstDash val="solid"/>
          </a:ln>
        </p:spPr>
        <p:txBody>
          <a:bodyPr/>
          <a:lstStyle/>
          <a:p>
            <a:endParaRPr lang="en-US"/>
          </a:p>
        </p:txBody>
      </p:sp>
      <p:pic>
        <p:nvPicPr>
          <p:cNvPr id="14" name="Image 4" descr="preencoded.png">
            <a:extLst>
              <a:ext uri="{FF2B5EF4-FFF2-40B4-BE49-F238E27FC236}">
                <a16:creationId xmlns:a16="http://schemas.microsoft.com/office/drawing/2014/main" id="{FA7A02AE-1E4F-24B9-AB12-685F2D60E0DC}"/>
              </a:ext>
            </a:extLst>
          </p:cNvPr>
          <p:cNvPicPr>
            <a:picLocks noChangeAspect="1"/>
          </p:cNvPicPr>
          <p:nvPr/>
        </p:nvPicPr>
        <p:blipFill>
          <a:blip r:embed="rId4"/>
          <a:srcRect/>
          <a:stretch/>
        </p:blipFill>
        <p:spPr>
          <a:xfrm>
            <a:off x="4616806" y="3303727"/>
            <a:ext cx="190195" cy="190195"/>
          </a:xfrm>
          <a:prstGeom prst="rect">
            <a:avLst/>
          </a:prstGeom>
        </p:spPr>
      </p:pic>
      <p:sp>
        <p:nvSpPr>
          <p:cNvPr id="15" name="Text 15">
            <a:extLst>
              <a:ext uri="{FF2B5EF4-FFF2-40B4-BE49-F238E27FC236}">
                <a16:creationId xmlns:a16="http://schemas.microsoft.com/office/drawing/2014/main" id="{25ED68EF-886C-26E9-BD6E-2B88A287C11F}"/>
              </a:ext>
            </a:extLst>
          </p:cNvPr>
          <p:cNvSpPr txBox="1"/>
          <p:nvPr/>
        </p:nvSpPr>
        <p:spPr>
          <a:xfrm>
            <a:off x="5054803" y="3207715"/>
            <a:ext cx="770839"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MirageJS</a:t>
            </a:r>
            <a:endParaRPr lang="en-US" sz="1300" dirty="0"/>
          </a:p>
        </p:txBody>
      </p:sp>
      <p:sp>
        <p:nvSpPr>
          <p:cNvPr id="16" name="Shape 16">
            <a:extLst>
              <a:ext uri="{FF2B5EF4-FFF2-40B4-BE49-F238E27FC236}">
                <a16:creationId xmlns:a16="http://schemas.microsoft.com/office/drawing/2014/main" id="{FCD66C2C-73F1-30A5-9C8F-608671AF4C3D}"/>
              </a:ext>
            </a:extLst>
          </p:cNvPr>
          <p:cNvSpPr/>
          <p:nvPr/>
        </p:nvSpPr>
        <p:spPr>
          <a:xfrm>
            <a:off x="6924751" y="3210458"/>
            <a:ext cx="752551" cy="247802"/>
          </a:xfrm>
          <a:prstGeom prst="roundRect">
            <a:avLst>
              <a:gd name="adj" fmla="val 113540"/>
            </a:avLst>
          </a:prstGeom>
          <a:solidFill>
            <a:srgbClr val="FFF3E0"/>
          </a:solidFill>
          <a:ln w="12700">
            <a:solidFill>
              <a:srgbClr val="FFFFFF">
                <a:alpha val="0"/>
              </a:srgbClr>
            </a:solidFill>
            <a:prstDash val="solid"/>
          </a:ln>
        </p:spPr>
        <p:txBody>
          <a:bodyPr/>
          <a:lstStyle/>
          <a:p>
            <a:endParaRPr lang="en-US"/>
          </a:p>
        </p:txBody>
      </p:sp>
      <p:sp>
        <p:nvSpPr>
          <p:cNvPr id="17" name="Text 17">
            <a:extLst>
              <a:ext uri="{FF2B5EF4-FFF2-40B4-BE49-F238E27FC236}">
                <a16:creationId xmlns:a16="http://schemas.microsoft.com/office/drawing/2014/main" id="{B5AFA79C-9F72-0869-FBCC-EED4659966B6}"/>
              </a:ext>
            </a:extLst>
          </p:cNvPr>
          <p:cNvSpPr txBox="1"/>
          <p:nvPr/>
        </p:nvSpPr>
        <p:spPr>
          <a:xfrm>
            <a:off x="6924751" y="3210458"/>
            <a:ext cx="810158"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F57C00"/>
                </a:solidFill>
                <a:latin typeface="Raleway" pitchFamily="34" charset="0"/>
                <a:ea typeface="Raleway" pitchFamily="34" charset="-122"/>
                <a:cs typeface="Raleway" pitchFamily="34" charset="-120"/>
              </a:rPr>
              <a:t>In-Browser</a:t>
            </a:r>
            <a:endParaRPr lang="en-US" sz="900" dirty="0"/>
          </a:p>
        </p:txBody>
      </p:sp>
      <p:sp>
        <p:nvSpPr>
          <p:cNvPr id="18" name="Text 18">
            <a:extLst>
              <a:ext uri="{FF2B5EF4-FFF2-40B4-BE49-F238E27FC236}">
                <a16:creationId xmlns:a16="http://schemas.microsoft.com/office/drawing/2014/main" id="{827354F3-FF5D-0FC4-8D47-BFB7BCC43FEA}"/>
              </a:ext>
            </a:extLst>
          </p:cNvPr>
          <p:cNvSpPr txBox="1"/>
          <p:nvPr/>
        </p:nvSpPr>
        <p:spPr>
          <a:xfrm>
            <a:off x="5054803" y="3497580"/>
            <a:ext cx="2695651" cy="562356"/>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In-browser mock server with models/routes. Rich data modeling capabilities for complex scenarios.</a:t>
            </a:r>
            <a:endParaRPr lang="en-US" sz="1000" dirty="0"/>
          </a:p>
        </p:txBody>
      </p:sp>
      <p:sp>
        <p:nvSpPr>
          <p:cNvPr id="19" name="Shape 19">
            <a:extLst>
              <a:ext uri="{FF2B5EF4-FFF2-40B4-BE49-F238E27FC236}">
                <a16:creationId xmlns:a16="http://schemas.microsoft.com/office/drawing/2014/main" id="{723E2AED-9BA5-419B-6A2F-C94CE645F9C5}"/>
              </a:ext>
            </a:extLst>
          </p:cNvPr>
          <p:cNvSpPr/>
          <p:nvPr/>
        </p:nvSpPr>
        <p:spPr>
          <a:xfrm>
            <a:off x="7975397" y="3055925"/>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20" name="Shape 20">
            <a:extLst>
              <a:ext uri="{FF2B5EF4-FFF2-40B4-BE49-F238E27FC236}">
                <a16:creationId xmlns:a16="http://schemas.microsoft.com/office/drawing/2014/main" id="{B58A489B-C993-7444-D905-D3C2F417511E}"/>
              </a:ext>
            </a:extLst>
          </p:cNvPr>
          <p:cNvSpPr/>
          <p:nvPr/>
        </p:nvSpPr>
        <p:spPr>
          <a:xfrm>
            <a:off x="8128102" y="3207715"/>
            <a:ext cx="381305" cy="381305"/>
          </a:xfrm>
          <a:prstGeom prst="roundRect">
            <a:avLst>
              <a:gd name="adj" fmla="val 95923"/>
            </a:avLst>
          </a:prstGeom>
          <a:solidFill>
            <a:srgbClr val="E8F5E9"/>
          </a:solidFill>
          <a:ln w="12700">
            <a:solidFill>
              <a:srgbClr val="FFFFFF">
                <a:alpha val="0"/>
              </a:srgbClr>
            </a:solidFill>
            <a:prstDash val="solid"/>
          </a:ln>
        </p:spPr>
        <p:txBody>
          <a:bodyPr/>
          <a:lstStyle/>
          <a:p>
            <a:endParaRPr lang="en-US"/>
          </a:p>
        </p:txBody>
      </p:sp>
      <p:pic>
        <p:nvPicPr>
          <p:cNvPr id="21" name="Image 5" descr="preencoded.png">
            <a:extLst>
              <a:ext uri="{FF2B5EF4-FFF2-40B4-BE49-F238E27FC236}">
                <a16:creationId xmlns:a16="http://schemas.microsoft.com/office/drawing/2014/main" id="{39CC2298-6220-6730-5D22-F1C5074CE5C3}"/>
              </a:ext>
            </a:extLst>
          </p:cNvPr>
          <p:cNvPicPr>
            <a:picLocks noChangeAspect="1"/>
          </p:cNvPicPr>
          <p:nvPr/>
        </p:nvPicPr>
        <p:blipFill>
          <a:blip r:embed="rId5"/>
          <a:srcRect/>
          <a:stretch/>
        </p:blipFill>
        <p:spPr>
          <a:xfrm>
            <a:off x="8246974" y="3303727"/>
            <a:ext cx="142646" cy="190195"/>
          </a:xfrm>
          <a:prstGeom prst="rect">
            <a:avLst/>
          </a:prstGeom>
        </p:spPr>
      </p:pic>
      <p:sp>
        <p:nvSpPr>
          <p:cNvPr id="22" name="Text 21">
            <a:extLst>
              <a:ext uri="{FF2B5EF4-FFF2-40B4-BE49-F238E27FC236}">
                <a16:creationId xmlns:a16="http://schemas.microsoft.com/office/drawing/2014/main" id="{3BE8FF20-FBD3-F784-68FF-23A59A7DC171}"/>
              </a:ext>
            </a:extLst>
          </p:cNvPr>
          <p:cNvSpPr txBox="1"/>
          <p:nvPr/>
        </p:nvSpPr>
        <p:spPr>
          <a:xfrm>
            <a:off x="8661197" y="3207715"/>
            <a:ext cx="918972"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json-server</a:t>
            </a:r>
            <a:endParaRPr lang="en-US" sz="1300" dirty="0"/>
          </a:p>
        </p:txBody>
      </p:sp>
      <p:sp>
        <p:nvSpPr>
          <p:cNvPr id="23" name="Shape 22">
            <a:extLst>
              <a:ext uri="{FF2B5EF4-FFF2-40B4-BE49-F238E27FC236}">
                <a16:creationId xmlns:a16="http://schemas.microsoft.com/office/drawing/2014/main" id="{A6ADD6E2-36D7-0B0C-A4A4-8D0E8A1A0A1C}"/>
              </a:ext>
            </a:extLst>
          </p:cNvPr>
          <p:cNvSpPr/>
          <p:nvPr/>
        </p:nvSpPr>
        <p:spPr>
          <a:xfrm>
            <a:off x="10502798" y="3210458"/>
            <a:ext cx="780898" cy="247802"/>
          </a:xfrm>
          <a:prstGeom prst="roundRect">
            <a:avLst>
              <a:gd name="adj" fmla="val 113540"/>
            </a:avLst>
          </a:prstGeom>
          <a:solidFill>
            <a:srgbClr val="E8F5E9"/>
          </a:solidFill>
          <a:ln w="12700">
            <a:solidFill>
              <a:srgbClr val="FFFFFF">
                <a:alpha val="0"/>
              </a:srgbClr>
            </a:solidFill>
            <a:prstDash val="solid"/>
          </a:ln>
        </p:spPr>
        <p:txBody>
          <a:bodyPr/>
          <a:lstStyle/>
          <a:p>
            <a:endParaRPr lang="en-US"/>
          </a:p>
        </p:txBody>
      </p:sp>
      <p:sp>
        <p:nvSpPr>
          <p:cNvPr id="24" name="Text 23">
            <a:extLst>
              <a:ext uri="{FF2B5EF4-FFF2-40B4-BE49-F238E27FC236}">
                <a16:creationId xmlns:a16="http://schemas.microsoft.com/office/drawing/2014/main" id="{BA2677A5-6B75-DC72-7582-48FE2A114BEE}"/>
              </a:ext>
            </a:extLst>
          </p:cNvPr>
          <p:cNvSpPr txBox="1"/>
          <p:nvPr/>
        </p:nvSpPr>
        <p:spPr>
          <a:xfrm>
            <a:off x="10502798" y="3210458"/>
            <a:ext cx="838505"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388E3C"/>
                </a:solidFill>
                <a:latin typeface="Raleway" pitchFamily="34" charset="0"/>
                <a:ea typeface="Raleway" pitchFamily="34" charset="-122"/>
                <a:cs typeface="Raleway" pitchFamily="34" charset="-120"/>
              </a:rPr>
              <a:t>Quick REST</a:t>
            </a:r>
            <a:endParaRPr lang="en-US" sz="900" dirty="0"/>
          </a:p>
        </p:txBody>
      </p:sp>
      <p:sp>
        <p:nvSpPr>
          <p:cNvPr id="25" name="Text 24">
            <a:extLst>
              <a:ext uri="{FF2B5EF4-FFF2-40B4-BE49-F238E27FC236}">
                <a16:creationId xmlns:a16="http://schemas.microsoft.com/office/drawing/2014/main" id="{5A381C32-F058-7C63-842F-7E9C1ABAF2BE}"/>
              </a:ext>
            </a:extLst>
          </p:cNvPr>
          <p:cNvSpPr txBox="1"/>
          <p:nvPr/>
        </p:nvSpPr>
        <p:spPr>
          <a:xfrm>
            <a:off x="8661197" y="3497580"/>
            <a:ext cx="2695651" cy="372161"/>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Quick REST server from JSON file. Fastest endpoint bootstrap for simple mocks.</a:t>
            </a:r>
            <a:endParaRPr lang="en-US" sz="1000" dirty="0"/>
          </a:p>
        </p:txBody>
      </p:sp>
      <p:sp>
        <p:nvSpPr>
          <p:cNvPr id="26" name="Shape 25">
            <a:extLst>
              <a:ext uri="{FF2B5EF4-FFF2-40B4-BE49-F238E27FC236}">
                <a16:creationId xmlns:a16="http://schemas.microsoft.com/office/drawing/2014/main" id="{13E8EB12-4B0E-17EC-C852-B5DF0C07F214}"/>
              </a:ext>
            </a:extLst>
          </p:cNvPr>
          <p:cNvSpPr/>
          <p:nvPr/>
        </p:nvSpPr>
        <p:spPr>
          <a:xfrm>
            <a:off x="761695" y="4369918"/>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27" name="Shape 26">
            <a:extLst>
              <a:ext uri="{FF2B5EF4-FFF2-40B4-BE49-F238E27FC236}">
                <a16:creationId xmlns:a16="http://schemas.microsoft.com/office/drawing/2014/main" id="{EC997C47-33F8-A7E2-AA73-965A45E6DD04}"/>
              </a:ext>
            </a:extLst>
          </p:cNvPr>
          <p:cNvSpPr/>
          <p:nvPr/>
        </p:nvSpPr>
        <p:spPr>
          <a:xfrm>
            <a:off x="914400" y="4522622"/>
            <a:ext cx="381305" cy="381305"/>
          </a:xfrm>
          <a:prstGeom prst="roundRect">
            <a:avLst>
              <a:gd name="adj" fmla="val 95923"/>
            </a:avLst>
          </a:prstGeom>
          <a:solidFill>
            <a:srgbClr val="F3E5F5"/>
          </a:solidFill>
          <a:ln w="12700">
            <a:solidFill>
              <a:srgbClr val="FFFFFF">
                <a:alpha val="0"/>
              </a:srgbClr>
            </a:solidFill>
            <a:prstDash val="solid"/>
          </a:ln>
        </p:spPr>
        <p:txBody>
          <a:bodyPr/>
          <a:lstStyle/>
          <a:p>
            <a:endParaRPr lang="en-US"/>
          </a:p>
        </p:txBody>
      </p:sp>
      <p:pic>
        <p:nvPicPr>
          <p:cNvPr id="28" name="Image 6" descr="preencoded.png">
            <a:extLst>
              <a:ext uri="{FF2B5EF4-FFF2-40B4-BE49-F238E27FC236}">
                <a16:creationId xmlns:a16="http://schemas.microsoft.com/office/drawing/2014/main" id="{B8B688C0-6596-3A2E-15D6-30DBAB52E9DC}"/>
              </a:ext>
            </a:extLst>
          </p:cNvPr>
          <p:cNvPicPr>
            <a:picLocks noChangeAspect="1"/>
          </p:cNvPicPr>
          <p:nvPr/>
        </p:nvPicPr>
        <p:blipFill>
          <a:blip r:embed="rId6"/>
          <a:srcRect/>
          <a:stretch/>
        </p:blipFill>
        <p:spPr>
          <a:xfrm>
            <a:off x="1033272" y="4617720"/>
            <a:ext cx="142646" cy="190195"/>
          </a:xfrm>
          <a:prstGeom prst="rect">
            <a:avLst/>
          </a:prstGeom>
        </p:spPr>
      </p:pic>
      <p:sp>
        <p:nvSpPr>
          <p:cNvPr id="29" name="Text 27">
            <a:extLst>
              <a:ext uri="{FF2B5EF4-FFF2-40B4-BE49-F238E27FC236}">
                <a16:creationId xmlns:a16="http://schemas.microsoft.com/office/drawing/2014/main" id="{C0EF8FE9-1D88-FD63-C6BE-807B93552BC2}"/>
              </a:ext>
            </a:extLst>
          </p:cNvPr>
          <p:cNvSpPr txBox="1"/>
          <p:nvPr/>
        </p:nvSpPr>
        <p:spPr>
          <a:xfrm>
            <a:off x="1447495" y="4522622"/>
            <a:ext cx="476402"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Prism</a:t>
            </a:r>
            <a:endParaRPr lang="en-US" sz="1300" dirty="0"/>
          </a:p>
        </p:txBody>
      </p:sp>
      <p:sp>
        <p:nvSpPr>
          <p:cNvPr id="30" name="Shape 28">
            <a:extLst>
              <a:ext uri="{FF2B5EF4-FFF2-40B4-BE49-F238E27FC236}">
                <a16:creationId xmlns:a16="http://schemas.microsoft.com/office/drawing/2014/main" id="{78B246CA-E4CB-F7FB-EFC2-F80811F2E3CB}"/>
              </a:ext>
            </a:extLst>
          </p:cNvPr>
          <p:cNvSpPr/>
          <p:nvPr/>
        </p:nvSpPr>
        <p:spPr>
          <a:xfrm>
            <a:off x="3438144" y="4524451"/>
            <a:ext cx="629107" cy="247802"/>
          </a:xfrm>
          <a:prstGeom prst="roundRect">
            <a:avLst>
              <a:gd name="adj" fmla="val 113540"/>
            </a:avLst>
          </a:prstGeom>
          <a:solidFill>
            <a:srgbClr val="F3E5F5"/>
          </a:solidFill>
          <a:ln w="12700">
            <a:solidFill>
              <a:srgbClr val="FFFFFF">
                <a:alpha val="0"/>
              </a:srgbClr>
            </a:solidFill>
            <a:prstDash val="solid"/>
          </a:ln>
        </p:spPr>
        <p:txBody>
          <a:bodyPr/>
          <a:lstStyle/>
          <a:p>
            <a:endParaRPr lang="en-US"/>
          </a:p>
        </p:txBody>
      </p:sp>
      <p:sp>
        <p:nvSpPr>
          <p:cNvPr id="31" name="Text 29">
            <a:extLst>
              <a:ext uri="{FF2B5EF4-FFF2-40B4-BE49-F238E27FC236}">
                <a16:creationId xmlns:a16="http://schemas.microsoft.com/office/drawing/2014/main" id="{F9A230F0-E017-FAEE-01C7-0ED29CE3E3D5}"/>
              </a:ext>
            </a:extLst>
          </p:cNvPr>
          <p:cNvSpPr txBox="1"/>
          <p:nvPr/>
        </p:nvSpPr>
        <p:spPr>
          <a:xfrm>
            <a:off x="3438144" y="4524451"/>
            <a:ext cx="685800"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7B1FA2"/>
                </a:solidFill>
                <a:latin typeface="Raleway" pitchFamily="34" charset="0"/>
                <a:ea typeface="Raleway" pitchFamily="34" charset="-122"/>
                <a:cs typeface="Raleway" pitchFamily="34" charset="-120"/>
              </a:rPr>
              <a:t>OpenAPI</a:t>
            </a:r>
            <a:endParaRPr lang="en-US" sz="900" dirty="0"/>
          </a:p>
        </p:txBody>
      </p:sp>
      <p:sp>
        <p:nvSpPr>
          <p:cNvPr id="32" name="Text 30">
            <a:extLst>
              <a:ext uri="{FF2B5EF4-FFF2-40B4-BE49-F238E27FC236}">
                <a16:creationId xmlns:a16="http://schemas.microsoft.com/office/drawing/2014/main" id="{8D25F17E-1D3A-7DCA-7BDF-9E7F6F56AB38}"/>
              </a:ext>
            </a:extLst>
          </p:cNvPr>
          <p:cNvSpPr txBox="1"/>
          <p:nvPr/>
        </p:nvSpPr>
        <p:spPr>
          <a:xfrm>
            <a:off x="1447495" y="4812487"/>
            <a:ext cx="2695651" cy="372161"/>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OpenAPI-driven mock server. Spec-driven mock from OpenAPI definitions.</a:t>
            </a:r>
            <a:endParaRPr lang="en-US" sz="1000" dirty="0"/>
          </a:p>
        </p:txBody>
      </p:sp>
      <p:sp>
        <p:nvSpPr>
          <p:cNvPr id="33" name="Shape 31">
            <a:extLst>
              <a:ext uri="{FF2B5EF4-FFF2-40B4-BE49-F238E27FC236}">
                <a16:creationId xmlns:a16="http://schemas.microsoft.com/office/drawing/2014/main" id="{829628CE-77E0-4EB7-83FA-24FC34DCE1AD}"/>
              </a:ext>
            </a:extLst>
          </p:cNvPr>
          <p:cNvSpPr/>
          <p:nvPr/>
        </p:nvSpPr>
        <p:spPr>
          <a:xfrm>
            <a:off x="4369003" y="4369918"/>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34" name="Shape 32">
            <a:extLst>
              <a:ext uri="{FF2B5EF4-FFF2-40B4-BE49-F238E27FC236}">
                <a16:creationId xmlns:a16="http://schemas.microsoft.com/office/drawing/2014/main" id="{BF6B77B1-DF27-8608-99EF-E88345851411}"/>
              </a:ext>
            </a:extLst>
          </p:cNvPr>
          <p:cNvSpPr/>
          <p:nvPr/>
        </p:nvSpPr>
        <p:spPr>
          <a:xfrm>
            <a:off x="4520794" y="4522622"/>
            <a:ext cx="381305" cy="381305"/>
          </a:xfrm>
          <a:prstGeom prst="roundRect">
            <a:avLst>
              <a:gd name="adj" fmla="val 95923"/>
            </a:avLst>
          </a:prstGeom>
          <a:solidFill>
            <a:srgbClr val="FCE4EC"/>
          </a:solidFill>
          <a:ln w="12700">
            <a:solidFill>
              <a:srgbClr val="FFFFFF">
                <a:alpha val="0"/>
              </a:srgbClr>
            </a:solidFill>
            <a:prstDash val="solid"/>
          </a:ln>
        </p:spPr>
        <p:txBody>
          <a:bodyPr/>
          <a:lstStyle/>
          <a:p>
            <a:endParaRPr lang="en-US"/>
          </a:p>
        </p:txBody>
      </p:sp>
      <p:pic>
        <p:nvPicPr>
          <p:cNvPr id="35" name="Image 7" descr="preencoded.png">
            <a:extLst>
              <a:ext uri="{FF2B5EF4-FFF2-40B4-BE49-F238E27FC236}">
                <a16:creationId xmlns:a16="http://schemas.microsoft.com/office/drawing/2014/main" id="{C17FA231-0887-EA71-B891-8B6F59DE791C}"/>
              </a:ext>
            </a:extLst>
          </p:cNvPr>
          <p:cNvPicPr>
            <a:picLocks noChangeAspect="1"/>
          </p:cNvPicPr>
          <p:nvPr/>
        </p:nvPicPr>
        <p:blipFill>
          <a:blip r:embed="rId7"/>
          <a:srcRect/>
          <a:stretch/>
        </p:blipFill>
        <p:spPr>
          <a:xfrm>
            <a:off x="4640580" y="4617720"/>
            <a:ext cx="142646" cy="190195"/>
          </a:xfrm>
          <a:prstGeom prst="rect">
            <a:avLst/>
          </a:prstGeom>
        </p:spPr>
      </p:pic>
      <p:sp>
        <p:nvSpPr>
          <p:cNvPr id="36" name="Text 33">
            <a:extLst>
              <a:ext uri="{FF2B5EF4-FFF2-40B4-BE49-F238E27FC236}">
                <a16:creationId xmlns:a16="http://schemas.microsoft.com/office/drawing/2014/main" id="{346246CD-0538-C2F3-8468-912240F7E475}"/>
              </a:ext>
            </a:extLst>
          </p:cNvPr>
          <p:cNvSpPr txBox="1"/>
          <p:nvPr/>
        </p:nvSpPr>
        <p:spPr>
          <a:xfrm>
            <a:off x="5054803" y="4522622"/>
            <a:ext cx="805586"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WireMock</a:t>
            </a:r>
            <a:endParaRPr lang="en-US" sz="1300" dirty="0"/>
          </a:p>
        </p:txBody>
      </p:sp>
      <p:sp>
        <p:nvSpPr>
          <p:cNvPr id="37" name="Shape 34">
            <a:extLst>
              <a:ext uri="{FF2B5EF4-FFF2-40B4-BE49-F238E27FC236}">
                <a16:creationId xmlns:a16="http://schemas.microsoft.com/office/drawing/2014/main" id="{CB66FBE9-40CD-34E1-99DA-324AD47E6F36}"/>
              </a:ext>
            </a:extLst>
          </p:cNvPr>
          <p:cNvSpPr/>
          <p:nvPr/>
        </p:nvSpPr>
        <p:spPr>
          <a:xfrm>
            <a:off x="6704381" y="4524451"/>
            <a:ext cx="972007" cy="247802"/>
          </a:xfrm>
          <a:prstGeom prst="roundRect">
            <a:avLst>
              <a:gd name="adj" fmla="val 113540"/>
            </a:avLst>
          </a:prstGeom>
          <a:solidFill>
            <a:srgbClr val="FCE4EC"/>
          </a:solidFill>
          <a:ln w="12700">
            <a:solidFill>
              <a:srgbClr val="FFFFFF">
                <a:alpha val="0"/>
              </a:srgbClr>
            </a:solidFill>
            <a:prstDash val="solid"/>
          </a:ln>
        </p:spPr>
        <p:txBody>
          <a:bodyPr/>
          <a:lstStyle/>
          <a:p>
            <a:endParaRPr lang="en-US"/>
          </a:p>
        </p:txBody>
      </p:sp>
      <p:sp>
        <p:nvSpPr>
          <p:cNvPr id="38" name="Text 35">
            <a:extLst>
              <a:ext uri="{FF2B5EF4-FFF2-40B4-BE49-F238E27FC236}">
                <a16:creationId xmlns:a16="http://schemas.microsoft.com/office/drawing/2014/main" id="{9B63A61D-A229-4463-AE5A-708C23E775B9}"/>
              </a:ext>
            </a:extLst>
          </p:cNvPr>
          <p:cNvSpPr txBox="1"/>
          <p:nvPr/>
        </p:nvSpPr>
        <p:spPr>
          <a:xfrm>
            <a:off x="6704381" y="4524451"/>
            <a:ext cx="1028700"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C2185B"/>
                </a:solidFill>
                <a:latin typeface="Raleway" pitchFamily="34" charset="0"/>
                <a:ea typeface="Raleway" pitchFamily="34" charset="-122"/>
                <a:cs typeface="Raleway" pitchFamily="34" charset="-120"/>
              </a:rPr>
              <a:t>HTTP Stubbing</a:t>
            </a:r>
            <a:endParaRPr lang="en-US" sz="900" dirty="0"/>
          </a:p>
        </p:txBody>
      </p:sp>
      <p:sp>
        <p:nvSpPr>
          <p:cNvPr id="39" name="Text 36">
            <a:extLst>
              <a:ext uri="{FF2B5EF4-FFF2-40B4-BE49-F238E27FC236}">
                <a16:creationId xmlns:a16="http://schemas.microsoft.com/office/drawing/2014/main" id="{910C90A3-0237-998B-DC71-2F90C7F27ECA}"/>
              </a:ext>
            </a:extLst>
          </p:cNvPr>
          <p:cNvSpPr txBox="1"/>
          <p:nvPr/>
        </p:nvSpPr>
        <p:spPr>
          <a:xfrm>
            <a:off x="5054803" y="4812487"/>
            <a:ext cx="2695651" cy="372161"/>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Powerful HTTP stubbing/recording server. Backend-level integration stubs.</a:t>
            </a:r>
            <a:endParaRPr lang="en-US" sz="1000" dirty="0"/>
          </a:p>
        </p:txBody>
      </p:sp>
      <p:sp>
        <p:nvSpPr>
          <p:cNvPr id="40" name="Shape 37">
            <a:extLst>
              <a:ext uri="{FF2B5EF4-FFF2-40B4-BE49-F238E27FC236}">
                <a16:creationId xmlns:a16="http://schemas.microsoft.com/office/drawing/2014/main" id="{4326F759-DF78-E714-3D97-E095C01405CF}"/>
              </a:ext>
            </a:extLst>
          </p:cNvPr>
          <p:cNvSpPr/>
          <p:nvPr/>
        </p:nvSpPr>
        <p:spPr>
          <a:xfrm>
            <a:off x="7975397" y="4369918"/>
            <a:ext cx="3457346" cy="1162202"/>
          </a:xfrm>
          <a:prstGeom prst="roundRect">
            <a:avLst>
              <a:gd name="adj" fmla="val 10318"/>
            </a:avLst>
          </a:prstGeom>
          <a:solidFill>
            <a:srgbClr val="091044">
              <a:alpha val="4231"/>
            </a:srgbClr>
          </a:solidFill>
          <a:ln w="12700">
            <a:solidFill>
              <a:srgbClr val="FFFFFF">
                <a:alpha val="0"/>
              </a:srgbClr>
            </a:solidFill>
            <a:prstDash val="solid"/>
          </a:ln>
        </p:spPr>
        <p:txBody>
          <a:bodyPr/>
          <a:lstStyle/>
          <a:p>
            <a:endParaRPr lang="en-US"/>
          </a:p>
        </p:txBody>
      </p:sp>
      <p:sp>
        <p:nvSpPr>
          <p:cNvPr id="41" name="Shape 38">
            <a:extLst>
              <a:ext uri="{FF2B5EF4-FFF2-40B4-BE49-F238E27FC236}">
                <a16:creationId xmlns:a16="http://schemas.microsoft.com/office/drawing/2014/main" id="{95123D80-8D80-3002-AD47-04B3B1DA783B}"/>
              </a:ext>
            </a:extLst>
          </p:cNvPr>
          <p:cNvSpPr/>
          <p:nvPr/>
        </p:nvSpPr>
        <p:spPr>
          <a:xfrm>
            <a:off x="8128102" y="4522622"/>
            <a:ext cx="381305" cy="381305"/>
          </a:xfrm>
          <a:prstGeom prst="roundRect">
            <a:avLst>
              <a:gd name="adj" fmla="val 95923"/>
            </a:avLst>
          </a:prstGeom>
          <a:solidFill>
            <a:srgbClr val="E0F2F1"/>
          </a:solidFill>
          <a:ln w="12700">
            <a:solidFill>
              <a:srgbClr val="FFFFFF">
                <a:alpha val="0"/>
              </a:srgbClr>
            </a:solidFill>
            <a:prstDash val="solid"/>
          </a:ln>
        </p:spPr>
        <p:txBody>
          <a:bodyPr/>
          <a:lstStyle/>
          <a:p>
            <a:endParaRPr lang="en-US"/>
          </a:p>
        </p:txBody>
      </p:sp>
      <p:pic>
        <p:nvPicPr>
          <p:cNvPr id="42" name="Image 8" descr="preencoded.png">
            <a:extLst>
              <a:ext uri="{FF2B5EF4-FFF2-40B4-BE49-F238E27FC236}">
                <a16:creationId xmlns:a16="http://schemas.microsoft.com/office/drawing/2014/main" id="{26CD0C44-09C5-A55D-8F4A-D30D2AFD1D4C}"/>
              </a:ext>
            </a:extLst>
          </p:cNvPr>
          <p:cNvPicPr>
            <a:picLocks noChangeAspect="1"/>
          </p:cNvPicPr>
          <p:nvPr/>
        </p:nvPicPr>
        <p:blipFill>
          <a:blip r:embed="rId8"/>
          <a:srcRect/>
          <a:stretch/>
        </p:blipFill>
        <p:spPr>
          <a:xfrm>
            <a:off x="8223199" y="4617720"/>
            <a:ext cx="190195" cy="190195"/>
          </a:xfrm>
          <a:prstGeom prst="rect">
            <a:avLst/>
          </a:prstGeom>
        </p:spPr>
      </p:pic>
      <p:sp>
        <p:nvSpPr>
          <p:cNvPr id="43" name="Text 39">
            <a:extLst>
              <a:ext uri="{FF2B5EF4-FFF2-40B4-BE49-F238E27FC236}">
                <a16:creationId xmlns:a16="http://schemas.microsoft.com/office/drawing/2014/main" id="{43071BA9-A02F-2DF8-3890-CB745C474E22}"/>
              </a:ext>
            </a:extLst>
          </p:cNvPr>
          <p:cNvSpPr txBox="1"/>
          <p:nvPr/>
        </p:nvSpPr>
        <p:spPr>
          <a:xfrm>
            <a:off x="8661197" y="4522622"/>
            <a:ext cx="1371600" cy="257861"/>
          </a:xfrm>
          <a:prstGeom prst="rect">
            <a:avLst/>
          </a:prstGeom>
          <a:noFill/>
          <a:ln/>
        </p:spPr>
        <p:txBody>
          <a:bodyPr wrap="square" lIns="0" tIns="0" rIns="0" bIns="0" rtlCol="0" anchor="ctr"/>
          <a:lstStyle/>
          <a:p>
            <a:pPr marL="0" indent="0" algn="l">
              <a:buNone/>
            </a:pPr>
            <a:r>
              <a:rPr lang="en-US" sz="1300" b="1" dirty="0">
                <a:solidFill>
                  <a:srgbClr val="000000"/>
                </a:solidFill>
                <a:latin typeface="Roboto Condensed" pitchFamily="34" charset="0"/>
                <a:ea typeface="Roboto Condensed" pitchFamily="34" charset="-122"/>
                <a:cs typeface="Roboto Condensed" pitchFamily="34" charset="-120"/>
              </a:rPr>
              <a:t>Test Interceptors</a:t>
            </a:r>
            <a:endParaRPr lang="en-US" sz="1300" dirty="0"/>
          </a:p>
        </p:txBody>
      </p:sp>
      <p:sp>
        <p:nvSpPr>
          <p:cNvPr id="44" name="Shape 40">
            <a:extLst>
              <a:ext uri="{FF2B5EF4-FFF2-40B4-BE49-F238E27FC236}">
                <a16:creationId xmlns:a16="http://schemas.microsoft.com/office/drawing/2014/main" id="{4AFC2295-87D9-4BBE-86E8-5B3C5D27134A}"/>
              </a:ext>
            </a:extLst>
          </p:cNvPr>
          <p:cNvSpPr/>
          <p:nvPr/>
        </p:nvSpPr>
        <p:spPr>
          <a:xfrm>
            <a:off x="10530230" y="4524451"/>
            <a:ext cx="752551" cy="247802"/>
          </a:xfrm>
          <a:prstGeom prst="roundRect">
            <a:avLst>
              <a:gd name="adj" fmla="val 113540"/>
            </a:avLst>
          </a:prstGeom>
          <a:solidFill>
            <a:srgbClr val="E0F2F1"/>
          </a:solidFill>
          <a:ln w="12700">
            <a:solidFill>
              <a:srgbClr val="FFFFFF">
                <a:alpha val="0"/>
              </a:srgbClr>
            </a:solidFill>
            <a:prstDash val="solid"/>
          </a:ln>
        </p:spPr>
        <p:txBody>
          <a:bodyPr/>
          <a:lstStyle/>
          <a:p>
            <a:endParaRPr lang="en-US"/>
          </a:p>
        </p:txBody>
      </p:sp>
      <p:sp>
        <p:nvSpPr>
          <p:cNvPr id="45" name="Text 41">
            <a:extLst>
              <a:ext uri="{FF2B5EF4-FFF2-40B4-BE49-F238E27FC236}">
                <a16:creationId xmlns:a16="http://schemas.microsoft.com/office/drawing/2014/main" id="{AF9EC71B-A240-DEBD-DACF-BF61B49F86AD}"/>
              </a:ext>
            </a:extLst>
          </p:cNvPr>
          <p:cNvSpPr txBox="1"/>
          <p:nvPr/>
        </p:nvSpPr>
        <p:spPr>
          <a:xfrm>
            <a:off x="10530230" y="4524451"/>
            <a:ext cx="810158" cy="247802"/>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900" b="1" dirty="0">
                <a:solidFill>
                  <a:srgbClr val="00796B"/>
                </a:solidFill>
                <a:latin typeface="Raleway" pitchFamily="34" charset="0"/>
                <a:ea typeface="Raleway" pitchFamily="34" charset="-122"/>
                <a:cs typeface="Raleway" pitchFamily="34" charset="-120"/>
              </a:rPr>
              <a:t>Test Scope</a:t>
            </a:r>
            <a:endParaRPr lang="en-US" sz="900" dirty="0"/>
          </a:p>
        </p:txBody>
      </p:sp>
      <p:sp>
        <p:nvSpPr>
          <p:cNvPr id="46" name="Text 42">
            <a:extLst>
              <a:ext uri="{FF2B5EF4-FFF2-40B4-BE49-F238E27FC236}">
                <a16:creationId xmlns:a16="http://schemas.microsoft.com/office/drawing/2014/main" id="{54D07C27-6C5C-03F1-0D4B-64722EB13D49}"/>
              </a:ext>
            </a:extLst>
          </p:cNvPr>
          <p:cNvSpPr txBox="1"/>
          <p:nvPr/>
        </p:nvSpPr>
        <p:spPr>
          <a:xfrm>
            <a:off x="8661197" y="4812487"/>
            <a:ext cx="2695651" cy="372161"/>
          </a:xfrm>
          <a:prstGeom prst="rect">
            <a:avLst/>
          </a:prstGeom>
          <a:noFill/>
          <a:ln/>
        </p:spPr>
        <p:txBody>
          <a:bodyPr wrap="square" lIns="0" tIns="0" rIns="0" bIns="0" rtlCol="0" anchor="ctr"/>
          <a:lstStyle/>
          <a:p>
            <a:pPr marL="0" indent="0" algn="l">
              <a:buNone/>
            </a:pPr>
            <a:r>
              <a:rPr lang="en-US" sz="1000" dirty="0">
                <a:solidFill>
                  <a:srgbClr val="666666"/>
                </a:solidFill>
                <a:latin typeface="Raleway" pitchFamily="34" charset="0"/>
                <a:ea typeface="Raleway" pitchFamily="34" charset="-122"/>
                <a:cs typeface="Raleway" pitchFamily="34" charset="-120"/>
              </a:rPr>
              <a:t>Playwright/Cypress intercept. Test-scoped route stubbing, not dev runtime.</a:t>
            </a:r>
            <a:endParaRPr lang="en-US" sz="1000" dirty="0"/>
          </a:p>
        </p:txBody>
      </p:sp>
      <p:sp>
        <p:nvSpPr>
          <p:cNvPr id="47" name="Shape 43">
            <a:extLst>
              <a:ext uri="{FF2B5EF4-FFF2-40B4-BE49-F238E27FC236}">
                <a16:creationId xmlns:a16="http://schemas.microsoft.com/office/drawing/2014/main" id="{2444A282-F5AB-326D-4A32-DC517DE715BD}"/>
              </a:ext>
            </a:extLst>
          </p:cNvPr>
          <p:cNvSpPr/>
          <p:nvPr/>
        </p:nvSpPr>
        <p:spPr>
          <a:xfrm>
            <a:off x="761695" y="5684825"/>
            <a:ext cx="10668305" cy="495605"/>
          </a:xfrm>
          <a:prstGeom prst="roundRect">
            <a:avLst>
              <a:gd name="adj" fmla="val 56770"/>
            </a:avLst>
          </a:prstGeom>
          <a:solidFill>
            <a:srgbClr val="091044">
              <a:alpha val="4000"/>
            </a:srgbClr>
          </a:solidFill>
          <a:ln w="12700">
            <a:solidFill>
              <a:srgbClr val="FFFFFF">
                <a:alpha val="0"/>
              </a:srgbClr>
            </a:solidFill>
            <a:prstDash val="solid"/>
          </a:ln>
        </p:spPr>
        <p:txBody>
          <a:bodyPr/>
          <a:lstStyle/>
          <a:p>
            <a:endParaRPr lang="en-US"/>
          </a:p>
        </p:txBody>
      </p:sp>
      <p:pic>
        <p:nvPicPr>
          <p:cNvPr id="48" name="Image 9" descr="preencoded.png">
            <a:extLst>
              <a:ext uri="{FF2B5EF4-FFF2-40B4-BE49-F238E27FC236}">
                <a16:creationId xmlns:a16="http://schemas.microsoft.com/office/drawing/2014/main" id="{6E1D81F2-F84B-53E2-46BC-DC6EF160FAE2}"/>
              </a:ext>
            </a:extLst>
          </p:cNvPr>
          <p:cNvPicPr>
            <a:picLocks noChangeAspect="1"/>
          </p:cNvPicPr>
          <p:nvPr/>
        </p:nvPicPr>
        <p:blipFill>
          <a:blip r:embed="rId9"/>
          <a:srcRect/>
          <a:stretch/>
        </p:blipFill>
        <p:spPr>
          <a:xfrm>
            <a:off x="914400" y="5855818"/>
            <a:ext cx="152705" cy="152705"/>
          </a:xfrm>
          <a:prstGeom prst="rect">
            <a:avLst/>
          </a:prstGeom>
        </p:spPr>
      </p:pic>
      <p:sp>
        <p:nvSpPr>
          <p:cNvPr id="49" name="Text 44">
            <a:extLst>
              <a:ext uri="{FF2B5EF4-FFF2-40B4-BE49-F238E27FC236}">
                <a16:creationId xmlns:a16="http://schemas.microsoft.com/office/drawing/2014/main" id="{599263D9-A17B-0D0C-651F-0F9909E72354}"/>
              </a:ext>
            </a:extLst>
          </p:cNvPr>
          <p:cNvSpPr txBox="1"/>
          <p:nvPr/>
        </p:nvSpPr>
        <p:spPr>
          <a:xfrm>
            <a:off x="1143000" y="5836615"/>
            <a:ext cx="1576426"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Network Interception</a:t>
            </a:r>
            <a:endParaRPr lang="en-US" sz="1000" dirty="0"/>
          </a:p>
        </p:txBody>
      </p:sp>
      <p:pic>
        <p:nvPicPr>
          <p:cNvPr id="50" name="Image 10" descr="preencoded.png">
            <a:extLst>
              <a:ext uri="{FF2B5EF4-FFF2-40B4-BE49-F238E27FC236}">
                <a16:creationId xmlns:a16="http://schemas.microsoft.com/office/drawing/2014/main" id="{4AB739DF-0F83-2816-6C1A-D9EBC79C63AE}"/>
              </a:ext>
            </a:extLst>
          </p:cNvPr>
          <p:cNvPicPr>
            <a:picLocks noChangeAspect="1"/>
          </p:cNvPicPr>
          <p:nvPr/>
        </p:nvPicPr>
        <p:blipFill>
          <a:blip r:embed="rId9"/>
          <a:srcRect/>
          <a:stretch/>
        </p:blipFill>
        <p:spPr>
          <a:xfrm>
            <a:off x="2617013" y="5855818"/>
            <a:ext cx="152705" cy="152705"/>
          </a:xfrm>
          <a:prstGeom prst="rect">
            <a:avLst/>
          </a:prstGeom>
        </p:spPr>
      </p:pic>
      <p:sp>
        <p:nvSpPr>
          <p:cNvPr id="51" name="Text 45">
            <a:extLst>
              <a:ext uri="{FF2B5EF4-FFF2-40B4-BE49-F238E27FC236}">
                <a16:creationId xmlns:a16="http://schemas.microsoft.com/office/drawing/2014/main" id="{1F494E59-C0AF-E3C3-DAD3-1309998AF875}"/>
              </a:ext>
            </a:extLst>
          </p:cNvPr>
          <p:cNvSpPr txBox="1"/>
          <p:nvPr/>
        </p:nvSpPr>
        <p:spPr>
          <a:xfrm>
            <a:off x="2845613" y="5836615"/>
            <a:ext cx="1659636"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Browser/Node Support</a:t>
            </a:r>
            <a:endParaRPr lang="en-US" sz="1000" dirty="0"/>
          </a:p>
        </p:txBody>
      </p:sp>
      <p:pic>
        <p:nvPicPr>
          <p:cNvPr id="52" name="Image 11" descr="preencoded.png">
            <a:extLst>
              <a:ext uri="{FF2B5EF4-FFF2-40B4-BE49-F238E27FC236}">
                <a16:creationId xmlns:a16="http://schemas.microsoft.com/office/drawing/2014/main" id="{C0DA1E51-9A8E-75FC-44F4-7756AFF99191}"/>
              </a:ext>
            </a:extLst>
          </p:cNvPr>
          <p:cNvPicPr>
            <a:picLocks noChangeAspect="1"/>
          </p:cNvPicPr>
          <p:nvPr/>
        </p:nvPicPr>
        <p:blipFill>
          <a:blip r:embed="rId9"/>
          <a:srcRect/>
          <a:stretch/>
        </p:blipFill>
        <p:spPr>
          <a:xfrm>
            <a:off x="4470502" y="5855818"/>
            <a:ext cx="152705" cy="152705"/>
          </a:xfrm>
          <a:prstGeom prst="rect">
            <a:avLst/>
          </a:prstGeom>
        </p:spPr>
      </p:pic>
      <p:sp>
        <p:nvSpPr>
          <p:cNvPr id="53" name="Text 46">
            <a:extLst>
              <a:ext uri="{FF2B5EF4-FFF2-40B4-BE49-F238E27FC236}">
                <a16:creationId xmlns:a16="http://schemas.microsoft.com/office/drawing/2014/main" id="{8388786A-07C7-58BF-3836-66AEC6769054}"/>
              </a:ext>
            </a:extLst>
          </p:cNvPr>
          <p:cNvSpPr txBox="1"/>
          <p:nvPr/>
        </p:nvSpPr>
        <p:spPr>
          <a:xfrm>
            <a:off x="4699102" y="5836615"/>
            <a:ext cx="1394460" cy="191110"/>
          </a:xfrm>
          <a:prstGeom prst="rect">
            <a:avLst/>
          </a:prstGeom>
          <a:noFill/>
          <a:ln/>
        </p:spPr>
        <p:txBody>
          <a:bodyPr wrap="square" lIns="0" tIns="0" rIns="0" bIns="0" rtlCol="0" anchor="ctr"/>
          <a:lstStyle/>
          <a:p>
            <a:pPr marL="0" indent="0" algn="l">
              <a:buNone/>
            </a:pPr>
            <a:r>
              <a:rPr lang="en-US" sz="1000" dirty="0">
                <a:solidFill>
                  <a:srgbClr val="000000"/>
                </a:solidFill>
                <a:latin typeface="Raleway" pitchFamily="34" charset="0"/>
                <a:ea typeface="Raleway" pitchFamily="34" charset="-122"/>
                <a:cs typeface="Raleway" pitchFamily="34" charset="-120"/>
              </a:rPr>
              <a:t>Runtime Switching</a:t>
            </a:r>
            <a:endParaRPr lang="en-US" sz="1000" dirty="0"/>
          </a:p>
        </p:txBody>
      </p:sp>
    </p:spTree>
    <p:extLst>
      <p:ext uri="{BB962C8B-B14F-4D97-AF65-F5344CB8AC3E}">
        <p14:creationId xmlns:p14="http://schemas.microsoft.com/office/powerpoint/2010/main" val="303888191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7B9C-E7CB-C6EF-6B7F-6B29A47C7D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162C24-EA9D-DB12-4713-C063A222D560}"/>
              </a:ext>
            </a:extLst>
          </p:cNvPr>
          <p:cNvSpPr>
            <a:spLocks noGrp="1"/>
          </p:cNvSpPr>
          <p:nvPr>
            <p:ph type="sldNum" sz="quarter" idx="12"/>
          </p:nvPr>
        </p:nvSpPr>
        <p:spPr/>
        <p:txBody>
          <a:bodyPr/>
          <a:lstStyle/>
          <a:p>
            <a:fld id="{F01A0BEF-C76D-43A2-874C-09A8674B0D74}" type="slidenum">
              <a:rPr lang="en-GB" smtClean="0"/>
              <a:t>14</a:t>
            </a:fld>
            <a:endParaRPr lang="en-GB" dirty="0"/>
          </a:p>
        </p:txBody>
      </p:sp>
      <p:sp>
        <p:nvSpPr>
          <p:cNvPr id="6" name="Text 4">
            <a:extLst>
              <a:ext uri="{FF2B5EF4-FFF2-40B4-BE49-F238E27FC236}">
                <a16:creationId xmlns:a16="http://schemas.microsoft.com/office/drawing/2014/main" id="{DF7CAB60-5B3B-766D-0DDA-524D89E53603}"/>
              </a:ext>
            </a:extLst>
          </p:cNvPr>
          <p:cNvSpPr txBox="1"/>
          <p:nvPr/>
        </p:nvSpPr>
        <p:spPr>
          <a:xfrm>
            <a:off x="609905" y="761695"/>
            <a:ext cx="5753405" cy="534010"/>
          </a:xfrm>
          <a:prstGeom prst="rect">
            <a:avLst/>
          </a:prstGeom>
          <a:noFill/>
          <a:ln/>
        </p:spPr>
        <p:txBody>
          <a:bodyPr wrap="square" lIns="0" tIns="0" rIns="0" bIns="0" rtlCol="0" anchor="ctr"/>
          <a:lstStyle/>
          <a:p>
            <a:pPr marL="0" indent="0" algn="l">
              <a:buNone/>
            </a:pPr>
            <a:r>
              <a:rPr lang="en-US" sz="4200" b="1" kern="0" spc="75" dirty="0">
                <a:solidFill>
                  <a:srgbClr val="091044"/>
                </a:solidFill>
                <a:latin typeface="Roboto Condensed" pitchFamily="34" charset="0"/>
                <a:ea typeface="Roboto Condensed" pitchFamily="34" charset="-122"/>
                <a:cs typeface="Roboto Condensed" pitchFamily="34" charset="-120"/>
              </a:rPr>
              <a:t>TOOL COMPARISON</a:t>
            </a:r>
            <a:endParaRPr lang="en-US" sz="4200" dirty="0">
              <a:solidFill>
                <a:srgbClr val="091044"/>
              </a:solidFill>
            </a:endParaRPr>
          </a:p>
        </p:txBody>
      </p:sp>
      <p:sp>
        <p:nvSpPr>
          <p:cNvPr id="7" name="Text 5">
            <a:extLst>
              <a:ext uri="{FF2B5EF4-FFF2-40B4-BE49-F238E27FC236}">
                <a16:creationId xmlns:a16="http://schemas.microsoft.com/office/drawing/2014/main" id="{69E6A91E-6DC5-1A41-32B1-6A5E803266D1}"/>
              </a:ext>
            </a:extLst>
          </p:cNvPr>
          <p:cNvSpPr txBox="1"/>
          <p:nvPr/>
        </p:nvSpPr>
        <p:spPr>
          <a:xfrm>
            <a:off x="609905" y="1371600"/>
            <a:ext cx="6249010" cy="247802"/>
          </a:xfrm>
          <a:prstGeom prst="rect">
            <a:avLst/>
          </a:prstGeom>
          <a:noFill/>
          <a:ln/>
        </p:spPr>
        <p:txBody>
          <a:bodyPr wrap="square" lIns="0" tIns="0" rIns="0" bIns="0" rtlCol="0" anchor="ctr"/>
          <a:lstStyle/>
          <a:p>
            <a:pPr marL="0" indent="0" algn="l">
              <a:buNone/>
            </a:pPr>
            <a:r>
              <a:rPr lang="en-US" sz="1200" dirty="0">
                <a:solidFill>
                  <a:srgbClr val="4A5568"/>
                </a:solidFill>
                <a:latin typeface="Raleway" pitchFamily="34" charset="0"/>
                <a:ea typeface="Raleway" pitchFamily="34" charset="-122"/>
                <a:cs typeface="Raleway" pitchFamily="34" charset="-120"/>
              </a:rPr>
              <a:t>When to use what: A guide to choosing the right mocking tool for your use case</a:t>
            </a:r>
            <a:endParaRPr lang="en-US" sz="1200" dirty="0"/>
          </a:p>
        </p:txBody>
      </p:sp>
      <p:sp>
        <p:nvSpPr>
          <p:cNvPr id="8" name="Shape 6">
            <a:extLst>
              <a:ext uri="{FF2B5EF4-FFF2-40B4-BE49-F238E27FC236}">
                <a16:creationId xmlns:a16="http://schemas.microsoft.com/office/drawing/2014/main" id="{8E51DADF-C265-FE83-A419-0C79862FB393}"/>
              </a:ext>
            </a:extLst>
          </p:cNvPr>
          <p:cNvSpPr/>
          <p:nvPr/>
        </p:nvSpPr>
        <p:spPr>
          <a:xfrm>
            <a:off x="609905" y="1844345"/>
            <a:ext cx="10972800" cy="3295498"/>
          </a:xfrm>
          <a:prstGeom prst="roundRect">
            <a:avLst>
              <a:gd name="adj" fmla="val 1283"/>
            </a:avLst>
          </a:prstGeom>
          <a:solidFill>
            <a:srgbClr val="FFFFFF"/>
          </a:solidFill>
          <a:ln w="12700">
            <a:solidFill>
              <a:srgbClr val="E5E7EB"/>
            </a:solidFill>
            <a:prstDash val="solid"/>
          </a:ln>
        </p:spPr>
        <p:txBody>
          <a:bodyPr/>
          <a:lstStyle/>
          <a:p>
            <a:endParaRPr lang="en-US"/>
          </a:p>
        </p:txBody>
      </p:sp>
      <p:graphicFrame>
        <p:nvGraphicFramePr>
          <p:cNvPr id="9" name="Table 0">
            <a:extLst>
              <a:ext uri="{FF2B5EF4-FFF2-40B4-BE49-F238E27FC236}">
                <a16:creationId xmlns:a16="http://schemas.microsoft.com/office/drawing/2014/main" id="{A9D99E23-CB43-89CF-7091-68B6B5906912}"/>
              </a:ext>
            </a:extLst>
          </p:cNvPr>
          <p:cNvGraphicFramePr>
            <a:graphicFrameLocks noGrp="1"/>
          </p:cNvGraphicFramePr>
          <p:nvPr>
            <p:extLst>
              <p:ext uri="{D42A27DB-BD31-4B8C-83A1-F6EECF244321}">
                <p14:modId xmlns:p14="http://schemas.microsoft.com/office/powerpoint/2010/main" val="3674031001"/>
              </p:ext>
            </p:extLst>
          </p:nvPr>
        </p:nvGraphicFramePr>
        <p:xfrm>
          <a:off x="619049" y="1853489"/>
          <a:ext cx="10954512" cy="3277211"/>
        </p:xfrm>
        <a:graphic>
          <a:graphicData uri="http://schemas.openxmlformats.org/drawingml/2006/table">
            <a:tbl>
              <a:tblPr/>
              <a:tblGrid>
                <a:gridCol w="2738628">
                  <a:extLst>
                    <a:ext uri="{9D8B030D-6E8A-4147-A177-3AD203B41FA5}">
                      <a16:colId xmlns:a16="http://schemas.microsoft.com/office/drawing/2014/main" val="20000"/>
                    </a:ext>
                  </a:extLst>
                </a:gridCol>
                <a:gridCol w="2738628">
                  <a:extLst>
                    <a:ext uri="{9D8B030D-6E8A-4147-A177-3AD203B41FA5}">
                      <a16:colId xmlns:a16="http://schemas.microsoft.com/office/drawing/2014/main" val="20001"/>
                    </a:ext>
                  </a:extLst>
                </a:gridCol>
                <a:gridCol w="2738628">
                  <a:extLst>
                    <a:ext uri="{9D8B030D-6E8A-4147-A177-3AD203B41FA5}">
                      <a16:colId xmlns:a16="http://schemas.microsoft.com/office/drawing/2014/main" val="20002"/>
                    </a:ext>
                  </a:extLst>
                </a:gridCol>
                <a:gridCol w="2738628">
                  <a:extLst>
                    <a:ext uri="{9D8B030D-6E8A-4147-A177-3AD203B41FA5}">
                      <a16:colId xmlns:a16="http://schemas.microsoft.com/office/drawing/2014/main" val="20003"/>
                    </a:ext>
                  </a:extLst>
                </a:gridCol>
              </a:tblGrid>
              <a:tr h="468173">
                <a:tc>
                  <a:txBody>
                    <a:bodyPr/>
                    <a:lstStyle/>
                    <a:p>
                      <a:pPr marL="0" indent="0" algn="l">
                        <a:buNone/>
                      </a:pPr>
                      <a:r>
                        <a:rPr lang="en-US" sz="1200" b="1" dirty="0">
                          <a:solidFill>
                            <a:srgbClr val="2D3748"/>
                          </a:solidFill>
                          <a:latin typeface="Raleway" pitchFamily="34" charset="0"/>
                          <a:ea typeface="Raleway" pitchFamily="34" charset="-122"/>
                          <a:cs typeface="Raleway" pitchFamily="34" charset="-120"/>
                        </a:rPr>
                        <a:t>Tool</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7FAFC"/>
                    </a:solidFill>
                  </a:tcPr>
                </a:tc>
                <a:tc>
                  <a:txBody>
                    <a:bodyPr/>
                    <a:lstStyle/>
                    <a:p>
                      <a:pPr marL="0" indent="0" algn="l">
                        <a:buNone/>
                      </a:pPr>
                      <a:r>
                        <a:rPr lang="en-US" sz="1200" b="1" dirty="0">
                          <a:solidFill>
                            <a:srgbClr val="2D3748"/>
                          </a:solidFill>
                          <a:latin typeface="Raleway" pitchFamily="34" charset="0"/>
                          <a:ea typeface="Raleway" pitchFamily="34" charset="-122"/>
                          <a:cs typeface="Raleway" pitchFamily="34" charset="-120"/>
                        </a:rPr>
                        <a:t>Best For</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7FAFC"/>
                    </a:solidFill>
                  </a:tcPr>
                </a:tc>
                <a:tc>
                  <a:txBody>
                    <a:bodyPr/>
                    <a:lstStyle/>
                    <a:p>
                      <a:pPr marL="0" indent="0" algn="l">
                        <a:buNone/>
                      </a:pPr>
                      <a:r>
                        <a:rPr lang="en-US" sz="1200" b="1" dirty="0">
                          <a:solidFill>
                            <a:srgbClr val="2D3748"/>
                          </a:solidFill>
                          <a:latin typeface="Raleway" pitchFamily="34" charset="0"/>
                          <a:ea typeface="Raleway" pitchFamily="34" charset="-122"/>
                          <a:cs typeface="Raleway" pitchFamily="34" charset="-120"/>
                        </a:rPr>
                        <a:t>Key Features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7FAFC"/>
                    </a:solidFill>
                  </a:tcPr>
                </a:tc>
                <a:tc>
                  <a:txBody>
                    <a:bodyPr/>
                    <a:lstStyle/>
                    <a:p>
                      <a:pPr marL="0" indent="0" algn="l">
                        <a:buNone/>
                      </a:pPr>
                      <a:r>
                        <a:rPr lang="en-US" sz="1200" b="1" dirty="0">
                          <a:solidFill>
                            <a:srgbClr val="2D3748"/>
                          </a:solidFill>
                          <a:latin typeface="Raleway" pitchFamily="34" charset="0"/>
                          <a:ea typeface="Raleway" pitchFamily="34" charset="-122"/>
                          <a:cs typeface="Raleway" pitchFamily="34" charset="-120"/>
                        </a:rPr>
                        <a:t>Ideal Use Case</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10000"/>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MSW</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Network-level mocking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Browser &amp; Node support</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Shared dev + tests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MirageJS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In-browser data modeling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Rich API simulation</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Complex frontend apps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json-server</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Quick REST setup</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Zero configuration</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Prototyping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Prism</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OpenAPI validation</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Spec-driven mocking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API-first development</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WireMock</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Backend integration</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HTTP stubbing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Enterprise testing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68173">
                <a:tc>
                  <a:txBody>
                    <a:bodyPr/>
                    <a:lstStyle/>
                    <a:p>
                      <a:pPr marL="0" indent="0">
                        <a:buNone/>
                      </a:pPr>
                      <a:r>
                        <a:rPr lang="en-US" sz="1200" dirty="0">
                          <a:solidFill>
                            <a:srgbClr val="1F2937"/>
                          </a:solidFill>
                          <a:latin typeface="Raleway" pitchFamily="34" charset="0"/>
                          <a:ea typeface="Raleway" pitchFamily="34" charset="-122"/>
                          <a:cs typeface="Raleway" pitchFamily="34" charset="-120"/>
                        </a:rPr>
                        <a:t>Test Interceptors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Isolated testing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Test-scoped mocking</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Raleway" pitchFamily="34" charset="0"/>
                          <a:ea typeface="Raleway" pitchFamily="34" charset="-122"/>
                          <a:cs typeface="Raleway" pitchFamily="34" charset="-120"/>
                        </a:rPr>
                        <a:t>Unit tests</a:t>
                      </a:r>
                      <a:endParaRPr lang="en-US" sz="1200" dirty="0">
                        <a:latin typeface="Raleway" charset="0"/>
                        <a:ea typeface="Raleway" charset="0"/>
                        <a:cs typeface="Raleway" charset="0"/>
                      </a:endParaRPr>
                    </a:p>
                  </a:txBody>
                  <a:tcPr marL="114300" marR="114300" marT="114300" marB="114300"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7">
            <a:extLst>
              <a:ext uri="{FF2B5EF4-FFF2-40B4-BE49-F238E27FC236}">
                <a16:creationId xmlns:a16="http://schemas.microsoft.com/office/drawing/2014/main" id="{106824FB-7DEE-5249-78C5-8A696DE363D1}"/>
              </a:ext>
            </a:extLst>
          </p:cNvPr>
          <p:cNvSpPr/>
          <p:nvPr/>
        </p:nvSpPr>
        <p:spPr>
          <a:xfrm>
            <a:off x="609905" y="5368442"/>
            <a:ext cx="3562502" cy="933602"/>
          </a:xfrm>
          <a:prstGeom prst="roundRect">
            <a:avLst>
              <a:gd name="adj" fmla="val 15991"/>
            </a:avLst>
          </a:prstGeom>
          <a:solidFill>
            <a:srgbClr val="FFFFFF"/>
          </a:solidFill>
          <a:ln w="12700">
            <a:solidFill>
              <a:srgbClr val="E2E8F0"/>
            </a:solidFill>
            <a:prstDash val="solid"/>
          </a:ln>
        </p:spPr>
        <p:txBody>
          <a:bodyPr/>
          <a:lstStyle/>
          <a:p>
            <a:endParaRPr lang="en-US"/>
          </a:p>
        </p:txBody>
      </p:sp>
      <p:sp>
        <p:nvSpPr>
          <p:cNvPr id="11" name="Shape 8">
            <a:extLst>
              <a:ext uri="{FF2B5EF4-FFF2-40B4-BE49-F238E27FC236}">
                <a16:creationId xmlns:a16="http://schemas.microsoft.com/office/drawing/2014/main" id="{E0A2E72F-962C-7F3D-67E6-4E0D38039135}"/>
              </a:ext>
            </a:extLst>
          </p:cNvPr>
          <p:cNvSpPr/>
          <p:nvPr/>
        </p:nvSpPr>
        <p:spPr>
          <a:xfrm>
            <a:off x="771754" y="5530291"/>
            <a:ext cx="381305" cy="381305"/>
          </a:xfrm>
          <a:prstGeom prst="roundRect">
            <a:avLst>
              <a:gd name="adj" fmla="val 95923"/>
            </a:avLst>
          </a:prstGeom>
          <a:solidFill>
            <a:srgbClr val="DBEAFE"/>
          </a:solidFill>
          <a:ln w="12700">
            <a:solidFill>
              <a:srgbClr val="FFFFFF">
                <a:alpha val="0"/>
              </a:srgbClr>
            </a:solidFill>
            <a:prstDash val="solid"/>
          </a:ln>
        </p:spPr>
        <p:txBody>
          <a:bodyPr/>
          <a:lstStyle/>
          <a:p>
            <a:endParaRPr lang="en-US"/>
          </a:p>
        </p:txBody>
      </p:sp>
      <p:pic>
        <p:nvPicPr>
          <p:cNvPr id="12" name="Image 3" descr="preencoded.png">
            <a:extLst>
              <a:ext uri="{FF2B5EF4-FFF2-40B4-BE49-F238E27FC236}">
                <a16:creationId xmlns:a16="http://schemas.microsoft.com/office/drawing/2014/main" id="{861FCEDE-D724-CEED-123C-A24AA4F8BD05}"/>
              </a:ext>
            </a:extLst>
          </p:cNvPr>
          <p:cNvPicPr>
            <a:picLocks noChangeAspect="1"/>
          </p:cNvPicPr>
          <p:nvPr/>
        </p:nvPicPr>
        <p:blipFill>
          <a:blip r:embed="rId3"/>
          <a:srcRect t="-180" b="-180"/>
          <a:stretch/>
        </p:blipFill>
        <p:spPr>
          <a:xfrm>
            <a:off x="866851" y="5644591"/>
            <a:ext cx="190195" cy="152705"/>
          </a:xfrm>
          <a:prstGeom prst="rect">
            <a:avLst/>
          </a:prstGeom>
        </p:spPr>
      </p:pic>
      <p:sp>
        <p:nvSpPr>
          <p:cNvPr id="13" name="Text 9">
            <a:extLst>
              <a:ext uri="{FF2B5EF4-FFF2-40B4-BE49-F238E27FC236}">
                <a16:creationId xmlns:a16="http://schemas.microsoft.com/office/drawing/2014/main" id="{AFAC15D3-C1E2-C782-6D2A-6454B835A2A8}"/>
              </a:ext>
            </a:extLst>
          </p:cNvPr>
          <p:cNvSpPr txBox="1"/>
          <p:nvPr/>
        </p:nvSpPr>
        <p:spPr>
          <a:xfrm>
            <a:off x="1266444" y="5549494"/>
            <a:ext cx="819302"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MSW</a:t>
            </a:r>
            <a:endParaRPr lang="en-US" sz="1000" dirty="0"/>
          </a:p>
        </p:txBody>
      </p:sp>
      <p:sp>
        <p:nvSpPr>
          <p:cNvPr id="14" name="Text 10">
            <a:extLst>
              <a:ext uri="{FF2B5EF4-FFF2-40B4-BE49-F238E27FC236}">
                <a16:creationId xmlns:a16="http://schemas.microsoft.com/office/drawing/2014/main" id="{BA914CA9-F299-60F4-3BAB-49AFD7872156}"/>
              </a:ext>
            </a:extLst>
          </p:cNvPr>
          <p:cNvSpPr txBox="1"/>
          <p:nvPr/>
        </p:nvSpPr>
        <p:spPr>
          <a:xfrm>
            <a:off x="1266444" y="5739689"/>
            <a:ext cx="884225"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Network layer</a:t>
            </a:r>
            <a:endParaRPr lang="en-US" sz="900" dirty="0"/>
          </a:p>
        </p:txBody>
      </p:sp>
      <p:sp>
        <p:nvSpPr>
          <p:cNvPr id="15" name="Text 11">
            <a:extLst>
              <a:ext uri="{FF2B5EF4-FFF2-40B4-BE49-F238E27FC236}">
                <a16:creationId xmlns:a16="http://schemas.microsoft.com/office/drawing/2014/main" id="{B8831698-F0FA-57C9-556B-C4CFB67614D2}"/>
              </a:ext>
            </a:extLst>
          </p:cNvPr>
          <p:cNvSpPr txBox="1"/>
          <p:nvPr/>
        </p:nvSpPr>
        <p:spPr>
          <a:xfrm>
            <a:off x="771754" y="5987491"/>
            <a:ext cx="3353105"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Best for realistic API simulation</a:t>
            </a:r>
            <a:endParaRPr lang="en-US" sz="900" dirty="0"/>
          </a:p>
        </p:txBody>
      </p:sp>
      <p:sp>
        <p:nvSpPr>
          <p:cNvPr id="16" name="Shape 12">
            <a:extLst>
              <a:ext uri="{FF2B5EF4-FFF2-40B4-BE49-F238E27FC236}">
                <a16:creationId xmlns:a16="http://schemas.microsoft.com/office/drawing/2014/main" id="{F1C760E7-3447-9920-1962-47B8EA4A92A7}"/>
              </a:ext>
            </a:extLst>
          </p:cNvPr>
          <p:cNvSpPr/>
          <p:nvPr/>
        </p:nvSpPr>
        <p:spPr>
          <a:xfrm>
            <a:off x="4317797" y="5368442"/>
            <a:ext cx="3562502" cy="933602"/>
          </a:xfrm>
          <a:prstGeom prst="roundRect">
            <a:avLst>
              <a:gd name="adj" fmla="val 15991"/>
            </a:avLst>
          </a:prstGeom>
          <a:solidFill>
            <a:srgbClr val="FFFFFF"/>
          </a:solidFill>
          <a:ln w="12700">
            <a:solidFill>
              <a:srgbClr val="E2E8F0"/>
            </a:solidFill>
            <a:prstDash val="solid"/>
          </a:ln>
        </p:spPr>
        <p:txBody>
          <a:bodyPr/>
          <a:lstStyle/>
          <a:p>
            <a:endParaRPr lang="en-US"/>
          </a:p>
        </p:txBody>
      </p:sp>
      <p:sp>
        <p:nvSpPr>
          <p:cNvPr id="17" name="Shape 13">
            <a:extLst>
              <a:ext uri="{FF2B5EF4-FFF2-40B4-BE49-F238E27FC236}">
                <a16:creationId xmlns:a16="http://schemas.microsoft.com/office/drawing/2014/main" id="{D40663A4-E2E8-7137-5500-DC79C8E5DC68}"/>
              </a:ext>
            </a:extLst>
          </p:cNvPr>
          <p:cNvSpPr/>
          <p:nvPr/>
        </p:nvSpPr>
        <p:spPr>
          <a:xfrm>
            <a:off x="4479646" y="5530291"/>
            <a:ext cx="381305" cy="381305"/>
          </a:xfrm>
          <a:prstGeom prst="roundRect">
            <a:avLst>
              <a:gd name="adj" fmla="val 95923"/>
            </a:avLst>
          </a:prstGeom>
          <a:solidFill>
            <a:srgbClr val="D1FAE5"/>
          </a:solidFill>
          <a:ln w="12700">
            <a:solidFill>
              <a:srgbClr val="FFFFFF">
                <a:alpha val="0"/>
              </a:srgbClr>
            </a:solidFill>
            <a:prstDash val="solid"/>
          </a:ln>
        </p:spPr>
        <p:txBody>
          <a:bodyPr/>
          <a:lstStyle/>
          <a:p>
            <a:endParaRPr lang="en-US"/>
          </a:p>
        </p:txBody>
      </p:sp>
      <p:pic>
        <p:nvPicPr>
          <p:cNvPr id="18" name="Image 4" descr="preencoded.png">
            <a:extLst>
              <a:ext uri="{FF2B5EF4-FFF2-40B4-BE49-F238E27FC236}">
                <a16:creationId xmlns:a16="http://schemas.microsoft.com/office/drawing/2014/main" id="{F183A23F-F22C-373F-CA34-29BC9F1F945D}"/>
              </a:ext>
            </a:extLst>
          </p:cNvPr>
          <p:cNvPicPr>
            <a:picLocks noChangeAspect="1"/>
          </p:cNvPicPr>
          <p:nvPr/>
        </p:nvPicPr>
        <p:blipFill>
          <a:blip r:embed="rId4"/>
          <a:srcRect/>
          <a:stretch/>
        </p:blipFill>
        <p:spPr>
          <a:xfrm>
            <a:off x="4593946" y="5644591"/>
            <a:ext cx="152705" cy="152705"/>
          </a:xfrm>
          <a:prstGeom prst="rect">
            <a:avLst/>
          </a:prstGeom>
        </p:spPr>
      </p:pic>
      <p:sp>
        <p:nvSpPr>
          <p:cNvPr id="19" name="Text 14">
            <a:extLst>
              <a:ext uri="{FF2B5EF4-FFF2-40B4-BE49-F238E27FC236}">
                <a16:creationId xmlns:a16="http://schemas.microsoft.com/office/drawing/2014/main" id="{F4B844FC-85FD-DAEF-A4AA-21C957C389E6}"/>
              </a:ext>
            </a:extLst>
          </p:cNvPr>
          <p:cNvSpPr txBox="1"/>
          <p:nvPr/>
        </p:nvSpPr>
        <p:spPr>
          <a:xfrm>
            <a:off x="4975250" y="5549494"/>
            <a:ext cx="857707"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MirageJS</a:t>
            </a:r>
            <a:endParaRPr lang="en-US" sz="1000" dirty="0"/>
          </a:p>
        </p:txBody>
      </p:sp>
      <p:sp>
        <p:nvSpPr>
          <p:cNvPr id="20" name="Text 15">
            <a:extLst>
              <a:ext uri="{FF2B5EF4-FFF2-40B4-BE49-F238E27FC236}">
                <a16:creationId xmlns:a16="http://schemas.microsoft.com/office/drawing/2014/main" id="{984AEA7C-1E01-F5E3-2EEE-F468F8E7CD78}"/>
              </a:ext>
            </a:extLst>
          </p:cNvPr>
          <p:cNvSpPr txBox="1"/>
          <p:nvPr/>
        </p:nvSpPr>
        <p:spPr>
          <a:xfrm>
            <a:off x="4975250" y="5739689"/>
            <a:ext cx="923544"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Data modeling</a:t>
            </a:r>
            <a:endParaRPr lang="en-US" sz="900" dirty="0"/>
          </a:p>
        </p:txBody>
      </p:sp>
      <p:sp>
        <p:nvSpPr>
          <p:cNvPr id="21" name="Text 16">
            <a:extLst>
              <a:ext uri="{FF2B5EF4-FFF2-40B4-BE49-F238E27FC236}">
                <a16:creationId xmlns:a16="http://schemas.microsoft.com/office/drawing/2014/main" id="{06C27AF7-C5B1-652F-B0A7-6960C4452186}"/>
              </a:ext>
            </a:extLst>
          </p:cNvPr>
          <p:cNvSpPr txBox="1"/>
          <p:nvPr/>
        </p:nvSpPr>
        <p:spPr>
          <a:xfrm>
            <a:off x="4479646" y="5987491"/>
            <a:ext cx="3353105"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Best for complex frontend apps</a:t>
            </a:r>
            <a:endParaRPr lang="en-US" sz="900" dirty="0"/>
          </a:p>
        </p:txBody>
      </p:sp>
      <p:sp>
        <p:nvSpPr>
          <p:cNvPr id="22" name="Shape 17">
            <a:extLst>
              <a:ext uri="{FF2B5EF4-FFF2-40B4-BE49-F238E27FC236}">
                <a16:creationId xmlns:a16="http://schemas.microsoft.com/office/drawing/2014/main" id="{BC8996C6-AB58-55DD-F811-AB4FF77E5FD4}"/>
              </a:ext>
            </a:extLst>
          </p:cNvPr>
          <p:cNvSpPr/>
          <p:nvPr/>
        </p:nvSpPr>
        <p:spPr>
          <a:xfrm>
            <a:off x="8026603" y="5368442"/>
            <a:ext cx="3562502" cy="933602"/>
          </a:xfrm>
          <a:prstGeom prst="roundRect">
            <a:avLst>
              <a:gd name="adj" fmla="val 15991"/>
            </a:avLst>
          </a:prstGeom>
          <a:solidFill>
            <a:srgbClr val="FFFFFF"/>
          </a:solidFill>
          <a:ln w="12700">
            <a:solidFill>
              <a:srgbClr val="E2E8F0"/>
            </a:solidFill>
            <a:prstDash val="solid"/>
          </a:ln>
        </p:spPr>
        <p:txBody>
          <a:bodyPr/>
          <a:lstStyle/>
          <a:p>
            <a:endParaRPr lang="en-US"/>
          </a:p>
        </p:txBody>
      </p:sp>
      <p:sp>
        <p:nvSpPr>
          <p:cNvPr id="23" name="Shape 18">
            <a:extLst>
              <a:ext uri="{FF2B5EF4-FFF2-40B4-BE49-F238E27FC236}">
                <a16:creationId xmlns:a16="http://schemas.microsoft.com/office/drawing/2014/main" id="{E20F9ACC-E580-3D22-0C6E-81542EE39804}"/>
              </a:ext>
            </a:extLst>
          </p:cNvPr>
          <p:cNvSpPr/>
          <p:nvPr/>
        </p:nvSpPr>
        <p:spPr>
          <a:xfrm>
            <a:off x="8188452" y="5530291"/>
            <a:ext cx="381305" cy="381305"/>
          </a:xfrm>
          <a:prstGeom prst="roundRect">
            <a:avLst>
              <a:gd name="adj" fmla="val 95923"/>
            </a:avLst>
          </a:prstGeom>
          <a:solidFill>
            <a:srgbClr val="EDE9FE"/>
          </a:solidFill>
          <a:ln w="12700">
            <a:solidFill>
              <a:srgbClr val="FFFFFF">
                <a:alpha val="0"/>
              </a:srgbClr>
            </a:solidFill>
            <a:prstDash val="solid"/>
          </a:ln>
        </p:spPr>
        <p:txBody>
          <a:bodyPr/>
          <a:lstStyle/>
          <a:p>
            <a:endParaRPr lang="en-US"/>
          </a:p>
        </p:txBody>
      </p:sp>
      <p:pic>
        <p:nvPicPr>
          <p:cNvPr id="24" name="Image 5" descr="preencoded.png">
            <a:extLst>
              <a:ext uri="{FF2B5EF4-FFF2-40B4-BE49-F238E27FC236}">
                <a16:creationId xmlns:a16="http://schemas.microsoft.com/office/drawing/2014/main" id="{33F4BDE1-2BF0-7533-93B3-E3570DC7A319}"/>
              </a:ext>
            </a:extLst>
          </p:cNvPr>
          <p:cNvPicPr>
            <a:picLocks noChangeAspect="1"/>
          </p:cNvPicPr>
          <p:nvPr/>
        </p:nvPicPr>
        <p:blipFill>
          <a:blip r:embed="rId5"/>
          <a:srcRect t="-100" b="-100"/>
          <a:stretch/>
        </p:blipFill>
        <p:spPr>
          <a:xfrm>
            <a:off x="8321954" y="5644591"/>
            <a:ext cx="114300" cy="152705"/>
          </a:xfrm>
          <a:prstGeom prst="rect">
            <a:avLst/>
          </a:prstGeom>
        </p:spPr>
      </p:pic>
      <p:sp>
        <p:nvSpPr>
          <p:cNvPr id="25" name="Text 19">
            <a:extLst>
              <a:ext uri="{FF2B5EF4-FFF2-40B4-BE49-F238E27FC236}">
                <a16:creationId xmlns:a16="http://schemas.microsoft.com/office/drawing/2014/main" id="{145C3E6A-BA79-0779-7BCB-6F8211A3DDCE}"/>
              </a:ext>
            </a:extLst>
          </p:cNvPr>
          <p:cNvSpPr txBox="1"/>
          <p:nvPr/>
        </p:nvSpPr>
        <p:spPr>
          <a:xfrm>
            <a:off x="8683142" y="5549494"/>
            <a:ext cx="543154"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Prism</a:t>
            </a:r>
            <a:endParaRPr lang="en-US" sz="1000" dirty="0"/>
          </a:p>
        </p:txBody>
      </p:sp>
      <p:sp>
        <p:nvSpPr>
          <p:cNvPr id="26" name="Text 20">
            <a:extLst>
              <a:ext uri="{FF2B5EF4-FFF2-40B4-BE49-F238E27FC236}">
                <a16:creationId xmlns:a16="http://schemas.microsoft.com/office/drawing/2014/main" id="{D5545DE2-6119-82B6-02A9-9468E6369886}"/>
              </a:ext>
            </a:extLst>
          </p:cNvPr>
          <p:cNvSpPr txBox="1"/>
          <p:nvPr/>
        </p:nvSpPr>
        <p:spPr>
          <a:xfrm>
            <a:off x="8683142" y="5739689"/>
            <a:ext cx="543154"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OpenAPI</a:t>
            </a:r>
            <a:endParaRPr lang="en-US" sz="900" dirty="0"/>
          </a:p>
        </p:txBody>
      </p:sp>
      <p:sp>
        <p:nvSpPr>
          <p:cNvPr id="27" name="Text 21">
            <a:extLst>
              <a:ext uri="{FF2B5EF4-FFF2-40B4-BE49-F238E27FC236}">
                <a16:creationId xmlns:a16="http://schemas.microsoft.com/office/drawing/2014/main" id="{FDB849C0-E738-B722-10FA-1B743474106F}"/>
              </a:ext>
            </a:extLst>
          </p:cNvPr>
          <p:cNvSpPr txBox="1"/>
          <p:nvPr/>
        </p:nvSpPr>
        <p:spPr>
          <a:xfrm>
            <a:off x="8188452" y="5987491"/>
            <a:ext cx="3353105"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Best for API-first development</a:t>
            </a:r>
            <a:endParaRPr lang="en-US" sz="900" dirty="0"/>
          </a:p>
        </p:txBody>
      </p:sp>
    </p:spTree>
    <p:extLst>
      <p:ext uri="{BB962C8B-B14F-4D97-AF65-F5344CB8AC3E}">
        <p14:creationId xmlns:p14="http://schemas.microsoft.com/office/powerpoint/2010/main" val="300633981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9370A-FCBD-386D-7CD6-2DA3F9D355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DB9869-1C14-95AF-D8FE-1AE1240304CB}"/>
              </a:ext>
            </a:extLst>
          </p:cNvPr>
          <p:cNvSpPr>
            <a:spLocks noGrp="1"/>
          </p:cNvSpPr>
          <p:nvPr>
            <p:ph type="sldNum" sz="quarter" idx="12"/>
          </p:nvPr>
        </p:nvSpPr>
        <p:spPr/>
        <p:txBody>
          <a:bodyPr/>
          <a:lstStyle/>
          <a:p>
            <a:fld id="{F01A0BEF-C76D-43A2-874C-09A8674B0D74}" type="slidenum">
              <a:rPr lang="en-GB" smtClean="0"/>
              <a:t>15</a:t>
            </a:fld>
            <a:endParaRPr lang="en-GB"/>
          </a:p>
        </p:txBody>
      </p:sp>
      <p:sp>
        <p:nvSpPr>
          <p:cNvPr id="2" name="Text 4">
            <a:extLst>
              <a:ext uri="{FF2B5EF4-FFF2-40B4-BE49-F238E27FC236}">
                <a16:creationId xmlns:a16="http://schemas.microsoft.com/office/drawing/2014/main" id="{17EFEDAC-1219-86D8-5B6A-7D1ACCB3019A}"/>
              </a:ext>
            </a:extLst>
          </p:cNvPr>
          <p:cNvSpPr txBox="1"/>
          <p:nvPr/>
        </p:nvSpPr>
        <p:spPr>
          <a:xfrm>
            <a:off x="761695" y="914400"/>
            <a:ext cx="10858500" cy="590702"/>
          </a:xfrm>
          <a:prstGeom prst="rect">
            <a:avLst/>
          </a:prstGeom>
          <a:noFill/>
          <a:ln/>
        </p:spPr>
        <p:txBody>
          <a:bodyPr wrap="square" lIns="0" tIns="0" rIns="0" bIns="0" rtlCol="0" anchor="ctr"/>
          <a:lstStyle/>
          <a:p>
            <a:pPr marL="0" indent="0" algn="l">
              <a:buNone/>
            </a:pPr>
            <a:r>
              <a:rPr lang="en-US" sz="4200" b="1" kern="0" spc="75" dirty="0">
                <a:solidFill>
                  <a:srgbClr val="091044"/>
                </a:solidFill>
                <a:latin typeface="Roboto Condensed" pitchFamily="34" charset="0"/>
                <a:ea typeface="Roboto Condensed" pitchFamily="34" charset="-122"/>
                <a:cs typeface="Roboto Condensed" pitchFamily="34" charset="-120"/>
              </a:rPr>
              <a:t>WHY WE PICKED MSW HERE</a:t>
            </a:r>
            <a:endParaRPr lang="en-US" sz="4200" dirty="0">
              <a:solidFill>
                <a:srgbClr val="091044"/>
              </a:solidFill>
            </a:endParaRPr>
          </a:p>
        </p:txBody>
      </p:sp>
      <p:sp>
        <p:nvSpPr>
          <p:cNvPr id="3" name="Text 5">
            <a:extLst>
              <a:ext uri="{FF2B5EF4-FFF2-40B4-BE49-F238E27FC236}">
                <a16:creationId xmlns:a16="http://schemas.microsoft.com/office/drawing/2014/main" id="{A49B27E6-2D37-3D03-05AC-12125B74C13A}"/>
              </a:ext>
            </a:extLst>
          </p:cNvPr>
          <p:cNvSpPr txBox="1"/>
          <p:nvPr/>
        </p:nvSpPr>
        <p:spPr>
          <a:xfrm>
            <a:off x="761695" y="1577340"/>
            <a:ext cx="7315200" cy="543154"/>
          </a:xfrm>
          <a:prstGeom prst="rect">
            <a:avLst/>
          </a:prstGeom>
          <a:noFill/>
          <a:ln/>
        </p:spPr>
        <p:txBody>
          <a:bodyPr wrap="square" lIns="0" tIns="0" rIns="0" bIns="0" rtlCol="0" anchor="ctr"/>
          <a:lstStyle/>
          <a:p>
            <a:pPr marL="0" indent="0" algn="l">
              <a:buNone/>
            </a:pPr>
            <a:r>
              <a:rPr lang="en-US" sz="1300" dirty="0">
                <a:solidFill>
                  <a:srgbClr val="4A5568"/>
                </a:solidFill>
                <a:latin typeface="Raleway" pitchFamily="34" charset="0"/>
                <a:ea typeface="Raleway" pitchFamily="34" charset="-122"/>
                <a:cs typeface="Raleway" pitchFamily="34" charset="-120"/>
              </a:rPr>
              <a:t>Key reasons for choosing Mock Service Worker over other mocking solutions for our development workflow.</a:t>
            </a:r>
            <a:endParaRPr lang="en-US" sz="1300" dirty="0"/>
          </a:p>
        </p:txBody>
      </p:sp>
      <p:sp>
        <p:nvSpPr>
          <p:cNvPr id="5" name="Shape 6">
            <a:extLst>
              <a:ext uri="{FF2B5EF4-FFF2-40B4-BE49-F238E27FC236}">
                <a16:creationId xmlns:a16="http://schemas.microsoft.com/office/drawing/2014/main" id="{4A186AF0-EF65-C76F-67F4-D9E1FD4DC95B}"/>
              </a:ext>
            </a:extLst>
          </p:cNvPr>
          <p:cNvSpPr/>
          <p:nvPr/>
        </p:nvSpPr>
        <p:spPr>
          <a:xfrm>
            <a:off x="761695" y="2342693"/>
            <a:ext cx="5257800" cy="1639519"/>
          </a:xfrm>
          <a:prstGeom prst="roundRect">
            <a:avLst>
              <a:gd name="adj" fmla="val 47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6" name="Shape 7">
            <a:extLst>
              <a:ext uri="{FF2B5EF4-FFF2-40B4-BE49-F238E27FC236}">
                <a16:creationId xmlns:a16="http://schemas.microsoft.com/office/drawing/2014/main" id="{77A36CA7-7B6F-AA1D-58B6-0C4271609415}"/>
              </a:ext>
            </a:extLst>
          </p:cNvPr>
          <p:cNvSpPr/>
          <p:nvPr/>
        </p:nvSpPr>
        <p:spPr>
          <a:xfrm>
            <a:off x="1000354" y="2580437"/>
            <a:ext cx="457200" cy="457200"/>
          </a:xfrm>
          <a:prstGeom prst="roundRect">
            <a:avLst>
              <a:gd name="adj" fmla="val 66667"/>
            </a:avLst>
          </a:prstGeom>
          <a:solidFill>
            <a:srgbClr val="DBEAFE"/>
          </a:solidFill>
          <a:ln w="12700">
            <a:solidFill>
              <a:srgbClr val="FFFFFF">
                <a:alpha val="0"/>
              </a:srgbClr>
            </a:solidFill>
            <a:prstDash val="solid"/>
          </a:ln>
        </p:spPr>
        <p:txBody>
          <a:bodyPr/>
          <a:lstStyle/>
          <a:p>
            <a:endParaRPr lang="en-US"/>
          </a:p>
        </p:txBody>
      </p:sp>
      <p:pic>
        <p:nvPicPr>
          <p:cNvPr id="7" name="Image 3" descr="preencoded.png">
            <a:extLst>
              <a:ext uri="{FF2B5EF4-FFF2-40B4-BE49-F238E27FC236}">
                <a16:creationId xmlns:a16="http://schemas.microsoft.com/office/drawing/2014/main" id="{D1CD0038-ABBC-7C63-BB3F-39E57D88F826}"/>
              </a:ext>
            </a:extLst>
          </p:cNvPr>
          <p:cNvPicPr>
            <a:picLocks noChangeAspect="1"/>
          </p:cNvPicPr>
          <p:nvPr/>
        </p:nvPicPr>
        <p:blipFill>
          <a:blip r:embed="rId3"/>
          <a:srcRect/>
          <a:stretch/>
        </p:blipFill>
        <p:spPr>
          <a:xfrm>
            <a:off x="1110082" y="2713939"/>
            <a:ext cx="237744" cy="190195"/>
          </a:xfrm>
          <a:prstGeom prst="rect">
            <a:avLst/>
          </a:prstGeom>
        </p:spPr>
      </p:pic>
      <p:sp>
        <p:nvSpPr>
          <p:cNvPr id="8" name="Text 8">
            <a:extLst>
              <a:ext uri="{FF2B5EF4-FFF2-40B4-BE49-F238E27FC236}">
                <a16:creationId xmlns:a16="http://schemas.microsoft.com/office/drawing/2014/main" id="{CB9E9091-CA77-4775-87D1-EDD127C7E88E}"/>
              </a:ext>
            </a:extLst>
          </p:cNvPr>
          <p:cNvSpPr txBox="1"/>
          <p:nvPr/>
        </p:nvSpPr>
        <p:spPr>
          <a:xfrm>
            <a:off x="1609344" y="2585009"/>
            <a:ext cx="2310689"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Network Layer Mocking</a:t>
            </a:r>
            <a:endParaRPr lang="en-US" sz="1300" dirty="0"/>
          </a:p>
        </p:txBody>
      </p:sp>
      <p:sp>
        <p:nvSpPr>
          <p:cNvPr id="9" name="Shape 9">
            <a:extLst>
              <a:ext uri="{FF2B5EF4-FFF2-40B4-BE49-F238E27FC236}">
                <a16:creationId xmlns:a16="http://schemas.microsoft.com/office/drawing/2014/main" id="{20F684F6-9F36-09BC-0438-C0EF2FB5E520}"/>
              </a:ext>
            </a:extLst>
          </p:cNvPr>
          <p:cNvSpPr/>
          <p:nvPr/>
        </p:nvSpPr>
        <p:spPr>
          <a:xfrm>
            <a:off x="4969764" y="2580437"/>
            <a:ext cx="819302"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10" name="Image 4" descr="preencoded.png">
            <a:extLst>
              <a:ext uri="{FF2B5EF4-FFF2-40B4-BE49-F238E27FC236}">
                <a16:creationId xmlns:a16="http://schemas.microsoft.com/office/drawing/2014/main" id="{336371D5-880B-32FC-7B29-9468BCEFF918}"/>
              </a:ext>
            </a:extLst>
          </p:cNvPr>
          <p:cNvPicPr>
            <a:picLocks noChangeAspect="1"/>
          </p:cNvPicPr>
          <p:nvPr/>
        </p:nvPicPr>
        <p:blipFill>
          <a:blip r:embed="rId4"/>
          <a:srcRect/>
          <a:stretch/>
        </p:blipFill>
        <p:spPr>
          <a:xfrm>
            <a:off x="5084064" y="2660904"/>
            <a:ext cx="114300" cy="114300"/>
          </a:xfrm>
          <a:prstGeom prst="rect">
            <a:avLst/>
          </a:prstGeom>
        </p:spPr>
      </p:pic>
      <p:sp>
        <p:nvSpPr>
          <p:cNvPr id="11" name="Text 10">
            <a:extLst>
              <a:ext uri="{FF2B5EF4-FFF2-40B4-BE49-F238E27FC236}">
                <a16:creationId xmlns:a16="http://schemas.microsoft.com/office/drawing/2014/main" id="{1FAAC0D8-1651-0BFF-8967-4D963C07DC3C}"/>
              </a:ext>
            </a:extLst>
          </p:cNvPr>
          <p:cNvSpPr txBox="1"/>
          <p:nvPr/>
        </p:nvSpPr>
        <p:spPr>
          <a:xfrm>
            <a:off x="5274259" y="2580437"/>
            <a:ext cx="457200"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Active</a:t>
            </a:r>
            <a:endParaRPr lang="en-US" sz="1000" dirty="0"/>
          </a:p>
        </p:txBody>
      </p:sp>
      <p:sp>
        <p:nvSpPr>
          <p:cNvPr id="12" name="Text 11">
            <a:extLst>
              <a:ext uri="{FF2B5EF4-FFF2-40B4-BE49-F238E27FC236}">
                <a16:creationId xmlns:a16="http://schemas.microsoft.com/office/drawing/2014/main" id="{B8F1CDD0-0EAC-7DFE-B57C-AD3F81DCA61E}"/>
              </a:ext>
            </a:extLst>
          </p:cNvPr>
          <p:cNvSpPr txBox="1"/>
          <p:nvPr/>
        </p:nvSpPr>
        <p:spPr>
          <a:xfrm>
            <a:off x="1609344" y="2932481"/>
            <a:ext cx="4248302" cy="381305"/>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Works at network layer, not component layer - intercepts actual HTTP requests</a:t>
            </a:r>
            <a:endParaRPr lang="en-US" sz="1000" dirty="0"/>
          </a:p>
        </p:txBody>
      </p:sp>
      <p:sp>
        <p:nvSpPr>
          <p:cNvPr id="13" name="Text 12">
            <a:extLst>
              <a:ext uri="{FF2B5EF4-FFF2-40B4-BE49-F238E27FC236}">
                <a16:creationId xmlns:a16="http://schemas.microsoft.com/office/drawing/2014/main" id="{B586FDA4-6E24-82BB-379B-72CD27B36165}"/>
              </a:ext>
            </a:extLst>
          </p:cNvPr>
          <p:cNvSpPr txBox="1"/>
          <p:nvPr/>
        </p:nvSpPr>
        <p:spPr>
          <a:xfrm>
            <a:off x="1790395" y="3389681"/>
            <a:ext cx="4105656"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Provides realistic API simulation </a:t>
            </a:r>
            <a:endParaRPr lang="en-US" sz="900" dirty="0"/>
          </a:p>
        </p:txBody>
      </p:sp>
      <p:sp>
        <p:nvSpPr>
          <p:cNvPr id="14" name="Shape 13">
            <a:extLst>
              <a:ext uri="{FF2B5EF4-FFF2-40B4-BE49-F238E27FC236}">
                <a16:creationId xmlns:a16="http://schemas.microsoft.com/office/drawing/2014/main" id="{32D30DBE-D885-12BA-E46B-91BCE3FBE0F8}"/>
              </a:ext>
            </a:extLst>
          </p:cNvPr>
          <p:cNvSpPr/>
          <p:nvPr/>
        </p:nvSpPr>
        <p:spPr>
          <a:xfrm>
            <a:off x="6172200" y="2342693"/>
            <a:ext cx="5257800" cy="1639519"/>
          </a:xfrm>
          <a:prstGeom prst="roundRect">
            <a:avLst>
              <a:gd name="adj" fmla="val 47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15" name="Shape 14">
            <a:extLst>
              <a:ext uri="{FF2B5EF4-FFF2-40B4-BE49-F238E27FC236}">
                <a16:creationId xmlns:a16="http://schemas.microsoft.com/office/drawing/2014/main" id="{5C4EC0BF-C221-FBCB-0FCF-94EC7D28A58A}"/>
              </a:ext>
            </a:extLst>
          </p:cNvPr>
          <p:cNvSpPr/>
          <p:nvPr/>
        </p:nvSpPr>
        <p:spPr>
          <a:xfrm>
            <a:off x="6409944" y="2580437"/>
            <a:ext cx="457200" cy="457200"/>
          </a:xfrm>
          <a:prstGeom prst="roundRect">
            <a:avLst>
              <a:gd name="adj" fmla="val 66667"/>
            </a:avLst>
          </a:prstGeom>
          <a:solidFill>
            <a:srgbClr val="D1FAE5"/>
          </a:solidFill>
          <a:ln w="12700">
            <a:solidFill>
              <a:srgbClr val="FFFFFF">
                <a:alpha val="0"/>
              </a:srgbClr>
            </a:solidFill>
            <a:prstDash val="solid"/>
          </a:ln>
        </p:spPr>
        <p:txBody>
          <a:bodyPr/>
          <a:lstStyle/>
          <a:p>
            <a:endParaRPr lang="en-US"/>
          </a:p>
        </p:txBody>
      </p:sp>
      <p:pic>
        <p:nvPicPr>
          <p:cNvPr id="16" name="Image 5" descr="preencoded.png">
            <a:extLst>
              <a:ext uri="{FF2B5EF4-FFF2-40B4-BE49-F238E27FC236}">
                <a16:creationId xmlns:a16="http://schemas.microsoft.com/office/drawing/2014/main" id="{081B38E3-7639-41A1-3BDF-1C5E3D82188E}"/>
              </a:ext>
            </a:extLst>
          </p:cNvPr>
          <p:cNvPicPr>
            <a:picLocks noChangeAspect="1"/>
          </p:cNvPicPr>
          <p:nvPr/>
        </p:nvPicPr>
        <p:blipFill>
          <a:blip r:embed="rId5"/>
          <a:srcRect l="-1282" r="-1282"/>
          <a:stretch/>
        </p:blipFill>
        <p:spPr>
          <a:xfrm>
            <a:off x="6529730" y="2713939"/>
            <a:ext cx="219456" cy="190195"/>
          </a:xfrm>
          <a:prstGeom prst="rect">
            <a:avLst/>
          </a:prstGeom>
        </p:spPr>
      </p:pic>
      <p:sp>
        <p:nvSpPr>
          <p:cNvPr id="17" name="Text 15">
            <a:extLst>
              <a:ext uri="{FF2B5EF4-FFF2-40B4-BE49-F238E27FC236}">
                <a16:creationId xmlns:a16="http://schemas.microsoft.com/office/drawing/2014/main" id="{0A36AFEB-37B0-1685-D66E-F95B8341A88D}"/>
              </a:ext>
            </a:extLst>
          </p:cNvPr>
          <p:cNvSpPr txBox="1"/>
          <p:nvPr/>
        </p:nvSpPr>
        <p:spPr>
          <a:xfrm>
            <a:off x="7019849" y="2585009"/>
            <a:ext cx="2573122"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Simple Runtime Switching</a:t>
            </a:r>
            <a:endParaRPr lang="en-US" sz="1300" dirty="0"/>
          </a:p>
        </p:txBody>
      </p:sp>
      <p:sp>
        <p:nvSpPr>
          <p:cNvPr id="18" name="Shape 16">
            <a:extLst>
              <a:ext uri="{FF2B5EF4-FFF2-40B4-BE49-F238E27FC236}">
                <a16:creationId xmlns:a16="http://schemas.microsoft.com/office/drawing/2014/main" id="{35F59FDA-4E88-C55A-5322-F4A02BD23F66}"/>
              </a:ext>
            </a:extLst>
          </p:cNvPr>
          <p:cNvSpPr/>
          <p:nvPr/>
        </p:nvSpPr>
        <p:spPr>
          <a:xfrm>
            <a:off x="10479938" y="2580437"/>
            <a:ext cx="714146"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19" name="Image 6" descr="preencoded.png">
            <a:extLst>
              <a:ext uri="{FF2B5EF4-FFF2-40B4-BE49-F238E27FC236}">
                <a16:creationId xmlns:a16="http://schemas.microsoft.com/office/drawing/2014/main" id="{3DB58085-318C-319E-A94B-F23D5991DA14}"/>
              </a:ext>
            </a:extLst>
          </p:cNvPr>
          <p:cNvPicPr>
            <a:picLocks noChangeAspect="1"/>
          </p:cNvPicPr>
          <p:nvPr/>
        </p:nvPicPr>
        <p:blipFill>
          <a:blip r:embed="rId4"/>
          <a:srcRect/>
          <a:stretch/>
        </p:blipFill>
        <p:spPr>
          <a:xfrm>
            <a:off x="10594238" y="2660904"/>
            <a:ext cx="114300" cy="114300"/>
          </a:xfrm>
          <a:prstGeom prst="rect">
            <a:avLst/>
          </a:prstGeom>
        </p:spPr>
      </p:pic>
      <p:sp>
        <p:nvSpPr>
          <p:cNvPr id="20" name="Text 17">
            <a:extLst>
              <a:ext uri="{FF2B5EF4-FFF2-40B4-BE49-F238E27FC236}">
                <a16:creationId xmlns:a16="http://schemas.microsoft.com/office/drawing/2014/main" id="{DB5D794D-E857-7268-92E7-A81FBD0A8711}"/>
              </a:ext>
            </a:extLst>
          </p:cNvPr>
          <p:cNvSpPr txBox="1"/>
          <p:nvPr/>
        </p:nvSpPr>
        <p:spPr>
          <a:xfrm>
            <a:off x="10785348" y="2580437"/>
            <a:ext cx="352958"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Easy</a:t>
            </a:r>
            <a:endParaRPr lang="en-US" sz="1000" dirty="0"/>
          </a:p>
        </p:txBody>
      </p:sp>
      <p:sp>
        <p:nvSpPr>
          <p:cNvPr id="21" name="Text 18">
            <a:extLst>
              <a:ext uri="{FF2B5EF4-FFF2-40B4-BE49-F238E27FC236}">
                <a16:creationId xmlns:a16="http://schemas.microsoft.com/office/drawing/2014/main" id="{90FC73BF-7890-0FCB-9B42-5992B5E8C88C}"/>
              </a:ext>
            </a:extLst>
          </p:cNvPr>
          <p:cNvSpPr txBox="1"/>
          <p:nvPr/>
        </p:nvSpPr>
        <p:spPr>
          <a:xfrm>
            <a:off x="7019849" y="2932481"/>
            <a:ext cx="4248302" cy="381305"/>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Simple runtime switch between real and mocked responses for demos</a:t>
            </a:r>
            <a:endParaRPr lang="en-US" sz="1000" dirty="0"/>
          </a:p>
        </p:txBody>
      </p:sp>
      <p:sp>
        <p:nvSpPr>
          <p:cNvPr id="22" name="Text 19">
            <a:extLst>
              <a:ext uri="{FF2B5EF4-FFF2-40B4-BE49-F238E27FC236}">
                <a16:creationId xmlns:a16="http://schemas.microsoft.com/office/drawing/2014/main" id="{5D77952F-273D-D20D-DC8A-D7D078A007EB}"/>
              </a:ext>
            </a:extLst>
          </p:cNvPr>
          <p:cNvSpPr txBox="1"/>
          <p:nvPr/>
        </p:nvSpPr>
        <p:spPr>
          <a:xfrm>
            <a:off x="7198157" y="3389681"/>
            <a:ext cx="4108399"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Toggle via UI controls </a:t>
            </a:r>
            <a:endParaRPr lang="en-US" sz="900" dirty="0"/>
          </a:p>
        </p:txBody>
      </p:sp>
      <p:sp>
        <p:nvSpPr>
          <p:cNvPr id="23" name="Shape 20">
            <a:extLst>
              <a:ext uri="{FF2B5EF4-FFF2-40B4-BE49-F238E27FC236}">
                <a16:creationId xmlns:a16="http://schemas.microsoft.com/office/drawing/2014/main" id="{9E687A64-6AA5-4E4D-D346-BDD908A05B98}"/>
              </a:ext>
            </a:extLst>
          </p:cNvPr>
          <p:cNvSpPr/>
          <p:nvPr/>
        </p:nvSpPr>
        <p:spPr>
          <a:xfrm>
            <a:off x="761695" y="4172407"/>
            <a:ext cx="5257800" cy="1639519"/>
          </a:xfrm>
          <a:prstGeom prst="roundRect">
            <a:avLst>
              <a:gd name="adj" fmla="val 47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24" name="Shape 21">
            <a:extLst>
              <a:ext uri="{FF2B5EF4-FFF2-40B4-BE49-F238E27FC236}">
                <a16:creationId xmlns:a16="http://schemas.microsoft.com/office/drawing/2014/main" id="{7E0BBD1E-D146-3C50-06A7-812FF62AE4A9}"/>
              </a:ext>
            </a:extLst>
          </p:cNvPr>
          <p:cNvSpPr/>
          <p:nvPr/>
        </p:nvSpPr>
        <p:spPr>
          <a:xfrm>
            <a:off x="1000354" y="4410151"/>
            <a:ext cx="457200" cy="457200"/>
          </a:xfrm>
          <a:prstGeom prst="roundRect">
            <a:avLst>
              <a:gd name="adj" fmla="val 66667"/>
            </a:avLst>
          </a:prstGeom>
          <a:solidFill>
            <a:srgbClr val="EDE9FE"/>
          </a:solidFill>
          <a:ln w="12700">
            <a:solidFill>
              <a:srgbClr val="FFFFFF">
                <a:alpha val="0"/>
              </a:srgbClr>
            </a:solidFill>
            <a:prstDash val="solid"/>
          </a:ln>
        </p:spPr>
        <p:txBody>
          <a:bodyPr/>
          <a:lstStyle/>
          <a:p>
            <a:endParaRPr lang="en-US"/>
          </a:p>
        </p:txBody>
      </p:sp>
      <p:pic>
        <p:nvPicPr>
          <p:cNvPr id="25" name="Image 7" descr="preencoded.png">
            <a:extLst>
              <a:ext uri="{FF2B5EF4-FFF2-40B4-BE49-F238E27FC236}">
                <a16:creationId xmlns:a16="http://schemas.microsoft.com/office/drawing/2014/main" id="{82F74A3C-8BD8-BA75-4CFC-E5C791C23313}"/>
              </a:ext>
            </a:extLst>
          </p:cNvPr>
          <p:cNvPicPr>
            <a:picLocks noChangeAspect="1"/>
          </p:cNvPicPr>
          <p:nvPr/>
        </p:nvPicPr>
        <p:blipFill>
          <a:blip r:embed="rId6"/>
          <a:srcRect/>
          <a:stretch/>
        </p:blipFill>
        <p:spPr>
          <a:xfrm>
            <a:off x="1133856" y="4543653"/>
            <a:ext cx="190195" cy="190195"/>
          </a:xfrm>
          <a:prstGeom prst="rect">
            <a:avLst/>
          </a:prstGeom>
        </p:spPr>
      </p:pic>
      <p:sp>
        <p:nvSpPr>
          <p:cNvPr id="26" name="Text 22">
            <a:extLst>
              <a:ext uri="{FF2B5EF4-FFF2-40B4-BE49-F238E27FC236}">
                <a16:creationId xmlns:a16="http://schemas.microsoft.com/office/drawing/2014/main" id="{8F7D34A5-5941-8CBC-9215-D63037598AD0}"/>
              </a:ext>
            </a:extLst>
          </p:cNvPr>
          <p:cNvSpPr txBox="1"/>
          <p:nvPr/>
        </p:nvSpPr>
        <p:spPr>
          <a:xfrm>
            <a:off x="1609344" y="4414723"/>
            <a:ext cx="1938528"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Close to Production</a:t>
            </a:r>
            <a:endParaRPr lang="en-US" sz="1300" dirty="0"/>
          </a:p>
        </p:txBody>
      </p:sp>
      <p:sp>
        <p:nvSpPr>
          <p:cNvPr id="27" name="Shape 23">
            <a:extLst>
              <a:ext uri="{FF2B5EF4-FFF2-40B4-BE49-F238E27FC236}">
                <a16:creationId xmlns:a16="http://schemas.microsoft.com/office/drawing/2014/main" id="{87720C82-31CD-3C93-2018-E80BC84EDE8E}"/>
              </a:ext>
            </a:extLst>
          </p:cNvPr>
          <p:cNvSpPr/>
          <p:nvPr/>
        </p:nvSpPr>
        <p:spPr>
          <a:xfrm>
            <a:off x="4872838" y="4410151"/>
            <a:ext cx="914400"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28" name="Image 8" descr="preencoded.png">
            <a:extLst>
              <a:ext uri="{FF2B5EF4-FFF2-40B4-BE49-F238E27FC236}">
                <a16:creationId xmlns:a16="http://schemas.microsoft.com/office/drawing/2014/main" id="{6C179C4E-C70B-A630-C18F-AA0CA6D8692C}"/>
              </a:ext>
            </a:extLst>
          </p:cNvPr>
          <p:cNvPicPr>
            <a:picLocks noChangeAspect="1"/>
          </p:cNvPicPr>
          <p:nvPr/>
        </p:nvPicPr>
        <p:blipFill>
          <a:blip r:embed="rId4"/>
          <a:srcRect/>
          <a:stretch/>
        </p:blipFill>
        <p:spPr>
          <a:xfrm>
            <a:off x="4987138" y="4491533"/>
            <a:ext cx="114300" cy="114300"/>
          </a:xfrm>
          <a:prstGeom prst="rect">
            <a:avLst/>
          </a:prstGeom>
        </p:spPr>
      </p:pic>
      <p:sp>
        <p:nvSpPr>
          <p:cNvPr id="29" name="Text 24">
            <a:extLst>
              <a:ext uri="{FF2B5EF4-FFF2-40B4-BE49-F238E27FC236}">
                <a16:creationId xmlns:a16="http://schemas.microsoft.com/office/drawing/2014/main" id="{F37C2B0D-BF8F-3D8C-ACED-EB367132E4E0}"/>
              </a:ext>
            </a:extLst>
          </p:cNvPr>
          <p:cNvSpPr txBox="1"/>
          <p:nvPr/>
        </p:nvSpPr>
        <p:spPr>
          <a:xfrm>
            <a:off x="5177333" y="4410151"/>
            <a:ext cx="553212"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Aligned</a:t>
            </a:r>
            <a:endParaRPr lang="en-US" sz="1000" dirty="0"/>
          </a:p>
        </p:txBody>
      </p:sp>
      <p:sp>
        <p:nvSpPr>
          <p:cNvPr id="30" name="Text 25">
            <a:extLst>
              <a:ext uri="{FF2B5EF4-FFF2-40B4-BE49-F238E27FC236}">
                <a16:creationId xmlns:a16="http://schemas.microsoft.com/office/drawing/2014/main" id="{B2EAC6CB-386B-3AD3-B9C1-16F0D2B588B9}"/>
              </a:ext>
            </a:extLst>
          </p:cNvPr>
          <p:cNvSpPr txBox="1"/>
          <p:nvPr/>
        </p:nvSpPr>
        <p:spPr>
          <a:xfrm>
            <a:off x="1609344" y="4763109"/>
            <a:ext cx="4858207"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Keeps frontend code path close to production integration path</a:t>
            </a:r>
            <a:endParaRPr lang="en-US" sz="1000" dirty="0"/>
          </a:p>
        </p:txBody>
      </p:sp>
      <p:sp>
        <p:nvSpPr>
          <p:cNvPr id="31" name="Text 26">
            <a:extLst>
              <a:ext uri="{FF2B5EF4-FFF2-40B4-BE49-F238E27FC236}">
                <a16:creationId xmlns:a16="http://schemas.microsoft.com/office/drawing/2014/main" id="{B11583B3-E597-8836-F08D-EF2BE020DC30}"/>
              </a:ext>
            </a:extLst>
          </p:cNvPr>
          <p:cNvSpPr txBox="1"/>
          <p:nvPr/>
        </p:nvSpPr>
        <p:spPr>
          <a:xfrm>
            <a:off x="1790395" y="5029200"/>
            <a:ext cx="4105656"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Minimal deviation from real API </a:t>
            </a:r>
            <a:endParaRPr lang="en-US" sz="900" dirty="0"/>
          </a:p>
        </p:txBody>
      </p:sp>
      <p:sp>
        <p:nvSpPr>
          <p:cNvPr id="32" name="Shape 27">
            <a:extLst>
              <a:ext uri="{FF2B5EF4-FFF2-40B4-BE49-F238E27FC236}">
                <a16:creationId xmlns:a16="http://schemas.microsoft.com/office/drawing/2014/main" id="{741A09EF-B89A-9CD0-EAF4-1FD686BA9AA6}"/>
              </a:ext>
            </a:extLst>
          </p:cNvPr>
          <p:cNvSpPr/>
          <p:nvPr/>
        </p:nvSpPr>
        <p:spPr>
          <a:xfrm>
            <a:off x="6172200" y="4172407"/>
            <a:ext cx="5257800" cy="1639519"/>
          </a:xfrm>
          <a:prstGeom prst="roundRect">
            <a:avLst>
              <a:gd name="adj" fmla="val 476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33" name="Shape 28">
            <a:extLst>
              <a:ext uri="{FF2B5EF4-FFF2-40B4-BE49-F238E27FC236}">
                <a16:creationId xmlns:a16="http://schemas.microsoft.com/office/drawing/2014/main" id="{7F799A41-42B1-A861-21DC-6C1A32A9D1B0}"/>
              </a:ext>
            </a:extLst>
          </p:cNvPr>
          <p:cNvSpPr/>
          <p:nvPr/>
        </p:nvSpPr>
        <p:spPr>
          <a:xfrm>
            <a:off x="6409944" y="4410151"/>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34" name="Image 9" descr="preencoded.png">
            <a:extLst>
              <a:ext uri="{FF2B5EF4-FFF2-40B4-BE49-F238E27FC236}">
                <a16:creationId xmlns:a16="http://schemas.microsoft.com/office/drawing/2014/main" id="{08472DF2-C6D3-401F-49DE-87B802D1D92F}"/>
              </a:ext>
            </a:extLst>
          </p:cNvPr>
          <p:cNvPicPr>
            <a:picLocks noChangeAspect="1"/>
          </p:cNvPicPr>
          <p:nvPr/>
        </p:nvPicPr>
        <p:blipFill>
          <a:blip r:embed="rId7"/>
          <a:srcRect/>
          <a:stretch/>
        </p:blipFill>
        <p:spPr>
          <a:xfrm>
            <a:off x="6543446" y="4543653"/>
            <a:ext cx="190195" cy="190195"/>
          </a:xfrm>
          <a:prstGeom prst="rect">
            <a:avLst/>
          </a:prstGeom>
        </p:spPr>
      </p:pic>
      <p:sp>
        <p:nvSpPr>
          <p:cNvPr id="35" name="Text 29">
            <a:extLst>
              <a:ext uri="{FF2B5EF4-FFF2-40B4-BE49-F238E27FC236}">
                <a16:creationId xmlns:a16="http://schemas.microsoft.com/office/drawing/2014/main" id="{A6197499-5ACD-67A3-6A70-F18924EE5769}"/>
              </a:ext>
            </a:extLst>
          </p:cNvPr>
          <p:cNvSpPr txBox="1"/>
          <p:nvPr/>
        </p:nvSpPr>
        <p:spPr>
          <a:xfrm>
            <a:off x="7019849" y="4414723"/>
            <a:ext cx="2346350" cy="267005"/>
          </a:xfrm>
          <a:prstGeom prst="rect">
            <a:avLst/>
          </a:prstGeom>
          <a:noFill/>
          <a:ln/>
        </p:spPr>
        <p:txBody>
          <a:bodyPr wrap="square" lIns="0" tIns="0" rIns="0" bIns="0" rtlCol="0" anchor="ctr"/>
          <a:lstStyle/>
          <a:p>
            <a:pPr marL="0" indent="0" algn="l">
              <a:buNone/>
            </a:pPr>
            <a:r>
              <a:rPr lang="en-US" sz="1300" b="1" dirty="0">
                <a:solidFill>
                  <a:srgbClr val="1F2937"/>
                </a:solidFill>
                <a:latin typeface="Raleway" pitchFamily="34" charset="0"/>
                <a:ea typeface="Raleway" pitchFamily="34" charset="-122"/>
                <a:cs typeface="Raleway" pitchFamily="34" charset="-120"/>
              </a:rPr>
              <a:t>Scenario-Driven Checks</a:t>
            </a:r>
            <a:endParaRPr lang="en-US" sz="1300" dirty="0"/>
          </a:p>
        </p:txBody>
      </p:sp>
      <p:sp>
        <p:nvSpPr>
          <p:cNvPr id="36" name="Shape 30">
            <a:extLst>
              <a:ext uri="{FF2B5EF4-FFF2-40B4-BE49-F238E27FC236}">
                <a16:creationId xmlns:a16="http://schemas.microsoft.com/office/drawing/2014/main" id="{149C06D5-FC18-FBF3-11C7-47925C529987}"/>
              </a:ext>
            </a:extLst>
          </p:cNvPr>
          <p:cNvSpPr/>
          <p:nvPr/>
        </p:nvSpPr>
        <p:spPr>
          <a:xfrm>
            <a:off x="10249510" y="4410151"/>
            <a:ext cx="942746" cy="276149"/>
          </a:xfrm>
          <a:prstGeom prst="roundRect">
            <a:avLst>
              <a:gd name="adj" fmla="val 331126"/>
            </a:avLst>
          </a:prstGeom>
          <a:solidFill>
            <a:srgbClr val="DCFCE7"/>
          </a:solidFill>
          <a:ln w="12700">
            <a:solidFill>
              <a:srgbClr val="FFFFFF">
                <a:alpha val="0"/>
              </a:srgbClr>
            </a:solidFill>
            <a:prstDash val="solid"/>
          </a:ln>
        </p:spPr>
        <p:txBody>
          <a:bodyPr/>
          <a:lstStyle/>
          <a:p>
            <a:endParaRPr lang="en-US"/>
          </a:p>
        </p:txBody>
      </p:sp>
      <p:pic>
        <p:nvPicPr>
          <p:cNvPr id="37" name="Image 10" descr="preencoded.png">
            <a:extLst>
              <a:ext uri="{FF2B5EF4-FFF2-40B4-BE49-F238E27FC236}">
                <a16:creationId xmlns:a16="http://schemas.microsoft.com/office/drawing/2014/main" id="{FA5A70AE-1BA3-3476-12A3-C0EA7D9493EE}"/>
              </a:ext>
            </a:extLst>
          </p:cNvPr>
          <p:cNvPicPr>
            <a:picLocks noChangeAspect="1"/>
          </p:cNvPicPr>
          <p:nvPr/>
        </p:nvPicPr>
        <p:blipFill>
          <a:blip r:embed="rId4"/>
          <a:srcRect/>
          <a:stretch/>
        </p:blipFill>
        <p:spPr>
          <a:xfrm>
            <a:off x="10363810" y="4491533"/>
            <a:ext cx="114300" cy="114300"/>
          </a:xfrm>
          <a:prstGeom prst="rect">
            <a:avLst/>
          </a:prstGeom>
        </p:spPr>
      </p:pic>
      <p:sp>
        <p:nvSpPr>
          <p:cNvPr id="38" name="Text 31">
            <a:extLst>
              <a:ext uri="{FF2B5EF4-FFF2-40B4-BE49-F238E27FC236}">
                <a16:creationId xmlns:a16="http://schemas.microsoft.com/office/drawing/2014/main" id="{0F22E531-8E01-4355-06EC-F58EF25E31D1}"/>
              </a:ext>
            </a:extLst>
          </p:cNvPr>
          <p:cNvSpPr txBox="1"/>
          <p:nvPr/>
        </p:nvSpPr>
        <p:spPr>
          <a:xfrm>
            <a:off x="10554919" y="4410151"/>
            <a:ext cx="581558" cy="277063"/>
          </a:xfrm>
          <a:prstGeom prst="rect">
            <a:avLst/>
          </a:prstGeom>
          <a:noFill/>
          <a:ln/>
        </p:spPr>
        <p:txBody>
          <a:bodyPr wrap="square" lIns="0" tIns="0" rIns="0" bIns="0" rtlCol="0" anchor="ctr"/>
          <a:lstStyle/>
          <a:p>
            <a:pPr marL="0" indent="0" algn="l">
              <a:buNone/>
            </a:pPr>
            <a:r>
              <a:rPr lang="en-US" sz="1000" b="1" dirty="0">
                <a:solidFill>
                  <a:srgbClr val="166534"/>
                </a:solidFill>
                <a:latin typeface="Raleway" pitchFamily="34" charset="0"/>
                <a:ea typeface="Raleway" pitchFamily="34" charset="-122"/>
                <a:cs typeface="Raleway" pitchFamily="34" charset="-120"/>
              </a:rPr>
              <a:t>Enabled</a:t>
            </a:r>
            <a:endParaRPr lang="en-US" sz="1000" dirty="0"/>
          </a:p>
        </p:txBody>
      </p:sp>
      <p:sp>
        <p:nvSpPr>
          <p:cNvPr id="39" name="Text 32">
            <a:extLst>
              <a:ext uri="{FF2B5EF4-FFF2-40B4-BE49-F238E27FC236}">
                <a16:creationId xmlns:a16="http://schemas.microsoft.com/office/drawing/2014/main" id="{80ECC631-C598-897C-C9F5-94D0598632AE}"/>
              </a:ext>
            </a:extLst>
          </p:cNvPr>
          <p:cNvSpPr txBox="1"/>
          <p:nvPr/>
        </p:nvSpPr>
        <p:spPr>
          <a:xfrm>
            <a:off x="7019849" y="4763109"/>
            <a:ext cx="4858207"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Supports scenario-driven reliability checks and edge case testing</a:t>
            </a:r>
            <a:endParaRPr lang="en-US" sz="1000" dirty="0"/>
          </a:p>
        </p:txBody>
      </p:sp>
      <p:sp>
        <p:nvSpPr>
          <p:cNvPr id="40" name="Text 33">
            <a:extLst>
              <a:ext uri="{FF2B5EF4-FFF2-40B4-BE49-F238E27FC236}">
                <a16:creationId xmlns:a16="http://schemas.microsoft.com/office/drawing/2014/main" id="{AA99638B-A6C7-A345-78DE-98D1F769AC2F}"/>
              </a:ext>
            </a:extLst>
          </p:cNvPr>
          <p:cNvSpPr txBox="1"/>
          <p:nvPr/>
        </p:nvSpPr>
        <p:spPr>
          <a:xfrm>
            <a:off x="7198157" y="5029200"/>
            <a:ext cx="4108399"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Test various failure modes </a:t>
            </a:r>
            <a:endParaRPr lang="en-US" sz="900" dirty="0"/>
          </a:p>
        </p:txBody>
      </p:sp>
      <p:pic>
        <p:nvPicPr>
          <p:cNvPr id="41" name="Image 11" descr="preencoded.png">
            <a:extLst>
              <a:ext uri="{FF2B5EF4-FFF2-40B4-BE49-F238E27FC236}">
                <a16:creationId xmlns:a16="http://schemas.microsoft.com/office/drawing/2014/main" id="{C6394A34-2B36-043B-930A-556B13F7DB03}"/>
              </a:ext>
            </a:extLst>
          </p:cNvPr>
          <p:cNvPicPr>
            <a:picLocks noChangeAspect="1"/>
          </p:cNvPicPr>
          <p:nvPr/>
        </p:nvPicPr>
        <p:blipFill>
          <a:blip r:embed="rId8"/>
          <a:srcRect/>
          <a:stretch/>
        </p:blipFill>
        <p:spPr>
          <a:xfrm>
            <a:off x="1609344" y="3404311"/>
            <a:ext cx="114300" cy="114300"/>
          </a:xfrm>
          <a:prstGeom prst="rect">
            <a:avLst/>
          </a:prstGeom>
        </p:spPr>
      </p:pic>
      <p:pic>
        <p:nvPicPr>
          <p:cNvPr id="42" name="Image 12" descr="preencoded.png">
            <a:extLst>
              <a:ext uri="{FF2B5EF4-FFF2-40B4-BE49-F238E27FC236}">
                <a16:creationId xmlns:a16="http://schemas.microsoft.com/office/drawing/2014/main" id="{A1EA27E6-4BD4-9998-3918-DF495CFE0474}"/>
              </a:ext>
            </a:extLst>
          </p:cNvPr>
          <p:cNvPicPr>
            <a:picLocks noChangeAspect="1"/>
          </p:cNvPicPr>
          <p:nvPr/>
        </p:nvPicPr>
        <p:blipFill>
          <a:blip r:embed="rId8"/>
          <a:srcRect/>
          <a:stretch/>
        </p:blipFill>
        <p:spPr>
          <a:xfrm>
            <a:off x="7019849" y="3404311"/>
            <a:ext cx="114300" cy="114300"/>
          </a:xfrm>
          <a:prstGeom prst="rect">
            <a:avLst/>
          </a:prstGeom>
        </p:spPr>
      </p:pic>
      <p:pic>
        <p:nvPicPr>
          <p:cNvPr id="43" name="Image 13" descr="preencoded.png">
            <a:extLst>
              <a:ext uri="{FF2B5EF4-FFF2-40B4-BE49-F238E27FC236}">
                <a16:creationId xmlns:a16="http://schemas.microsoft.com/office/drawing/2014/main" id="{383B9D44-664C-8A9D-EF1C-A9446358BCA0}"/>
              </a:ext>
            </a:extLst>
          </p:cNvPr>
          <p:cNvPicPr>
            <a:picLocks noChangeAspect="1"/>
          </p:cNvPicPr>
          <p:nvPr/>
        </p:nvPicPr>
        <p:blipFill>
          <a:blip r:embed="rId8"/>
          <a:srcRect/>
          <a:stretch/>
        </p:blipFill>
        <p:spPr>
          <a:xfrm>
            <a:off x="1609344" y="5043830"/>
            <a:ext cx="114300" cy="114300"/>
          </a:xfrm>
          <a:prstGeom prst="rect">
            <a:avLst/>
          </a:prstGeom>
        </p:spPr>
      </p:pic>
      <p:pic>
        <p:nvPicPr>
          <p:cNvPr id="44" name="Image 14" descr="preencoded.png">
            <a:extLst>
              <a:ext uri="{FF2B5EF4-FFF2-40B4-BE49-F238E27FC236}">
                <a16:creationId xmlns:a16="http://schemas.microsoft.com/office/drawing/2014/main" id="{5F94C5BA-12ED-BBEC-5027-2362DB937BAA}"/>
              </a:ext>
            </a:extLst>
          </p:cNvPr>
          <p:cNvPicPr>
            <a:picLocks noChangeAspect="1"/>
          </p:cNvPicPr>
          <p:nvPr/>
        </p:nvPicPr>
        <p:blipFill>
          <a:blip r:embed="rId8"/>
          <a:srcRect/>
          <a:stretch/>
        </p:blipFill>
        <p:spPr>
          <a:xfrm>
            <a:off x="7019849" y="5043830"/>
            <a:ext cx="114300" cy="114300"/>
          </a:xfrm>
          <a:prstGeom prst="rect">
            <a:avLst/>
          </a:prstGeom>
        </p:spPr>
      </p:pic>
    </p:spTree>
    <p:extLst>
      <p:ext uri="{BB962C8B-B14F-4D97-AF65-F5344CB8AC3E}">
        <p14:creationId xmlns:p14="http://schemas.microsoft.com/office/powerpoint/2010/main" val="427243858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0946-670C-38E1-FB59-7721914E142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92B3EC-DB80-B46C-9385-28F178990C95}"/>
              </a:ext>
            </a:extLst>
          </p:cNvPr>
          <p:cNvSpPr>
            <a:spLocks noGrp="1"/>
          </p:cNvSpPr>
          <p:nvPr>
            <p:ph type="sldNum" sz="quarter" idx="12"/>
          </p:nvPr>
        </p:nvSpPr>
        <p:spPr/>
        <p:txBody>
          <a:bodyPr/>
          <a:lstStyle/>
          <a:p>
            <a:fld id="{F01A0BEF-C76D-43A2-874C-09A8674B0D74}" type="slidenum">
              <a:rPr lang="en-GB" smtClean="0"/>
              <a:t>16</a:t>
            </a:fld>
            <a:endParaRPr lang="en-GB"/>
          </a:p>
        </p:txBody>
      </p:sp>
      <p:sp>
        <p:nvSpPr>
          <p:cNvPr id="2" name="Text 4">
            <a:extLst>
              <a:ext uri="{FF2B5EF4-FFF2-40B4-BE49-F238E27FC236}">
                <a16:creationId xmlns:a16="http://schemas.microsoft.com/office/drawing/2014/main" id="{40B9C883-88E0-9764-3061-E5FB219D8974}"/>
              </a:ext>
            </a:extLst>
          </p:cNvPr>
          <p:cNvSpPr txBox="1"/>
          <p:nvPr/>
        </p:nvSpPr>
        <p:spPr>
          <a:xfrm>
            <a:off x="609905" y="761695"/>
            <a:ext cx="11163910" cy="629107"/>
          </a:xfrm>
          <a:prstGeom prst="rect">
            <a:avLst/>
          </a:prstGeom>
          <a:noFill/>
          <a:ln/>
        </p:spPr>
        <p:txBody>
          <a:bodyPr wrap="square" lIns="0" tIns="0" rIns="0" bIns="0" rtlCol="0" anchor="ctr"/>
          <a:lstStyle/>
          <a:p>
            <a:pPr marL="0" indent="0" algn="l">
              <a:buNone/>
            </a:pPr>
            <a:r>
              <a:rPr lang="en-US" sz="5000" b="1" kern="0" spc="75" dirty="0">
                <a:solidFill>
                  <a:srgbClr val="091044"/>
                </a:solidFill>
                <a:latin typeface="Roboto Condensed" pitchFamily="34" charset="0"/>
                <a:ea typeface="Roboto Condensed" pitchFamily="34" charset="-122"/>
                <a:cs typeface="Roboto Condensed" pitchFamily="34" charset="-120"/>
              </a:rPr>
              <a:t>LIMITS OF MSW (BE HONEST)</a:t>
            </a:r>
            <a:endParaRPr lang="en-US" sz="5000" dirty="0">
              <a:solidFill>
                <a:srgbClr val="091044"/>
              </a:solidFill>
            </a:endParaRPr>
          </a:p>
        </p:txBody>
      </p:sp>
      <p:sp>
        <p:nvSpPr>
          <p:cNvPr id="3" name="Text 5">
            <a:extLst>
              <a:ext uri="{FF2B5EF4-FFF2-40B4-BE49-F238E27FC236}">
                <a16:creationId xmlns:a16="http://schemas.microsoft.com/office/drawing/2014/main" id="{A4B79B99-4551-D047-7A18-A5D84096D38A}"/>
              </a:ext>
            </a:extLst>
          </p:cNvPr>
          <p:cNvSpPr txBox="1"/>
          <p:nvPr/>
        </p:nvSpPr>
        <p:spPr>
          <a:xfrm>
            <a:off x="609905" y="1541678"/>
            <a:ext cx="8610905" cy="553212"/>
          </a:xfrm>
          <a:prstGeom prst="rect">
            <a:avLst/>
          </a:prstGeom>
          <a:noFill/>
          <a:ln/>
        </p:spPr>
        <p:txBody>
          <a:bodyPr wrap="square" lIns="0" tIns="0" rIns="0" bIns="0" rtlCol="0" anchor="ctr"/>
          <a:lstStyle/>
          <a:p>
            <a:pPr marL="0" indent="0" algn="l">
              <a:buNone/>
            </a:pPr>
            <a:r>
              <a:rPr lang="en-US" sz="1300" dirty="0">
                <a:solidFill>
                  <a:srgbClr val="4A5568"/>
                </a:solidFill>
                <a:latin typeface="Raleway" pitchFamily="34" charset="0"/>
                <a:ea typeface="Raleway" pitchFamily="34" charset="-122"/>
                <a:cs typeface="Raleway" pitchFamily="34" charset="-120"/>
              </a:rPr>
              <a:t>While MSW is a powerful tool for frontend development, it's important to understand its limitations and when it's not the right solution.</a:t>
            </a:r>
            <a:endParaRPr lang="en-US" sz="1300" dirty="0"/>
          </a:p>
        </p:txBody>
      </p:sp>
      <p:sp>
        <p:nvSpPr>
          <p:cNvPr id="5" name="Shape 6">
            <a:extLst>
              <a:ext uri="{FF2B5EF4-FFF2-40B4-BE49-F238E27FC236}">
                <a16:creationId xmlns:a16="http://schemas.microsoft.com/office/drawing/2014/main" id="{5F956088-FD73-2EDC-55D9-994C6A3109D5}"/>
              </a:ext>
            </a:extLst>
          </p:cNvPr>
          <p:cNvSpPr/>
          <p:nvPr/>
        </p:nvSpPr>
        <p:spPr>
          <a:xfrm>
            <a:off x="609905" y="2275027"/>
            <a:ext cx="5391302" cy="1466698"/>
          </a:xfrm>
          <a:prstGeom prst="roundRect">
            <a:avLst>
              <a:gd name="adj" fmla="val 9716"/>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6" name="Shape 7">
            <a:extLst>
              <a:ext uri="{FF2B5EF4-FFF2-40B4-BE49-F238E27FC236}">
                <a16:creationId xmlns:a16="http://schemas.microsoft.com/office/drawing/2014/main" id="{82946D50-BAFD-FC59-4266-1DDCDA848FE3}"/>
              </a:ext>
            </a:extLst>
          </p:cNvPr>
          <p:cNvSpPr/>
          <p:nvPr/>
        </p:nvSpPr>
        <p:spPr>
          <a:xfrm>
            <a:off x="786384" y="2437790"/>
            <a:ext cx="381305" cy="381305"/>
          </a:xfrm>
          <a:prstGeom prst="roundRect">
            <a:avLst>
              <a:gd name="adj" fmla="val 95923"/>
            </a:avLst>
          </a:prstGeom>
          <a:solidFill>
            <a:srgbClr val="F7FAFC"/>
          </a:solidFill>
          <a:ln w="12700">
            <a:solidFill>
              <a:srgbClr val="FFFFFF">
                <a:alpha val="0"/>
              </a:srgbClr>
            </a:solidFill>
            <a:prstDash val="solid"/>
          </a:ln>
        </p:spPr>
        <p:txBody>
          <a:bodyPr/>
          <a:lstStyle/>
          <a:p>
            <a:endParaRPr lang="en-US"/>
          </a:p>
        </p:txBody>
      </p:sp>
      <p:pic>
        <p:nvPicPr>
          <p:cNvPr id="7" name="Image 1" descr="preencoded.png">
            <a:extLst>
              <a:ext uri="{FF2B5EF4-FFF2-40B4-BE49-F238E27FC236}">
                <a16:creationId xmlns:a16="http://schemas.microsoft.com/office/drawing/2014/main" id="{B5E43EDF-FBBD-960B-E81E-005688DF974E}"/>
              </a:ext>
            </a:extLst>
          </p:cNvPr>
          <p:cNvPicPr>
            <a:picLocks noChangeAspect="1"/>
          </p:cNvPicPr>
          <p:nvPr/>
        </p:nvPicPr>
        <p:blipFill>
          <a:blip r:embed="rId3"/>
          <a:srcRect/>
          <a:stretch/>
        </p:blipFill>
        <p:spPr>
          <a:xfrm>
            <a:off x="891540" y="2542032"/>
            <a:ext cx="171907" cy="171907"/>
          </a:xfrm>
          <a:prstGeom prst="rect">
            <a:avLst/>
          </a:prstGeom>
        </p:spPr>
      </p:pic>
      <p:sp>
        <p:nvSpPr>
          <p:cNvPr id="8" name="Text 8">
            <a:extLst>
              <a:ext uri="{FF2B5EF4-FFF2-40B4-BE49-F238E27FC236}">
                <a16:creationId xmlns:a16="http://schemas.microsoft.com/office/drawing/2014/main" id="{CEDFCD07-AD64-2C36-B8D1-4DA0156AEFF5}"/>
              </a:ext>
            </a:extLst>
          </p:cNvPr>
          <p:cNvSpPr txBox="1"/>
          <p:nvPr/>
        </p:nvSpPr>
        <p:spPr>
          <a:xfrm>
            <a:off x="1434694" y="2437790"/>
            <a:ext cx="4506163" cy="171907"/>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Not a Replacement for Full Backend Tests</a:t>
            </a:r>
            <a:endParaRPr lang="en-US" sz="1200" dirty="0"/>
          </a:p>
        </p:txBody>
      </p:sp>
      <p:sp>
        <p:nvSpPr>
          <p:cNvPr id="9" name="Text 9">
            <a:extLst>
              <a:ext uri="{FF2B5EF4-FFF2-40B4-BE49-F238E27FC236}">
                <a16:creationId xmlns:a16="http://schemas.microsoft.com/office/drawing/2014/main" id="{3EA82B78-2012-38D4-91D6-41AF0AB2E5A0}"/>
              </a:ext>
            </a:extLst>
          </p:cNvPr>
          <p:cNvSpPr txBox="1"/>
          <p:nvPr/>
        </p:nvSpPr>
        <p:spPr>
          <a:xfrm>
            <a:off x="1434694" y="2638958"/>
            <a:ext cx="4467758" cy="590702"/>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MSW handles network interception but doesn't replace comprehensive backend integration testing. You still need to test the actual backend.</a:t>
            </a:r>
            <a:endParaRPr lang="en-US" sz="1000" dirty="0"/>
          </a:p>
        </p:txBody>
      </p:sp>
      <p:sp>
        <p:nvSpPr>
          <p:cNvPr id="10" name="Shape 10">
            <a:extLst>
              <a:ext uri="{FF2B5EF4-FFF2-40B4-BE49-F238E27FC236}">
                <a16:creationId xmlns:a16="http://schemas.microsoft.com/office/drawing/2014/main" id="{FCD21DEC-6332-B787-8112-3321B4476D88}"/>
              </a:ext>
            </a:extLst>
          </p:cNvPr>
          <p:cNvSpPr/>
          <p:nvPr/>
        </p:nvSpPr>
        <p:spPr>
          <a:xfrm>
            <a:off x="1434694" y="3299155"/>
            <a:ext cx="866851" cy="276149"/>
          </a:xfrm>
          <a:prstGeom prst="roundRect">
            <a:avLst>
              <a:gd name="adj" fmla="val 331126"/>
            </a:avLst>
          </a:prstGeom>
          <a:solidFill>
            <a:srgbClr val="FEE2E2"/>
          </a:solidFill>
          <a:ln w="12700">
            <a:solidFill>
              <a:srgbClr val="FFFFFF">
                <a:alpha val="0"/>
              </a:srgbClr>
            </a:solidFill>
            <a:prstDash val="solid"/>
          </a:ln>
        </p:spPr>
        <p:txBody>
          <a:bodyPr/>
          <a:lstStyle/>
          <a:p>
            <a:endParaRPr lang="en-US"/>
          </a:p>
        </p:txBody>
      </p:sp>
      <p:sp>
        <p:nvSpPr>
          <p:cNvPr id="11" name="Text 11">
            <a:extLst>
              <a:ext uri="{FF2B5EF4-FFF2-40B4-BE49-F238E27FC236}">
                <a16:creationId xmlns:a16="http://schemas.microsoft.com/office/drawing/2014/main" id="{8A5B869B-600C-A385-BFEA-DA0D05F4297D}"/>
              </a:ext>
            </a:extLst>
          </p:cNvPr>
          <p:cNvSpPr/>
          <p:nvPr/>
        </p:nvSpPr>
        <p:spPr>
          <a:xfrm>
            <a:off x="1405433" y="3299155"/>
            <a:ext cx="924458" cy="277063"/>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000" b="1" dirty="0">
                <a:solidFill>
                  <a:srgbClr val="DC2626"/>
                </a:solidFill>
                <a:latin typeface="Raleway" pitchFamily="34" charset="0"/>
                <a:ea typeface="Raleway" pitchFamily="34" charset="-122"/>
                <a:cs typeface="Raleway" pitchFamily="34" charset="-120"/>
              </a:rPr>
              <a:t>Limitation</a:t>
            </a:r>
            <a:endParaRPr lang="en-US" sz="1000" dirty="0"/>
          </a:p>
        </p:txBody>
      </p:sp>
      <p:sp>
        <p:nvSpPr>
          <p:cNvPr id="12" name="Text 12">
            <a:extLst>
              <a:ext uri="{FF2B5EF4-FFF2-40B4-BE49-F238E27FC236}">
                <a16:creationId xmlns:a16="http://schemas.microsoft.com/office/drawing/2014/main" id="{E6DDB3BC-6B65-5DB7-C593-D0452E534244}"/>
              </a:ext>
            </a:extLst>
          </p:cNvPr>
          <p:cNvSpPr txBox="1"/>
          <p:nvPr/>
        </p:nvSpPr>
        <p:spPr>
          <a:xfrm>
            <a:off x="2370125" y="3342132"/>
            <a:ext cx="510235"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Critical</a:t>
            </a:r>
            <a:endParaRPr lang="en-US" sz="1000" dirty="0"/>
          </a:p>
        </p:txBody>
      </p:sp>
      <p:sp>
        <p:nvSpPr>
          <p:cNvPr id="13" name="Shape 13">
            <a:extLst>
              <a:ext uri="{FF2B5EF4-FFF2-40B4-BE49-F238E27FC236}">
                <a16:creationId xmlns:a16="http://schemas.microsoft.com/office/drawing/2014/main" id="{2386C509-FE5D-1B1F-5E7C-EF8C379581F0}"/>
              </a:ext>
            </a:extLst>
          </p:cNvPr>
          <p:cNvSpPr/>
          <p:nvPr/>
        </p:nvSpPr>
        <p:spPr>
          <a:xfrm>
            <a:off x="6191402" y="2275027"/>
            <a:ext cx="5391302" cy="1466698"/>
          </a:xfrm>
          <a:prstGeom prst="roundRect">
            <a:avLst>
              <a:gd name="adj" fmla="val 9716"/>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14" name="Shape 14">
            <a:extLst>
              <a:ext uri="{FF2B5EF4-FFF2-40B4-BE49-F238E27FC236}">
                <a16:creationId xmlns:a16="http://schemas.microsoft.com/office/drawing/2014/main" id="{A8A115A1-FC6C-E07D-5A5B-D68FCA4A12C9}"/>
              </a:ext>
            </a:extLst>
          </p:cNvPr>
          <p:cNvSpPr/>
          <p:nvPr/>
        </p:nvSpPr>
        <p:spPr>
          <a:xfrm>
            <a:off x="6368796" y="2437790"/>
            <a:ext cx="381305" cy="381305"/>
          </a:xfrm>
          <a:prstGeom prst="roundRect">
            <a:avLst>
              <a:gd name="adj" fmla="val 95923"/>
            </a:avLst>
          </a:prstGeom>
          <a:solidFill>
            <a:srgbClr val="F7FAFC"/>
          </a:solidFill>
          <a:ln w="12700">
            <a:solidFill>
              <a:srgbClr val="FFFFFF">
                <a:alpha val="0"/>
              </a:srgbClr>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65471E43-38B8-0F5D-B8FC-BC531C43F1BE}"/>
              </a:ext>
            </a:extLst>
          </p:cNvPr>
          <p:cNvPicPr>
            <a:picLocks noChangeAspect="1"/>
          </p:cNvPicPr>
          <p:nvPr/>
        </p:nvPicPr>
        <p:blipFill>
          <a:blip r:embed="rId4"/>
          <a:srcRect/>
          <a:stretch/>
        </p:blipFill>
        <p:spPr>
          <a:xfrm>
            <a:off x="6473038" y="2542032"/>
            <a:ext cx="171907" cy="171907"/>
          </a:xfrm>
          <a:prstGeom prst="rect">
            <a:avLst/>
          </a:prstGeom>
        </p:spPr>
      </p:pic>
      <p:sp>
        <p:nvSpPr>
          <p:cNvPr id="16" name="Text 15">
            <a:extLst>
              <a:ext uri="{FF2B5EF4-FFF2-40B4-BE49-F238E27FC236}">
                <a16:creationId xmlns:a16="http://schemas.microsoft.com/office/drawing/2014/main" id="{6A910FBF-AD62-A802-D89A-0449DEB94D9E}"/>
              </a:ext>
            </a:extLst>
          </p:cNvPr>
          <p:cNvSpPr txBox="1"/>
          <p:nvPr/>
        </p:nvSpPr>
        <p:spPr>
          <a:xfrm>
            <a:off x="7016191" y="2437790"/>
            <a:ext cx="4506163" cy="171907"/>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Requires Governance to Prevent Drift</a:t>
            </a:r>
            <a:endParaRPr lang="en-US" sz="1200" dirty="0"/>
          </a:p>
        </p:txBody>
      </p:sp>
      <p:sp>
        <p:nvSpPr>
          <p:cNvPr id="17" name="Text 16">
            <a:extLst>
              <a:ext uri="{FF2B5EF4-FFF2-40B4-BE49-F238E27FC236}">
                <a16:creationId xmlns:a16="http://schemas.microsoft.com/office/drawing/2014/main" id="{E92C4D1E-8DC4-3197-BCD4-2CA8123B0232}"/>
              </a:ext>
            </a:extLst>
          </p:cNvPr>
          <p:cNvSpPr txBox="1"/>
          <p:nvPr/>
        </p:nvSpPr>
        <p:spPr>
          <a:xfrm>
            <a:off x="7016191" y="2638958"/>
            <a:ext cx="4467758" cy="391363"/>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Mock handlers can drift from real API shapes without proper governance. Teams must maintain scenario quality.</a:t>
            </a:r>
            <a:endParaRPr lang="en-US" sz="1000" dirty="0"/>
          </a:p>
        </p:txBody>
      </p:sp>
      <p:sp>
        <p:nvSpPr>
          <p:cNvPr id="18" name="Shape 17">
            <a:extLst>
              <a:ext uri="{FF2B5EF4-FFF2-40B4-BE49-F238E27FC236}">
                <a16:creationId xmlns:a16="http://schemas.microsoft.com/office/drawing/2014/main" id="{E6A06301-7C75-0D3F-1209-865F6EB63791}"/>
              </a:ext>
            </a:extLst>
          </p:cNvPr>
          <p:cNvSpPr/>
          <p:nvPr/>
        </p:nvSpPr>
        <p:spPr>
          <a:xfrm>
            <a:off x="7016191" y="3104388"/>
            <a:ext cx="1047902"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sp>
        <p:nvSpPr>
          <p:cNvPr id="19" name="Text 18">
            <a:extLst>
              <a:ext uri="{FF2B5EF4-FFF2-40B4-BE49-F238E27FC236}">
                <a16:creationId xmlns:a16="http://schemas.microsoft.com/office/drawing/2014/main" id="{BF414290-E223-3E4C-EE23-14F84E7094BE}"/>
              </a:ext>
            </a:extLst>
          </p:cNvPr>
          <p:cNvSpPr/>
          <p:nvPr/>
        </p:nvSpPr>
        <p:spPr>
          <a:xfrm>
            <a:off x="6987845" y="3104388"/>
            <a:ext cx="1105510" cy="277063"/>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000" b="1" dirty="0">
                <a:solidFill>
                  <a:srgbClr val="92400E"/>
                </a:solidFill>
                <a:latin typeface="Raleway" pitchFamily="34" charset="0"/>
                <a:ea typeface="Raleway" pitchFamily="34" charset="-122"/>
                <a:cs typeface="Raleway" pitchFamily="34" charset="-120"/>
              </a:rPr>
              <a:t>Maintenance</a:t>
            </a:r>
            <a:endParaRPr lang="en-US" sz="1000" dirty="0"/>
          </a:p>
        </p:txBody>
      </p:sp>
      <p:sp>
        <p:nvSpPr>
          <p:cNvPr id="20" name="Text 19">
            <a:extLst>
              <a:ext uri="{FF2B5EF4-FFF2-40B4-BE49-F238E27FC236}">
                <a16:creationId xmlns:a16="http://schemas.microsoft.com/office/drawing/2014/main" id="{8C551353-4FBE-9FB6-F7EA-E29F67E985BA}"/>
              </a:ext>
            </a:extLst>
          </p:cNvPr>
          <p:cNvSpPr txBox="1"/>
          <p:nvPr/>
        </p:nvSpPr>
        <p:spPr>
          <a:xfrm>
            <a:off x="8138160" y="3147365"/>
            <a:ext cx="609905"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Ongoing</a:t>
            </a:r>
            <a:endParaRPr lang="en-US" sz="1000" dirty="0"/>
          </a:p>
        </p:txBody>
      </p:sp>
      <p:sp>
        <p:nvSpPr>
          <p:cNvPr id="21" name="Shape 20">
            <a:extLst>
              <a:ext uri="{FF2B5EF4-FFF2-40B4-BE49-F238E27FC236}">
                <a16:creationId xmlns:a16="http://schemas.microsoft.com/office/drawing/2014/main" id="{1ADE759D-DD42-10AF-E516-01234EE4B53B}"/>
              </a:ext>
            </a:extLst>
          </p:cNvPr>
          <p:cNvSpPr/>
          <p:nvPr/>
        </p:nvSpPr>
        <p:spPr>
          <a:xfrm>
            <a:off x="609905" y="3928262"/>
            <a:ext cx="5391302" cy="1276502"/>
          </a:xfrm>
          <a:prstGeom prst="roundRect">
            <a:avLst>
              <a:gd name="adj" fmla="val 1283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22" name="Shape 21">
            <a:extLst>
              <a:ext uri="{FF2B5EF4-FFF2-40B4-BE49-F238E27FC236}">
                <a16:creationId xmlns:a16="http://schemas.microsoft.com/office/drawing/2014/main" id="{27650A34-80AF-27A8-EA2C-71712A5B2410}"/>
              </a:ext>
            </a:extLst>
          </p:cNvPr>
          <p:cNvSpPr/>
          <p:nvPr/>
        </p:nvSpPr>
        <p:spPr>
          <a:xfrm>
            <a:off x="786384" y="4090111"/>
            <a:ext cx="381305" cy="381305"/>
          </a:xfrm>
          <a:prstGeom prst="roundRect">
            <a:avLst>
              <a:gd name="adj" fmla="val 95923"/>
            </a:avLst>
          </a:prstGeom>
          <a:solidFill>
            <a:srgbClr val="F7FAFC"/>
          </a:solidFill>
          <a:ln w="12700">
            <a:solidFill>
              <a:srgbClr val="FFFFFF">
                <a:alpha val="0"/>
              </a:srgbClr>
            </a:solidFill>
            <a:prstDash val="solid"/>
          </a:ln>
        </p:spPr>
        <p:txBody>
          <a:bodyPr/>
          <a:lstStyle/>
          <a:p>
            <a:endParaRPr lang="en-US"/>
          </a:p>
        </p:txBody>
      </p:sp>
      <p:pic>
        <p:nvPicPr>
          <p:cNvPr id="23" name="Image 3" descr="preencoded.png">
            <a:extLst>
              <a:ext uri="{FF2B5EF4-FFF2-40B4-BE49-F238E27FC236}">
                <a16:creationId xmlns:a16="http://schemas.microsoft.com/office/drawing/2014/main" id="{66190488-C0BE-DCB0-EBE8-5767EDFF6B8A}"/>
              </a:ext>
            </a:extLst>
          </p:cNvPr>
          <p:cNvPicPr>
            <a:picLocks noChangeAspect="1"/>
          </p:cNvPicPr>
          <p:nvPr/>
        </p:nvPicPr>
        <p:blipFill>
          <a:blip r:embed="rId5"/>
          <a:srcRect l="-760" r="-760"/>
          <a:stretch/>
        </p:blipFill>
        <p:spPr>
          <a:xfrm>
            <a:off x="900684" y="4194353"/>
            <a:ext cx="152705" cy="171907"/>
          </a:xfrm>
          <a:prstGeom prst="rect">
            <a:avLst/>
          </a:prstGeom>
        </p:spPr>
      </p:pic>
      <p:sp>
        <p:nvSpPr>
          <p:cNvPr id="24" name="Text 22">
            <a:extLst>
              <a:ext uri="{FF2B5EF4-FFF2-40B4-BE49-F238E27FC236}">
                <a16:creationId xmlns:a16="http://schemas.microsoft.com/office/drawing/2014/main" id="{F5830CD8-6E6C-C555-8E24-905B8E85F637}"/>
              </a:ext>
            </a:extLst>
          </p:cNvPr>
          <p:cNvSpPr txBox="1"/>
          <p:nvPr/>
        </p:nvSpPr>
        <p:spPr>
          <a:xfrm>
            <a:off x="1434694" y="4090111"/>
            <a:ext cx="4506163" cy="171907"/>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Very Stateful Workflows Need Support</a:t>
            </a:r>
            <a:endParaRPr lang="en-US" sz="1200" dirty="0"/>
          </a:p>
        </p:txBody>
      </p:sp>
      <p:sp>
        <p:nvSpPr>
          <p:cNvPr id="25" name="Text 23">
            <a:extLst>
              <a:ext uri="{FF2B5EF4-FFF2-40B4-BE49-F238E27FC236}">
                <a16:creationId xmlns:a16="http://schemas.microsoft.com/office/drawing/2014/main" id="{B44449A6-D8AD-EAC3-3F27-0186854BDAED}"/>
              </a:ext>
            </a:extLst>
          </p:cNvPr>
          <p:cNvSpPr txBox="1"/>
          <p:nvPr/>
        </p:nvSpPr>
        <p:spPr>
          <a:xfrm>
            <a:off x="1434694" y="4291279"/>
            <a:ext cx="4467758" cy="391363"/>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Complex, stateful workflows may require additional support beyond what MSW provides out of the box.</a:t>
            </a:r>
            <a:endParaRPr lang="en-US" sz="1000" dirty="0"/>
          </a:p>
        </p:txBody>
      </p:sp>
      <p:sp>
        <p:nvSpPr>
          <p:cNvPr id="26" name="Shape 24">
            <a:extLst>
              <a:ext uri="{FF2B5EF4-FFF2-40B4-BE49-F238E27FC236}">
                <a16:creationId xmlns:a16="http://schemas.microsoft.com/office/drawing/2014/main" id="{844FE22E-66E4-6C49-BD26-BA319FE8BEB8}"/>
              </a:ext>
            </a:extLst>
          </p:cNvPr>
          <p:cNvSpPr/>
          <p:nvPr/>
        </p:nvSpPr>
        <p:spPr>
          <a:xfrm>
            <a:off x="1434694" y="4756709"/>
            <a:ext cx="952805" cy="276149"/>
          </a:xfrm>
          <a:prstGeom prst="roundRect">
            <a:avLst>
              <a:gd name="adj" fmla="val 331126"/>
            </a:avLst>
          </a:prstGeom>
          <a:solidFill>
            <a:srgbClr val="FEE2E2"/>
          </a:solidFill>
          <a:ln w="12700">
            <a:solidFill>
              <a:srgbClr val="FFFFFF">
                <a:alpha val="0"/>
              </a:srgbClr>
            </a:solidFill>
            <a:prstDash val="solid"/>
          </a:ln>
        </p:spPr>
        <p:txBody>
          <a:bodyPr/>
          <a:lstStyle/>
          <a:p>
            <a:endParaRPr lang="en-US"/>
          </a:p>
        </p:txBody>
      </p:sp>
      <p:sp>
        <p:nvSpPr>
          <p:cNvPr id="27" name="Text 25">
            <a:extLst>
              <a:ext uri="{FF2B5EF4-FFF2-40B4-BE49-F238E27FC236}">
                <a16:creationId xmlns:a16="http://schemas.microsoft.com/office/drawing/2014/main" id="{7CF17705-DC91-B83C-7090-F1DB5F72B0EE}"/>
              </a:ext>
            </a:extLst>
          </p:cNvPr>
          <p:cNvSpPr/>
          <p:nvPr/>
        </p:nvSpPr>
        <p:spPr>
          <a:xfrm>
            <a:off x="1405433" y="4756709"/>
            <a:ext cx="1010412" cy="277063"/>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000" b="1" dirty="0">
                <a:solidFill>
                  <a:srgbClr val="DC2626"/>
                </a:solidFill>
                <a:latin typeface="Raleway" pitchFamily="34" charset="0"/>
                <a:ea typeface="Raleway" pitchFamily="34" charset="-122"/>
                <a:cs typeface="Raleway" pitchFamily="34" charset="-120"/>
              </a:rPr>
              <a:t>Complexity</a:t>
            </a:r>
            <a:endParaRPr lang="en-US" sz="1000" dirty="0"/>
          </a:p>
        </p:txBody>
      </p:sp>
      <p:sp>
        <p:nvSpPr>
          <p:cNvPr id="28" name="Text 26">
            <a:extLst>
              <a:ext uri="{FF2B5EF4-FFF2-40B4-BE49-F238E27FC236}">
                <a16:creationId xmlns:a16="http://schemas.microsoft.com/office/drawing/2014/main" id="{53700CB3-8CC0-B814-2007-0623D85AEB15}"/>
              </a:ext>
            </a:extLst>
          </p:cNvPr>
          <p:cNvSpPr txBox="1"/>
          <p:nvPr/>
        </p:nvSpPr>
        <p:spPr>
          <a:xfrm>
            <a:off x="2457907" y="4799686"/>
            <a:ext cx="372161"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High</a:t>
            </a:r>
            <a:endParaRPr lang="en-US" sz="1000" dirty="0"/>
          </a:p>
        </p:txBody>
      </p:sp>
      <p:sp>
        <p:nvSpPr>
          <p:cNvPr id="29" name="Shape 27">
            <a:extLst>
              <a:ext uri="{FF2B5EF4-FFF2-40B4-BE49-F238E27FC236}">
                <a16:creationId xmlns:a16="http://schemas.microsoft.com/office/drawing/2014/main" id="{9D9ADA47-425E-E4D9-DCCE-2B490799E675}"/>
              </a:ext>
            </a:extLst>
          </p:cNvPr>
          <p:cNvSpPr/>
          <p:nvPr/>
        </p:nvSpPr>
        <p:spPr>
          <a:xfrm>
            <a:off x="6191402" y="3928262"/>
            <a:ext cx="5391302" cy="1276502"/>
          </a:xfrm>
          <a:prstGeom prst="roundRect">
            <a:avLst>
              <a:gd name="adj" fmla="val 12830"/>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sp>
        <p:nvSpPr>
          <p:cNvPr id="30" name="Shape 28">
            <a:extLst>
              <a:ext uri="{FF2B5EF4-FFF2-40B4-BE49-F238E27FC236}">
                <a16:creationId xmlns:a16="http://schemas.microsoft.com/office/drawing/2014/main" id="{623D4BC9-7CEE-F9B5-C342-6ADDA5456D81}"/>
              </a:ext>
            </a:extLst>
          </p:cNvPr>
          <p:cNvSpPr/>
          <p:nvPr/>
        </p:nvSpPr>
        <p:spPr>
          <a:xfrm>
            <a:off x="6368796" y="4090111"/>
            <a:ext cx="381305" cy="381305"/>
          </a:xfrm>
          <a:prstGeom prst="roundRect">
            <a:avLst>
              <a:gd name="adj" fmla="val 95923"/>
            </a:avLst>
          </a:prstGeom>
          <a:solidFill>
            <a:srgbClr val="F7FAFC"/>
          </a:solidFill>
          <a:ln w="12700">
            <a:solidFill>
              <a:srgbClr val="FFFFFF">
                <a:alpha val="0"/>
              </a:srgbClr>
            </a:solidFill>
            <a:prstDash val="solid"/>
          </a:ln>
        </p:spPr>
        <p:txBody>
          <a:bodyPr/>
          <a:lstStyle/>
          <a:p>
            <a:endParaRPr lang="en-US"/>
          </a:p>
        </p:txBody>
      </p:sp>
      <p:pic>
        <p:nvPicPr>
          <p:cNvPr id="31" name="Image 4" descr="preencoded.png">
            <a:extLst>
              <a:ext uri="{FF2B5EF4-FFF2-40B4-BE49-F238E27FC236}">
                <a16:creationId xmlns:a16="http://schemas.microsoft.com/office/drawing/2014/main" id="{1EBB9DDA-C666-0204-2626-1F57689B96EA}"/>
              </a:ext>
            </a:extLst>
          </p:cNvPr>
          <p:cNvPicPr>
            <a:picLocks noChangeAspect="1"/>
          </p:cNvPicPr>
          <p:nvPr/>
        </p:nvPicPr>
        <p:blipFill>
          <a:blip r:embed="rId6"/>
          <a:srcRect l="-1064" r="-1064"/>
          <a:stretch/>
        </p:blipFill>
        <p:spPr>
          <a:xfrm>
            <a:off x="6449263" y="4194353"/>
            <a:ext cx="219456" cy="171907"/>
          </a:xfrm>
          <a:prstGeom prst="rect">
            <a:avLst/>
          </a:prstGeom>
        </p:spPr>
      </p:pic>
      <p:sp>
        <p:nvSpPr>
          <p:cNvPr id="32" name="Text 29">
            <a:extLst>
              <a:ext uri="{FF2B5EF4-FFF2-40B4-BE49-F238E27FC236}">
                <a16:creationId xmlns:a16="http://schemas.microsoft.com/office/drawing/2014/main" id="{4F956CD2-99A5-102D-603F-49867AA92B41}"/>
              </a:ext>
            </a:extLst>
          </p:cNvPr>
          <p:cNvSpPr txBox="1"/>
          <p:nvPr/>
        </p:nvSpPr>
        <p:spPr>
          <a:xfrm>
            <a:off x="7016191" y="4090111"/>
            <a:ext cx="4506163" cy="171907"/>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Teams Must Maintain Scenario Quality</a:t>
            </a:r>
            <a:endParaRPr lang="en-US" sz="1200" dirty="0"/>
          </a:p>
        </p:txBody>
      </p:sp>
      <p:sp>
        <p:nvSpPr>
          <p:cNvPr id="33" name="Text 30">
            <a:extLst>
              <a:ext uri="{FF2B5EF4-FFF2-40B4-BE49-F238E27FC236}">
                <a16:creationId xmlns:a16="http://schemas.microsoft.com/office/drawing/2014/main" id="{CEA14A4A-B0BE-78B5-10DE-81857A2120E8}"/>
              </a:ext>
            </a:extLst>
          </p:cNvPr>
          <p:cNvSpPr txBox="1"/>
          <p:nvPr/>
        </p:nvSpPr>
        <p:spPr>
          <a:xfrm>
            <a:off x="7016191" y="4291279"/>
            <a:ext cx="4467758" cy="391363"/>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Scenario quality depends on team discipline. Unmaintained scenarios can become outdated and misleading.</a:t>
            </a:r>
            <a:endParaRPr lang="en-US" sz="1000" dirty="0"/>
          </a:p>
        </p:txBody>
      </p:sp>
      <p:sp>
        <p:nvSpPr>
          <p:cNvPr id="34" name="Shape 31">
            <a:extLst>
              <a:ext uri="{FF2B5EF4-FFF2-40B4-BE49-F238E27FC236}">
                <a16:creationId xmlns:a16="http://schemas.microsoft.com/office/drawing/2014/main" id="{B88B78F0-5931-0779-D88A-45E95788F08B}"/>
              </a:ext>
            </a:extLst>
          </p:cNvPr>
          <p:cNvSpPr/>
          <p:nvPr/>
        </p:nvSpPr>
        <p:spPr>
          <a:xfrm>
            <a:off x="7016191" y="4756709"/>
            <a:ext cx="580644"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sp>
        <p:nvSpPr>
          <p:cNvPr id="35" name="Text 32">
            <a:extLst>
              <a:ext uri="{FF2B5EF4-FFF2-40B4-BE49-F238E27FC236}">
                <a16:creationId xmlns:a16="http://schemas.microsoft.com/office/drawing/2014/main" id="{C4F3E21C-2E01-989E-BB8E-04490D04259B}"/>
              </a:ext>
            </a:extLst>
          </p:cNvPr>
          <p:cNvSpPr/>
          <p:nvPr/>
        </p:nvSpPr>
        <p:spPr>
          <a:xfrm>
            <a:off x="6987845" y="4756709"/>
            <a:ext cx="638251" cy="277063"/>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000" b="1" dirty="0">
                <a:solidFill>
                  <a:srgbClr val="92400E"/>
                </a:solidFill>
                <a:latin typeface="Raleway" pitchFamily="34" charset="0"/>
                <a:ea typeface="Raleway" pitchFamily="34" charset="-122"/>
                <a:cs typeface="Raleway" pitchFamily="34" charset="-120"/>
              </a:rPr>
              <a:t>Team</a:t>
            </a:r>
            <a:endParaRPr lang="en-US" sz="1000" dirty="0"/>
          </a:p>
        </p:txBody>
      </p:sp>
      <p:sp>
        <p:nvSpPr>
          <p:cNvPr id="36" name="Text 33">
            <a:extLst>
              <a:ext uri="{FF2B5EF4-FFF2-40B4-BE49-F238E27FC236}">
                <a16:creationId xmlns:a16="http://schemas.microsoft.com/office/drawing/2014/main" id="{CB66EC70-27CE-C077-4704-A63A5B4D220A}"/>
              </a:ext>
            </a:extLst>
          </p:cNvPr>
          <p:cNvSpPr txBox="1"/>
          <p:nvPr/>
        </p:nvSpPr>
        <p:spPr>
          <a:xfrm>
            <a:off x="7667244" y="4799686"/>
            <a:ext cx="662940" cy="191110"/>
          </a:xfrm>
          <a:prstGeom prst="rect">
            <a:avLst/>
          </a:prstGeom>
          <a:noFill/>
          <a:ln/>
        </p:spPr>
        <p:txBody>
          <a:bodyPr wrap="square" lIns="0" tIns="0" rIns="0" bIns="0" rtlCol="0" anchor="ctr"/>
          <a:lstStyle/>
          <a:p>
            <a:pPr marL="0" indent="0" algn="l">
              <a:buNone/>
            </a:pPr>
            <a:r>
              <a:rPr lang="en-US" sz="1000" dirty="0">
                <a:solidFill>
                  <a:srgbClr val="6B7280"/>
                </a:solidFill>
                <a:latin typeface="Raleway" pitchFamily="34" charset="0"/>
                <a:ea typeface="Raleway" pitchFamily="34" charset="-122"/>
                <a:cs typeface="Raleway" pitchFamily="34" charset="-120"/>
              </a:rPr>
              <a:t>Required</a:t>
            </a:r>
            <a:endParaRPr lang="en-US" sz="1000" dirty="0"/>
          </a:p>
        </p:txBody>
      </p:sp>
      <p:sp>
        <p:nvSpPr>
          <p:cNvPr id="37" name="Shape 34">
            <a:extLst>
              <a:ext uri="{FF2B5EF4-FFF2-40B4-BE49-F238E27FC236}">
                <a16:creationId xmlns:a16="http://schemas.microsoft.com/office/drawing/2014/main" id="{74574EEA-8F57-067F-EFC6-5530BE653066}"/>
              </a:ext>
            </a:extLst>
          </p:cNvPr>
          <p:cNvSpPr/>
          <p:nvPr/>
        </p:nvSpPr>
        <p:spPr>
          <a:xfrm>
            <a:off x="609905" y="5385816"/>
            <a:ext cx="10972800" cy="580644"/>
          </a:xfrm>
          <a:prstGeom prst="roundRect">
            <a:avLst>
              <a:gd name="adj" fmla="val 41306"/>
            </a:avLst>
          </a:prstGeom>
          <a:solidFill>
            <a:srgbClr val="F9FAFB"/>
          </a:solidFill>
          <a:ln w="12700">
            <a:solidFill>
              <a:srgbClr val="FFFFFF">
                <a:alpha val="0"/>
              </a:srgbClr>
            </a:solidFill>
            <a:prstDash val="solid"/>
          </a:ln>
        </p:spPr>
        <p:txBody>
          <a:bodyPr/>
          <a:lstStyle/>
          <a:p>
            <a:endParaRPr lang="en-US"/>
          </a:p>
        </p:txBody>
      </p:sp>
      <p:sp>
        <p:nvSpPr>
          <p:cNvPr id="38" name="Shape 35">
            <a:extLst>
              <a:ext uri="{FF2B5EF4-FFF2-40B4-BE49-F238E27FC236}">
                <a16:creationId xmlns:a16="http://schemas.microsoft.com/office/drawing/2014/main" id="{A2894ACE-845C-77D0-A40D-3743A604AAA7}"/>
              </a:ext>
            </a:extLst>
          </p:cNvPr>
          <p:cNvSpPr/>
          <p:nvPr/>
        </p:nvSpPr>
        <p:spPr>
          <a:xfrm>
            <a:off x="761695" y="5538521"/>
            <a:ext cx="1543507"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sp>
        <p:nvSpPr>
          <p:cNvPr id="39" name="Text 36">
            <a:extLst>
              <a:ext uri="{FF2B5EF4-FFF2-40B4-BE49-F238E27FC236}">
                <a16:creationId xmlns:a16="http://schemas.microsoft.com/office/drawing/2014/main" id="{BF49A268-7F5B-B1ED-DDAF-FC6D36B276DF}"/>
              </a:ext>
            </a:extLst>
          </p:cNvPr>
          <p:cNvSpPr/>
          <p:nvPr/>
        </p:nvSpPr>
        <p:spPr>
          <a:xfrm>
            <a:off x="942746" y="5544313"/>
            <a:ext cx="1335024" cy="276149"/>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92400E"/>
                </a:solidFill>
                <a:latin typeface="Raleway" pitchFamily="34" charset="0"/>
                <a:ea typeface="Raleway" pitchFamily="34" charset="-122"/>
                <a:cs typeface="Raleway" pitchFamily="34" charset="-120"/>
              </a:rPr>
              <a:t> 4 Key Limitations </a:t>
            </a:r>
            <a:endParaRPr lang="en-US" sz="1000" dirty="0"/>
          </a:p>
        </p:txBody>
      </p:sp>
      <p:pic>
        <p:nvPicPr>
          <p:cNvPr id="40" name="Image 5" descr="preencoded.png">
            <a:extLst>
              <a:ext uri="{FF2B5EF4-FFF2-40B4-BE49-F238E27FC236}">
                <a16:creationId xmlns:a16="http://schemas.microsoft.com/office/drawing/2014/main" id="{5B5E1F51-1069-E78D-C087-B4DC11FA91CB}"/>
              </a:ext>
            </a:extLst>
          </p:cNvPr>
          <p:cNvPicPr>
            <a:picLocks noChangeAspect="1"/>
          </p:cNvPicPr>
          <p:nvPr/>
        </p:nvPicPr>
        <p:blipFill>
          <a:blip r:embed="rId7"/>
          <a:srcRect/>
          <a:stretch/>
        </p:blipFill>
        <p:spPr>
          <a:xfrm>
            <a:off x="875995" y="5602529"/>
            <a:ext cx="133502" cy="133502"/>
          </a:xfrm>
          <a:prstGeom prst="rect">
            <a:avLst/>
          </a:prstGeom>
        </p:spPr>
      </p:pic>
      <p:sp>
        <p:nvSpPr>
          <p:cNvPr id="41" name="Text 37">
            <a:extLst>
              <a:ext uri="{FF2B5EF4-FFF2-40B4-BE49-F238E27FC236}">
                <a16:creationId xmlns:a16="http://schemas.microsoft.com/office/drawing/2014/main" id="{65E07C98-E817-E324-980F-BD96CCFF4020}"/>
              </a:ext>
            </a:extLst>
          </p:cNvPr>
          <p:cNvSpPr txBox="1"/>
          <p:nvPr/>
        </p:nvSpPr>
        <p:spPr>
          <a:xfrm>
            <a:off x="2453335" y="5581498"/>
            <a:ext cx="408005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Be aware of these constraints when implementing MSW</a:t>
            </a:r>
            <a:endParaRPr lang="en-US" sz="1000" dirty="0"/>
          </a:p>
        </p:txBody>
      </p:sp>
      <p:sp>
        <p:nvSpPr>
          <p:cNvPr id="42" name="Text 38">
            <a:extLst>
              <a:ext uri="{FF2B5EF4-FFF2-40B4-BE49-F238E27FC236}">
                <a16:creationId xmlns:a16="http://schemas.microsoft.com/office/drawing/2014/main" id="{F2012700-4A2A-11C0-6F39-4C1BACC56288}"/>
              </a:ext>
            </a:extLst>
          </p:cNvPr>
          <p:cNvSpPr txBox="1"/>
          <p:nvPr/>
        </p:nvSpPr>
        <p:spPr>
          <a:xfrm>
            <a:off x="10140696" y="5581498"/>
            <a:ext cx="759866"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Mitigation:</a:t>
            </a:r>
            <a:endParaRPr lang="en-US" sz="1000" dirty="0"/>
          </a:p>
        </p:txBody>
      </p:sp>
      <p:sp>
        <p:nvSpPr>
          <p:cNvPr id="43" name="Text 39">
            <a:extLst>
              <a:ext uri="{FF2B5EF4-FFF2-40B4-BE49-F238E27FC236}">
                <a16:creationId xmlns:a16="http://schemas.microsoft.com/office/drawing/2014/main" id="{3FFD5F16-1EC5-AAFF-1DE7-24C4290B5CEA}"/>
              </a:ext>
            </a:extLst>
          </p:cNvPr>
          <p:cNvSpPr txBox="1"/>
          <p:nvPr/>
        </p:nvSpPr>
        <p:spPr>
          <a:xfrm>
            <a:off x="10847527" y="5581498"/>
            <a:ext cx="703174" cy="191110"/>
          </a:xfrm>
          <a:prstGeom prst="rect">
            <a:avLst/>
          </a:prstGeom>
          <a:noFill/>
          <a:ln/>
        </p:spPr>
        <p:txBody>
          <a:bodyPr wrap="square" lIns="0" tIns="0" rIns="0" bIns="0" rtlCol="0" anchor="ctr"/>
          <a:lstStyle/>
          <a:p>
            <a:pPr marL="0" indent="0" algn="l">
              <a:buNone/>
            </a:pPr>
            <a:r>
              <a:rPr lang="en-US" sz="1000" b="1" dirty="0">
                <a:solidFill>
                  <a:srgbClr val="059669"/>
                </a:solidFill>
                <a:latin typeface="Raleway" pitchFamily="34" charset="0"/>
                <a:ea typeface="Raleway" pitchFamily="34" charset="-122"/>
                <a:cs typeface="Raleway" pitchFamily="34" charset="-120"/>
              </a:rPr>
              <a:t>Available</a:t>
            </a:r>
            <a:endParaRPr lang="en-US" sz="1000" dirty="0"/>
          </a:p>
        </p:txBody>
      </p:sp>
    </p:spTree>
    <p:extLst>
      <p:ext uri="{BB962C8B-B14F-4D97-AF65-F5344CB8AC3E}">
        <p14:creationId xmlns:p14="http://schemas.microsoft.com/office/powerpoint/2010/main" val="212340395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03C3-5BE9-F1ED-07D6-CEA09E97F60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A9E8E3-5B3F-891B-1CED-17F7BDA880DA}"/>
              </a:ext>
            </a:extLst>
          </p:cNvPr>
          <p:cNvSpPr>
            <a:spLocks noGrp="1"/>
          </p:cNvSpPr>
          <p:nvPr>
            <p:ph type="sldNum" sz="quarter" idx="12"/>
          </p:nvPr>
        </p:nvSpPr>
        <p:spPr/>
        <p:txBody>
          <a:bodyPr/>
          <a:lstStyle/>
          <a:p>
            <a:fld id="{F01A0BEF-C76D-43A2-874C-09A8674B0D74}" type="slidenum">
              <a:rPr lang="en-GB" smtClean="0"/>
              <a:t>17</a:t>
            </a:fld>
            <a:endParaRPr lang="en-GB"/>
          </a:p>
        </p:txBody>
      </p:sp>
      <p:sp>
        <p:nvSpPr>
          <p:cNvPr id="2" name="Text 4">
            <a:extLst>
              <a:ext uri="{FF2B5EF4-FFF2-40B4-BE49-F238E27FC236}">
                <a16:creationId xmlns:a16="http://schemas.microsoft.com/office/drawing/2014/main" id="{4ADD003E-1476-79CB-7F99-EFACE9DBF419}"/>
              </a:ext>
            </a:extLst>
          </p:cNvPr>
          <p:cNvSpPr txBox="1"/>
          <p:nvPr/>
        </p:nvSpPr>
        <p:spPr>
          <a:xfrm>
            <a:off x="609905" y="914400"/>
            <a:ext cx="11163910" cy="676656"/>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HOW WE KEEP IT SAFE</a:t>
            </a:r>
            <a:endParaRPr lang="en-US" sz="4800" dirty="0">
              <a:solidFill>
                <a:srgbClr val="091044"/>
              </a:solidFill>
            </a:endParaRPr>
          </a:p>
        </p:txBody>
      </p:sp>
      <p:sp>
        <p:nvSpPr>
          <p:cNvPr id="3" name="Text 5">
            <a:extLst>
              <a:ext uri="{FF2B5EF4-FFF2-40B4-BE49-F238E27FC236}">
                <a16:creationId xmlns:a16="http://schemas.microsoft.com/office/drawing/2014/main" id="{916AE978-60BB-9A53-EE2C-130394C6D59A}"/>
              </a:ext>
            </a:extLst>
          </p:cNvPr>
          <p:cNvSpPr txBox="1"/>
          <p:nvPr/>
        </p:nvSpPr>
        <p:spPr>
          <a:xfrm>
            <a:off x="609905" y="1661465"/>
            <a:ext cx="11087100" cy="267005"/>
          </a:xfrm>
          <a:prstGeom prst="rect">
            <a:avLst/>
          </a:prstGeom>
          <a:noFill/>
          <a:ln/>
        </p:spPr>
        <p:txBody>
          <a:bodyPr wrap="square" lIns="0" tIns="0" rIns="0" bIns="0" rtlCol="0" anchor="ctr"/>
          <a:lstStyle/>
          <a:p>
            <a:pPr marL="0" indent="0" algn="l">
              <a:buNone/>
            </a:pPr>
            <a:r>
              <a:rPr lang="en-US" sz="1300" dirty="0">
                <a:solidFill>
                  <a:srgbClr val="4B5563"/>
                </a:solidFill>
                <a:latin typeface="Raleway" pitchFamily="34" charset="0"/>
                <a:ea typeface="Raleway" pitchFamily="34" charset="-122"/>
                <a:cs typeface="Raleway" pitchFamily="34" charset="-120"/>
              </a:rPr>
              <a:t>Safety measures to ensure reliable frontend development with MSW</a:t>
            </a:r>
            <a:endParaRPr lang="en-US" sz="1300" dirty="0"/>
          </a:p>
        </p:txBody>
      </p:sp>
      <p:sp>
        <p:nvSpPr>
          <p:cNvPr id="5" name="Shape 6">
            <a:extLst>
              <a:ext uri="{FF2B5EF4-FFF2-40B4-BE49-F238E27FC236}">
                <a16:creationId xmlns:a16="http://schemas.microsoft.com/office/drawing/2014/main" id="{A92FBADE-CE2D-3386-C607-9E7A58266726}"/>
              </a:ext>
            </a:extLst>
          </p:cNvPr>
          <p:cNvSpPr/>
          <p:nvPr/>
        </p:nvSpPr>
        <p:spPr>
          <a:xfrm>
            <a:off x="609905" y="2156155"/>
            <a:ext cx="2628900" cy="2257654"/>
          </a:xfrm>
          <a:prstGeom prst="roundRect">
            <a:avLst>
              <a:gd name="adj" fmla="val 4101"/>
            </a:avLst>
          </a:prstGeom>
          <a:solidFill>
            <a:srgbClr val="FFFFFF"/>
          </a:solidFill>
          <a:ln w="12700">
            <a:solidFill>
              <a:srgbClr val="E2E8F0"/>
            </a:solidFill>
            <a:prstDash val="solid"/>
          </a:ln>
        </p:spPr>
        <p:txBody>
          <a:bodyPr/>
          <a:lstStyle/>
          <a:p>
            <a:endParaRPr lang="en-US"/>
          </a:p>
        </p:txBody>
      </p:sp>
      <p:sp>
        <p:nvSpPr>
          <p:cNvPr id="6" name="Shape 7">
            <a:extLst>
              <a:ext uri="{FF2B5EF4-FFF2-40B4-BE49-F238E27FC236}">
                <a16:creationId xmlns:a16="http://schemas.microsoft.com/office/drawing/2014/main" id="{0BE0D495-EB8B-CE5F-D90E-905960496E2A}"/>
              </a:ext>
            </a:extLst>
          </p:cNvPr>
          <p:cNvSpPr/>
          <p:nvPr/>
        </p:nvSpPr>
        <p:spPr>
          <a:xfrm>
            <a:off x="847649" y="2394814"/>
            <a:ext cx="533095" cy="533095"/>
          </a:xfrm>
          <a:prstGeom prst="roundRect">
            <a:avLst>
              <a:gd name="adj" fmla="val 73511"/>
            </a:avLst>
          </a:prstGeom>
          <a:solidFill>
            <a:srgbClr val="ECFDF5"/>
          </a:solidFill>
          <a:ln w="12700">
            <a:solidFill>
              <a:srgbClr val="FFFFFF">
                <a:alpha val="0"/>
              </a:srgbClr>
            </a:solidFill>
            <a:prstDash val="solid"/>
          </a:ln>
        </p:spPr>
        <p:txBody>
          <a:bodyPr/>
          <a:lstStyle/>
          <a:p>
            <a:endParaRPr lang="en-US"/>
          </a:p>
        </p:txBody>
      </p:sp>
      <p:pic>
        <p:nvPicPr>
          <p:cNvPr id="7" name="Image 2" descr="preencoded.png">
            <a:extLst>
              <a:ext uri="{FF2B5EF4-FFF2-40B4-BE49-F238E27FC236}">
                <a16:creationId xmlns:a16="http://schemas.microsoft.com/office/drawing/2014/main" id="{E2E43B4D-6885-B336-237D-15F0BE2602FD}"/>
              </a:ext>
            </a:extLst>
          </p:cNvPr>
          <p:cNvPicPr>
            <a:picLocks noChangeAspect="1"/>
          </p:cNvPicPr>
          <p:nvPr/>
        </p:nvPicPr>
        <p:blipFill>
          <a:blip r:embed="rId3"/>
          <a:srcRect/>
          <a:stretch/>
        </p:blipFill>
        <p:spPr>
          <a:xfrm>
            <a:off x="1000354" y="2546604"/>
            <a:ext cx="228600" cy="228600"/>
          </a:xfrm>
          <a:prstGeom prst="rect">
            <a:avLst/>
          </a:prstGeom>
        </p:spPr>
      </p:pic>
      <p:sp>
        <p:nvSpPr>
          <p:cNvPr id="8" name="Text 8">
            <a:extLst>
              <a:ext uri="{FF2B5EF4-FFF2-40B4-BE49-F238E27FC236}">
                <a16:creationId xmlns:a16="http://schemas.microsoft.com/office/drawing/2014/main" id="{8A14556C-0959-F060-2426-402527008FDE}"/>
              </a:ext>
            </a:extLst>
          </p:cNvPr>
          <p:cNvSpPr txBox="1"/>
          <p:nvPr/>
        </p:nvSpPr>
        <p:spPr>
          <a:xfrm>
            <a:off x="847649" y="3080614"/>
            <a:ext cx="2562149"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Real Mode Always Available</a:t>
            </a:r>
            <a:endParaRPr lang="en-US" sz="1300" dirty="0"/>
          </a:p>
        </p:txBody>
      </p:sp>
      <p:sp>
        <p:nvSpPr>
          <p:cNvPr id="9" name="Text 9">
            <a:extLst>
              <a:ext uri="{FF2B5EF4-FFF2-40B4-BE49-F238E27FC236}">
                <a16:creationId xmlns:a16="http://schemas.microsoft.com/office/drawing/2014/main" id="{AA8BC876-FEC8-96D5-5056-00660AE6E748}"/>
              </a:ext>
            </a:extLst>
          </p:cNvPr>
          <p:cNvSpPr txBox="1"/>
          <p:nvPr/>
        </p:nvSpPr>
        <p:spPr>
          <a:xfrm>
            <a:off x="847649" y="3407969"/>
            <a:ext cx="2229307" cy="400507"/>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Keep one real integration path alive for validation</a:t>
            </a:r>
            <a:endParaRPr lang="en-US" sz="1000" dirty="0"/>
          </a:p>
        </p:txBody>
      </p:sp>
      <p:sp>
        <p:nvSpPr>
          <p:cNvPr id="10" name="Shape 10">
            <a:extLst>
              <a:ext uri="{FF2B5EF4-FFF2-40B4-BE49-F238E27FC236}">
                <a16:creationId xmlns:a16="http://schemas.microsoft.com/office/drawing/2014/main" id="{3648F88B-B12E-68D9-951E-878C4D62A86B}"/>
              </a:ext>
            </a:extLst>
          </p:cNvPr>
          <p:cNvSpPr/>
          <p:nvPr/>
        </p:nvSpPr>
        <p:spPr>
          <a:xfrm>
            <a:off x="847649" y="3922776"/>
            <a:ext cx="743407" cy="247802"/>
          </a:xfrm>
          <a:prstGeom prst="roundRect">
            <a:avLst>
              <a:gd name="adj" fmla="val 369004"/>
            </a:avLst>
          </a:prstGeom>
          <a:solidFill>
            <a:srgbClr val="C6F6D5"/>
          </a:solidFill>
          <a:ln w="12700">
            <a:solidFill>
              <a:srgbClr val="FFFFFF">
                <a:alpha val="0"/>
              </a:srgbClr>
            </a:solidFill>
            <a:prstDash val="solid"/>
          </a:ln>
        </p:spPr>
        <p:txBody>
          <a:bodyPr/>
          <a:lstStyle/>
          <a:p>
            <a:endParaRPr lang="en-US"/>
          </a:p>
        </p:txBody>
      </p:sp>
      <p:pic>
        <p:nvPicPr>
          <p:cNvPr id="11" name="Image 3" descr="preencoded.png">
            <a:extLst>
              <a:ext uri="{FF2B5EF4-FFF2-40B4-BE49-F238E27FC236}">
                <a16:creationId xmlns:a16="http://schemas.microsoft.com/office/drawing/2014/main" id="{08709939-26C5-064A-EEB8-AE95D223BC5F}"/>
              </a:ext>
            </a:extLst>
          </p:cNvPr>
          <p:cNvPicPr>
            <a:picLocks noChangeAspect="1"/>
          </p:cNvPicPr>
          <p:nvPr/>
        </p:nvPicPr>
        <p:blipFill>
          <a:blip r:embed="rId4"/>
          <a:srcRect l="-2571" r="-2571"/>
          <a:stretch/>
        </p:blipFill>
        <p:spPr>
          <a:xfrm>
            <a:off x="961949" y="3989527"/>
            <a:ext cx="105156" cy="114300"/>
          </a:xfrm>
          <a:prstGeom prst="rect">
            <a:avLst/>
          </a:prstGeom>
        </p:spPr>
      </p:pic>
      <p:sp>
        <p:nvSpPr>
          <p:cNvPr id="12" name="Text 11">
            <a:extLst>
              <a:ext uri="{FF2B5EF4-FFF2-40B4-BE49-F238E27FC236}">
                <a16:creationId xmlns:a16="http://schemas.microsoft.com/office/drawing/2014/main" id="{65D11AA0-E1FE-33A4-6EB8-7D7FD5522B72}"/>
              </a:ext>
            </a:extLst>
          </p:cNvPr>
          <p:cNvSpPr txBox="1"/>
          <p:nvPr/>
        </p:nvSpPr>
        <p:spPr>
          <a:xfrm>
            <a:off x="1143000" y="3922776"/>
            <a:ext cx="391363" cy="247802"/>
          </a:xfrm>
          <a:prstGeom prst="rect">
            <a:avLst/>
          </a:prstGeom>
          <a:noFill/>
          <a:ln/>
        </p:spPr>
        <p:txBody>
          <a:bodyPr wrap="square" lIns="0" tIns="0" rIns="0" bIns="0" rtlCol="0" anchor="ctr"/>
          <a:lstStyle/>
          <a:p>
            <a:pPr marL="0" indent="0" algn="l">
              <a:buNone/>
            </a:pPr>
            <a:r>
              <a:rPr lang="en-US" sz="900" dirty="0">
                <a:solidFill>
                  <a:srgbClr val="22543D"/>
                </a:solidFill>
                <a:latin typeface="Raleway" pitchFamily="34" charset="0"/>
                <a:ea typeface="Raleway" pitchFamily="34" charset="-122"/>
                <a:cs typeface="Raleway" pitchFamily="34" charset="-120"/>
              </a:rPr>
              <a:t>Active</a:t>
            </a:r>
            <a:endParaRPr lang="en-US" sz="900" dirty="0"/>
          </a:p>
        </p:txBody>
      </p:sp>
      <p:sp>
        <p:nvSpPr>
          <p:cNvPr id="13" name="Shape 12">
            <a:extLst>
              <a:ext uri="{FF2B5EF4-FFF2-40B4-BE49-F238E27FC236}">
                <a16:creationId xmlns:a16="http://schemas.microsoft.com/office/drawing/2014/main" id="{E0A6B43B-6957-EA96-E20D-48C664E36E9D}"/>
              </a:ext>
            </a:extLst>
          </p:cNvPr>
          <p:cNvSpPr/>
          <p:nvPr/>
        </p:nvSpPr>
        <p:spPr>
          <a:xfrm>
            <a:off x="3390595" y="2156155"/>
            <a:ext cx="2628900" cy="2257654"/>
          </a:xfrm>
          <a:prstGeom prst="roundRect">
            <a:avLst>
              <a:gd name="adj" fmla="val 4101"/>
            </a:avLst>
          </a:prstGeom>
          <a:solidFill>
            <a:srgbClr val="FFFFFF"/>
          </a:solidFill>
          <a:ln w="12700">
            <a:solidFill>
              <a:srgbClr val="E2E8F0"/>
            </a:solidFill>
            <a:prstDash val="solid"/>
          </a:ln>
        </p:spPr>
        <p:txBody>
          <a:bodyPr/>
          <a:lstStyle/>
          <a:p>
            <a:endParaRPr lang="en-US"/>
          </a:p>
        </p:txBody>
      </p:sp>
      <p:sp>
        <p:nvSpPr>
          <p:cNvPr id="14" name="Shape 13">
            <a:extLst>
              <a:ext uri="{FF2B5EF4-FFF2-40B4-BE49-F238E27FC236}">
                <a16:creationId xmlns:a16="http://schemas.microsoft.com/office/drawing/2014/main" id="{D14123B6-2A19-3C39-8489-B6F0C1BAEEF6}"/>
              </a:ext>
            </a:extLst>
          </p:cNvPr>
          <p:cNvSpPr/>
          <p:nvPr/>
        </p:nvSpPr>
        <p:spPr>
          <a:xfrm>
            <a:off x="3629254" y="2394814"/>
            <a:ext cx="533095" cy="533095"/>
          </a:xfrm>
          <a:prstGeom prst="roundRect">
            <a:avLst>
              <a:gd name="adj" fmla="val 73511"/>
            </a:avLst>
          </a:prstGeom>
          <a:solidFill>
            <a:srgbClr val="EFF6FF"/>
          </a:solidFill>
          <a:ln w="12700">
            <a:solidFill>
              <a:srgbClr val="FFFFFF">
                <a:alpha val="0"/>
              </a:srgbClr>
            </a:solidFill>
            <a:prstDash val="solid"/>
          </a:ln>
        </p:spPr>
        <p:txBody>
          <a:bodyPr/>
          <a:lstStyle/>
          <a:p>
            <a:endParaRPr lang="en-US"/>
          </a:p>
        </p:txBody>
      </p:sp>
      <p:pic>
        <p:nvPicPr>
          <p:cNvPr id="15" name="Image 4" descr="preencoded.png">
            <a:extLst>
              <a:ext uri="{FF2B5EF4-FFF2-40B4-BE49-F238E27FC236}">
                <a16:creationId xmlns:a16="http://schemas.microsoft.com/office/drawing/2014/main" id="{41588E14-3CD3-3F7B-9BBD-7E4B7BFB8B1B}"/>
              </a:ext>
            </a:extLst>
          </p:cNvPr>
          <p:cNvPicPr>
            <a:picLocks noChangeAspect="1"/>
          </p:cNvPicPr>
          <p:nvPr/>
        </p:nvPicPr>
        <p:blipFill>
          <a:blip r:embed="rId5"/>
          <a:srcRect l="-57" r="-57"/>
          <a:stretch/>
        </p:blipFill>
        <p:spPr>
          <a:xfrm>
            <a:off x="3795674" y="2546604"/>
            <a:ext cx="200254" cy="228600"/>
          </a:xfrm>
          <a:prstGeom prst="rect">
            <a:avLst/>
          </a:prstGeom>
        </p:spPr>
      </p:pic>
      <p:sp>
        <p:nvSpPr>
          <p:cNvPr id="16" name="Text 14">
            <a:extLst>
              <a:ext uri="{FF2B5EF4-FFF2-40B4-BE49-F238E27FC236}">
                <a16:creationId xmlns:a16="http://schemas.microsoft.com/office/drawing/2014/main" id="{2967767B-EEF7-9AA2-F658-C0FE41020AAE}"/>
              </a:ext>
            </a:extLst>
          </p:cNvPr>
          <p:cNvSpPr txBox="1"/>
          <p:nvPr/>
        </p:nvSpPr>
        <p:spPr>
          <a:xfrm>
            <a:off x="3629254" y="3080614"/>
            <a:ext cx="2477110"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Shared Real Data Source</a:t>
            </a:r>
            <a:endParaRPr lang="en-US" sz="1300" dirty="0"/>
          </a:p>
        </p:txBody>
      </p:sp>
      <p:sp>
        <p:nvSpPr>
          <p:cNvPr id="17" name="Text 15">
            <a:extLst>
              <a:ext uri="{FF2B5EF4-FFF2-40B4-BE49-F238E27FC236}">
                <a16:creationId xmlns:a16="http://schemas.microsoft.com/office/drawing/2014/main" id="{EA249CA3-3621-7F03-FF50-EB6252B7795C}"/>
              </a:ext>
            </a:extLst>
          </p:cNvPr>
          <p:cNvSpPr txBox="1"/>
          <p:nvPr/>
        </p:nvSpPr>
        <p:spPr>
          <a:xfrm>
            <a:off x="3629254" y="3407969"/>
            <a:ext cx="2229307" cy="400507"/>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Use same data for Local API + Backend API</a:t>
            </a:r>
            <a:endParaRPr lang="en-US" sz="1000" dirty="0"/>
          </a:p>
        </p:txBody>
      </p:sp>
      <p:sp>
        <p:nvSpPr>
          <p:cNvPr id="18" name="Shape 16">
            <a:extLst>
              <a:ext uri="{FF2B5EF4-FFF2-40B4-BE49-F238E27FC236}">
                <a16:creationId xmlns:a16="http://schemas.microsoft.com/office/drawing/2014/main" id="{C8190B48-19FF-F2D7-4C87-348F7D8964BE}"/>
              </a:ext>
            </a:extLst>
          </p:cNvPr>
          <p:cNvSpPr/>
          <p:nvPr/>
        </p:nvSpPr>
        <p:spPr>
          <a:xfrm>
            <a:off x="3629254" y="3922776"/>
            <a:ext cx="1009498" cy="247802"/>
          </a:xfrm>
          <a:prstGeom prst="roundRect">
            <a:avLst>
              <a:gd name="adj" fmla="val 369004"/>
            </a:avLst>
          </a:prstGeom>
          <a:solidFill>
            <a:srgbClr val="C6F6D5"/>
          </a:solidFill>
          <a:ln w="12700">
            <a:solidFill>
              <a:srgbClr val="FFFFFF">
                <a:alpha val="0"/>
              </a:srgbClr>
            </a:solidFill>
            <a:prstDash val="solid"/>
          </a:ln>
        </p:spPr>
        <p:txBody>
          <a:bodyPr/>
          <a:lstStyle/>
          <a:p>
            <a:endParaRPr lang="en-US"/>
          </a:p>
        </p:txBody>
      </p:sp>
      <p:pic>
        <p:nvPicPr>
          <p:cNvPr id="19" name="Image 5" descr="preencoded.png">
            <a:extLst>
              <a:ext uri="{FF2B5EF4-FFF2-40B4-BE49-F238E27FC236}">
                <a16:creationId xmlns:a16="http://schemas.microsoft.com/office/drawing/2014/main" id="{6530974B-BF93-F430-C7F0-CA510AE84FAD}"/>
              </a:ext>
            </a:extLst>
          </p:cNvPr>
          <p:cNvPicPr>
            <a:picLocks noChangeAspect="1"/>
          </p:cNvPicPr>
          <p:nvPr/>
        </p:nvPicPr>
        <p:blipFill>
          <a:blip r:embed="rId4"/>
          <a:srcRect l="-2571" r="-2571"/>
          <a:stretch/>
        </p:blipFill>
        <p:spPr>
          <a:xfrm>
            <a:off x="3743554" y="3989527"/>
            <a:ext cx="105156" cy="114300"/>
          </a:xfrm>
          <a:prstGeom prst="rect">
            <a:avLst/>
          </a:prstGeom>
        </p:spPr>
      </p:pic>
      <p:sp>
        <p:nvSpPr>
          <p:cNvPr id="20" name="Text 17">
            <a:extLst>
              <a:ext uri="{FF2B5EF4-FFF2-40B4-BE49-F238E27FC236}">
                <a16:creationId xmlns:a16="http://schemas.microsoft.com/office/drawing/2014/main" id="{762C1817-ADF1-E27B-E803-C7E53EE44ACD}"/>
              </a:ext>
            </a:extLst>
          </p:cNvPr>
          <p:cNvSpPr txBox="1"/>
          <p:nvPr/>
        </p:nvSpPr>
        <p:spPr>
          <a:xfrm>
            <a:off x="3924605" y="3922776"/>
            <a:ext cx="657454" cy="247802"/>
          </a:xfrm>
          <a:prstGeom prst="rect">
            <a:avLst/>
          </a:prstGeom>
          <a:noFill/>
          <a:ln/>
        </p:spPr>
        <p:txBody>
          <a:bodyPr wrap="square" lIns="0" tIns="0" rIns="0" bIns="0" rtlCol="0" anchor="ctr"/>
          <a:lstStyle/>
          <a:p>
            <a:pPr marL="0" indent="0" algn="l">
              <a:buNone/>
            </a:pPr>
            <a:r>
              <a:rPr lang="en-US" sz="900" dirty="0">
                <a:solidFill>
                  <a:srgbClr val="22543D"/>
                </a:solidFill>
                <a:latin typeface="Raleway" pitchFamily="34" charset="0"/>
                <a:ea typeface="Raleway" pitchFamily="34" charset="-122"/>
                <a:cs typeface="Raleway" pitchFamily="34" charset="-120"/>
              </a:rPr>
              <a:t>Connected</a:t>
            </a:r>
            <a:endParaRPr lang="en-US" sz="900" dirty="0"/>
          </a:p>
        </p:txBody>
      </p:sp>
      <p:sp>
        <p:nvSpPr>
          <p:cNvPr id="21" name="Shape 18">
            <a:extLst>
              <a:ext uri="{FF2B5EF4-FFF2-40B4-BE49-F238E27FC236}">
                <a16:creationId xmlns:a16="http://schemas.microsoft.com/office/drawing/2014/main" id="{52F347C0-9546-2DFF-C55A-E53AC7A4A43D}"/>
              </a:ext>
            </a:extLst>
          </p:cNvPr>
          <p:cNvSpPr/>
          <p:nvPr/>
        </p:nvSpPr>
        <p:spPr>
          <a:xfrm>
            <a:off x="6172200" y="2156155"/>
            <a:ext cx="2628900" cy="2257654"/>
          </a:xfrm>
          <a:prstGeom prst="roundRect">
            <a:avLst>
              <a:gd name="adj" fmla="val 4101"/>
            </a:avLst>
          </a:prstGeom>
          <a:solidFill>
            <a:srgbClr val="FFFFFF"/>
          </a:solidFill>
          <a:ln w="12700">
            <a:solidFill>
              <a:srgbClr val="E2E8F0"/>
            </a:solidFill>
            <a:prstDash val="solid"/>
          </a:ln>
        </p:spPr>
        <p:txBody>
          <a:bodyPr/>
          <a:lstStyle/>
          <a:p>
            <a:endParaRPr lang="en-US"/>
          </a:p>
        </p:txBody>
      </p:sp>
      <p:sp>
        <p:nvSpPr>
          <p:cNvPr id="22" name="Shape 19">
            <a:extLst>
              <a:ext uri="{FF2B5EF4-FFF2-40B4-BE49-F238E27FC236}">
                <a16:creationId xmlns:a16="http://schemas.microsoft.com/office/drawing/2014/main" id="{343BD1C1-7EAD-1AFE-D8B5-838B1F9C8A2A}"/>
              </a:ext>
            </a:extLst>
          </p:cNvPr>
          <p:cNvSpPr/>
          <p:nvPr/>
        </p:nvSpPr>
        <p:spPr>
          <a:xfrm>
            <a:off x="6409944" y="2394814"/>
            <a:ext cx="533095" cy="533095"/>
          </a:xfrm>
          <a:prstGeom prst="roundRect">
            <a:avLst>
              <a:gd name="adj" fmla="val 73511"/>
            </a:avLst>
          </a:prstGeom>
          <a:solidFill>
            <a:srgbClr val="FFFBEB"/>
          </a:solidFill>
          <a:ln w="12700">
            <a:solidFill>
              <a:srgbClr val="FFFFFF">
                <a:alpha val="0"/>
              </a:srgbClr>
            </a:solidFill>
            <a:prstDash val="solid"/>
          </a:ln>
        </p:spPr>
        <p:txBody>
          <a:bodyPr/>
          <a:lstStyle/>
          <a:p>
            <a:endParaRPr lang="en-US"/>
          </a:p>
        </p:txBody>
      </p:sp>
      <p:pic>
        <p:nvPicPr>
          <p:cNvPr id="23" name="Image 6" descr="preencoded.png">
            <a:extLst>
              <a:ext uri="{FF2B5EF4-FFF2-40B4-BE49-F238E27FC236}">
                <a16:creationId xmlns:a16="http://schemas.microsoft.com/office/drawing/2014/main" id="{082D7EF6-68E4-194C-B817-D116EEA9CEA9}"/>
              </a:ext>
            </a:extLst>
          </p:cNvPr>
          <p:cNvPicPr>
            <a:picLocks noChangeAspect="1"/>
          </p:cNvPicPr>
          <p:nvPr/>
        </p:nvPicPr>
        <p:blipFill>
          <a:blip r:embed="rId6"/>
          <a:srcRect/>
          <a:stretch/>
        </p:blipFill>
        <p:spPr>
          <a:xfrm>
            <a:off x="6562649" y="2546604"/>
            <a:ext cx="228600" cy="228600"/>
          </a:xfrm>
          <a:prstGeom prst="rect">
            <a:avLst/>
          </a:prstGeom>
        </p:spPr>
      </p:pic>
      <p:sp>
        <p:nvSpPr>
          <p:cNvPr id="24" name="Text 20">
            <a:extLst>
              <a:ext uri="{FF2B5EF4-FFF2-40B4-BE49-F238E27FC236}">
                <a16:creationId xmlns:a16="http://schemas.microsoft.com/office/drawing/2014/main" id="{DCF0E44D-AA82-51D9-FF58-19608B537970}"/>
              </a:ext>
            </a:extLst>
          </p:cNvPr>
          <p:cNvSpPr txBox="1"/>
          <p:nvPr/>
        </p:nvSpPr>
        <p:spPr>
          <a:xfrm>
            <a:off x="6409944" y="3080614"/>
            <a:ext cx="2372868"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Warning States Visible</a:t>
            </a:r>
            <a:endParaRPr lang="en-US" sz="1300" dirty="0"/>
          </a:p>
        </p:txBody>
      </p:sp>
      <p:sp>
        <p:nvSpPr>
          <p:cNvPr id="25" name="Text 21">
            <a:extLst>
              <a:ext uri="{FF2B5EF4-FFF2-40B4-BE49-F238E27FC236}">
                <a16:creationId xmlns:a16="http://schemas.microsoft.com/office/drawing/2014/main" id="{B22EC988-69B9-F93C-08C2-9BF558BA7A57}"/>
              </a:ext>
            </a:extLst>
          </p:cNvPr>
          <p:cNvSpPr txBox="1"/>
          <p:nvPr/>
        </p:nvSpPr>
        <p:spPr>
          <a:xfrm>
            <a:off x="6409944" y="3407969"/>
            <a:ext cx="2562149" cy="200254"/>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Clear UI warnings for system state</a:t>
            </a:r>
            <a:endParaRPr lang="en-US" sz="1000" dirty="0"/>
          </a:p>
        </p:txBody>
      </p:sp>
      <p:sp>
        <p:nvSpPr>
          <p:cNvPr id="26" name="Shape 22">
            <a:extLst>
              <a:ext uri="{FF2B5EF4-FFF2-40B4-BE49-F238E27FC236}">
                <a16:creationId xmlns:a16="http://schemas.microsoft.com/office/drawing/2014/main" id="{D1885E39-17BB-B37B-09B7-8929D715B4A8}"/>
              </a:ext>
            </a:extLst>
          </p:cNvPr>
          <p:cNvSpPr/>
          <p:nvPr/>
        </p:nvSpPr>
        <p:spPr>
          <a:xfrm>
            <a:off x="6409944" y="3722522"/>
            <a:ext cx="800100" cy="247802"/>
          </a:xfrm>
          <a:prstGeom prst="roundRect">
            <a:avLst>
              <a:gd name="adj" fmla="val 369004"/>
            </a:avLst>
          </a:prstGeom>
          <a:solidFill>
            <a:srgbClr val="FEEBC8"/>
          </a:solidFill>
          <a:ln w="12700">
            <a:solidFill>
              <a:srgbClr val="FFFFFF">
                <a:alpha val="0"/>
              </a:srgbClr>
            </a:solidFill>
            <a:prstDash val="solid"/>
          </a:ln>
        </p:spPr>
        <p:txBody>
          <a:bodyPr/>
          <a:lstStyle/>
          <a:p>
            <a:endParaRPr lang="en-US"/>
          </a:p>
        </p:txBody>
      </p:sp>
      <p:pic>
        <p:nvPicPr>
          <p:cNvPr id="27" name="Image 7" descr="preencoded.png">
            <a:extLst>
              <a:ext uri="{FF2B5EF4-FFF2-40B4-BE49-F238E27FC236}">
                <a16:creationId xmlns:a16="http://schemas.microsoft.com/office/drawing/2014/main" id="{A09546B3-F252-9AB1-37BB-E74EB037FF33}"/>
              </a:ext>
            </a:extLst>
          </p:cNvPr>
          <p:cNvPicPr>
            <a:picLocks noChangeAspect="1"/>
          </p:cNvPicPr>
          <p:nvPr/>
        </p:nvPicPr>
        <p:blipFill>
          <a:blip r:embed="rId7"/>
          <a:srcRect l="-1911" r="-1911"/>
          <a:stretch/>
        </p:blipFill>
        <p:spPr>
          <a:xfrm>
            <a:off x="6524244" y="3789274"/>
            <a:ext cx="133502" cy="114300"/>
          </a:xfrm>
          <a:prstGeom prst="rect">
            <a:avLst/>
          </a:prstGeom>
        </p:spPr>
      </p:pic>
      <p:sp>
        <p:nvSpPr>
          <p:cNvPr id="28" name="Text 23">
            <a:extLst>
              <a:ext uri="{FF2B5EF4-FFF2-40B4-BE49-F238E27FC236}">
                <a16:creationId xmlns:a16="http://schemas.microsoft.com/office/drawing/2014/main" id="{2B124D55-1ED8-A057-C5A0-4551A9E69C7B}"/>
              </a:ext>
            </a:extLst>
          </p:cNvPr>
          <p:cNvSpPr txBox="1"/>
          <p:nvPr/>
        </p:nvSpPr>
        <p:spPr>
          <a:xfrm>
            <a:off x="6734556" y="3722522"/>
            <a:ext cx="419710" cy="247802"/>
          </a:xfrm>
          <a:prstGeom prst="rect">
            <a:avLst/>
          </a:prstGeom>
          <a:noFill/>
          <a:ln/>
        </p:spPr>
        <p:txBody>
          <a:bodyPr wrap="square" lIns="0" tIns="0" rIns="0" bIns="0" rtlCol="0" anchor="ctr"/>
          <a:lstStyle/>
          <a:p>
            <a:pPr marL="0" indent="0" algn="l">
              <a:buNone/>
            </a:pPr>
            <a:r>
              <a:rPr lang="en-US" sz="900" dirty="0">
                <a:solidFill>
                  <a:srgbClr val="C05621"/>
                </a:solidFill>
                <a:latin typeface="Raleway" pitchFamily="34" charset="0"/>
                <a:ea typeface="Raleway" pitchFamily="34" charset="-122"/>
                <a:cs typeface="Raleway" pitchFamily="34" charset="-120"/>
              </a:rPr>
              <a:t>Visible</a:t>
            </a:r>
            <a:endParaRPr lang="en-US" sz="900" dirty="0"/>
          </a:p>
        </p:txBody>
      </p:sp>
      <p:sp>
        <p:nvSpPr>
          <p:cNvPr id="29" name="Shape 24">
            <a:extLst>
              <a:ext uri="{FF2B5EF4-FFF2-40B4-BE49-F238E27FC236}">
                <a16:creationId xmlns:a16="http://schemas.microsoft.com/office/drawing/2014/main" id="{C8C98C4C-3363-1F7D-145E-084CEFF2BAC9}"/>
              </a:ext>
            </a:extLst>
          </p:cNvPr>
          <p:cNvSpPr/>
          <p:nvPr/>
        </p:nvSpPr>
        <p:spPr>
          <a:xfrm>
            <a:off x="8953805" y="2156155"/>
            <a:ext cx="2628900" cy="2257654"/>
          </a:xfrm>
          <a:prstGeom prst="roundRect">
            <a:avLst>
              <a:gd name="adj" fmla="val 4101"/>
            </a:avLst>
          </a:prstGeom>
          <a:solidFill>
            <a:srgbClr val="FFFFFF"/>
          </a:solidFill>
          <a:ln w="12700">
            <a:solidFill>
              <a:srgbClr val="E2E8F0"/>
            </a:solidFill>
            <a:prstDash val="solid"/>
          </a:ln>
        </p:spPr>
        <p:txBody>
          <a:bodyPr/>
          <a:lstStyle/>
          <a:p>
            <a:endParaRPr lang="en-US"/>
          </a:p>
        </p:txBody>
      </p:sp>
      <p:sp>
        <p:nvSpPr>
          <p:cNvPr id="30" name="Shape 25">
            <a:extLst>
              <a:ext uri="{FF2B5EF4-FFF2-40B4-BE49-F238E27FC236}">
                <a16:creationId xmlns:a16="http://schemas.microsoft.com/office/drawing/2014/main" id="{5E069B2D-F242-EF5B-6B3E-E3280F49B221}"/>
              </a:ext>
            </a:extLst>
          </p:cNvPr>
          <p:cNvSpPr/>
          <p:nvPr/>
        </p:nvSpPr>
        <p:spPr>
          <a:xfrm>
            <a:off x="9191549" y="2394814"/>
            <a:ext cx="533095" cy="533095"/>
          </a:xfrm>
          <a:prstGeom prst="roundRect">
            <a:avLst>
              <a:gd name="adj" fmla="val 73511"/>
            </a:avLst>
          </a:prstGeom>
          <a:solidFill>
            <a:srgbClr val="F5F3FF"/>
          </a:solidFill>
          <a:ln w="12700">
            <a:solidFill>
              <a:srgbClr val="FFFFFF">
                <a:alpha val="0"/>
              </a:srgbClr>
            </a:solidFill>
            <a:prstDash val="solid"/>
          </a:ln>
        </p:spPr>
        <p:txBody>
          <a:bodyPr/>
          <a:lstStyle/>
          <a:p>
            <a:endParaRPr lang="en-US"/>
          </a:p>
        </p:txBody>
      </p:sp>
      <p:pic>
        <p:nvPicPr>
          <p:cNvPr id="31" name="Image 8" descr="preencoded.png">
            <a:extLst>
              <a:ext uri="{FF2B5EF4-FFF2-40B4-BE49-F238E27FC236}">
                <a16:creationId xmlns:a16="http://schemas.microsoft.com/office/drawing/2014/main" id="{8C46386A-7DDB-A477-7F92-268083D5D1B0}"/>
              </a:ext>
            </a:extLst>
          </p:cNvPr>
          <p:cNvPicPr>
            <a:picLocks noChangeAspect="1"/>
          </p:cNvPicPr>
          <p:nvPr/>
        </p:nvPicPr>
        <p:blipFill>
          <a:blip r:embed="rId8"/>
          <a:srcRect/>
          <a:stretch/>
        </p:blipFill>
        <p:spPr>
          <a:xfrm>
            <a:off x="9344254" y="2546604"/>
            <a:ext cx="228600" cy="228600"/>
          </a:xfrm>
          <a:prstGeom prst="rect">
            <a:avLst/>
          </a:prstGeom>
        </p:spPr>
      </p:pic>
      <p:sp>
        <p:nvSpPr>
          <p:cNvPr id="32" name="Text 26">
            <a:extLst>
              <a:ext uri="{FF2B5EF4-FFF2-40B4-BE49-F238E27FC236}">
                <a16:creationId xmlns:a16="http://schemas.microsoft.com/office/drawing/2014/main" id="{5AD6B10B-EED1-C3BC-C45D-BEF1DBD638D1}"/>
              </a:ext>
            </a:extLst>
          </p:cNvPr>
          <p:cNvSpPr txBox="1"/>
          <p:nvPr/>
        </p:nvSpPr>
        <p:spPr>
          <a:xfrm>
            <a:off x="9191549" y="3080614"/>
            <a:ext cx="2269541" cy="257861"/>
          </a:xfrm>
          <a:prstGeom prst="rect">
            <a:avLst/>
          </a:prstGeom>
          <a:noFill/>
          <a:ln/>
        </p:spPr>
        <p:txBody>
          <a:bodyPr wrap="square" lIns="0" tIns="0" rIns="0" bIns="0" rtlCol="0" anchor="ctr"/>
          <a:lstStyle/>
          <a:p>
            <a:pPr marL="0" indent="0" algn="l">
              <a:buNone/>
            </a:pPr>
            <a:r>
              <a:rPr lang="en-US" sz="1300" b="1" dirty="0">
                <a:solidFill>
                  <a:srgbClr val="2D3748"/>
                </a:solidFill>
                <a:latin typeface="Roboto Condensed" pitchFamily="34" charset="0"/>
                <a:ea typeface="Roboto Condensed" pitchFamily="34" charset="-122"/>
                <a:cs typeface="Roboto Condensed" pitchFamily="34" charset="-120"/>
              </a:rPr>
              <a:t>Curated Scenario List</a:t>
            </a:r>
            <a:endParaRPr lang="en-US" sz="1300" dirty="0"/>
          </a:p>
        </p:txBody>
      </p:sp>
      <p:sp>
        <p:nvSpPr>
          <p:cNvPr id="33" name="Text 27">
            <a:extLst>
              <a:ext uri="{FF2B5EF4-FFF2-40B4-BE49-F238E27FC236}">
                <a16:creationId xmlns:a16="http://schemas.microsoft.com/office/drawing/2014/main" id="{C73BCCAE-5F03-3703-D6F6-B5714E636755}"/>
              </a:ext>
            </a:extLst>
          </p:cNvPr>
          <p:cNvSpPr txBox="1"/>
          <p:nvPr/>
        </p:nvSpPr>
        <p:spPr>
          <a:xfrm>
            <a:off x="9191549" y="3407969"/>
            <a:ext cx="2229307" cy="400507"/>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Intentional and curated test scenarios</a:t>
            </a:r>
            <a:endParaRPr lang="en-US" sz="1000" dirty="0"/>
          </a:p>
        </p:txBody>
      </p:sp>
      <p:sp>
        <p:nvSpPr>
          <p:cNvPr id="34" name="Shape 28">
            <a:extLst>
              <a:ext uri="{FF2B5EF4-FFF2-40B4-BE49-F238E27FC236}">
                <a16:creationId xmlns:a16="http://schemas.microsoft.com/office/drawing/2014/main" id="{1CC709A7-FF61-C978-5349-CD12DCE08A71}"/>
              </a:ext>
            </a:extLst>
          </p:cNvPr>
          <p:cNvSpPr/>
          <p:nvPr/>
        </p:nvSpPr>
        <p:spPr>
          <a:xfrm>
            <a:off x="9191549" y="3922776"/>
            <a:ext cx="1037844" cy="247802"/>
          </a:xfrm>
          <a:prstGeom prst="roundRect">
            <a:avLst>
              <a:gd name="adj" fmla="val 369004"/>
            </a:avLst>
          </a:prstGeom>
          <a:solidFill>
            <a:srgbClr val="C6F6D5"/>
          </a:solidFill>
          <a:ln w="12700">
            <a:solidFill>
              <a:srgbClr val="FFFFFF">
                <a:alpha val="0"/>
              </a:srgbClr>
            </a:solidFill>
            <a:prstDash val="solid"/>
          </a:ln>
        </p:spPr>
        <p:txBody>
          <a:bodyPr/>
          <a:lstStyle/>
          <a:p>
            <a:endParaRPr lang="en-US"/>
          </a:p>
        </p:txBody>
      </p:sp>
      <p:pic>
        <p:nvPicPr>
          <p:cNvPr id="35" name="Image 9" descr="preencoded.png">
            <a:extLst>
              <a:ext uri="{FF2B5EF4-FFF2-40B4-BE49-F238E27FC236}">
                <a16:creationId xmlns:a16="http://schemas.microsoft.com/office/drawing/2014/main" id="{3ACCE472-6340-4D56-E833-EB4D53FEE662}"/>
              </a:ext>
            </a:extLst>
          </p:cNvPr>
          <p:cNvPicPr>
            <a:picLocks noChangeAspect="1"/>
          </p:cNvPicPr>
          <p:nvPr/>
        </p:nvPicPr>
        <p:blipFill>
          <a:blip r:embed="rId4"/>
          <a:srcRect l="-2571" r="-2571"/>
          <a:stretch/>
        </p:blipFill>
        <p:spPr>
          <a:xfrm>
            <a:off x="9305849" y="3989527"/>
            <a:ext cx="105156" cy="114300"/>
          </a:xfrm>
          <a:prstGeom prst="rect">
            <a:avLst/>
          </a:prstGeom>
        </p:spPr>
      </p:pic>
      <p:sp>
        <p:nvSpPr>
          <p:cNvPr id="36" name="Text 29">
            <a:extLst>
              <a:ext uri="{FF2B5EF4-FFF2-40B4-BE49-F238E27FC236}">
                <a16:creationId xmlns:a16="http://schemas.microsoft.com/office/drawing/2014/main" id="{A3EEB459-C9AD-3D82-2F2B-50290A4902BE}"/>
              </a:ext>
            </a:extLst>
          </p:cNvPr>
          <p:cNvSpPr txBox="1"/>
          <p:nvPr/>
        </p:nvSpPr>
        <p:spPr>
          <a:xfrm>
            <a:off x="9486900" y="3922776"/>
            <a:ext cx="685800" cy="247802"/>
          </a:xfrm>
          <a:prstGeom prst="rect">
            <a:avLst/>
          </a:prstGeom>
          <a:noFill/>
          <a:ln/>
        </p:spPr>
        <p:txBody>
          <a:bodyPr wrap="square" lIns="0" tIns="0" rIns="0" bIns="0" rtlCol="0" anchor="ctr"/>
          <a:lstStyle/>
          <a:p>
            <a:pPr marL="0" indent="0" algn="l">
              <a:buNone/>
            </a:pPr>
            <a:r>
              <a:rPr lang="en-US" sz="900" dirty="0">
                <a:solidFill>
                  <a:srgbClr val="22543D"/>
                </a:solidFill>
                <a:latin typeface="Raleway" pitchFamily="34" charset="0"/>
                <a:ea typeface="Raleway" pitchFamily="34" charset="-122"/>
                <a:cs typeface="Raleway" pitchFamily="34" charset="-120"/>
              </a:rPr>
              <a:t>8 Scenarios</a:t>
            </a:r>
            <a:endParaRPr lang="en-US" sz="900" dirty="0"/>
          </a:p>
        </p:txBody>
      </p:sp>
      <p:sp>
        <p:nvSpPr>
          <p:cNvPr id="37" name="Shape 30">
            <a:extLst>
              <a:ext uri="{FF2B5EF4-FFF2-40B4-BE49-F238E27FC236}">
                <a16:creationId xmlns:a16="http://schemas.microsoft.com/office/drawing/2014/main" id="{36CE8F20-276E-772C-DC8E-268AEF9E50EA}"/>
              </a:ext>
            </a:extLst>
          </p:cNvPr>
          <p:cNvSpPr/>
          <p:nvPr/>
        </p:nvSpPr>
        <p:spPr>
          <a:xfrm>
            <a:off x="609905" y="4636922"/>
            <a:ext cx="5410505" cy="1390802"/>
          </a:xfrm>
          <a:prstGeom prst="roundRect">
            <a:avLst>
              <a:gd name="adj" fmla="val 7205"/>
            </a:avLst>
          </a:prstGeom>
          <a:solidFill>
            <a:srgbClr val="FFFFFF"/>
          </a:solidFill>
          <a:ln w="12700">
            <a:solidFill>
              <a:srgbClr val="E5E7EB"/>
            </a:solidFill>
            <a:prstDash val="solid"/>
          </a:ln>
        </p:spPr>
        <p:txBody>
          <a:bodyPr/>
          <a:lstStyle/>
          <a:p>
            <a:endParaRPr lang="en-US"/>
          </a:p>
        </p:txBody>
      </p:sp>
      <p:sp>
        <p:nvSpPr>
          <p:cNvPr id="38" name="Text 31">
            <a:extLst>
              <a:ext uri="{FF2B5EF4-FFF2-40B4-BE49-F238E27FC236}">
                <a16:creationId xmlns:a16="http://schemas.microsoft.com/office/drawing/2014/main" id="{158546B8-234C-7FEF-CAA1-30AC84AB0B4D}"/>
              </a:ext>
            </a:extLst>
          </p:cNvPr>
          <p:cNvSpPr txBox="1"/>
          <p:nvPr/>
        </p:nvSpPr>
        <p:spPr>
          <a:xfrm>
            <a:off x="771754" y="4798771"/>
            <a:ext cx="1598371"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Raleway" pitchFamily="34" charset="0"/>
                <a:ea typeface="Raleway" pitchFamily="34" charset="-122"/>
                <a:cs typeface="Raleway" pitchFamily="34" charset="-120"/>
              </a:rPr>
              <a:t>Current Safety Status</a:t>
            </a:r>
            <a:endParaRPr lang="en-US" sz="1000" dirty="0"/>
          </a:p>
        </p:txBody>
      </p:sp>
      <p:sp>
        <p:nvSpPr>
          <p:cNvPr id="39" name="Text 32">
            <a:extLst>
              <a:ext uri="{FF2B5EF4-FFF2-40B4-BE49-F238E27FC236}">
                <a16:creationId xmlns:a16="http://schemas.microsoft.com/office/drawing/2014/main" id="{1BE9CD13-D2CB-8E43-F502-63B2426646B4}"/>
              </a:ext>
            </a:extLst>
          </p:cNvPr>
          <p:cNvSpPr txBox="1"/>
          <p:nvPr/>
        </p:nvSpPr>
        <p:spPr>
          <a:xfrm>
            <a:off x="4599432" y="4817974"/>
            <a:ext cx="1507846"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All Systems Operational</a:t>
            </a:r>
            <a:endParaRPr lang="en-US" sz="900" dirty="0"/>
          </a:p>
        </p:txBody>
      </p:sp>
      <p:sp>
        <p:nvSpPr>
          <p:cNvPr id="40" name="Text 33">
            <a:extLst>
              <a:ext uri="{FF2B5EF4-FFF2-40B4-BE49-F238E27FC236}">
                <a16:creationId xmlns:a16="http://schemas.microsoft.com/office/drawing/2014/main" id="{87358A31-60D5-4A01-4149-C7C15E9C572A}"/>
              </a:ext>
            </a:extLst>
          </p:cNvPr>
          <p:cNvSpPr txBox="1"/>
          <p:nvPr/>
        </p:nvSpPr>
        <p:spPr>
          <a:xfrm>
            <a:off x="733349" y="5103266"/>
            <a:ext cx="1677010" cy="305410"/>
          </a:xfrm>
          <a:prstGeom prst="rect">
            <a:avLst/>
          </a:prstGeom>
          <a:noFill/>
          <a:ln/>
        </p:spPr>
        <p:txBody>
          <a:bodyPr wrap="square" lIns="0" tIns="0" rIns="0" bIns="0" rtlCol="0" anchor="ctr"/>
          <a:lstStyle/>
          <a:p>
            <a:pPr marL="0" indent="0" algn="ctr">
              <a:buNone/>
            </a:pPr>
            <a:r>
              <a:rPr lang="en-US" sz="1800" b="1" dirty="0">
                <a:solidFill>
                  <a:srgbClr val="059669"/>
                </a:solidFill>
                <a:latin typeface="Raleway" pitchFamily="34" charset="0"/>
                <a:ea typeface="Raleway" pitchFamily="34" charset="-122"/>
                <a:cs typeface="Raleway" pitchFamily="34" charset="-120"/>
              </a:rPr>
              <a:t>100%</a:t>
            </a:r>
            <a:endParaRPr lang="en-US" sz="1800" dirty="0"/>
          </a:p>
        </p:txBody>
      </p:sp>
      <p:sp>
        <p:nvSpPr>
          <p:cNvPr id="41" name="Text 34">
            <a:extLst>
              <a:ext uri="{FF2B5EF4-FFF2-40B4-BE49-F238E27FC236}">
                <a16:creationId xmlns:a16="http://schemas.microsoft.com/office/drawing/2014/main" id="{0F903852-FEF5-80B1-2976-C6BE29C1A830}"/>
              </a:ext>
            </a:extLst>
          </p:cNvPr>
          <p:cNvSpPr txBox="1"/>
          <p:nvPr/>
        </p:nvSpPr>
        <p:spPr>
          <a:xfrm>
            <a:off x="733349" y="5408676"/>
            <a:ext cx="1677010" cy="152705"/>
          </a:xfrm>
          <a:prstGeom prst="rect">
            <a:avLst/>
          </a:prstGeom>
          <a:noFill/>
          <a:ln/>
        </p:spPr>
        <p:txBody>
          <a:bodyPr wrap="square" lIns="0" tIns="0" rIns="0" bIns="0" rtlCol="0" anchor="ctr"/>
          <a:lstStyle/>
          <a:p>
            <a:pPr marL="0" indent="0" algn="ctr">
              <a:buNone/>
            </a:pPr>
            <a:r>
              <a:rPr lang="en-US" sz="900" dirty="0">
                <a:solidFill>
                  <a:srgbClr val="6B7280"/>
                </a:solidFill>
                <a:latin typeface="Raleway" pitchFamily="34" charset="0"/>
                <a:ea typeface="Raleway" pitchFamily="34" charset="-122"/>
                <a:cs typeface="Raleway" pitchFamily="34" charset="-120"/>
              </a:rPr>
              <a:t>Uptime</a:t>
            </a:r>
            <a:endParaRPr lang="en-US" sz="900" dirty="0"/>
          </a:p>
        </p:txBody>
      </p:sp>
      <p:sp>
        <p:nvSpPr>
          <p:cNvPr id="42" name="Text 35">
            <a:extLst>
              <a:ext uri="{FF2B5EF4-FFF2-40B4-BE49-F238E27FC236}">
                <a16:creationId xmlns:a16="http://schemas.microsoft.com/office/drawing/2014/main" id="{281649D6-DC92-B870-43D3-FF9B6EEF507C}"/>
              </a:ext>
            </a:extLst>
          </p:cNvPr>
          <p:cNvSpPr txBox="1"/>
          <p:nvPr/>
        </p:nvSpPr>
        <p:spPr>
          <a:xfrm>
            <a:off x="2479853" y="5103266"/>
            <a:ext cx="1677010" cy="305410"/>
          </a:xfrm>
          <a:prstGeom prst="rect">
            <a:avLst/>
          </a:prstGeom>
          <a:noFill/>
          <a:ln/>
        </p:spPr>
        <p:txBody>
          <a:bodyPr wrap="square" lIns="0" tIns="0" rIns="0" bIns="0" rtlCol="0" anchor="ctr"/>
          <a:lstStyle/>
          <a:p>
            <a:pPr marL="0" indent="0" algn="ctr">
              <a:buNone/>
            </a:pPr>
            <a:r>
              <a:rPr lang="en-US" sz="1800" b="1" dirty="0">
                <a:solidFill>
                  <a:srgbClr val="2563EB"/>
                </a:solidFill>
                <a:latin typeface="Raleway" pitchFamily="34" charset="0"/>
                <a:ea typeface="Raleway" pitchFamily="34" charset="-122"/>
                <a:cs typeface="Raleway" pitchFamily="34" charset="-120"/>
              </a:rPr>
              <a:t>8</a:t>
            </a:r>
            <a:endParaRPr lang="en-US" sz="1800" dirty="0"/>
          </a:p>
        </p:txBody>
      </p:sp>
      <p:sp>
        <p:nvSpPr>
          <p:cNvPr id="43" name="Text 36">
            <a:extLst>
              <a:ext uri="{FF2B5EF4-FFF2-40B4-BE49-F238E27FC236}">
                <a16:creationId xmlns:a16="http://schemas.microsoft.com/office/drawing/2014/main" id="{75FEFA4D-6352-6DE8-6ABD-A7E8D2C129B8}"/>
              </a:ext>
            </a:extLst>
          </p:cNvPr>
          <p:cNvSpPr txBox="1"/>
          <p:nvPr/>
        </p:nvSpPr>
        <p:spPr>
          <a:xfrm>
            <a:off x="2479853" y="5408676"/>
            <a:ext cx="1677010" cy="152705"/>
          </a:xfrm>
          <a:prstGeom prst="rect">
            <a:avLst/>
          </a:prstGeom>
          <a:noFill/>
          <a:ln/>
        </p:spPr>
        <p:txBody>
          <a:bodyPr wrap="square" lIns="0" tIns="0" rIns="0" bIns="0" rtlCol="0" anchor="ctr"/>
          <a:lstStyle/>
          <a:p>
            <a:pPr marL="0" indent="0" algn="ctr">
              <a:buNone/>
            </a:pPr>
            <a:r>
              <a:rPr lang="en-US" sz="900" dirty="0">
                <a:solidFill>
                  <a:srgbClr val="6B7280"/>
                </a:solidFill>
                <a:latin typeface="Raleway" pitchFamily="34" charset="0"/>
                <a:ea typeface="Raleway" pitchFamily="34" charset="-122"/>
                <a:cs typeface="Raleway" pitchFamily="34" charset="-120"/>
              </a:rPr>
              <a:t>Scenarios</a:t>
            </a:r>
            <a:endParaRPr lang="en-US" sz="900" dirty="0"/>
          </a:p>
        </p:txBody>
      </p:sp>
      <p:sp>
        <p:nvSpPr>
          <p:cNvPr id="44" name="Text 37">
            <a:extLst>
              <a:ext uri="{FF2B5EF4-FFF2-40B4-BE49-F238E27FC236}">
                <a16:creationId xmlns:a16="http://schemas.microsoft.com/office/drawing/2014/main" id="{9B8D3363-C291-198B-3102-2436C478843B}"/>
              </a:ext>
            </a:extLst>
          </p:cNvPr>
          <p:cNvSpPr txBox="1"/>
          <p:nvPr/>
        </p:nvSpPr>
        <p:spPr>
          <a:xfrm>
            <a:off x="4225442" y="5103266"/>
            <a:ext cx="1677010" cy="305410"/>
          </a:xfrm>
          <a:prstGeom prst="rect">
            <a:avLst/>
          </a:prstGeom>
          <a:noFill/>
          <a:ln/>
        </p:spPr>
        <p:txBody>
          <a:bodyPr wrap="square" lIns="0" tIns="0" rIns="0" bIns="0" rtlCol="0" anchor="ctr"/>
          <a:lstStyle/>
          <a:p>
            <a:pPr marL="0" indent="0" algn="ctr">
              <a:buNone/>
            </a:pPr>
            <a:r>
              <a:rPr lang="en-US" sz="1800" b="1" dirty="0">
                <a:solidFill>
                  <a:srgbClr val="7C3AED"/>
                </a:solidFill>
                <a:latin typeface="Raleway" pitchFamily="34" charset="0"/>
                <a:ea typeface="Raleway" pitchFamily="34" charset="-122"/>
                <a:cs typeface="Raleway" pitchFamily="34" charset="-120"/>
              </a:rPr>
              <a:t>2</a:t>
            </a:r>
            <a:endParaRPr lang="en-US" sz="1800" dirty="0"/>
          </a:p>
        </p:txBody>
      </p:sp>
      <p:sp>
        <p:nvSpPr>
          <p:cNvPr id="45" name="Text 38">
            <a:extLst>
              <a:ext uri="{FF2B5EF4-FFF2-40B4-BE49-F238E27FC236}">
                <a16:creationId xmlns:a16="http://schemas.microsoft.com/office/drawing/2014/main" id="{060E5BB8-F26B-9D61-ED46-1B295CA65DCD}"/>
              </a:ext>
            </a:extLst>
          </p:cNvPr>
          <p:cNvSpPr txBox="1"/>
          <p:nvPr/>
        </p:nvSpPr>
        <p:spPr>
          <a:xfrm>
            <a:off x="4225442" y="5408676"/>
            <a:ext cx="1677010" cy="152705"/>
          </a:xfrm>
          <a:prstGeom prst="rect">
            <a:avLst/>
          </a:prstGeom>
          <a:noFill/>
          <a:ln/>
        </p:spPr>
        <p:txBody>
          <a:bodyPr wrap="square" lIns="0" tIns="0" rIns="0" bIns="0" rtlCol="0" anchor="ctr"/>
          <a:lstStyle/>
          <a:p>
            <a:pPr marL="0" indent="0" algn="ctr">
              <a:buNone/>
            </a:pPr>
            <a:r>
              <a:rPr lang="en-US" sz="900" dirty="0">
                <a:solidFill>
                  <a:srgbClr val="6B7280"/>
                </a:solidFill>
                <a:latin typeface="Raleway" pitchFamily="34" charset="0"/>
                <a:ea typeface="Raleway" pitchFamily="34" charset="-122"/>
                <a:cs typeface="Raleway" pitchFamily="34" charset="-120"/>
              </a:rPr>
              <a:t>Data Sources</a:t>
            </a:r>
            <a:endParaRPr lang="en-US" sz="900" dirty="0"/>
          </a:p>
        </p:txBody>
      </p:sp>
      <p:sp>
        <p:nvSpPr>
          <p:cNvPr id="46" name="Shape 39">
            <a:extLst>
              <a:ext uri="{FF2B5EF4-FFF2-40B4-BE49-F238E27FC236}">
                <a16:creationId xmlns:a16="http://schemas.microsoft.com/office/drawing/2014/main" id="{743250F0-93F0-DD92-58F3-82118FFD6FB8}"/>
              </a:ext>
            </a:extLst>
          </p:cNvPr>
          <p:cNvSpPr/>
          <p:nvPr/>
        </p:nvSpPr>
        <p:spPr>
          <a:xfrm>
            <a:off x="6172200" y="4636922"/>
            <a:ext cx="5410505" cy="1390802"/>
          </a:xfrm>
          <a:prstGeom prst="roundRect">
            <a:avLst>
              <a:gd name="adj" fmla="val 7205"/>
            </a:avLst>
          </a:prstGeom>
          <a:solidFill>
            <a:srgbClr val="FFFFFF"/>
          </a:solidFill>
          <a:ln w="12700">
            <a:solidFill>
              <a:srgbClr val="E5E7EB"/>
            </a:solidFill>
            <a:prstDash val="solid"/>
          </a:ln>
        </p:spPr>
        <p:txBody>
          <a:bodyPr/>
          <a:lstStyle/>
          <a:p>
            <a:endParaRPr lang="en-US"/>
          </a:p>
        </p:txBody>
      </p:sp>
      <p:sp>
        <p:nvSpPr>
          <p:cNvPr id="47" name="Text 40">
            <a:extLst>
              <a:ext uri="{FF2B5EF4-FFF2-40B4-BE49-F238E27FC236}">
                <a16:creationId xmlns:a16="http://schemas.microsoft.com/office/drawing/2014/main" id="{673F1FCB-9F71-AA81-AF2D-6801F929F670}"/>
              </a:ext>
            </a:extLst>
          </p:cNvPr>
          <p:cNvSpPr txBox="1"/>
          <p:nvPr/>
        </p:nvSpPr>
        <p:spPr>
          <a:xfrm>
            <a:off x="6334049" y="4798771"/>
            <a:ext cx="1066190"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Raleway" pitchFamily="34" charset="0"/>
                <a:ea typeface="Raleway" pitchFamily="34" charset="-122"/>
                <a:cs typeface="Raleway" pitchFamily="34" charset="-120"/>
              </a:rPr>
              <a:t>Safety Checks</a:t>
            </a:r>
            <a:endParaRPr lang="en-US" sz="1000" dirty="0"/>
          </a:p>
        </p:txBody>
      </p:sp>
      <p:sp>
        <p:nvSpPr>
          <p:cNvPr id="48" name="Text 41">
            <a:extLst>
              <a:ext uri="{FF2B5EF4-FFF2-40B4-BE49-F238E27FC236}">
                <a16:creationId xmlns:a16="http://schemas.microsoft.com/office/drawing/2014/main" id="{051A3745-7ECD-A348-BE9D-FECA26D6B90E}"/>
              </a:ext>
            </a:extLst>
          </p:cNvPr>
          <p:cNvSpPr txBox="1"/>
          <p:nvPr/>
        </p:nvSpPr>
        <p:spPr>
          <a:xfrm>
            <a:off x="10826496" y="4817974"/>
            <a:ext cx="710489"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4/4 Passed</a:t>
            </a:r>
            <a:endParaRPr lang="en-US" sz="900" dirty="0"/>
          </a:p>
        </p:txBody>
      </p:sp>
      <p:sp>
        <p:nvSpPr>
          <p:cNvPr id="49" name="Shape 42">
            <a:extLst>
              <a:ext uri="{FF2B5EF4-FFF2-40B4-BE49-F238E27FC236}">
                <a16:creationId xmlns:a16="http://schemas.microsoft.com/office/drawing/2014/main" id="{C4191262-9B20-FD6C-1965-B6DBA768D487}"/>
              </a:ext>
            </a:extLst>
          </p:cNvPr>
          <p:cNvSpPr/>
          <p:nvPr/>
        </p:nvSpPr>
        <p:spPr>
          <a:xfrm>
            <a:off x="6334049" y="5103266"/>
            <a:ext cx="190195" cy="190195"/>
          </a:xfrm>
          <a:prstGeom prst="ellipse">
            <a:avLst/>
          </a:prstGeom>
          <a:solidFill>
            <a:srgbClr val="48BB78"/>
          </a:solidFill>
          <a:ln w="12700">
            <a:solidFill>
              <a:srgbClr val="FFFFFF">
                <a:alpha val="0"/>
              </a:srgbClr>
            </a:solidFill>
            <a:prstDash val="solid"/>
          </a:ln>
        </p:spPr>
        <p:txBody>
          <a:bodyPr/>
          <a:lstStyle/>
          <a:p>
            <a:endParaRPr lang="en-US"/>
          </a:p>
        </p:txBody>
      </p:sp>
      <p:pic>
        <p:nvPicPr>
          <p:cNvPr id="50" name="Image 10" descr="preencoded.png">
            <a:extLst>
              <a:ext uri="{FF2B5EF4-FFF2-40B4-BE49-F238E27FC236}">
                <a16:creationId xmlns:a16="http://schemas.microsoft.com/office/drawing/2014/main" id="{B01317BB-4516-6BEE-8A08-4C8DAD83146E}"/>
              </a:ext>
            </a:extLst>
          </p:cNvPr>
          <p:cNvPicPr>
            <a:picLocks noChangeAspect="1"/>
          </p:cNvPicPr>
          <p:nvPr/>
        </p:nvPicPr>
        <p:blipFill>
          <a:blip r:embed="rId9"/>
          <a:srcRect l="-2571" r="-2571"/>
          <a:stretch/>
        </p:blipFill>
        <p:spPr>
          <a:xfrm>
            <a:off x="6377026" y="5141671"/>
            <a:ext cx="105156" cy="114300"/>
          </a:xfrm>
          <a:prstGeom prst="rect">
            <a:avLst/>
          </a:prstGeom>
        </p:spPr>
      </p:pic>
      <p:sp>
        <p:nvSpPr>
          <p:cNvPr id="51" name="Text 43">
            <a:extLst>
              <a:ext uri="{FF2B5EF4-FFF2-40B4-BE49-F238E27FC236}">
                <a16:creationId xmlns:a16="http://schemas.microsoft.com/office/drawing/2014/main" id="{00281755-29FA-95DF-D823-6C174708DD23}"/>
              </a:ext>
            </a:extLst>
          </p:cNvPr>
          <p:cNvSpPr txBox="1"/>
          <p:nvPr/>
        </p:nvSpPr>
        <p:spPr>
          <a:xfrm>
            <a:off x="6638544" y="5103266"/>
            <a:ext cx="154167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Real mode validation</a:t>
            </a:r>
            <a:endParaRPr lang="en-US" sz="1000" dirty="0"/>
          </a:p>
        </p:txBody>
      </p:sp>
      <p:sp>
        <p:nvSpPr>
          <p:cNvPr id="52" name="Shape 44">
            <a:extLst>
              <a:ext uri="{FF2B5EF4-FFF2-40B4-BE49-F238E27FC236}">
                <a16:creationId xmlns:a16="http://schemas.microsoft.com/office/drawing/2014/main" id="{A8E27411-A016-DF7F-4404-360C44DEFE70}"/>
              </a:ext>
            </a:extLst>
          </p:cNvPr>
          <p:cNvSpPr/>
          <p:nvPr/>
        </p:nvSpPr>
        <p:spPr>
          <a:xfrm>
            <a:off x="6334049" y="5408676"/>
            <a:ext cx="190195" cy="190195"/>
          </a:xfrm>
          <a:prstGeom prst="ellipse">
            <a:avLst/>
          </a:prstGeom>
          <a:solidFill>
            <a:srgbClr val="48BB78"/>
          </a:solidFill>
          <a:ln w="12700">
            <a:solidFill>
              <a:srgbClr val="FFFFFF">
                <a:alpha val="0"/>
              </a:srgbClr>
            </a:solidFill>
            <a:prstDash val="solid"/>
          </a:ln>
        </p:spPr>
        <p:txBody>
          <a:bodyPr/>
          <a:lstStyle/>
          <a:p>
            <a:endParaRPr lang="en-US"/>
          </a:p>
        </p:txBody>
      </p:sp>
      <p:pic>
        <p:nvPicPr>
          <p:cNvPr id="53" name="Image 11" descr="preencoded.png">
            <a:extLst>
              <a:ext uri="{FF2B5EF4-FFF2-40B4-BE49-F238E27FC236}">
                <a16:creationId xmlns:a16="http://schemas.microsoft.com/office/drawing/2014/main" id="{3463262C-60E0-51D8-DD99-8C97BD451709}"/>
              </a:ext>
            </a:extLst>
          </p:cNvPr>
          <p:cNvPicPr>
            <a:picLocks noChangeAspect="1"/>
          </p:cNvPicPr>
          <p:nvPr/>
        </p:nvPicPr>
        <p:blipFill>
          <a:blip r:embed="rId9"/>
          <a:srcRect l="-2571" r="-2571"/>
          <a:stretch/>
        </p:blipFill>
        <p:spPr>
          <a:xfrm>
            <a:off x="6377026" y="5446166"/>
            <a:ext cx="105156" cy="114300"/>
          </a:xfrm>
          <a:prstGeom prst="rect">
            <a:avLst/>
          </a:prstGeom>
        </p:spPr>
      </p:pic>
      <p:sp>
        <p:nvSpPr>
          <p:cNvPr id="54" name="Text 45">
            <a:extLst>
              <a:ext uri="{FF2B5EF4-FFF2-40B4-BE49-F238E27FC236}">
                <a16:creationId xmlns:a16="http://schemas.microsoft.com/office/drawing/2014/main" id="{736BDE1F-22FC-D78D-1D5D-0E5202B0FDC1}"/>
              </a:ext>
            </a:extLst>
          </p:cNvPr>
          <p:cNvSpPr txBox="1"/>
          <p:nvPr/>
        </p:nvSpPr>
        <p:spPr>
          <a:xfrm>
            <a:off x="6638544" y="5408676"/>
            <a:ext cx="125821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Data source sync</a:t>
            </a:r>
            <a:endParaRPr lang="en-US" sz="1000" dirty="0"/>
          </a:p>
        </p:txBody>
      </p:sp>
      <p:sp>
        <p:nvSpPr>
          <p:cNvPr id="55" name="Shape 46">
            <a:extLst>
              <a:ext uri="{FF2B5EF4-FFF2-40B4-BE49-F238E27FC236}">
                <a16:creationId xmlns:a16="http://schemas.microsoft.com/office/drawing/2014/main" id="{581368CE-82DE-EE4B-6411-9D87E235BDA1}"/>
              </a:ext>
            </a:extLst>
          </p:cNvPr>
          <p:cNvSpPr/>
          <p:nvPr/>
        </p:nvSpPr>
        <p:spPr>
          <a:xfrm>
            <a:off x="6334049" y="5674766"/>
            <a:ext cx="190195" cy="190195"/>
          </a:xfrm>
          <a:prstGeom prst="ellipse">
            <a:avLst/>
          </a:prstGeom>
          <a:solidFill>
            <a:srgbClr val="48BB78"/>
          </a:solidFill>
          <a:ln w="12700">
            <a:solidFill>
              <a:srgbClr val="FFFFFF">
                <a:alpha val="0"/>
              </a:srgbClr>
            </a:solidFill>
            <a:prstDash val="solid"/>
          </a:ln>
        </p:spPr>
        <p:txBody>
          <a:bodyPr/>
          <a:lstStyle/>
          <a:p>
            <a:endParaRPr lang="en-US"/>
          </a:p>
        </p:txBody>
      </p:sp>
      <p:pic>
        <p:nvPicPr>
          <p:cNvPr id="56" name="Image 12" descr="preencoded.png">
            <a:extLst>
              <a:ext uri="{FF2B5EF4-FFF2-40B4-BE49-F238E27FC236}">
                <a16:creationId xmlns:a16="http://schemas.microsoft.com/office/drawing/2014/main" id="{2F03422F-4872-ADAF-8A23-66D590499CE6}"/>
              </a:ext>
            </a:extLst>
          </p:cNvPr>
          <p:cNvPicPr>
            <a:picLocks noChangeAspect="1"/>
          </p:cNvPicPr>
          <p:nvPr/>
        </p:nvPicPr>
        <p:blipFill>
          <a:blip r:embed="rId9"/>
          <a:srcRect l="-2571" r="-2571"/>
          <a:stretch/>
        </p:blipFill>
        <p:spPr>
          <a:xfrm>
            <a:off x="6377026" y="5713171"/>
            <a:ext cx="105156" cy="114300"/>
          </a:xfrm>
          <a:prstGeom prst="rect">
            <a:avLst/>
          </a:prstGeom>
        </p:spPr>
      </p:pic>
      <p:sp>
        <p:nvSpPr>
          <p:cNvPr id="57" name="Text 47">
            <a:extLst>
              <a:ext uri="{FF2B5EF4-FFF2-40B4-BE49-F238E27FC236}">
                <a16:creationId xmlns:a16="http://schemas.microsoft.com/office/drawing/2014/main" id="{B42B69AD-8B39-2E9A-FACD-FCDBA9C0EFB4}"/>
              </a:ext>
            </a:extLst>
          </p:cNvPr>
          <p:cNvSpPr txBox="1"/>
          <p:nvPr/>
        </p:nvSpPr>
        <p:spPr>
          <a:xfrm>
            <a:off x="6638544" y="5674766"/>
            <a:ext cx="116037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Warning system</a:t>
            </a:r>
            <a:endParaRPr lang="en-US" sz="1000" dirty="0"/>
          </a:p>
        </p:txBody>
      </p:sp>
    </p:spTree>
    <p:extLst>
      <p:ext uri="{BB962C8B-B14F-4D97-AF65-F5344CB8AC3E}">
        <p14:creationId xmlns:p14="http://schemas.microsoft.com/office/powerpoint/2010/main" val="20247200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56A5B-1EED-6A13-7224-F940CF910B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D5A250-01DE-3575-6E34-97F703C2C92B}"/>
              </a:ext>
            </a:extLst>
          </p:cNvPr>
          <p:cNvSpPr>
            <a:spLocks noGrp="1"/>
          </p:cNvSpPr>
          <p:nvPr>
            <p:ph type="sldNum" sz="quarter" idx="12"/>
          </p:nvPr>
        </p:nvSpPr>
        <p:spPr/>
        <p:txBody>
          <a:bodyPr/>
          <a:lstStyle/>
          <a:p>
            <a:fld id="{F01A0BEF-C76D-43A2-874C-09A8674B0D74}" type="slidenum">
              <a:rPr lang="en-GB" smtClean="0"/>
              <a:t>18</a:t>
            </a:fld>
            <a:endParaRPr lang="en-GB"/>
          </a:p>
        </p:txBody>
      </p:sp>
      <p:sp>
        <p:nvSpPr>
          <p:cNvPr id="2" name="Text 3">
            <a:extLst>
              <a:ext uri="{FF2B5EF4-FFF2-40B4-BE49-F238E27FC236}">
                <a16:creationId xmlns:a16="http://schemas.microsoft.com/office/drawing/2014/main" id="{6A905770-5521-9285-303A-0FD242939B87}"/>
              </a:ext>
            </a:extLst>
          </p:cNvPr>
          <p:cNvSpPr txBox="1"/>
          <p:nvPr/>
        </p:nvSpPr>
        <p:spPr>
          <a:xfrm>
            <a:off x="609905" y="609905"/>
            <a:ext cx="5544007" cy="886054"/>
          </a:xfrm>
          <a:prstGeom prst="rect">
            <a:avLst/>
          </a:prstGeom>
          <a:noFill/>
          <a:ln/>
        </p:spPr>
        <p:txBody>
          <a:bodyPr wrap="square" lIns="0" tIns="0" rIns="0" bIns="0" rtlCol="0" anchor="ctr"/>
          <a:lstStyle/>
          <a:p>
            <a:pPr marL="0" indent="0" algn="l">
              <a:buNone/>
            </a:pPr>
            <a:r>
              <a:rPr lang="en-US" sz="3600" b="1" kern="0" spc="75" dirty="0">
                <a:solidFill>
                  <a:srgbClr val="091044"/>
                </a:solidFill>
                <a:latin typeface="Roboto Condensed" pitchFamily="34" charset="0"/>
                <a:ea typeface="Roboto Condensed" pitchFamily="34" charset="-122"/>
                <a:cs typeface="Roboto Condensed" pitchFamily="34" charset="-120"/>
              </a:rPr>
              <a:t>ADOPTION PLAN</a:t>
            </a:r>
            <a:endParaRPr lang="en-US" sz="3600" dirty="0">
              <a:solidFill>
                <a:srgbClr val="091044"/>
              </a:solidFill>
            </a:endParaRPr>
          </a:p>
          <a:p>
            <a:pPr marL="0" indent="0" algn="l">
              <a:buNone/>
            </a:pPr>
            <a:r>
              <a:rPr lang="en-US" sz="1800" b="1" kern="0" spc="75" dirty="0">
                <a:solidFill>
                  <a:srgbClr val="4B5563"/>
                </a:solidFill>
                <a:latin typeface="Roboto Condensed" pitchFamily="34" charset="0"/>
                <a:ea typeface="Roboto Condensed" pitchFamily="34" charset="-122"/>
                <a:cs typeface="Roboto Condensed" pitchFamily="34" charset="-120"/>
              </a:rPr>
              <a:t>(1 Sprint - 5 Days)</a:t>
            </a:r>
            <a:endParaRPr lang="en-US" sz="3600" dirty="0"/>
          </a:p>
        </p:txBody>
      </p:sp>
      <p:sp>
        <p:nvSpPr>
          <p:cNvPr id="3" name="Text 4">
            <a:extLst>
              <a:ext uri="{FF2B5EF4-FFF2-40B4-BE49-F238E27FC236}">
                <a16:creationId xmlns:a16="http://schemas.microsoft.com/office/drawing/2014/main" id="{9A64B0B0-09E4-EA3A-8FC2-25790615A88C}"/>
              </a:ext>
            </a:extLst>
          </p:cNvPr>
          <p:cNvSpPr txBox="1"/>
          <p:nvPr/>
        </p:nvSpPr>
        <p:spPr>
          <a:xfrm>
            <a:off x="609905" y="1605686"/>
            <a:ext cx="6057900" cy="228600"/>
          </a:xfrm>
          <a:prstGeom prst="rect">
            <a:avLst/>
          </a:prstGeom>
          <a:noFill/>
          <a:ln/>
        </p:spPr>
        <p:txBody>
          <a:bodyPr wrap="square" lIns="0" tIns="0" rIns="0" bIns="0" rtlCol="0" anchor="ctr"/>
          <a:lstStyle/>
          <a:p>
            <a:pPr marL="0" indent="0" algn="l">
              <a:buNone/>
            </a:pPr>
            <a:r>
              <a:rPr lang="en-US" sz="1200" dirty="0">
                <a:solidFill>
                  <a:srgbClr val="4A5568"/>
                </a:solidFill>
                <a:latin typeface="Raleway" pitchFamily="34" charset="0"/>
                <a:ea typeface="Raleway" pitchFamily="34" charset="-122"/>
                <a:cs typeface="Raleway" pitchFamily="34" charset="-120"/>
              </a:rPr>
              <a:t>A structured approach to implementing MSW in your development workflow</a:t>
            </a:r>
            <a:endParaRPr lang="en-US" sz="1200" dirty="0"/>
          </a:p>
        </p:txBody>
      </p:sp>
      <p:sp>
        <p:nvSpPr>
          <p:cNvPr id="5" name="Text 5">
            <a:extLst>
              <a:ext uri="{FF2B5EF4-FFF2-40B4-BE49-F238E27FC236}">
                <a16:creationId xmlns:a16="http://schemas.microsoft.com/office/drawing/2014/main" id="{BDD8D16E-65B1-737E-0D0B-5C4C8E951579}"/>
              </a:ext>
            </a:extLst>
          </p:cNvPr>
          <p:cNvSpPr txBox="1"/>
          <p:nvPr/>
        </p:nvSpPr>
        <p:spPr>
          <a:xfrm>
            <a:off x="10522915" y="685800"/>
            <a:ext cx="1067105" cy="191110"/>
          </a:xfrm>
          <a:prstGeom prst="rect">
            <a:avLst/>
          </a:prstGeom>
          <a:noFill/>
          <a:ln/>
        </p:spPr>
        <p:txBody>
          <a:bodyPr wrap="square" lIns="0" tIns="0" rIns="0" bIns="0" rtlCol="0" anchor="ctr"/>
          <a:lstStyle/>
          <a:p>
            <a:pPr marL="0" indent="0" algn="r">
              <a:buNone/>
            </a:pPr>
            <a:r>
              <a:rPr lang="en-US" sz="1000" dirty="0">
                <a:solidFill>
                  <a:srgbClr val="4B5563"/>
                </a:solidFill>
                <a:latin typeface="Raleway" pitchFamily="34" charset="0"/>
                <a:ea typeface="Raleway" pitchFamily="34" charset="-122"/>
                <a:cs typeface="Raleway" pitchFamily="34" charset="-120"/>
              </a:rPr>
              <a:t>Progress</a:t>
            </a:r>
            <a:endParaRPr lang="en-US" sz="1000" dirty="0"/>
          </a:p>
        </p:txBody>
      </p:sp>
      <p:sp>
        <p:nvSpPr>
          <p:cNvPr id="6" name="Text 6">
            <a:extLst>
              <a:ext uri="{FF2B5EF4-FFF2-40B4-BE49-F238E27FC236}">
                <a16:creationId xmlns:a16="http://schemas.microsoft.com/office/drawing/2014/main" id="{B4294AE4-E572-86BC-5838-8DFA8EBCECC4}"/>
              </a:ext>
            </a:extLst>
          </p:cNvPr>
          <p:cNvSpPr txBox="1"/>
          <p:nvPr/>
        </p:nvSpPr>
        <p:spPr>
          <a:xfrm>
            <a:off x="10415930" y="875995"/>
            <a:ext cx="1174090" cy="305410"/>
          </a:xfrm>
          <a:prstGeom prst="rect">
            <a:avLst/>
          </a:prstGeom>
          <a:noFill/>
          <a:ln/>
        </p:spPr>
        <p:txBody>
          <a:bodyPr wrap="square" lIns="0" tIns="0" rIns="0" bIns="0" rtlCol="0" anchor="ctr"/>
          <a:lstStyle/>
          <a:p>
            <a:pPr marL="0" indent="0" algn="r">
              <a:buNone/>
            </a:pPr>
            <a:r>
              <a:rPr lang="en-US" sz="1800" b="1" dirty="0">
                <a:solidFill>
                  <a:srgbClr val="2563EB"/>
                </a:solidFill>
                <a:latin typeface="Raleway" pitchFamily="34" charset="0"/>
                <a:ea typeface="Raleway" pitchFamily="34" charset="-122"/>
                <a:cs typeface="Raleway" pitchFamily="34" charset="-120"/>
              </a:rPr>
              <a:t>5/5 Days</a:t>
            </a:r>
            <a:endParaRPr lang="en-US" sz="1800" dirty="0"/>
          </a:p>
        </p:txBody>
      </p:sp>
      <p:sp>
        <p:nvSpPr>
          <p:cNvPr id="7" name="Shape 7">
            <a:extLst>
              <a:ext uri="{FF2B5EF4-FFF2-40B4-BE49-F238E27FC236}">
                <a16:creationId xmlns:a16="http://schemas.microsoft.com/office/drawing/2014/main" id="{D4C80B0C-0B0B-0938-2DA8-7722D244D934}"/>
              </a:ext>
            </a:extLst>
          </p:cNvPr>
          <p:cNvSpPr/>
          <p:nvPr/>
        </p:nvSpPr>
        <p:spPr>
          <a:xfrm>
            <a:off x="609905" y="2025396"/>
            <a:ext cx="2076602" cy="1047902"/>
          </a:xfrm>
          <a:prstGeom prst="roundRect">
            <a:avLst>
              <a:gd name="adj" fmla="val 12692"/>
            </a:avLst>
          </a:prstGeom>
          <a:solidFill>
            <a:srgbClr val="F7FAFC"/>
          </a:solidFill>
          <a:ln/>
        </p:spPr>
        <p:txBody>
          <a:bodyPr/>
          <a:lstStyle/>
          <a:p>
            <a:endParaRPr lang="en-US"/>
          </a:p>
        </p:txBody>
      </p:sp>
      <p:sp>
        <p:nvSpPr>
          <p:cNvPr id="8" name="Shape 8">
            <a:extLst>
              <a:ext uri="{FF2B5EF4-FFF2-40B4-BE49-F238E27FC236}">
                <a16:creationId xmlns:a16="http://schemas.microsoft.com/office/drawing/2014/main" id="{C87A03C3-0BC0-EA3C-8A99-7556D80FFBDE}"/>
              </a:ext>
            </a:extLst>
          </p:cNvPr>
          <p:cNvSpPr/>
          <p:nvPr/>
        </p:nvSpPr>
        <p:spPr>
          <a:xfrm>
            <a:off x="609905" y="2025396"/>
            <a:ext cx="38405" cy="1047902"/>
          </a:xfrm>
          <a:prstGeom prst="roundRect">
            <a:avLst>
              <a:gd name="adj" fmla="val 346319"/>
            </a:avLst>
          </a:prstGeom>
          <a:solidFill>
            <a:srgbClr val="3182CE"/>
          </a:solidFill>
          <a:ln w="12700">
            <a:solidFill>
              <a:srgbClr val="3182CE">
                <a:alpha val="0"/>
              </a:srgbClr>
            </a:solidFill>
            <a:prstDash val="solid"/>
          </a:ln>
        </p:spPr>
        <p:txBody>
          <a:bodyPr/>
          <a:lstStyle/>
          <a:p>
            <a:endParaRPr lang="en-US"/>
          </a:p>
        </p:txBody>
      </p:sp>
      <p:sp>
        <p:nvSpPr>
          <p:cNvPr id="9" name="Shape 9">
            <a:extLst>
              <a:ext uri="{FF2B5EF4-FFF2-40B4-BE49-F238E27FC236}">
                <a16:creationId xmlns:a16="http://schemas.microsoft.com/office/drawing/2014/main" id="{3A7C3585-FF66-EBF7-08DE-D10EA9AA4462}"/>
              </a:ext>
            </a:extLst>
          </p:cNvPr>
          <p:cNvSpPr/>
          <p:nvPr/>
        </p:nvSpPr>
        <p:spPr>
          <a:xfrm>
            <a:off x="777240" y="2173529"/>
            <a:ext cx="304495" cy="304495"/>
          </a:xfrm>
          <a:prstGeom prst="ellipse">
            <a:avLst/>
          </a:prstGeom>
          <a:solidFill>
            <a:srgbClr val="3182CE"/>
          </a:solidFill>
          <a:ln w="12700">
            <a:solidFill>
              <a:srgbClr val="FFFFFF">
                <a:alpha val="0"/>
              </a:srgbClr>
            </a:solidFill>
            <a:prstDash val="solid"/>
          </a:ln>
        </p:spPr>
        <p:txBody>
          <a:bodyPr/>
          <a:lstStyle/>
          <a:p>
            <a:endParaRPr lang="en-US"/>
          </a:p>
        </p:txBody>
      </p:sp>
      <p:sp>
        <p:nvSpPr>
          <p:cNvPr id="10" name="Text 10">
            <a:extLst>
              <a:ext uri="{FF2B5EF4-FFF2-40B4-BE49-F238E27FC236}">
                <a16:creationId xmlns:a16="http://schemas.microsoft.com/office/drawing/2014/main" id="{E5C5B35D-AAB8-B071-70A9-CD66E790CDE2}"/>
              </a:ext>
            </a:extLst>
          </p:cNvPr>
          <p:cNvSpPr/>
          <p:nvPr/>
        </p:nvSpPr>
        <p:spPr>
          <a:xfrm>
            <a:off x="748894" y="2173529"/>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1</a:t>
            </a:r>
            <a:endParaRPr lang="en-US" sz="1000" dirty="0"/>
          </a:p>
        </p:txBody>
      </p:sp>
      <p:sp>
        <p:nvSpPr>
          <p:cNvPr id="11" name="Text 11">
            <a:extLst>
              <a:ext uri="{FF2B5EF4-FFF2-40B4-BE49-F238E27FC236}">
                <a16:creationId xmlns:a16="http://schemas.microsoft.com/office/drawing/2014/main" id="{9EEA8456-676A-1D24-19F6-8BB13AD1C263}"/>
              </a:ext>
            </a:extLst>
          </p:cNvPr>
          <p:cNvSpPr txBox="1"/>
          <p:nvPr/>
        </p:nvSpPr>
        <p:spPr>
          <a:xfrm>
            <a:off x="1181405" y="2154326"/>
            <a:ext cx="1474013"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Provider + Handlers</a:t>
            </a:r>
            <a:endParaRPr lang="en-US" sz="1000" dirty="0"/>
          </a:p>
        </p:txBody>
      </p:sp>
      <p:sp>
        <p:nvSpPr>
          <p:cNvPr id="12" name="Text 12">
            <a:extLst>
              <a:ext uri="{FF2B5EF4-FFF2-40B4-BE49-F238E27FC236}">
                <a16:creationId xmlns:a16="http://schemas.microsoft.com/office/drawing/2014/main" id="{6F1137F6-9E16-1AD9-4F4A-7B09C3C2BDE8}"/>
              </a:ext>
            </a:extLst>
          </p:cNvPr>
          <p:cNvSpPr txBox="1"/>
          <p:nvPr/>
        </p:nvSpPr>
        <p:spPr>
          <a:xfrm>
            <a:off x="1181405" y="2344522"/>
            <a:ext cx="1314907"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Setup baseline</a:t>
            </a:r>
            <a:endParaRPr lang="en-US" sz="900" dirty="0"/>
          </a:p>
        </p:txBody>
      </p:sp>
      <p:sp>
        <p:nvSpPr>
          <p:cNvPr id="13" name="Text 13">
            <a:extLst>
              <a:ext uri="{FF2B5EF4-FFF2-40B4-BE49-F238E27FC236}">
                <a16:creationId xmlns:a16="http://schemas.microsoft.com/office/drawing/2014/main" id="{F46F575A-F56C-E444-9A65-51E286A08AB0}"/>
              </a:ext>
            </a:extLst>
          </p:cNvPr>
          <p:cNvSpPr txBox="1"/>
          <p:nvPr/>
        </p:nvSpPr>
        <p:spPr>
          <a:xfrm>
            <a:off x="958291" y="2573122"/>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MSW provider setup </a:t>
            </a:r>
            <a:endParaRPr lang="en-US" sz="900" dirty="0"/>
          </a:p>
        </p:txBody>
      </p:sp>
      <p:pic>
        <p:nvPicPr>
          <p:cNvPr id="14" name="Image 1" descr="preencoded.png">
            <a:extLst>
              <a:ext uri="{FF2B5EF4-FFF2-40B4-BE49-F238E27FC236}">
                <a16:creationId xmlns:a16="http://schemas.microsoft.com/office/drawing/2014/main" id="{7385AE7B-C4CA-E2A2-62AE-6BB9CFFE8D2D}"/>
              </a:ext>
            </a:extLst>
          </p:cNvPr>
          <p:cNvPicPr>
            <a:picLocks noChangeAspect="1"/>
          </p:cNvPicPr>
          <p:nvPr/>
        </p:nvPicPr>
        <p:blipFill>
          <a:blip r:embed="rId3"/>
          <a:srcRect/>
          <a:stretch/>
        </p:blipFill>
        <p:spPr>
          <a:xfrm>
            <a:off x="777240" y="2587752"/>
            <a:ext cx="114300" cy="114300"/>
          </a:xfrm>
          <a:prstGeom prst="rect">
            <a:avLst/>
          </a:prstGeom>
        </p:spPr>
      </p:pic>
      <p:sp>
        <p:nvSpPr>
          <p:cNvPr id="15" name="Text 14">
            <a:extLst>
              <a:ext uri="{FF2B5EF4-FFF2-40B4-BE49-F238E27FC236}">
                <a16:creationId xmlns:a16="http://schemas.microsoft.com/office/drawing/2014/main" id="{6485FB2F-FEB9-A30B-960B-4C09AA46A53B}"/>
              </a:ext>
            </a:extLst>
          </p:cNvPr>
          <p:cNvSpPr txBox="1"/>
          <p:nvPr/>
        </p:nvSpPr>
        <p:spPr>
          <a:xfrm>
            <a:off x="958291" y="2768803"/>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Basic handlers </a:t>
            </a:r>
            <a:endParaRPr lang="en-US" sz="900" dirty="0"/>
          </a:p>
        </p:txBody>
      </p:sp>
      <p:pic>
        <p:nvPicPr>
          <p:cNvPr id="16" name="Image 2" descr="preencoded.png">
            <a:extLst>
              <a:ext uri="{FF2B5EF4-FFF2-40B4-BE49-F238E27FC236}">
                <a16:creationId xmlns:a16="http://schemas.microsoft.com/office/drawing/2014/main" id="{0C64CE7D-5977-319E-4C78-31E139A9A00C}"/>
              </a:ext>
            </a:extLst>
          </p:cNvPr>
          <p:cNvPicPr>
            <a:picLocks noChangeAspect="1"/>
          </p:cNvPicPr>
          <p:nvPr/>
        </p:nvPicPr>
        <p:blipFill>
          <a:blip r:embed="rId3"/>
          <a:srcRect/>
          <a:stretch/>
        </p:blipFill>
        <p:spPr>
          <a:xfrm>
            <a:off x="777240" y="2783434"/>
            <a:ext cx="114300" cy="114300"/>
          </a:xfrm>
          <a:prstGeom prst="rect">
            <a:avLst/>
          </a:prstGeom>
        </p:spPr>
      </p:pic>
      <p:sp>
        <p:nvSpPr>
          <p:cNvPr id="17" name="Shape 15">
            <a:extLst>
              <a:ext uri="{FF2B5EF4-FFF2-40B4-BE49-F238E27FC236}">
                <a16:creationId xmlns:a16="http://schemas.microsoft.com/office/drawing/2014/main" id="{32F13B88-BFD0-7710-7DE1-F0DD6FD6BC4C}"/>
              </a:ext>
            </a:extLst>
          </p:cNvPr>
          <p:cNvSpPr/>
          <p:nvPr/>
        </p:nvSpPr>
        <p:spPr>
          <a:xfrm>
            <a:off x="2834640" y="2025396"/>
            <a:ext cx="2076602" cy="1047902"/>
          </a:xfrm>
          <a:prstGeom prst="roundRect">
            <a:avLst>
              <a:gd name="adj" fmla="val 12692"/>
            </a:avLst>
          </a:prstGeom>
          <a:solidFill>
            <a:srgbClr val="F7FAFC"/>
          </a:solidFill>
          <a:ln/>
        </p:spPr>
        <p:txBody>
          <a:bodyPr/>
          <a:lstStyle/>
          <a:p>
            <a:endParaRPr lang="en-US"/>
          </a:p>
        </p:txBody>
      </p:sp>
      <p:sp>
        <p:nvSpPr>
          <p:cNvPr id="18" name="Shape 16">
            <a:extLst>
              <a:ext uri="{FF2B5EF4-FFF2-40B4-BE49-F238E27FC236}">
                <a16:creationId xmlns:a16="http://schemas.microsoft.com/office/drawing/2014/main" id="{122A0BD6-08CB-10CC-609D-C18CC50D5935}"/>
              </a:ext>
            </a:extLst>
          </p:cNvPr>
          <p:cNvSpPr/>
          <p:nvPr/>
        </p:nvSpPr>
        <p:spPr>
          <a:xfrm>
            <a:off x="2834640" y="2025396"/>
            <a:ext cx="38405" cy="1047902"/>
          </a:xfrm>
          <a:prstGeom prst="roundRect">
            <a:avLst>
              <a:gd name="adj" fmla="val 346319"/>
            </a:avLst>
          </a:prstGeom>
          <a:solidFill>
            <a:srgbClr val="3182CE"/>
          </a:solidFill>
          <a:ln w="12700">
            <a:solidFill>
              <a:srgbClr val="3182CE">
                <a:alpha val="0"/>
              </a:srgbClr>
            </a:solidFill>
            <a:prstDash val="solid"/>
          </a:ln>
        </p:spPr>
        <p:txBody>
          <a:bodyPr/>
          <a:lstStyle/>
          <a:p>
            <a:endParaRPr lang="en-US"/>
          </a:p>
        </p:txBody>
      </p:sp>
      <p:sp>
        <p:nvSpPr>
          <p:cNvPr id="19" name="Shape 17">
            <a:extLst>
              <a:ext uri="{FF2B5EF4-FFF2-40B4-BE49-F238E27FC236}">
                <a16:creationId xmlns:a16="http://schemas.microsoft.com/office/drawing/2014/main" id="{4AF02EEB-9E51-0EC7-DBB8-449C5EE1A986}"/>
              </a:ext>
            </a:extLst>
          </p:cNvPr>
          <p:cNvSpPr/>
          <p:nvPr/>
        </p:nvSpPr>
        <p:spPr>
          <a:xfrm>
            <a:off x="3001975" y="2173529"/>
            <a:ext cx="304495" cy="304495"/>
          </a:xfrm>
          <a:prstGeom prst="ellipse">
            <a:avLst/>
          </a:prstGeom>
          <a:solidFill>
            <a:srgbClr val="3182CE"/>
          </a:solidFill>
          <a:ln w="12700">
            <a:solidFill>
              <a:srgbClr val="FFFFFF">
                <a:alpha val="0"/>
              </a:srgbClr>
            </a:solidFill>
            <a:prstDash val="solid"/>
          </a:ln>
        </p:spPr>
        <p:txBody>
          <a:bodyPr/>
          <a:lstStyle/>
          <a:p>
            <a:endParaRPr lang="en-US"/>
          </a:p>
        </p:txBody>
      </p:sp>
      <p:sp>
        <p:nvSpPr>
          <p:cNvPr id="20" name="Text 18">
            <a:extLst>
              <a:ext uri="{FF2B5EF4-FFF2-40B4-BE49-F238E27FC236}">
                <a16:creationId xmlns:a16="http://schemas.microsoft.com/office/drawing/2014/main" id="{D62C5617-9795-BCAB-D68E-5045908ABCAB}"/>
              </a:ext>
            </a:extLst>
          </p:cNvPr>
          <p:cNvSpPr/>
          <p:nvPr/>
        </p:nvSpPr>
        <p:spPr>
          <a:xfrm>
            <a:off x="2973629" y="2173529"/>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2</a:t>
            </a:r>
            <a:endParaRPr lang="en-US" sz="1000" dirty="0"/>
          </a:p>
        </p:txBody>
      </p:sp>
      <p:sp>
        <p:nvSpPr>
          <p:cNvPr id="21" name="Text 19">
            <a:extLst>
              <a:ext uri="{FF2B5EF4-FFF2-40B4-BE49-F238E27FC236}">
                <a16:creationId xmlns:a16="http://schemas.microsoft.com/office/drawing/2014/main" id="{7AB6C562-6281-0A22-9B07-6A02EB858F77}"/>
              </a:ext>
            </a:extLst>
          </p:cNvPr>
          <p:cNvSpPr txBox="1"/>
          <p:nvPr/>
        </p:nvSpPr>
        <p:spPr>
          <a:xfrm>
            <a:off x="3406140" y="2154326"/>
            <a:ext cx="1066190"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Key Scenarios</a:t>
            </a:r>
            <a:endParaRPr lang="en-US" sz="1000" dirty="0"/>
          </a:p>
        </p:txBody>
      </p:sp>
      <p:sp>
        <p:nvSpPr>
          <p:cNvPr id="22" name="Text 20">
            <a:extLst>
              <a:ext uri="{FF2B5EF4-FFF2-40B4-BE49-F238E27FC236}">
                <a16:creationId xmlns:a16="http://schemas.microsoft.com/office/drawing/2014/main" id="{53A2C877-8D8C-4224-7215-FAA6422D86AF}"/>
              </a:ext>
            </a:extLst>
          </p:cNvPr>
          <p:cNvSpPr txBox="1"/>
          <p:nvPr/>
        </p:nvSpPr>
        <p:spPr>
          <a:xfrm>
            <a:off x="3406140" y="2344522"/>
            <a:ext cx="996696"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Error handling</a:t>
            </a:r>
            <a:endParaRPr lang="en-US" sz="900" dirty="0"/>
          </a:p>
        </p:txBody>
      </p:sp>
      <p:sp>
        <p:nvSpPr>
          <p:cNvPr id="23" name="Text 21">
            <a:extLst>
              <a:ext uri="{FF2B5EF4-FFF2-40B4-BE49-F238E27FC236}">
                <a16:creationId xmlns:a16="http://schemas.microsoft.com/office/drawing/2014/main" id="{9A67F6A1-615A-2A0D-0DD6-9293A96E7F6D}"/>
              </a:ext>
            </a:extLst>
          </p:cNvPr>
          <p:cNvSpPr txBox="1"/>
          <p:nvPr/>
        </p:nvSpPr>
        <p:spPr>
          <a:xfrm>
            <a:off x="3183026" y="2573122"/>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500/network/auth </a:t>
            </a:r>
            <a:endParaRPr lang="en-US" sz="900" dirty="0"/>
          </a:p>
        </p:txBody>
      </p:sp>
      <p:pic>
        <p:nvPicPr>
          <p:cNvPr id="24" name="Image 3" descr="preencoded.png">
            <a:extLst>
              <a:ext uri="{FF2B5EF4-FFF2-40B4-BE49-F238E27FC236}">
                <a16:creationId xmlns:a16="http://schemas.microsoft.com/office/drawing/2014/main" id="{ABFC2630-CC22-9132-0183-ABB7B7D0DB1B}"/>
              </a:ext>
            </a:extLst>
          </p:cNvPr>
          <p:cNvPicPr>
            <a:picLocks noChangeAspect="1"/>
          </p:cNvPicPr>
          <p:nvPr/>
        </p:nvPicPr>
        <p:blipFill>
          <a:blip r:embed="rId3"/>
          <a:srcRect/>
          <a:stretch/>
        </p:blipFill>
        <p:spPr>
          <a:xfrm>
            <a:off x="3001975" y="2587752"/>
            <a:ext cx="114300" cy="114300"/>
          </a:xfrm>
          <a:prstGeom prst="rect">
            <a:avLst/>
          </a:prstGeom>
        </p:spPr>
      </p:pic>
      <p:sp>
        <p:nvSpPr>
          <p:cNvPr id="25" name="Text 22">
            <a:extLst>
              <a:ext uri="{FF2B5EF4-FFF2-40B4-BE49-F238E27FC236}">
                <a16:creationId xmlns:a16="http://schemas.microsoft.com/office/drawing/2014/main" id="{6A81F25D-9DC1-F998-2AB8-7FC674FAEBE6}"/>
              </a:ext>
            </a:extLst>
          </p:cNvPr>
          <p:cNvSpPr txBox="1"/>
          <p:nvPr/>
        </p:nvSpPr>
        <p:spPr>
          <a:xfrm>
            <a:off x="3183026" y="2768803"/>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Edge cases </a:t>
            </a:r>
            <a:endParaRPr lang="en-US" sz="900" dirty="0"/>
          </a:p>
        </p:txBody>
      </p:sp>
      <p:pic>
        <p:nvPicPr>
          <p:cNvPr id="26" name="Image 4" descr="preencoded.png">
            <a:extLst>
              <a:ext uri="{FF2B5EF4-FFF2-40B4-BE49-F238E27FC236}">
                <a16:creationId xmlns:a16="http://schemas.microsoft.com/office/drawing/2014/main" id="{37BA0765-2E4F-8706-E5FA-06DA55462574}"/>
              </a:ext>
            </a:extLst>
          </p:cNvPr>
          <p:cNvPicPr>
            <a:picLocks noChangeAspect="1"/>
          </p:cNvPicPr>
          <p:nvPr/>
        </p:nvPicPr>
        <p:blipFill>
          <a:blip r:embed="rId3"/>
          <a:srcRect/>
          <a:stretch/>
        </p:blipFill>
        <p:spPr>
          <a:xfrm>
            <a:off x="3001975" y="2783434"/>
            <a:ext cx="114300" cy="114300"/>
          </a:xfrm>
          <a:prstGeom prst="rect">
            <a:avLst/>
          </a:prstGeom>
        </p:spPr>
      </p:pic>
      <p:sp>
        <p:nvSpPr>
          <p:cNvPr id="27" name="Shape 23">
            <a:extLst>
              <a:ext uri="{FF2B5EF4-FFF2-40B4-BE49-F238E27FC236}">
                <a16:creationId xmlns:a16="http://schemas.microsoft.com/office/drawing/2014/main" id="{7C41A03A-96C7-F06E-613B-FC9DFE37343B}"/>
              </a:ext>
            </a:extLst>
          </p:cNvPr>
          <p:cNvSpPr/>
          <p:nvPr/>
        </p:nvSpPr>
        <p:spPr>
          <a:xfrm>
            <a:off x="5059375" y="2025396"/>
            <a:ext cx="2076602" cy="1047902"/>
          </a:xfrm>
          <a:prstGeom prst="roundRect">
            <a:avLst>
              <a:gd name="adj" fmla="val 12692"/>
            </a:avLst>
          </a:prstGeom>
          <a:solidFill>
            <a:srgbClr val="F7FAFC"/>
          </a:solidFill>
          <a:ln/>
        </p:spPr>
        <p:txBody>
          <a:bodyPr/>
          <a:lstStyle/>
          <a:p>
            <a:endParaRPr lang="en-US"/>
          </a:p>
        </p:txBody>
      </p:sp>
      <p:sp>
        <p:nvSpPr>
          <p:cNvPr id="28" name="Shape 24">
            <a:extLst>
              <a:ext uri="{FF2B5EF4-FFF2-40B4-BE49-F238E27FC236}">
                <a16:creationId xmlns:a16="http://schemas.microsoft.com/office/drawing/2014/main" id="{11D70D65-9E3D-EC6F-4D18-BA4F43E415D8}"/>
              </a:ext>
            </a:extLst>
          </p:cNvPr>
          <p:cNvSpPr/>
          <p:nvPr/>
        </p:nvSpPr>
        <p:spPr>
          <a:xfrm>
            <a:off x="5059375" y="2025396"/>
            <a:ext cx="38405" cy="1047902"/>
          </a:xfrm>
          <a:prstGeom prst="roundRect">
            <a:avLst>
              <a:gd name="adj" fmla="val 346319"/>
            </a:avLst>
          </a:prstGeom>
          <a:solidFill>
            <a:srgbClr val="3182CE"/>
          </a:solidFill>
          <a:ln w="12700">
            <a:solidFill>
              <a:srgbClr val="3182CE">
                <a:alpha val="0"/>
              </a:srgbClr>
            </a:solidFill>
            <a:prstDash val="solid"/>
          </a:ln>
        </p:spPr>
        <p:txBody>
          <a:bodyPr/>
          <a:lstStyle/>
          <a:p>
            <a:endParaRPr lang="en-US"/>
          </a:p>
        </p:txBody>
      </p:sp>
      <p:sp>
        <p:nvSpPr>
          <p:cNvPr id="29" name="Shape 25">
            <a:extLst>
              <a:ext uri="{FF2B5EF4-FFF2-40B4-BE49-F238E27FC236}">
                <a16:creationId xmlns:a16="http://schemas.microsoft.com/office/drawing/2014/main" id="{4336E803-48A3-34FE-65C1-3D9DBE0BAB19}"/>
              </a:ext>
            </a:extLst>
          </p:cNvPr>
          <p:cNvSpPr/>
          <p:nvPr/>
        </p:nvSpPr>
        <p:spPr>
          <a:xfrm>
            <a:off x="5226710" y="2173529"/>
            <a:ext cx="304495" cy="304495"/>
          </a:xfrm>
          <a:prstGeom prst="ellipse">
            <a:avLst/>
          </a:prstGeom>
          <a:solidFill>
            <a:srgbClr val="3182CE"/>
          </a:solidFill>
          <a:ln w="12700">
            <a:solidFill>
              <a:srgbClr val="FFFFFF">
                <a:alpha val="0"/>
              </a:srgbClr>
            </a:solidFill>
            <a:prstDash val="solid"/>
          </a:ln>
        </p:spPr>
        <p:txBody>
          <a:bodyPr/>
          <a:lstStyle/>
          <a:p>
            <a:endParaRPr lang="en-US"/>
          </a:p>
        </p:txBody>
      </p:sp>
      <p:sp>
        <p:nvSpPr>
          <p:cNvPr id="30" name="Text 26">
            <a:extLst>
              <a:ext uri="{FF2B5EF4-FFF2-40B4-BE49-F238E27FC236}">
                <a16:creationId xmlns:a16="http://schemas.microsoft.com/office/drawing/2014/main" id="{935DD9AC-7435-1AD7-0267-B192A4BDA52D}"/>
              </a:ext>
            </a:extLst>
          </p:cNvPr>
          <p:cNvSpPr/>
          <p:nvPr/>
        </p:nvSpPr>
        <p:spPr>
          <a:xfrm>
            <a:off x="5198364" y="2173529"/>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3</a:t>
            </a:r>
            <a:endParaRPr lang="en-US" sz="1000" dirty="0"/>
          </a:p>
        </p:txBody>
      </p:sp>
      <p:sp>
        <p:nvSpPr>
          <p:cNvPr id="31" name="Text 27">
            <a:extLst>
              <a:ext uri="{FF2B5EF4-FFF2-40B4-BE49-F238E27FC236}">
                <a16:creationId xmlns:a16="http://schemas.microsoft.com/office/drawing/2014/main" id="{801D5A24-D694-7161-1EA0-0819D811A5FB}"/>
              </a:ext>
            </a:extLst>
          </p:cNvPr>
          <p:cNvSpPr txBox="1"/>
          <p:nvPr/>
        </p:nvSpPr>
        <p:spPr>
          <a:xfrm>
            <a:off x="5630875" y="2154326"/>
            <a:ext cx="1337767"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Runtime Controls</a:t>
            </a:r>
            <a:endParaRPr lang="en-US" sz="1000" dirty="0"/>
          </a:p>
        </p:txBody>
      </p:sp>
      <p:sp>
        <p:nvSpPr>
          <p:cNvPr id="32" name="Text 28">
            <a:extLst>
              <a:ext uri="{FF2B5EF4-FFF2-40B4-BE49-F238E27FC236}">
                <a16:creationId xmlns:a16="http://schemas.microsoft.com/office/drawing/2014/main" id="{B261E8BA-9A2C-25A0-A1D1-B1BFE2C7CB05}"/>
              </a:ext>
            </a:extLst>
          </p:cNvPr>
          <p:cNvSpPr txBox="1"/>
          <p:nvPr/>
        </p:nvSpPr>
        <p:spPr>
          <a:xfrm>
            <a:off x="5630875" y="2344522"/>
            <a:ext cx="1200607"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UI integration</a:t>
            </a:r>
            <a:endParaRPr lang="en-US" sz="900" dirty="0"/>
          </a:p>
        </p:txBody>
      </p:sp>
      <p:sp>
        <p:nvSpPr>
          <p:cNvPr id="33" name="Text 29">
            <a:extLst>
              <a:ext uri="{FF2B5EF4-FFF2-40B4-BE49-F238E27FC236}">
                <a16:creationId xmlns:a16="http://schemas.microsoft.com/office/drawing/2014/main" id="{F288F672-4B96-B8B6-8537-3D7C8899BADC}"/>
              </a:ext>
            </a:extLst>
          </p:cNvPr>
          <p:cNvSpPr txBox="1"/>
          <p:nvPr/>
        </p:nvSpPr>
        <p:spPr>
          <a:xfrm>
            <a:off x="5404104" y="2573122"/>
            <a:ext cx="1680667"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Warning UX </a:t>
            </a:r>
            <a:endParaRPr lang="en-US" sz="900" dirty="0"/>
          </a:p>
        </p:txBody>
      </p:sp>
      <p:pic>
        <p:nvPicPr>
          <p:cNvPr id="34" name="Image 5" descr="preencoded.png">
            <a:extLst>
              <a:ext uri="{FF2B5EF4-FFF2-40B4-BE49-F238E27FC236}">
                <a16:creationId xmlns:a16="http://schemas.microsoft.com/office/drawing/2014/main" id="{4D9D2BF7-5C08-E2A9-98C7-4B55CB1FF73F}"/>
              </a:ext>
            </a:extLst>
          </p:cNvPr>
          <p:cNvPicPr>
            <a:picLocks noChangeAspect="1"/>
          </p:cNvPicPr>
          <p:nvPr/>
        </p:nvPicPr>
        <p:blipFill>
          <a:blip r:embed="rId3"/>
          <a:srcRect/>
          <a:stretch/>
        </p:blipFill>
        <p:spPr>
          <a:xfrm>
            <a:off x="5226710" y="2587752"/>
            <a:ext cx="114300" cy="114300"/>
          </a:xfrm>
          <a:prstGeom prst="rect">
            <a:avLst/>
          </a:prstGeom>
        </p:spPr>
      </p:pic>
      <p:sp>
        <p:nvSpPr>
          <p:cNvPr id="35" name="Text 30">
            <a:extLst>
              <a:ext uri="{FF2B5EF4-FFF2-40B4-BE49-F238E27FC236}">
                <a16:creationId xmlns:a16="http://schemas.microsoft.com/office/drawing/2014/main" id="{C4DAE3A2-AB3A-B3E4-DFBD-C904FD183562}"/>
              </a:ext>
            </a:extLst>
          </p:cNvPr>
          <p:cNvSpPr txBox="1"/>
          <p:nvPr/>
        </p:nvSpPr>
        <p:spPr>
          <a:xfrm>
            <a:off x="5405018" y="2768803"/>
            <a:ext cx="1679753"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Toggle controls </a:t>
            </a:r>
            <a:endParaRPr lang="en-US" sz="900" dirty="0"/>
          </a:p>
        </p:txBody>
      </p:sp>
      <p:pic>
        <p:nvPicPr>
          <p:cNvPr id="36" name="Image 6" descr="preencoded.png">
            <a:extLst>
              <a:ext uri="{FF2B5EF4-FFF2-40B4-BE49-F238E27FC236}">
                <a16:creationId xmlns:a16="http://schemas.microsoft.com/office/drawing/2014/main" id="{50947E1E-18D5-9E15-8C46-AEBBD794A980}"/>
              </a:ext>
            </a:extLst>
          </p:cNvPr>
          <p:cNvPicPr>
            <a:picLocks noChangeAspect="1"/>
          </p:cNvPicPr>
          <p:nvPr/>
        </p:nvPicPr>
        <p:blipFill>
          <a:blip r:embed="rId3"/>
          <a:srcRect/>
          <a:stretch/>
        </p:blipFill>
        <p:spPr>
          <a:xfrm>
            <a:off x="5226710" y="2783434"/>
            <a:ext cx="114300" cy="114300"/>
          </a:xfrm>
          <a:prstGeom prst="rect">
            <a:avLst/>
          </a:prstGeom>
        </p:spPr>
      </p:pic>
      <p:sp>
        <p:nvSpPr>
          <p:cNvPr id="37" name="Shape 31">
            <a:extLst>
              <a:ext uri="{FF2B5EF4-FFF2-40B4-BE49-F238E27FC236}">
                <a16:creationId xmlns:a16="http://schemas.microsoft.com/office/drawing/2014/main" id="{0387B97E-D115-F3EF-9548-8DC81CB1F2B7}"/>
              </a:ext>
            </a:extLst>
          </p:cNvPr>
          <p:cNvSpPr/>
          <p:nvPr/>
        </p:nvSpPr>
        <p:spPr>
          <a:xfrm>
            <a:off x="7285025" y="2025396"/>
            <a:ext cx="2076602" cy="1047902"/>
          </a:xfrm>
          <a:prstGeom prst="roundRect">
            <a:avLst>
              <a:gd name="adj" fmla="val 12692"/>
            </a:avLst>
          </a:prstGeom>
          <a:solidFill>
            <a:srgbClr val="F7FAFC"/>
          </a:solidFill>
          <a:ln/>
        </p:spPr>
        <p:txBody>
          <a:bodyPr/>
          <a:lstStyle/>
          <a:p>
            <a:endParaRPr lang="en-US"/>
          </a:p>
        </p:txBody>
      </p:sp>
      <p:sp>
        <p:nvSpPr>
          <p:cNvPr id="38" name="Shape 32">
            <a:extLst>
              <a:ext uri="{FF2B5EF4-FFF2-40B4-BE49-F238E27FC236}">
                <a16:creationId xmlns:a16="http://schemas.microsoft.com/office/drawing/2014/main" id="{349ACE1F-1C89-5766-FE7E-D6D93C4F321D}"/>
              </a:ext>
            </a:extLst>
          </p:cNvPr>
          <p:cNvSpPr/>
          <p:nvPr/>
        </p:nvSpPr>
        <p:spPr>
          <a:xfrm>
            <a:off x="7285025" y="2025396"/>
            <a:ext cx="38405" cy="1047902"/>
          </a:xfrm>
          <a:prstGeom prst="roundRect">
            <a:avLst>
              <a:gd name="adj" fmla="val 346319"/>
            </a:avLst>
          </a:prstGeom>
          <a:solidFill>
            <a:srgbClr val="3182CE"/>
          </a:solidFill>
          <a:ln w="12700">
            <a:solidFill>
              <a:srgbClr val="3182CE">
                <a:alpha val="0"/>
              </a:srgbClr>
            </a:solidFill>
            <a:prstDash val="solid"/>
          </a:ln>
        </p:spPr>
        <p:txBody>
          <a:bodyPr/>
          <a:lstStyle/>
          <a:p>
            <a:endParaRPr lang="en-US"/>
          </a:p>
        </p:txBody>
      </p:sp>
      <p:sp>
        <p:nvSpPr>
          <p:cNvPr id="39" name="Shape 33">
            <a:extLst>
              <a:ext uri="{FF2B5EF4-FFF2-40B4-BE49-F238E27FC236}">
                <a16:creationId xmlns:a16="http://schemas.microsoft.com/office/drawing/2014/main" id="{E62F8864-1EAA-8CF5-F65E-EB6E7EEF1A52}"/>
              </a:ext>
            </a:extLst>
          </p:cNvPr>
          <p:cNvSpPr/>
          <p:nvPr/>
        </p:nvSpPr>
        <p:spPr>
          <a:xfrm>
            <a:off x="7452360" y="2173529"/>
            <a:ext cx="304495" cy="304495"/>
          </a:xfrm>
          <a:prstGeom prst="ellipse">
            <a:avLst/>
          </a:prstGeom>
          <a:solidFill>
            <a:srgbClr val="3182CE"/>
          </a:solidFill>
          <a:ln w="12700">
            <a:solidFill>
              <a:srgbClr val="FFFFFF">
                <a:alpha val="0"/>
              </a:srgbClr>
            </a:solidFill>
            <a:prstDash val="solid"/>
          </a:ln>
        </p:spPr>
        <p:txBody>
          <a:bodyPr/>
          <a:lstStyle/>
          <a:p>
            <a:endParaRPr lang="en-US"/>
          </a:p>
        </p:txBody>
      </p:sp>
      <p:sp>
        <p:nvSpPr>
          <p:cNvPr id="40" name="Text 34">
            <a:extLst>
              <a:ext uri="{FF2B5EF4-FFF2-40B4-BE49-F238E27FC236}">
                <a16:creationId xmlns:a16="http://schemas.microsoft.com/office/drawing/2014/main" id="{EC9E2EA8-64C9-A1CE-9557-EBDBB3421F77}"/>
              </a:ext>
            </a:extLst>
          </p:cNvPr>
          <p:cNvSpPr/>
          <p:nvPr/>
        </p:nvSpPr>
        <p:spPr>
          <a:xfrm>
            <a:off x="7424014" y="2173529"/>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4</a:t>
            </a:r>
            <a:endParaRPr lang="en-US" sz="1000" dirty="0"/>
          </a:p>
        </p:txBody>
      </p:sp>
      <p:sp>
        <p:nvSpPr>
          <p:cNvPr id="41" name="Text 35">
            <a:extLst>
              <a:ext uri="{FF2B5EF4-FFF2-40B4-BE49-F238E27FC236}">
                <a16:creationId xmlns:a16="http://schemas.microsoft.com/office/drawing/2014/main" id="{B6106CDF-5265-17CC-1F0E-F765BB7CB9FE}"/>
              </a:ext>
            </a:extLst>
          </p:cNvPr>
          <p:cNvSpPr txBox="1"/>
          <p:nvPr/>
        </p:nvSpPr>
        <p:spPr>
          <a:xfrm>
            <a:off x="7855610" y="2154326"/>
            <a:ext cx="1019556"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Unify Data</a:t>
            </a:r>
            <a:endParaRPr lang="en-US" sz="1000" dirty="0"/>
          </a:p>
        </p:txBody>
      </p:sp>
      <p:sp>
        <p:nvSpPr>
          <p:cNvPr id="42" name="Text 36">
            <a:extLst>
              <a:ext uri="{FF2B5EF4-FFF2-40B4-BE49-F238E27FC236}">
                <a16:creationId xmlns:a16="http://schemas.microsoft.com/office/drawing/2014/main" id="{480F1298-89EF-76CC-DE16-24428B517D5A}"/>
              </a:ext>
            </a:extLst>
          </p:cNvPr>
          <p:cNvSpPr txBox="1"/>
          <p:nvPr/>
        </p:nvSpPr>
        <p:spPr>
          <a:xfrm>
            <a:off x="7855610" y="2344522"/>
            <a:ext cx="1122883"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Source alignment</a:t>
            </a:r>
            <a:endParaRPr lang="en-US" sz="900" dirty="0"/>
          </a:p>
        </p:txBody>
      </p:sp>
      <p:sp>
        <p:nvSpPr>
          <p:cNvPr id="43" name="Text 37">
            <a:extLst>
              <a:ext uri="{FF2B5EF4-FFF2-40B4-BE49-F238E27FC236}">
                <a16:creationId xmlns:a16="http://schemas.microsoft.com/office/drawing/2014/main" id="{5EA23FDD-C747-0F71-399F-8E6B92B7C6AF}"/>
              </a:ext>
            </a:extLst>
          </p:cNvPr>
          <p:cNvSpPr txBox="1"/>
          <p:nvPr/>
        </p:nvSpPr>
        <p:spPr>
          <a:xfrm>
            <a:off x="7633411" y="2573122"/>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Real data source </a:t>
            </a:r>
            <a:endParaRPr lang="en-US" sz="900" dirty="0"/>
          </a:p>
        </p:txBody>
      </p:sp>
      <p:pic>
        <p:nvPicPr>
          <p:cNvPr id="44" name="Image 7" descr="preencoded.png">
            <a:extLst>
              <a:ext uri="{FF2B5EF4-FFF2-40B4-BE49-F238E27FC236}">
                <a16:creationId xmlns:a16="http://schemas.microsoft.com/office/drawing/2014/main" id="{F78A0165-FF84-1832-D1A7-329F5B93EB6F}"/>
              </a:ext>
            </a:extLst>
          </p:cNvPr>
          <p:cNvPicPr>
            <a:picLocks noChangeAspect="1"/>
          </p:cNvPicPr>
          <p:nvPr/>
        </p:nvPicPr>
        <p:blipFill>
          <a:blip r:embed="rId3"/>
          <a:srcRect/>
          <a:stretch/>
        </p:blipFill>
        <p:spPr>
          <a:xfrm>
            <a:off x="7452360" y="2587752"/>
            <a:ext cx="114300" cy="114300"/>
          </a:xfrm>
          <a:prstGeom prst="rect">
            <a:avLst/>
          </a:prstGeom>
        </p:spPr>
      </p:pic>
      <p:sp>
        <p:nvSpPr>
          <p:cNvPr id="45" name="Text 38">
            <a:extLst>
              <a:ext uri="{FF2B5EF4-FFF2-40B4-BE49-F238E27FC236}">
                <a16:creationId xmlns:a16="http://schemas.microsoft.com/office/drawing/2014/main" id="{57B1E5E3-B37E-E421-94D5-8E0952EFAE68}"/>
              </a:ext>
            </a:extLst>
          </p:cNvPr>
          <p:cNvSpPr txBox="1"/>
          <p:nvPr/>
        </p:nvSpPr>
        <p:spPr>
          <a:xfrm>
            <a:off x="7633411" y="2768803"/>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Mock/real sync </a:t>
            </a:r>
            <a:endParaRPr lang="en-US" sz="900" dirty="0"/>
          </a:p>
        </p:txBody>
      </p:sp>
      <p:pic>
        <p:nvPicPr>
          <p:cNvPr id="46" name="Image 8" descr="preencoded.png">
            <a:extLst>
              <a:ext uri="{FF2B5EF4-FFF2-40B4-BE49-F238E27FC236}">
                <a16:creationId xmlns:a16="http://schemas.microsoft.com/office/drawing/2014/main" id="{56C7D6E4-4744-65B0-239F-41C8FED5C8D5}"/>
              </a:ext>
            </a:extLst>
          </p:cNvPr>
          <p:cNvPicPr>
            <a:picLocks noChangeAspect="1"/>
          </p:cNvPicPr>
          <p:nvPr/>
        </p:nvPicPr>
        <p:blipFill>
          <a:blip r:embed="rId3"/>
          <a:srcRect/>
          <a:stretch/>
        </p:blipFill>
        <p:spPr>
          <a:xfrm>
            <a:off x="7452360" y="2783434"/>
            <a:ext cx="114300" cy="114300"/>
          </a:xfrm>
          <a:prstGeom prst="rect">
            <a:avLst/>
          </a:prstGeom>
        </p:spPr>
      </p:pic>
      <p:sp>
        <p:nvSpPr>
          <p:cNvPr id="47" name="Shape 39">
            <a:extLst>
              <a:ext uri="{FF2B5EF4-FFF2-40B4-BE49-F238E27FC236}">
                <a16:creationId xmlns:a16="http://schemas.microsoft.com/office/drawing/2014/main" id="{0EF9F622-1A9F-D49C-65D0-93953247B135}"/>
              </a:ext>
            </a:extLst>
          </p:cNvPr>
          <p:cNvSpPr/>
          <p:nvPr/>
        </p:nvSpPr>
        <p:spPr>
          <a:xfrm>
            <a:off x="9509760" y="2025396"/>
            <a:ext cx="2076602" cy="1047902"/>
          </a:xfrm>
          <a:prstGeom prst="roundRect">
            <a:avLst>
              <a:gd name="adj" fmla="val 12692"/>
            </a:avLst>
          </a:prstGeom>
          <a:solidFill>
            <a:srgbClr val="F7FAFC"/>
          </a:solidFill>
          <a:ln/>
        </p:spPr>
        <p:txBody>
          <a:bodyPr/>
          <a:lstStyle/>
          <a:p>
            <a:endParaRPr lang="en-US"/>
          </a:p>
        </p:txBody>
      </p:sp>
      <p:sp>
        <p:nvSpPr>
          <p:cNvPr id="48" name="Shape 40">
            <a:extLst>
              <a:ext uri="{FF2B5EF4-FFF2-40B4-BE49-F238E27FC236}">
                <a16:creationId xmlns:a16="http://schemas.microsoft.com/office/drawing/2014/main" id="{04CE1787-CA32-C5C3-A2AA-F4E8EE689AE8}"/>
              </a:ext>
            </a:extLst>
          </p:cNvPr>
          <p:cNvSpPr/>
          <p:nvPr/>
        </p:nvSpPr>
        <p:spPr>
          <a:xfrm>
            <a:off x="9509760" y="2025396"/>
            <a:ext cx="38405" cy="1047902"/>
          </a:xfrm>
          <a:prstGeom prst="roundRect">
            <a:avLst>
              <a:gd name="adj" fmla="val 346319"/>
            </a:avLst>
          </a:prstGeom>
          <a:solidFill>
            <a:srgbClr val="3182CE"/>
          </a:solidFill>
          <a:ln w="12700">
            <a:solidFill>
              <a:srgbClr val="3182CE">
                <a:alpha val="0"/>
              </a:srgbClr>
            </a:solidFill>
            <a:prstDash val="solid"/>
          </a:ln>
        </p:spPr>
        <p:txBody>
          <a:bodyPr/>
          <a:lstStyle/>
          <a:p>
            <a:endParaRPr lang="en-US"/>
          </a:p>
        </p:txBody>
      </p:sp>
      <p:sp>
        <p:nvSpPr>
          <p:cNvPr id="49" name="Shape 41">
            <a:extLst>
              <a:ext uri="{FF2B5EF4-FFF2-40B4-BE49-F238E27FC236}">
                <a16:creationId xmlns:a16="http://schemas.microsoft.com/office/drawing/2014/main" id="{6F3648D7-D04F-4BFA-41D1-FA6E172AAFCA}"/>
              </a:ext>
            </a:extLst>
          </p:cNvPr>
          <p:cNvSpPr/>
          <p:nvPr/>
        </p:nvSpPr>
        <p:spPr>
          <a:xfrm>
            <a:off x="9677095" y="2173529"/>
            <a:ext cx="304495" cy="304495"/>
          </a:xfrm>
          <a:prstGeom prst="ellipse">
            <a:avLst/>
          </a:prstGeom>
          <a:solidFill>
            <a:srgbClr val="3182CE"/>
          </a:solidFill>
          <a:ln w="12700">
            <a:solidFill>
              <a:srgbClr val="FFFFFF">
                <a:alpha val="0"/>
              </a:srgbClr>
            </a:solidFill>
            <a:prstDash val="solid"/>
          </a:ln>
        </p:spPr>
        <p:txBody>
          <a:bodyPr/>
          <a:lstStyle/>
          <a:p>
            <a:endParaRPr lang="en-US"/>
          </a:p>
        </p:txBody>
      </p:sp>
      <p:sp>
        <p:nvSpPr>
          <p:cNvPr id="50" name="Text 42">
            <a:extLst>
              <a:ext uri="{FF2B5EF4-FFF2-40B4-BE49-F238E27FC236}">
                <a16:creationId xmlns:a16="http://schemas.microsoft.com/office/drawing/2014/main" id="{B1FF6D04-2A35-99D3-9B12-7172F5A552BA}"/>
              </a:ext>
            </a:extLst>
          </p:cNvPr>
          <p:cNvSpPr/>
          <p:nvPr/>
        </p:nvSpPr>
        <p:spPr>
          <a:xfrm>
            <a:off x="9648749" y="2173529"/>
            <a:ext cx="362102"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Raleway" pitchFamily="34" charset="0"/>
                <a:ea typeface="Raleway" pitchFamily="34" charset="-122"/>
                <a:cs typeface="Raleway" pitchFamily="34" charset="-120"/>
              </a:rPr>
              <a:t>5</a:t>
            </a:r>
            <a:endParaRPr lang="en-US" sz="1000" dirty="0"/>
          </a:p>
        </p:txBody>
      </p:sp>
      <p:sp>
        <p:nvSpPr>
          <p:cNvPr id="51" name="Text 43">
            <a:extLst>
              <a:ext uri="{FF2B5EF4-FFF2-40B4-BE49-F238E27FC236}">
                <a16:creationId xmlns:a16="http://schemas.microsoft.com/office/drawing/2014/main" id="{6BFE7B09-4B4F-8825-4AED-0D1AD588C61B}"/>
              </a:ext>
            </a:extLst>
          </p:cNvPr>
          <p:cNvSpPr txBox="1"/>
          <p:nvPr/>
        </p:nvSpPr>
        <p:spPr>
          <a:xfrm>
            <a:off x="10081260" y="2154326"/>
            <a:ext cx="1236269"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Raleway" pitchFamily="34" charset="0"/>
                <a:ea typeface="Raleway" pitchFamily="34" charset="-122"/>
                <a:cs typeface="Raleway" pitchFamily="34" charset="-120"/>
              </a:rPr>
              <a:t>Docs + Checklist</a:t>
            </a:r>
            <a:endParaRPr lang="en-US" sz="1000" dirty="0"/>
          </a:p>
        </p:txBody>
      </p:sp>
      <p:sp>
        <p:nvSpPr>
          <p:cNvPr id="52" name="Text 44">
            <a:extLst>
              <a:ext uri="{FF2B5EF4-FFF2-40B4-BE49-F238E27FC236}">
                <a16:creationId xmlns:a16="http://schemas.microsoft.com/office/drawing/2014/main" id="{28DE3EC5-B55F-B973-7CCE-269218F16D7E}"/>
              </a:ext>
            </a:extLst>
          </p:cNvPr>
          <p:cNvSpPr txBox="1"/>
          <p:nvPr/>
        </p:nvSpPr>
        <p:spPr>
          <a:xfrm>
            <a:off x="10081260" y="2344522"/>
            <a:ext cx="1114654" cy="152705"/>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Onboarding</a:t>
            </a:r>
            <a:endParaRPr lang="en-US" sz="900" dirty="0"/>
          </a:p>
        </p:txBody>
      </p:sp>
      <p:sp>
        <p:nvSpPr>
          <p:cNvPr id="53" name="Text 45">
            <a:extLst>
              <a:ext uri="{FF2B5EF4-FFF2-40B4-BE49-F238E27FC236}">
                <a16:creationId xmlns:a16="http://schemas.microsoft.com/office/drawing/2014/main" id="{EDCB5DA9-8146-E8A4-F920-744B05DAD9E6}"/>
              </a:ext>
            </a:extLst>
          </p:cNvPr>
          <p:cNvSpPr txBox="1"/>
          <p:nvPr/>
        </p:nvSpPr>
        <p:spPr>
          <a:xfrm>
            <a:off x="9858146" y="2573122"/>
            <a:ext cx="1677010"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Documentation </a:t>
            </a:r>
            <a:endParaRPr lang="en-US" sz="900" dirty="0"/>
          </a:p>
        </p:txBody>
      </p:sp>
      <p:pic>
        <p:nvPicPr>
          <p:cNvPr id="54" name="Image 9" descr="preencoded.png">
            <a:extLst>
              <a:ext uri="{FF2B5EF4-FFF2-40B4-BE49-F238E27FC236}">
                <a16:creationId xmlns:a16="http://schemas.microsoft.com/office/drawing/2014/main" id="{85879C40-C88A-5F7C-3493-BEFB6F676EE8}"/>
              </a:ext>
            </a:extLst>
          </p:cNvPr>
          <p:cNvPicPr>
            <a:picLocks noChangeAspect="1"/>
          </p:cNvPicPr>
          <p:nvPr/>
        </p:nvPicPr>
        <p:blipFill>
          <a:blip r:embed="rId3"/>
          <a:srcRect/>
          <a:stretch/>
        </p:blipFill>
        <p:spPr>
          <a:xfrm>
            <a:off x="9677095" y="2587752"/>
            <a:ext cx="114300" cy="114300"/>
          </a:xfrm>
          <a:prstGeom prst="rect">
            <a:avLst/>
          </a:prstGeom>
        </p:spPr>
      </p:pic>
      <p:sp>
        <p:nvSpPr>
          <p:cNvPr id="55" name="Text 46">
            <a:extLst>
              <a:ext uri="{FF2B5EF4-FFF2-40B4-BE49-F238E27FC236}">
                <a16:creationId xmlns:a16="http://schemas.microsoft.com/office/drawing/2014/main" id="{EA1C4F62-7D93-5E49-4A11-876E3C6DA6B8}"/>
              </a:ext>
            </a:extLst>
          </p:cNvPr>
          <p:cNvSpPr txBox="1"/>
          <p:nvPr/>
        </p:nvSpPr>
        <p:spPr>
          <a:xfrm>
            <a:off x="9855403" y="2768803"/>
            <a:ext cx="1679753" cy="162763"/>
          </a:xfrm>
          <a:prstGeom prst="rect">
            <a:avLst/>
          </a:prstGeom>
          <a:noFill/>
          <a:ln/>
        </p:spPr>
        <p:txBody>
          <a:bodyPr wrap="square" lIns="0" tIns="0" rIns="0" bIns="0" rtlCol="0" anchor="ctr"/>
          <a:lstStyle/>
          <a:p>
            <a:pPr marL="0" indent="0" algn="l">
              <a:buNone/>
            </a:pPr>
            <a:r>
              <a:rPr lang="en-US" sz="900" dirty="0">
                <a:solidFill>
                  <a:srgbClr val="4B5563"/>
                </a:solidFill>
                <a:latin typeface="Raleway" pitchFamily="34" charset="0"/>
                <a:ea typeface="Raleway" pitchFamily="34" charset="-122"/>
                <a:cs typeface="Raleway" pitchFamily="34" charset="-120"/>
              </a:rPr>
              <a:t> Team training </a:t>
            </a:r>
            <a:endParaRPr lang="en-US" sz="900" dirty="0"/>
          </a:p>
        </p:txBody>
      </p:sp>
      <p:pic>
        <p:nvPicPr>
          <p:cNvPr id="56" name="Image 10" descr="preencoded.png">
            <a:extLst>
              <a:ext uri="{FF2B5EF4-FFF2-40B4-BE49-F238E27FC236}">
                <a16:creationId xmlns:a16="http://schemas.microsoft.com/office/drawing/2014/main" id="{0B6FD137-37B9-EE31-D49E-9C82D8F8730A}"/>
              </a:ext>
            </a:extLst>
          </p:cNvPr>
          <p:cNvPicPr>
            <a:picLocks noChangeAspect="1"/>
          </p:cNvPicPr>
          <p:nvPr/>
        </p:nvPicPr>
        <p:blipFill>
          <a:blip r:embed="rId3"/>
          <a:srcRect/>
          <a:stretch/>
        </p:blipFill>
        <p:spPr>
          <a:xfrm>
            <a:off x="9677095" y="2783434"/>
            <a:ext cx="114300" cy="114300"/>
          </a:xfrm>
          <a:prstGeom prst="rect">
            <a:avLst/>
          </a:prstGeom>
        </p:spPr>
      </p:pic>
      <p:sp>
        <p:nvSpPr>
          <p:cNvPr id="57" name="Shape 47">
            <a:extLst>
              <a:ext uri="{FF2B5EF4-FFF2-40B4-BE49-F238E27FC236}">
                <a16:creationId xmlns:a16="http://schemas.microsoft.com/office/drawing/2014/main" id="{05A56F8B-2C44-A19F-CE48-D67CF02BDE90}"/>
              </a:ext>
            </a:extLst>
          </p:cNvPr>
          <p:cNvSpPr/>
          <p:nvPr/>
        </p:nvSpPr>
        <p:spPr>
          <a:xfrm>
            <a:off x="609905" y="3415284"/>
            <a:ext cx="10972800" cy="1276502"/>
          </a:xfrm>
          <a:prstGeom prst="roundRect">
            <a:avLst>
              <a:gd name="adj" fmla="val 8553"/>
            </a:avLst>
          </a:prstGeom>
          <a:solidFill>
            <a:srgbClr val="F9FAFB"/>
          </a:solidFill>
          <a:ln w="12700">
            <a:solidFill>
              <a:srgbClr val="E5E7EB"/>
            </a:solidFill>
            <a:prstDash val="solid"/>
          </a:ln>
        </p:spPr>
        <p:txBody>
          <a:bodyPr/>
          <a:lstStyle/>
          <a:p>
            <a:endParaRPr lang="en-US"/>
          </a:p>
        </p:txBody>
      </p:sp>
      <p:sp>
        <p:nvSpPr>
          <p:cNvPr id="58" name="Text 48">
            <a:extLst>
              <a:ext uri="{FF2B5EF4-FFF2-40B4-BE49-F238E27FC236}">
                <a16:creationId xmlns:a16="http://schemas.microsoft.com/office/drawing/2014/main" id="{19E8CC0B-1E58-0F0A-9B97-675EDBC4D915}"/>
              </a:ext>
            </a:extLst>
          </p:cNvPr>
          <p:cNvSpPr txBox="1"/>
          <p:nvPr/>
        </p:nvSpPr>
        <p:spPr>
          <a:xfrm>
            <a:off x="771754" y="3577133"/>
            <a:ext cx="2199132"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Implementation Timeline</a:t>
            </a:r>
            <a:endParaRPr lang="en-US" sz="1200" dirty="0"/>
          </a:p>
        </p:txBody>
      </p:sp>
      <p:sp>
        <p:nvSpPr>
          <p:cNvPr id="59" name="Text 49">
            <a:extLst>
              <a:ext uri="{FF2B5EF4-FFF2-40B4-BE49-F238E27FC236}">
                <a16:creationId xmlns:a16="http://schemas.microsoft.com/office/drawing/2014/main" id="{1F6DC7D1-F8F1-3BCE-4063-32DC4607A089}"/>
              </a:ext>
            </a:extLst>
          </p:cNvPr>
          <p:cNvSpPr txBox="1"/>
          <p:nvPr/>
        </p:nvSpPr>
        <p:spPr>
          <a:xfrm>
            <a:off x="10347350" y="3596335"/>
            <a:ext cx="1281074"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Estimated: 5 days</a:t>
            </a:r>
            <a:endParaRPr lang="en-US" sz="1000" dirty="0"/>
          </a:p>
        </p:txBody>
      </p:sp>
      <p:sp>
        <p:nvSpPr>
          <p:cNvPr id="60" name="Text 50">
            <a:extLst>
              <a:ext uri="{FF2B5EF4-FFF2-40B4-BE49-F238E27FC236}">
                <a16:creationId xmlns:a16="http://schemas.microsoft.com/office/drawing/2014/main" id="{A8B90A2D-F3C4-79EC-D562-581E1F860276}"/>
              </a:ext>
            </a:extLst>
          </p:cNvPr>
          <p:cNvSpPr txBox="1"/>
          <p:nvPr/>
        </p:nvSpPr>
        <p:spPr>
          <a:xfrm>
            <a:off x="731520" y="3958438"/>
            <a:ext cx="2090318" cy="191110"/>
          </a:xfrm>
          <a:prstGeom prst="rect">
            <a:avLst/>
          </a:prstGeom>
          <a:noFill/>
          <a:ln/>
        </p:spPr>
        <p:txBody>
          <a:bodyPr wrap="square" lIns="0" tIns="0" rIns="0" bIns="0" rtlCol="0" anchor="ctr"/>
          <a:lstStyle/>
          <a:p>
            <a:pPr marL="0" indent="0" algn="ctr">
              <a:buNone/>
            </a:pPr>
            <a:r>
              <a:rPr lang="en-US" sz="1000" dirty="0">
                <a:solidFill>
                  <a:srgbClr val="1F2937"/>
                </a:solidFill>
                <a:latin typeface="Raleway" pitchFamily="34" charset="0"/>
                <a:ea typeface="Raleway" pitchFamily="34" charset="-122"/>
                <a:cs typeface="Raleway" pitchFamily="34" charset="-120"/>
              </a:rPr>
              <a:t>Day 1</a:t>
            </a:r>
            <a:endParaRPr lang="en-US" sz="1000" dirty="0"/>
          </a:p>
        </p:txBody>
      </p:sp>
      <p:sp>
        <p:nvSpPr>
          <p:cNvPr id="61" name="Text 51">
            <a:extLst>
              <a:ext uri="{FF2B5EF4-FFF2-40B4-BE49-F238E27FC236}">
                <a16:creationId xmlns:a16="http://schemas.microsoft.com/office/drawing/2014/main" id="{56891D81-3B1B-4B07-5D5A-0DCD7B0606ED}"/>
              </a:ext>
            </a:extLst>
          </p:cNvPr>
          <p:cNvSpPr txBox="1"/>
          <p:nvPr/>
        </p:nvSpPr>
        <p:spPr>
          <a:xfrm>
            <a:off x="731520" y="4148633"/>
            <a:ext cx="2090318" cy="152705"/>
          </a:xfrm>
          <a:prstGeom prst="rect">
            <a:avLst/>
          </a:prstGeom>
          <a:noFill/>
          <a:ln/>
        </p:spPr>
        <p:txBody>
          <a:bodyPr wrap="square" lIns="0" tIns="0" rIns="0" bIns="0" rtlCol="0" anchor="ctr"/>
          <a:lstStyle/>
          <a:p>
            <a:pPr marL="0" indent="0" algn="ctr">
              <a:buNone/>
            </a:pPr>
            <a:r>
              <a:rPr lang="en-US" sz="900" dirty="0">
                <a:solidFill>
                  <a:srgbClr val="4B5563"/>
                </a:solidFill>
                <a:latin typeface="Raleway" pitchFamily="34" charset="0"/>
                <a:ea typeface="Raleway" pitchFamily="34" charset="-122"/>
                <a:cs typeface="Raleway" pitchFamily="34" charset="-120"/>
              </a:rPr>
              <a:t>Setup</a:t>
            </a:r>
            <a:endParaRPr lang="en-US" sz="900" dirty="0"/>
          </a:p>
        </p:txBody>
      </p:sp>
      <p:sp>
        <p:nvSpPr>
          <p:cNvPr id="62" name="Text 52">
            <a:extLst>
              <a:ext uri="{FF2B5EF4-FFF2-40B4-BE49-F238E27FC236}">
                <a16:creationId xmlns:a16="http://schemas.microsoft.com/office/drawing/2014/main" id="{E1751CC6-70E6-0054-E8E7-69D4CBC44B86}"/>
              </a:ext>
            </a:extLst>
          </p:cNvPr>
          <p:cNvSpPr txBox="1"/>
          <p:nvPr/>
        </p:nvSpPr>
        <p:spPr>
          <a:xfrm>
            <a:off x="1584655" y="4377233"/>
            <a:ext cx="1277417"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Complete </a:t>
            </a:r>
            <a:endParaRPr lang="en-US" sz="900" dirty="0"/>
          </a:p>
        </p:txBody>
      </p:sp>
      <p:pic>
        <p:nvPicPr>
          <p:cNvPr id="63" name="Image 11" descr="preencoded.png">
            <a:extLst>
              <a:ext uri="{FF2B5EF4-FFF2-40B4-BE49-F238E27FC236}">
                <a16:creationId xmlns:a16="http://schemas.microsoft.com/office/drawing/2014/main" id="{34F62F86-1A0C-9F12-C6C2-A14C28EF940F}"/>
              </a:ext>
            </a:extLst>
          </p:cNvPr>
          <p:cNvPicPr>
            <a:picLocks noChangeAspect="1"/>
          </p:cNvPicPr>
          <p:nvPr/>
        </p:nvPicPr>
        <p:blipFill>
          <a:blip r:embed="rId4"/>
          <a:srcRect l="-2571" r="-2571"/>
          <a:stretch/>
        </p:blipFill>
        <p:spPr>
          <a:xfrm>
            <a:off x="1442009" y="4391863"/>
            <a:ext cx="105156" cy="114300"/>
          </a:xfrm>
          <a:prstGeom prst="rect">
            <a:avLst/>
          </a:prstGeom>
        </p:spPr>
      </p:pic>
      <p:sp>
        <p:nvSpPr>
          <p:cNvPr id="64" name="Text 53">
            <a:extLst>
              <a:ext uri="{FF2B5EF4-FFF2-40B4-BE49-F238E27FC236}">
                <a16:creationId xmlns:a16="http://schemas.microsoft.com/office/drawing/2014/main" id="{DBADB5A2-5223-9E27-A597-A699C0BEB99F}"/>
              </a:ext>
            </a:extLst>
          </p:cNvPr>
          <p:cNvSpPr txBox="1"/>
          <p:nvPr/>
        </p:nvSpPr>
        <p:spPr>
          <a:xfrm>
            <a:off x="2891333" y="3958438"/>
            <a:ext cx="2090318" cy="191110"/>
          </a:xfrm>
          <a:prstGeom prst="rect">
            <a:avLst/>
          </a:prstGeom>
          <a:noFill/>
          <a:ln/>
        </p:spPr>
        <p:txBody>
          <a:bodyPr wrap="square" lIns="0" tIns="0" rIns="0" bIns="0" rtlCol="0" anchor="ctr"/>
          <a:lstStyle/>
          <a:p>
            <a:pPr marL="0" indent="0" algn="ctr">
              <a:buNone/>
            </a:pPr>
            <a:r>
              <a:rPr lang="en-US" sz="1000" dirty="0">
                <a:solidFill>
                  <a:srgbClr val="1F2937"/>
                </a:solidFill>
                <a:latin typeface="Raleway" pitchFamily="34" charset="0"/>
                <a:ea typeface="Raleway" pitchFamily="34" charset="-122"/>
                <a:cs typeface="Raleway" pitchFamily="34" charset="-120"/>
              </a:rPr>
              <a:t>Day 2</a:t>
            </a:r>
            <a:endParaRPr lang="en-US" sz="1000" dirty="0"/>
          </a:p>
        </p:txBody>
      </p:sp>
      <p:sp>
        <p:nvSpPr>
          <p:cNvPr id="65" name="Text 54">
            <a:extLst>
              <a:ext uri="{FF2B5EF4-FFF2-40B4-BE49-F238E27FC236}">
                <a16:creationId xmlns:a16="http://schemas.microsoft.com/office/drawing/2014/main" id="{6A31CB7B-2CE7-2283-56D9-27E103738CFE}"/>
              </a:ext>
            </a:extLst>
          </p:cNvPr>
          <p:cNvSpPr txBox="1"/>
          <p:nvPr/>
        </p:nvSpPr>
        <p:spPr>
          <a:xfrm>
            <a:off x="2891333" y="4148633"/>
            <a:ext cx="2090318" cy="152705"/>
          </a:xfrm>
          <a:prstGeom prst="rect">
            <a:avLst/>
          </a:prstGeom>
          <a:noFill/>
          <a:ln/>
        </p:spPr>
        <p:txBody>
          <a:bodyPr wrap="square" lIns="0" tIns="0" rIns="0" bIns="0" rtlCol="0" anchor="ctr"/>
          <a:lstStyle/>
          <a:p>
            <a:pPr marL="0" indent="0" algn="ctr">
              <a:buNone/>
            </a:pPr>
            <a:r>
              <a:rPr lang="en-US" sz="900" dirty="0">
                <a:solidFill>
                  <a:srgbClr val="4B5563"/>
                </a:solidFill>
                <a:latin typeface="Raleway" pitchFamily="34" charset="0"/>
                <a:ea typeface="Raleway" pitchFamily="34" charset="-122"/>
                <a:cs typeface="Raleway" pitchFamily="34" charset="-120"/>
              </a:rPr>
              <a:t>Scenarios</a:t>
            </a:r>
            <a:endParaRPr lang="en-US" sz="900" dirty="0"/>
          </a:p>
        </p:txBody>
      </p:sp>
      <p:sp>
        <p:nvSpPr>
          <p:cNvPr id="66" name="Text 55">
            <a:extLst>
              <a:ext uri="{FF2B5EF4-FFF2-40B4-BE49-F238E27FC236}">
                <a16:creationId xmlns:a16="http://schemas.microsoft.com/office/drawing/2014/main" id="{7D738097-0177-FB42-3388-D536AC9765EF}"/>
              </a:ext>
            </a:extLst>
          </p:cNvPr>
          <p:cNvSpPr txBox="1"/>
          <p:nvPr/>
        </p:nvSpPr>
        <p:spPr>
          <a:xfrm>
            <a:off x="3744468" y="4377233"/>
            <a:ext cx="1277417"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Complete </a:t>
            </a:r>
            <a:endParaRPr lang="en-US" sz="900" dirty="0"/>
          </a:p>
        </p:txBody>
      </p:sp>
      <p:pic>
        <p:nvPicPr>
          <p:cNvPr id="67" name="Image 12" descr="preencoded.png">
            <a:extLst>
              <a:ext uri="{FF2B5EF4-FFF2-40B4-BE49-F238E27FC236}">
                <a16:creationId xmlns:a16="http://schemas.microsoft.com/office/drawing/2014/main" id="{86966384-BB44-8003-EF43-385BB53F63B5}"/>
              </a:ext>
            </a:extLst>
          </p:cNvPr>
          <p:cNvPicPr>
            <a:picLocks noChangeAspect="1"/>
          </p:cNvPicPr>
          <p:nvPr/>
        </p:nvPicPr>
        <p:blipFill>
          <a:blip r:embed="rId4"/>
          <a:srcRect l="-2571" r="-2571"/>
          <a:stretch/>
        </p:blipFill>
        <p:spPr>
          <a:xfrm>
            <a:off x="3601822" y="4391863"/>
            <a:ext cx="105156" cy="114300"/>
          </a:xfrm>
          <a:prstGeom prst="rect">
            <a:avLst/>
          </a:prstGeom>
        </p:spPr>
      </p:pic>
      <p:sp>
        <p:nvSpPr>
          <p:cNvPr id="68" name="Text 56">
            <a:extLst>
              <a:ext uri="{FF2B5EF4-FFF2-40B4-BE49-F238E27FC236}">
                <a16:creationId xmlns:a16="http://schemas.microsoft.com/office/drawing/2014/main" id="{F448FA07-7515-F46D-BE00-5266300489A5}"/>
              </a:ext>
            </a:extLst>
          </p:cNvPr>
          <p:cNvSpPr txBox="1"/>
          <p:nvPr/>
        </p:nvSpPr>
        <p:spPr>
          <a:xfrm>
            <a:off x="5052060" y="3958438"/>
            <a:ext cx="2090318" cy="191110"/>
          </a:xfrm>
          <a:prstGeom prst="rect">
            <a:avLst/>
          </a:prstGeom>
          <a:noFill/>
          <a:ln/>
        </p:spPr>
        <p:txBody>
          <a:bodyPr wrap="square" lIns="0" tIns="0" rIns="0" bIns="0" rtlCol="0" anchor="ctr"/>
          <a:lstStyle/>
          <a:p>
            <a:pPr marL="0" indent="0" algn="ctr">
              <a:buNone/>
            </a:pPr>
            <a:r>
              <a:rPr lang="en-US" sz="1000" dirty="0">
                <a:solidFill>
                  <a:srgbClr val="1F2937"/>
                </a:solidFill>
                <a:latin typeface="Raleway" pitchFamily="34" charset="0"/>
                <a:ea typeface="Raleway" pitchFamily="34" charset="-122"/>
                <a:cs typeface="Raleway" pitchFamily="34" charset="-120"/>
              </a:rPr>
              <a:t>Day 3</a:t>
            </a:r>
            <a:endParaRPr lang="en-US" sz="1000" dirty="0"/>
          </a:p>
        </p:txBody>
      </p:sp>
      <p:sp>
        <p:nvSpPr>
          <p:cNvPr id="69" name="Text 57">
            <a:extLst>
              <a:ext uri="{FF2B5EF4-FFF2-40B4-BE49-F238E27FC236}">
                <a16:creationId xmlns:a16="http://schemas.microsoft.com/office/drawing/2014/main" id="{7CB14A04-717C-0DBB-7180-71671474868A}"/>
              </a:ext>
            </a:extLst>
          </p:cNvPr>
          <p:cNvSpPr txBox="1"/>
          <p:nvPr/>
        </p:nvSpPr>
        <p:spPr>
          <a:xfrm>
            <a:off x="5052060" y="4148633"/>
            <a:ext cx="2090318" cy="152705"/>
          </a:xfrm>
          <a:prstGeom prst="rect">
            <a:avLst/>
          </a:prstGeom>
          <a:noFill/>
          <a:ln/>
        </p:spPr>
        <p:txBody>
          <a:bodyPr wrap="square" lIns="0" tIns="0" rIns="0" bIns="0" rtlCol="0" anchor="ctr"/>
          <a:lstStyle/>
          <a:p>
            <a:pPr marL="0" indent="0" algn="ctr">
              <a:buNone/>
            </a:pPr>
            <a:r>
              <a:rPr lang="en-US" sz="900" dirty="0">
                <a:solidFill>
                  <a:srgbClr val="4B5563"/>
                </a:solidFill>
                <a:latin typeface="Raleway" pitchFamily="34" charset="0"/>
                <a:ea typeface="Raleway" pitchFamily="34" charset="-122"/>
                <a:cs typeface="Raleway" pitchFamily="34" charset="-120"/>
              </a:rPr>
              <a:t>Controls</a:t>
            </a:r>
            <a:endParaRPr lang="en-US" sz="900" dirty="0"/>
          </a:p>
        </p:txBody>
      </p:sp>
      <p:sp>
        <p:nvSpPr>
          <p:cNvPr id="70" name="Text 58">
            <a:extLst>
              <a:ext uri="{FF2B5EF4-FFF2-40B4-BE49-F238E27FC236}">
                <a16:creationId xmlns:a16="http://schemas.microsoft.com/office/drawing/2014/main" id="{10B0F892-D216-E984-21E3-421DAFBB9F03}"/>
              </a:ext>
            </a:extLst>
          </p:cNvPr>
          <p:cNvSpPr txBox="1"/>
          <p:nvPr/>
        </p:nvSpPr>
        <p:spPr>
          <a:xfrm>
            <a:off x="5905195" y="4377233"/>
            <a:ext cx="1277417"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Complete </a:t>
            </a:r>
            <a:endParaRPr lang="en-US" sz="900" dirty="0"/>
          </a:p>
        </p:txBody>
      </p:sp>
      <p:pic>
        <p:nvPicPr>
          <p:cNvPr id="71" name="Image 13" descr="preencoded.png">
            <a:extLst>
              <a:ext uri="{FF2B5EF4-FFF2-40B4-BE49-F238E27FC236}">
                <a16:creationId xmlns:a16="http://schemas.microsoft.com/office/drawing/2014/main" id="{D3A3C9AD-A41E-A135-B23A-760054322725}"/>
              </a:ext>
            </a:extLst>
          </p:cNvPr>
          <p:cNvPicPr>
            <a:picLocks noChangeAspect="1"/>
          </p:cNvPicPr>
          <p:nvPr/>
        </p:nvPicPr>
        <p:blipFill>
          <a:blip r:embed="rId4"/>
          <a:srcRect l="-2571" r="-2571"/>
          <a:stretch/>
        </p:blipFill>
        <p:spPr>
          <a:xfrm>
            <a:off x="5762549" y="4391863"/>
            <a:ext cx="105156" cy="114300"/>
          </a:xfrm>
          <a:prstGeom prst="rect">
            <a:avLst/>
          </a:prstGeom>
        </p:spPr>
      </p:pic>
      <p:sp>
        <p:nvSpPr>
          <p:cNvPr id="72" name="Text 59">
            <a:extLst>
              <a:ext uri="{FF2B5EF4-FFF2-40B4-BE49-F238E27FC236}">
                <a16:creationId xmlns:a16="http://schemas.microsoft.com/office/drawing/2014/main" id="{9839647F-F1B8-37E7-86AA-0FEF003614E0}"/>
              </a:ext>
            </a:extLst>
          </p:cNvPr>
          <p:cNvSpPr txBox="1"/>
          <p:nvPr/>
        </p:nvSpPr>
        <p:spPr>
          <a:xfrm>
            <a:off x="7211873" y="3958438"/>
            <a:ext cx="2090318" cy="191110"/>
          </a:xfrm>
          <a:prstGeom prst="rect">
            <a:avLst/>
          </a:prstGeom>
          <a:noFill/>
          <a:ln/>
        </p:spPr>
        <p:txBody>
          <a:bodyPr wrap="square" lIns="0" tIns="0" rIns="0" bIns="0" rtlCol="0" anchor="ctr"/>
          <a:lstStyle/>
          <a:p>
            <a:pPr marL="0" indent="0" algn="ctr">
              <a:buNone/>
            </a:pPr>
            <a:r>
              <a:rPr lang="en-US" sz="1000" dirty="0">
                <a:solidFill>
                  <a:srgbClr val="1F2937"/>
                </a:solidFill>
                <a:latin typeface="Raleway" pitchFamily="34" charset="0"/>
                <a:ea typeface="Raleway" pitchFamily="34" charset="-122"/>
                <a:cs typeface="Raleway" pitchFamily="34" charset="-120"/>
              </a:rPr>
              <a:t>Day 4</a:t>
            </a:r>
            <a:endParaRPr lang="en-US" sz="1000" dirty="0"/>
          </a:p>
        </p:txBody>
      </p:sp>
      <p:sp>
        <p:nvSpPr>
          <p:cNvPr id="73" name="Text 60">
            <a:extLst>
              <a:ext uri="{FF2B5EF4-FFF2-40B4-BE49-F238E27FC236}">
                <a16:creationId xmlns:a16="http://schemas.microsoft.com/office/drawing/2014/main" id="{E042AED8-EED9-BC60-3582-A5B4B2FE4570}"/>
              </a:ext>
            </a:extLst>
          </p:cNvPr>
          <p:cNvSpPr txBox="1"/>
          <p:nvPr/>
        </p:nvSpPr>
        <p:spPr>
          <a:xfrm>
            <a:off x="7211873" y="4148633"/>
            <a:ext cx="2090318" cy="152705"/>
          </a:xfrm>
          <a:prstGeom prst="rect">
            <a:avLst/>
          </a:prstGeom>
          <a:noFill/>
          <a:ln/>
        </p:spPr>
        <p:txBody>
          <a:bodyPr wrap="square" lIns="0" tIns="0" rIns="0" bIns="0" rtlCol="0" anchor="ctr"/>
          <a:lstStyle/>
          <a:p>
            <a:pPr marL="0" indent="0" algn="ctr">
              <a:buNone/>
            </a:pPr>
            <a:r>
              <a:rPr lang="en-US" sz="900" dirty="0">
                <a:solidFill>
                  <a:srgbClr val="4B5563"/>
                </a:solidFill>
                <a:latin typeface="Raleway" pitchFamily="34" charset="0"/>
                <a:ea typeface="Raleway" pitchFamily="34" charset="-122"/>
                <a:cs typeface="Raleway" pitchFamily="34" charset="-120"/>
              </a:rPr>
              <a:t>Data</a:t>
            </a:r>
            <a:endParaRPr lang="en-US" sz="900" dirty="0"/>
          </a:p>
        </p:txBody>
      </p:sp>
      <p:sp>
        <p:nvSpPr>
          <p:cNvPr id="74" name="Text 61">
            <a:extLst>
              <a:ext uri="{FF2B5EF4-FFF2-40B4-BE49-F238E27FC236}">
                <a16:creationId xmlns:a16="http://schemas.microsoft.com/office/drawing/2014/main" id="{ED1A6D9E-4D54-371F-2A2C-8A2C0B47AFE8}"/>
              </a:ext>
            </a:extLst>
          </p:cNvPr>
          <p:cNvSpPr txBox="1"/>
          <p:nvPr/>
        </p:nvSpPr>
        <p:spPr>
          <a:xfrm>
            <a:off x="8065008" y="4377233"/>
            <a:ext cx="1277417"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Complete </a:t>
            </a:r>
            <a:endParaRPr lang="en-US" sz="900" dirty="0"/>
          </a:p>
        </p:txBody>
      </p:sp>
      <p:pic>
        <p:nvPicPr>
          <p:cNvPr id="75" name="Image 14" descr="preencoded.png">
            <a:extLst>
              <a:ext uri="{FF2B5EF4-FFF2-40B4-BE49-F238E27FC236}">
                <a16:creationId xmlns:a16="http://schemas.microsoft.com/office/drawing/2014/main" id="{73E9B21E-15F7-35D0-6BDC-BB5C0382F719}"/>
              </a:ext>
            </a:extLst>
          </p:cNvPr>
          <p:cNvPicPr>
            <a:picLocks noChangeAspect="1"/>
          </p:cNvPicPr>
          <p:nvPr/>
        </p:nvPicPr>
        <p:blipFill>
          <a:blip r:embed="rId4"/>
          <a:srcRect l="-2571" r="-2571"/>
          <a:stretch/>
        </p:blipFill>
        <p:spPr>
          <a:xfrm>
            <a:off x="7922362" y="4391863"/>
            <a:ext cx="105156" cy="114300"/>
          </a:xfrm>
          <a:prstGeom prst="rect">
            <a:avLst/>
          </a:prstGeom>
        </p:spPr>
      </p:pic>
      <p:sp>
        <p:nvSpPr>
          <p:cNvPr id="76" name="Text 62">
            <a:extLst>
              <a:ext uri="{FF2B5EF4-FFF2-40B4-BE49-F238E27FC236}">
                <a16:creationId xmlns:a16="http://schemas.microsoft.com/office/drawing/2014/main" id="{A7AA7CDA-B6AA-0ACB-3C56-F231A5A174A1}"/>
              </a:ext>
            </a:extLst>
          </p:cNvPr>
          <p:cNvSpPr txBox="1"/>
          <p:nvPr/>
        </p:nvSpPr>
        <p:spPr>
          <a:xfrm>
            <a:off x="9372600" y="3958438"/>
            <a:ext cx="2090318" cy="191110"/>
          </a:xfrm>
          <a:prstGeom prst="rect">
            <a:avLst/>
          </a:prstGeom>
          <a:noFill/>
          <a:ln/>
        </p:spPr>
        <p:txBody>
          <a:bodyPr wrap="square" lIns="0" tIns="0" rIns="0" bIns="0" rtlCol="0" anchor="ctr"/>
          <a:lstStyle/>
          <a:p>
            <a:pPr marL="0" indent="0" algn="ctr">
              <a:buNone/>
            </a:pPr>
            <a:r>
              <a:rPr lang="en-US" sz="1000" dirty="0">
                <a:solidFill>
                  <a:srgbClr val="1F2937"/>
                </a:solidFill>
                <a:latin typeface="Raleway" pitchFamily="34" charset="0"/>
                <a:ea typeface="Raleway" pitchFamily="34" charset="-122"/>
                <a:cs typeface="Raleway" pitchFamily="34" charset="-120"/>
              </a:rPr>
              <a:t>Day 5</a:t>
            </a:r>
            <a:endParaRPr lang="en-US" sz="1000" dirty="0"/>
          </a:p>
        </p:txBody>
      </p:sp>
      <p:sp>
        <p:nvSpPr>
          <p:cNvPr id="77" name="Text 63">
            <a:extLst>
              <a:ext uri="{FF2B5EF4-FFF2-40B4-BE49-F238E27FC236}">
                <a16:creationId xmlns:a16="http://schemas.microsoft.com/office/drawing/2014/main" id="{49D336A9-4BA9-1EA8-1478-2C035DB6737F}"/>
              </a:ext>
            </a:extLst>
          </p:cNvPr>
          <p:cNvSpPr txBox="1"/>
          <p:nvPr/>
        </p:nvSpPr>
        <p:spPr>
          <a:xfrm>
            <a:off x="9372600" y="4148633"/>
            <a:ext cx="2090318" cy="152705"/>
          </a:xfrm>
          <a:prstGeom prst="rect">
            <a:avLst/>
          </a:prstGeom>
          <a:noFill/>
          <a:ln/>
        </p:spPr>
        <p:txBody>
          <a:bodyPr wrap="square" lIns="0" tIns="0" rIns="0" bIns="0" rtlCol="0" anchor="ctr"/>
          <a:lstStyle/>
          <a:p>
            <a:pPr marL="0" indent="0" algn="ctr">
              <a:buNone/>
            </a:pPr>
            <a:r>
              <a:rPr lang="en-US" sz="900" dirty="0">
                <a:solidFill>
                  <a:srgbClr val="4B5563"/>
                </a:solidFill>
                <a:latin typeface="Raleway" pitchFamily="34" charset="0"/>
                <a:ea typeface="Raleway" pitchFamily="34" charset="-122"/>
                <a:cs typeface="Raleway" pitchFamily="34" charset="-120"/>
              </a:rPr>
              <a:t>Docs</a:t>
            </a:r>
            <a:endParaRPr lang="en-US" sz="900" dirty="0"/>
          </a:p>
        </p:txBody>
      </p:sp>
      <p:sp>
        <p:nvSpPr>
          <p:cNvPr id="78" name="Text 64">
            <a:extLst>
              <a:ext uri="{FF2B5EF4-FFF2-40B4-BE49-F238E27FC236}">
                <a16:creationId xmlns:a16="http://schemas.microsoft.com/office/drawing/2014/main" id="{4DDE3785-5F09-9F61-7841-6B838488E790}"/>
              </a:ext>
            </a:extLst>
          </p:cNvPr>
          <p:cNvSpPr txBox="1"/>
          <p:nvPr/>
        </p:nvSpPr>
        <p:spPr>
          <a:xfrm>
            <a:off x="10225735" y="4377233"/>
            <a:ext cx="1277417"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Complete </a:t>
            </a:r>
            <a:endParaRPr lang="en-US" sz="900" dirty="0"/>
          </a:p>
        </p:txBody>
      </p:sp>
      <p:pic>
        <p:nvPicPr>
          <p:cNvPr id="79" name="Image 15" descr="preencoded.png">
            <a:extLst>
              <a:ext uri="{FF2B5EF4-FFF2-40B4-BE49-F238E27FC236}">
                <a16:creationId xmlns:a16="http://schemas.microsoft.com/office/drawing/2014/main" id="{58A1182A-D5EA-E7FE-3308-E0629FF3EA15}"/>
              </a:ext>
            </a:extLst>
          </p:cNvPr>
          <p:cNvPicPr>
            <a:picLocks noChangeAspect="1"/>
          </p:cNvPicPr>
          <p:nvPr/>
        </p:nvPicPr>
        <p:blipFill>
          <a:blip r:embed="rId4"/>
          <a:srcRect l="-2571" r="-2571"/>
          <a:stretch/>
        </p:blipFill>
        <p:spPr>
          <a:xfrm>
            <a:off x="10083089" y="4391863"/>
            <a:ext cx="105156" cy="114300"/>
          </a:xfrm>
          <a:prstGeom prst="rect">
            <a:avLst/>
          </a:prstGeom>
        </p:spPr>
      </p:pic>
    </p:spTree>
    <p:extLst>
      <p:ext uri="{BB962C8B-B14F-4D97-AF65-F5344CB8AC3E}">
        <p14:creationId xmlns:p14="http://schemas.microsoft.com/office/powerpoint/2010/main" val="80714510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CBD6F-DDB3-0AF2-7E54-A566079919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996900-899D-0A4E-E75B-E8285C7DE29A}"/>
              </a:ext>
            </a:extLst>
          </p:cNvPr>
          <p:cNvSpPr>
            <a:spLocks noGrp="1"/>
          </p:cNvSpPr>
          <p:nvPr>
            <p:ph type="sldNum" sz="quarter" idx="12"/>
          </p:nvPr>
        </p:nvSpPr>
        <p:spPr/>
        <p:txBody>
          <a:bodyPr/>
          <a:lstStyle/>
          <a:p>
            <a:fld id="{F01A0BEF-C76D-43A2-874C-09A8674B0D74}" type="slidenum">
              <a:rPr lang="en-GB" smtClean="0"/>
              <a:t>19</a:t>
            </a:fld>
            <a:endParaRPr lang="en-GB"/>
          </a:p>
        </p:txBody>
      </p:sp>
      <p:sp>
        <p:nvSpPr>
          <p:cNvPr id="80" name="Text 5">
            <a:extLst>
              <a:ext uri="{FF2B5EF4-FFF2-40B4-BE49-F238E27FC236}">
                <a16:creationId xmlns:a16="http://schemas.microsoft.com/office/drawing/2014/main" id="{5DE7358E-F737-ED44-4825-3996D6732440}"/>
              </a:ext>
            </a:extLst>
          </p:cNvPr>
          <p:cNvSpPr txBox="1"/>
          <p:nvPr/>
        </p:nvSpPr>
        <p:spPr>
          <a:xfrm>
            <a:off x="761695" y="914400"/>
            <a:ext cx="10858500" cy="676656"/>
          </a:xfrm>
          <a:prstGeom prst="rect">
            <a:avLst/>
          </a:prstGeom>
          <a:noFill/>
          <a:ln/>
        </p:spPr>
        <p:txBody>
          <a:bodyPr wrap="square" lIns="0" tIns="0" rIns="0" bIns="0" rtlCol="0" anchor="ctr"/>
          <a:lstStyle/>
          <a:p>
            <a:pPr marL="0" indent="0" algn="l">
              <a:buNone/>
            </a:pPr>
            <a:r>
              <a:rPr lang="en-US" sz="5000" b="1" kern="0" spc="75" dirty="0">
                <a:solidFill>
                  <a:srgbClr val="091044"/>
                </a:solidFill>
                <a:latin typeface="Oswald" pitchFamily="34" charset="0"/>
                <a:ea typeface="Oswald" pitchFamily="34" charset="-122"/>
                <a:cs typeface="Oswald" pitchFamily="34" charset="-120"/>
              </a:rPr>
              <a:t>TEAM PROCESS WINS</a:t>
            </a:r>
            <a:endParaRPr lang="en-US" sz="5000" dirty="0">
              <a:solidFill>
                <a:srgbClr val="091044"/>
              </a:solidFill>
            </a:endParaRPr>
          </a:p>
        </p:txBody>
      </p:sp>
      <p:sp>
        <p:nvSpPr>
          <p:cNvPr id="81" name="Text 6">
            <a:extLst>
              <a:ext uri="{FF2B5EF4-FFF2-40B4-BE49-F238E27FC236}">
                <a16:creationId xmlns:a16="http://schemas.microsoft.com/office/drawing/2014/main" id="{9D38286C-E88B-374F-ECDF-5866AAC24F8D}"/>
              </a:ext>
            </a:extLst>
          </p:cNvPr>
          <p:cNvSpPr txBox="1"/>
          <p:nvPr/>
        </p:nvSpPr>
        <p:spPr>
          <a:xfrm>
            <a:off x="761695" y="1815084"/>
            <a:ext cx="7315200" cy="505663"/>
          </a:xfrm>
          <a:prstGeom prst="rect">
            <a:avLst/>
          </a:prstGeom>
          <a:noFill/>
          <a:ln/>
        </p:spPr>
        <p:txBody>
          <a:bodyPr wrap="square" lIns="0" tIns="0" rIns="0" bIns="0" rtlCol="0" anchor="ctr"/>
          <a:lstStyle/>
          <a:p>
            <a:pPr marL="0" indent="0" algn="l">
              <a:buNone/>
            </a:pPr>
            <a:r>
              <a:rPr lang="en-US" sz="1200" kern="0" spc="15" dirty="0">
                <a:solidFill>
                  <a:srgbClr val="091044"/>
                </a:solidFill>
                <a:latin typeface="Raleway" pitchFamily="34" charset="0"/>
                <a:ea typeface="Raleway" pitchFamily="34" charset="-122"/>
                <a:cs typeface="Raleway" pitchFamily="34" charset="-120"/>
              </a:rPr>
              <a:t>Implementing MSW for frontend development brings significant improvements to team workflows, reducing dependencies and accelerating development cycles.</a:t>
            </a:r>
            <a:endParaRPr lang="en-US" sz="1200" dirty="0">
              <a:solidFill>
                <a:srgbClr val="091044"/>
              </a:solidFill>
            </a:endParaRPr>
          </a:p>
        </p:txBody>
      </p:sp>
      <p:sp>
        <p:nvSpPr>
          <p:cNvPr id="82" name="Shape 7">
            <a:extLst>
              <a:ext uri="{FF2B5EF4-FFF2-40B4-BE49-F238E27FC236}">
                <a16:creationId xmlns:a16="http://schemas.microsoft.com/office/drawing/2014/main" id="{C64C049F-0B65-D2D7-4BDD-2FFCCD6D93B9}"/>
              </a:ext>
            </a:extLst>
          </p:cNvPr>
          <p:cNvSpPr/>
          <p:nvPr/>
        </p:nvSpPr>
        <p:spPr>
          <a:xfrm>
            <a:off x="761695" y="2616098"/>
            <a:ext cx="2495398" cy="1809598"/>
          </a:xfrm>
          <a:prstGeom prst="roundRect">
            <a:avLst>
              <a:gd name="adj" fmla="val 4255"/>
            </a:avLst>
          </a:prstGeom>
          <a:solidFill>
            <a:srgbClr val="091044">
              <a:alpha val="3592"/>
            </a:srgbClr>
          </a:solidFill>
          <a:ln w="12700">
            <a:solidFill>
              <a:srgbClr val="FFFFFF">
                <a:alpha val="0"/>
              </a:srgbClr>
            </a:solidFill>
            <a:prstDash val="solid"/>
          </a:ln>
        </p:spPr>
        <p:txBody>
          <a:bodyPr/>
          <a:lstStyle/>
          <a:p>
            <a:endParaRPr lang="en-US">
              <a:solidFill>
                <a:srgbClr val="091044"/>
              </a:solidFill>
            </a:endParaRPr>
          </a:p>
        </p:txBody>
      </p:sp>
      <p:pic>
        <p:nvPicPr>
          <p:cNvPr id="83" name="Image 3" descr="preencoded.png">
            <a:extLst>
              <a:ext uri="{FF2B5EF4-FFF2-40B4-BE49-F238E27FC236}">
                <a16:creationId xmlns:a16="http://schemas.microsoft.com/office/drawing/2014/main" id="{3CD33C96-D621-BEF8-CAF6-E2270A59C0DD}"/>
              </a:ext>
            </a:extLst>
          </p:cNvPr>
          <p:cNvPicPr>
            <a:picLocks noChangeAspect="1"/>
          </p:cNvPicPr>
          <p:nvPr/>
        </p:nvPicPr>
        <p:blipFill>
          <a:blip r:embed="rId3"/>
          <a:srcRect l="-107" r="-107"/>
          <a:stretch/>
        </p:blipFill>
        <p:spPr>
          <a:xfrm>
            <a:off x="967435" y="2821838"/>
            <a:ext cx="267005" cy="304495"/>
          </a:xfrm>
          <a:prstGeom prst="rect">
            <a:avLst/>
          </a:prstGeom>
        </p:spPr>
      </p:pic>
      <p:sp>
        <p:nvSpPr>
          <p:cNvPr id="84" name="Text 8">
            <a:extLst>
              <a:ext uri="{FF2B5EF4-FFF2-40B4-BE49-F238E27FC236}">
                <a16:creationId xmlns:a16="http://schemas.microsoft.com/office/drawing/2014/main" id="{D90FC3C9-4F69-C1E6-C3D0-979FD3E323F5}"/>
              </a:ext>
            </a:extLst>
          </p:cNvPr>
          <p:cNvSpPr txBox="1"/>
          <p:nvPr/>
        </p:nvSpPr>
        <p:spPr>
          <a:xfrm>
            <a:off x="1348740" y="2821838"/>
            <a:ext cx="1410005" cy="381305"/>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FE/BE Parallelization</a:t>
            </a:r>
            <a:endParaRPr lang="en-US" sz="1200" dirty="0">
              <a:solidFill>
                <a:srgbClr val="091044"/>
              </a:solidFill>
            </a:endParaRPr>
          </a:p>
        </p:txBody>
      </p:sp>
      <p:sp>
        <p:nvSpPr>
          <p:cNvPr id="85" name="Text 9">
            <a:extLst>
              <a:ext uri="{FF2B5EF4-FFF2-40B4-BE49-F238E27FC236}">
                <a16:creationId xmlns:a16="http://schemas.microsoft.com/office/drawing/2014/main" id="{86C8EAF7-92A7-0DE5-47FB-7EAD65880655}"/>
              </a:ext>
            </a:extLst>
          </p:cNvPr>
          <p:cNvSpPr txBox="1"/>
          <p:nvPr/>
        </p:nvSpPr>
        <p:spPr>
          <a:xfrm>
            <a:off x="967435" y="3317443"/>
            <a:ext cx="2162556" cy="781812"/>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Frontend and backend teams can work simultaneously without blocking each other, reducing sprint delays.</a:t>
            </a:r>
            <a:endParaRPr lang="en-US" sz="1000" dirty="0">
              <a:solidFill>
                <a:srgbClr val="091044"/>
              </a:solidFill>
            </a:endParaRPr>
          </a:p>
        </p:txBody>
      </p:sp>
      <p:sp>
        <p:nvSpPr>
          <p:cNvPr id="86" name="Shape 10">
            <a:extLst>
              <a:ext uri="{FF2B5EF4-FFF2-40B4-BE49-F238E27FC236}">
                <a16:creationId xmlns:a16="http://schemas.microsoft.com/office/drawing/2014/main" id="{1DACE826-FE9F-31A5-82A2-281D091E632B}"/>
              </a:ext>
            </a:extLst>
          </p:cNvPr>
          <p:cNvSpPr/>
          <p:nvPr/>
        </p:nvSpPr>
        <p:spPr>
          <a:xfrm>
            <a:off x="3486607" y="2616098"/>
            <a:ext cx="2495398" cy="1809598"/>
          </a:xfrm>
          <a:prstGeom prst="roundRect">
            <a:avLst>
              <a:gd name="adj" fmla="val 4255"/>
            </a:avLst>
          </a:prstGeom>
          <a:solidFill>
            <a:srgbClr val="091044">
              <a:alpha val="3592"/>
            </a:srgbClr>
          </a:solidFill>
          <a:ln w="12700">
            <a:solidFill>
              <a:srgbClr val="FFFFFF">
                <a:alpha val="0"/>
              </a:srgbClr>
            </a:solidFill>
            <a:prstDash val="solid"/>
          </a:ln>
        </p:spPr>
        <p:txBody>
          <a:bodyPr/>
          <a:lstStyle/>
          <a:p>
            <a:endParaRPr lang="en-US">
              <a:solidFill>
                <a:srgbClr val="091044"/>
              </a:solidFill>
            </a:endParaRPr>
          </a:p>
        </p:txBody>
      </p:sp>
      <p:pic>
        <p:nvPicPr>
          <p:cNvPr id="87" name="Image 4" descr="preencoded.png">
            <a:extLst>
              <a:ext uri="{FF2B5EF4-FFF2-40B4-BE49-F238E27FC236}">
                <a16:creationId xmlns:a16="http://schemas.microsoft.com/office/drawing/2014/main" id="{49595B2A-C52B-765B-D8D6-869598734E47}"/>
              </a:ext>
            </a:extLst>
          </p:cNvPr>
          <p:cNvPicPr>
            <a:picLocks noChangeAspect="1"/>
          </p:cNvPicPr>
          <p:nvPr/>
        </p:nvPicPr>
        <p:blipFill>
          <a:blip r:embed="rId4"/>
          <a:srcRect l="-50" r="-50"/>
          <a:stretch/>
        </p:blipFill>
        <p:spPr>
          <a:xfrm>
            <a:off x="3691433" y="2821838"/>
            <a:ext cx="342900" cy="304495"/>
          </a:xfrm>
          <a:prstGeom prst="rect">
            <a:avLst/>
          </a:prstGeom>
        </p:spPr>
      </p:pic>
      <p:sp>
        <p:nvSpPr>
          <p:cNvPr id="88" name="Text 11">
            <a:extLst>
              <a:ext uri="{FF2B5EF4-FFF2-40B4-BE49-F238E27FC236}">
                <a16:creationId xmlns:a16="http://schemas.microsoft.com/office/drawing/2014/main" id="{05AB0E29-4EFC-B35F-38DA-2448A3739499}"/>
              </a:ext>
            </a:extLst>
          </p:cNvPr>
          <p:cNvSpPr txBox="1"/>
          <p:nvPr/>
        </p:nvSpPr>
        <p:spPr>
          <a:xfrm>
            <a:off x="4148633" y="2821838"/>
            <a:ext cx="1516075" cy="381305"/>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Fewer Blocked Tickets</a:t>
            </a:r>
            <a:endParaRPr lang="en-US" sz="1200" dirty="0">
              <a:solidFill>
                <a:srgbClr val="091044"/>
              </a:solidFill>
            </a:endParaRPr>
          </a:p>
        </p:txBody>
      </p:sp>
      <p:sp>
        <p:nvSpPr>
          <p:cNvPr id="89" name="Text 12">
            <a:extLst>
              <a:ext uri="{FF2B5EF4-FFF2-40B4-BE49-F238E27FC236}">
                <a16:creationId xmlns:a16="http://schemas.microsoft.com/office/drawing/2014/main" id="{6AB87E93-1878-23A0-D2A5-8228F358E169}"/>
              </a:ext>
            </a:extLst>
          </p:cNvPr>
          <p:cNvSpPr txBox="1"/>
          <p:nvPr/>
        </p:nvSpPr>
        <p:spPr>
          <a:xfrm>
            <a:off x="3691433" y="3317443"/>
            <a:ext cx="2162556" cy="590702"/>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Eliminate "blocked by backend" status with reliable mock responses for UI development.</a:t>
            </a:r>
            <a:endParaRPr lang="en-US" sz="1000" dirty="0">
              <a:solidFill>
                <a:srgbClr val="091044"/>
              </a:solidFill>
            </a:endParaRPr>
          </a:p>
        </p:txBody>
      </p:sp>
      <p:sp>
        <p:nvSpPr>
          <p:cNvPr id="90" name="Shape 13">
            <a:extLst>
              <a:ext uri="{FF2B5EF4-FFF2-40B4-BE49-F238E27FC236}">
                <a16:creationId xmlns:a16="http://schemas.microsoft.com/office/drawing/2014/main" id="{FB7FE677-132A-0F92-ED4C-308220EAEFC5}"/>
              </a:ext>
            </a:extLst>
          </p:cNvPr>
          <p:cNvSpPr/>
          <p:nvPr/>
        </p:nvSpPr>
        <p:spPr>
          <a:xfrm>
            <a:off x="6210605" y="2616098"/>
            <a:ext cx="2495398" cy="1809598"/>
          </a:xfrm>
          <a:prstGeom prst="roundRect">
            <a:avLst>
              <a:gd name="adj" fmla="val 4255"/>
            </a:avLst>
          </a:prstGeom>
          <a:solidFill>
            <a:srgbClr val="091044">
              <a:alpha val="3592"/>
            </a:srgbClr>
          </a:solidFill>
          <a:ln w="12700">
            <a:solidFill>
              <a:srgbClr val="FFFFFF">
                <a:alpha val="0"/>
              </a:srgbClr>
            </a:solidFill>
            <a:prstDash val="solid"/>
          </a:ln>
        </p:spPr>
        <p:txBody>
          <a:bodyPr/>
          <a:lstStyle/>
          <a:p>
            <a:endParaRPr lang="en-US">
              <a:solidFill>
                <a:srgbClr val="091044"/>
              </a:solidFill>
            </a:endParaRPr>
          </a:p>
        </p:txBody>
      </p:sp>
      <p:pic>
        <p:nvPicPr>
          <p:cNvPr id="91" name="Image 5" descr="preencoded.png">
            <a:extLst>
              <a:ext uri="{FF2B5EF4-FFF2-40B4-BE49-F238E27FC236}">
                <a16:creationId xmlns:a16="http://schemas.microsoft.com/office/drawing/2014/main" id="{CB338FCD-009A-8485-FD99-F07ACA8DC1D0}"/>
              </a:ext>
            </a:extLst>
          </p:cNvPr>
          <p:cNvPicPr>
            <a:picLocks noChangeAspect="1"/>
          </p:cNvPicPr>
          <p:nvPr/>
        </p:nvPicPr>
        <p:blipFill>
          <a:blip r:embed="rId5"/>
          <a:srcRect/>
          <a:stretch/>
        </p:blipFill>
        <p:spPr>
          <a:xfrm>
            <a:off x="6416345" y="2821838"/>
            <a:ext cx="304495" cy="304495"/>
          </a:xfrm>
          <a:prstGeom prst="rect">
            <a:avLst/>
          </a:prstGeom>
        </p:spPr>
      </p:pic>
      <p:sp>
        <p:nvSpPr>
          <p:cNvPr id="92" name="Text 14">
            <a:extLst>
              <a:ext uri="{FF2B5EF4-FFF2-40B4-BE49-F238E27FC236}">
                <a16:creationId xmlns:a16="http://schemas.microsoft.com/office/drawing/2014/main" id="{7D44C1BD-AF7E-053A-FF57-CC8E55ECC939}"/>
              </a:ext>
            </a:extLst>
          </p:cNvPr>
          <p:cNvSpPr txBox="1"/>
          <p:nvPr/>
        </p:nvSpPr>
        <p:spPr>
          <a:xfrm>
            <a:off x="6835140" y="2821838"/>
            <a:ext cx="952805" cy="381305"/>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Stable Demos</a:t>
            </a:r>
            <a:endParaRPr lang="en-US" sz="1200" dirty="0">
              <a:solidFill>
                <a:srgbClr val="091044"/>
              </a:solidFill>
            </a:endParaRPr>
          </a:p>
        </p:txBody>
      </p:sp>
      <p:sp>
        <p:nvSpPr>
          <p:cNvPr id="93" name="Text 15">
            <a:extLst>
              <a:ext uri="{FF2B5EF4-FFF2-40B4-BE49-F238E27FC236}">
                <a16:creationId xmlns:a16="http://schemas.microsoft.com/office/drawing/2014/main" id="{E188132C-6107-EA34-01E3-A9214D3C338D}"/>
              </a:ext>
            </a:extLst>
          </p:cNvPr>
          <p:cNvSpPr txBox="1"/>
          <p:nvPr/>
        </p:nvSpPr>
        <p:spPr>
          <a:xfrm>
            <a:off x="6416345" y="3317443"/>
            <a:ext cx="2162556" cy="590702"/>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More reliable demos for stakeholders with consistent, predictable mock data.</a:t>
            </a:r>
            <a:endParaRPr lang="en-US" sz="1000" dirty="0">
              <a:solidFill>
                <a:srgbClr val="091044"/>
              </a:solidFill>
            </a:endParaRPr>
          </a:p>
        </p:txBody>
      </p:sp>
      <p:sp>
        <p:nvSpPr>
          <p:cNvPr id="94" name="Shape 16">
            <a:extLst>
              <a:ext uri="{FF2B5EF4-FFF2-40B4-BE49-F238E27FC236}">
                <a16:creationId xmlns:a16="http://schemas.microsoft.com/office/drawing/2014/main" id="{2E40F388-38E7-D19B-8627-B72339CBA0FD}"/>
              </a:ext>
            </a:extLst>
          </p:cNvPr>
          <p:cNvSpPr/>
          <p:nvPr/>
        </p:nvSpPr>
        <p:spPr>
          <a:xfrm>
            <a:off x="8934602" y="2616098"/>
            <a:ext cx="2495398" cy="1809598"/>
          </a:xfrm>
          <a:prstGeom prst="roundRect">
            <a:avLst>
              <a:gd name="adj" fmla="val 4255"/>
            </a:avLst>
          </a:prstGeom>
          <a:solidFill>
            <a:srgbClr val="091044">
              <a:alpha val="3592"/>
            </a:srgbClr>
          </a:solidFill>
          <a:ln w="12700">
            <a:solidFill>
              <a:srgbClr val="FFFFFF">
                <a:alpha val="0"/>
              </a:srgbClr>
            </a:solidFill>
            <a:prstDash val="solid"/>
          </a:ln>
        </p:spPr>
        <p:txBody>
          <a:bodyPr/>
          <a:lstStyle/>
          <a:p>
            <a:endParaRPr lang="en-US">
              <a:solidFill>
                <a:srgbClr val="091044"/>
              </a:solidFill>
            </a:endParaRPr>
          </a:p>
        </p:txBody>
      </p:sp>
      <p:pic>
        <p:nvPicPr>
          <p:cNvPr id="95" name="Image 6" descr="preencoded.png">
            <a:extLst>
              <a:ext uri="{FF2B5EF4-FFF2-40B4-BE49-F238E27FC236}">
                <a16:creationId xmlns:a16="http://schemas.microsoft.com/office/drawing/2014/main" id="{334A5020-E8A9-5FC2-47D0-80178FBEFE7A}"/>
              </a:ext>
            </a:extLst>
          </p:cNvPr>
          <p:cNvPicPr>
            <a:picLocks noChangeAspect="1"/>
          </p:cNvPicPr>
          <p:nvPr/>
        </p:nvPicPr>
        <p:blipFill>
          <a:blip r:embed="rId6"/>
          <a:srcRect l="-90" r="-90"/>
          <a:stretch/>
        </p:blipFill>
        <p:spPr>
          <a:xfrm>
            <a:off x="9140342" y="2821838"/>
            <a:ext cx="381305" cy="304495"/>
          </a:xfrm>
          <a:prstGeom prst="rect">
            <a:avLst/>
          </a:prstGeom>
        </p:spPr>
      </p:pic>
      <p:sp>
        <p:nvSpPr>
          <p:cNvPr id="96" name="Text 17">
            <a:extLst>
              <a:ext uri="{FF2B5EF4-FFF2-40B4-BE49-F238E27FC236}">
                <a16:creationId xmlns:a16="http://schemas.microsoft.com/office/drawing/2014/main" id="{BA024BA6-4AB7-BCB1-2BFD-E87A0036D357}"/>
              </a:ext>
            </a:extLst>
          </p:cNvPr>
          <p:cNvSpPr txBox="1"/>
          <p:nvPr/>
        </p:nvSpPr>
        <p:spPr>
          <a:xfrm>
            <a:off x="9635033" y="2821838"/>
            <a:ext cx="1257300" cy="381305"/>
          </a:xfrm>
          <a:prstGeom prst="rect">
            <a:avLst/>
          </a:prstGeom>
          <a:noFill/>
          <a:ln/>
        </p:spPr>
        <p:txBody>
          <a:bodyPr wrap="square" lIns="0" tIns="0" rIns="0" bIns="0" rtlCol="0" anchor="ctr"/>
          <a:lstStyle/>
          <a:p>
            <a:pPr marL="0" indent="0" algn="l">
              <a:buNone/>
            </a:pPr>
            <a:r>
              <a:rPr lang="en-US" sz="1200" b="1" dirty="0">
                <a:solidFill>
                  <a:srgbClr val="091044"/>
                </a:solidFill>
                <a:latin typeface="Oswald" pitchFamily="34" charset="0"/>
                <a:ea typeface="Oswald" pitchFamily="34" charset="-122"/>
                <a:cs typeface="Oswald" pitchFamily="34" charset="-120"/>
              </a:rPr>
              <a:t>Faster Onboarding</a:t>
            </a:r>
            <a:endParaRPr lang="en-US" sz="1200" dirty="0">
              <a:solidFill>
                <a:srgbClr val="091044"/>
              </a:solidFill>
            </a:endParaRPr>
          </a:p>
        </p:txBody>
      </p:sp>
      <p:sp>
        <p:nvSpPr>
          <p:cNvPr id="97" name="Text 18">
            <a:extLst>
              <a:ext uri="{FF2B5EF4-FFF2-40B4-BE49-F238E27FC236}">
                <a16:creationId xmlns:a16="http://schemas.microsoft.com/office/drawing/2014/main" id="{C16C71DD-9D15-FB13-DD4C-6F78B6E3169F}"/>
              </a:ext>
            </a:extLst>
          </p:cNvPr>
          <p:cNvSpPr txBox="1"/>
          <p:nvPr/>
        </p:nvSpPr>
        <p:spPr>
          <a:xfrm>
            <a:off x="9140342" y="3317443"/>
            <a:ext cx="2162556" cy="590702"/>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New team members can start contributing immediately without backend setup.</a:t>
            </a:r>
            <a:endParaRPr lang="en-US" sz="1000" dirty="0">
              <a:solidFill>
                <a:srgbClr val="091044"/>
              </a:solidFill>
            </a:endParaRPr>
          </a:p>
        </p:txBody>
      </p:sp>
      <p:sp>
        <p:nvSpPr>
          <p:cNvPr id="98" name="Text 19">
            <a:extLst>
              <a:ext uri="{FF2B5EF4-FFF2-40B4-BE49-F238E27FC236}">
                <a16:creationId xmlns:a16="http://schemas.microsoft.com/office/drawing/2014/main" id="{9E00A5D6-2696-E64E-7B1E-4584FDDF1ABF}"/>
              </a:ext>
            </a:extLst>
          </p:cNvPr>
          <p:cNvSpPr txBox="1"/>
          <p:nvPr/>
        </p:nvSpPr>
        <p:spPr>
          <a:xfrm>
            <a:off x="1234440" y="4721047"/>
            <a:ext cx="790956" cy="381305"/>
          </a:xfrm>
          <a:prstGeom prst="rect">
            <a:avLst/>
          </a:prstGeom>
          <a:noFill/>
          <a:ln/>
        </p:spPr>
        <p:txBody>
          <a:bodyPr wrap="square" lIns="0" tIns="0" rIns="0" bIns="0" rtlCol="0" anchor="ctr"/>
          <a:lstStyle/>
          <a:p>
            <a:pPr marL="0" indent="0" algn="l">
              <a:buNone/>
            </a:pPr>
            <a:r>
              <a:rPr lang="en-US" sz="2700" b="1" dirty="0">
                <a:solidFill>
                  <a:srgbClr val="091044"/>
                </a:solidFill>
                <a:latin typeface="Oswald" pitchFamily="34" charset="0"/>
                <a:ea typeface="Oswald" pitchFamily="34" charset="-122"/>
                <a:cs typeface="Oswald" pitchFamily="34" charset="-120"/>
              </a:rPr>
              <a:t>40%</a:t>
            </a:r>
            <a:endParaRPr lang="en-US" sz="2700" dirty="0">
              <a:solidFill>
                <a:srgbClr val="091044"/>
              </a:solidFill>
            </a:endParaRPr>
          </a:p>
        </p:txBody>
      </p:sp>
      <p:sp>
        <p:nvSpPr>
          <p:cNvPr id="99" name="Text 20">
            <a:extLst>
              <a:ext uri="{FF2B5EF4-FFF2-40B4-BE49-F238E27FC236}">
                <a16:creationId xmlns:a16="http://schemas.microsoft.com/office/drawing/2014/main" id="{6BBC2AE3-4B04-EA77-2814-784450E0A805}"/>
              </a:ext>
            </a:extLst>
          </p:cNvPr>
          <p:cNvSpPr txBox="1"/>
          <p:nvPr/>
        </p:nvSpPr>
        <p:spPr>
          <a:xfrm>
            <a:off x="2024482" y="4721047"/>
            <a:ext cx="1000354" cy="381305"/>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Reduction in</a:t>
            </a:r>
            <a:endParaRPr lang="en-US" sz="1000" dirty="0">
              <a:solidFill>
                <a:srgbClr val="091044"/>
              </a:solidFill>
            </a:endParaRPr>
          </a:p>
          <a:p>
            <a:pPr marL="0" indent="0" algn="l">
              <a:buNone/>
            </a:pPr>
            <a:r>
              <a:rPr lang="en-US" sz="1000" dirty="0">
                <a:solidFill>
                  <a:srgbClr val="091044"/>
                </a:solidFill>
                <a:latin typeface="Raleway" pitchFamily="34" charset="0"/>
                <a:ea typeface="Raleway" pitchFamily="34" charset="-122"/>
                <a:cs typeface="Raleway" pitchFamily="34" charset="-120"/>
              </a:rPr>
              <a:t>blocked tickets</a:t>
            </a:r>
            <a:endParaRPr lang="en-US" sz="1000" dirty="0">
              <a:solidFill>
                <a:srgbClr val="091044"/>
              </a:solidFill>
            </a:endParaRPr>
          </a:p>
        </p:txBody>
      </p:sp>
      <p:sp>
        <p:nvSpPr>
          <p:cNvPr id="100" name="Text 21">
            <a:extLst>
              <a:ext uri="{FF2B5EF4-FFF2-40B4-BE49-F238E27FC236}">
                <a16:creationId xmlns:a16="http://schemas.microsoft.com/office/drawing/2014/main" id="{46E84533-B2B0-152C-02EC-3122511907BD}"/>
              </a:ext>
            </a:extLst>
          </p:cNvPr>
          <p:cNvSpPr txBox="1"/>
          <p:nvPr/>
        </p:nvSpPr>
        <p:spPr>
          <a:xfrm>
            <a:off x="3959352" y="4721047"/>
            <a:ext cx="752551" cy="381305"/>
          </a:xfrm>
          <a:prstGeom prst="rect">
            <a:avLst/>
          </a:prstGeom>
          <a:noFill/>
          <a:ln/>
        </p:spPr>
        <p:txBody>
          <a:bodyPr wrap="square" lIns="0" tIns="0" rIns="0" bIns="0" rtlCol="0" anchor="ctr"/>
          <a:lstStyle/>
          <a:p>
            <a:pPr marL="0" indent="0" algn="l">
              <a:buNone/>
            </a:pPr>
            <a:r>
              <a:rPr lang="en-US" sz="2700" b="1" dirty="0">
                <a:solidFill>
                  <a:srgbClr val="091044"/>
                </a:solidFill>
                <a:latin typeface="Oswald" pitchFamily="34" charset="0"/>
                <a:ea typeface="Oswald" pitchFamily="34" charset="-122"/>
                <a:cs typeface="Oswald" pitchFamily="34" charset="-120"/>
              </a:rPr>
              <a:t>27%</a:t>
            </a:r>
            <a:endParaRPr lang="en-US" sz="2700" dirty="0">
              <a:solidFill>
                <a:srgbClr val="091044"/>
              </a:solidFill>
            </a:endParaRPr>
          </a:p>
        </p:txBody>
      </p:sp>
      <p:sp>
        <p:nvSpPr>
          <p:cNvPr id="101" name="Text 22">
            <a:extLst>
              <a:ext uri="{FF2B5EF4-FFF2-40B4-BE49-F238E27FC236}">
                <a16:creationId xmlns:a16="http://schemas.microsoft.com/office/drawing/2014/main" id="{3328AFF6-A23A-0C0E-E385-8B727E254F67}"/>
              </a:ext>
            </a:extLst>
          </p:cNvPr>
          <p:cNvSpPr txBox="1"/>
          <p:nvPr/>
        </p:nvSpPr>
        <p:spPr>
          <a:xfrm>
            <a:off x="4707331" y="4721047"/>
            <a:ext cx="933602" cy="381305"/>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Increase in</a:t>
            </a:r>
            <a:endParaRPr lang="en-US" sz="1000" dirty="0">
              <a:solidFill>
                <a:srgbClr val="091044"/>
              </a:solidFill>
            </a:endParaRPr>
          </a:p>
          <a:p>
            <a:pPr marL="0" indent="0" algn="l">
              <a:buNone/>
            </a:pPr>
            <a:r>
              <a:rPr lang="en-US" sz="1000" dirty="0">
                <a:solidFill>
                  <a:srgbClr val="091044"/>
                </a:solidFill>
                <a:latin typeface="Raleway" pitchFamily="34" charset="0"/>
                <a:ea typeface="Raleway" pitchFamily="34" charset="-122"/>
                <a:cs typeface="Raleway" pitchFamily="34" charset="-120"/>
              </a:rPr>
              <a:t>demo stability</a:t>
            </a:r>
            <a:endParaRPr lang="en-US" sz="1000" dirty="0">
              <a:solidFill>
                <a:srgbClr val="091044"/>
              </a:solidFill>
            </a:endParaRPr>
          </a:p>
        </p:txBody>
      </p:sp>
      <p:sp>
        <p:nvSpPr>
          <p:cNvPr id="102" name="Text 23">
            <a:extLst>
              <a:ext uri="{FF2B5EF4-FFF2-40B4-BE49-F238E27FC236}">
                <a16:creationId xmlns:a16="http://schemas.microsoft.com/office/drawing/2014/main" id="{B77D0A97-53E1-E57A-B3E7-D8AC4D8351D3}"/>
              </a:ext>
            </a:extLst>
          </p:cNvPr>
          <p:cNvSpPr txBox="1"/>
          <p:nvPr/>
        </p:nvSpPr>
        <p:spPr>
          <a:xfrm>
            <a:off x="6683350" y="4721047"/>
            <a:ext cx="800100" cy="381305"/>
          </a:xfrm>
          <a:prstGeom prst="rect">
            <a:avLst/>
          </a:prstGeom>
          <a:noFill/>
          <a:ln/>
        </p:spPr>
        <p:txBody>
          <a:bodyPr wrap="square" lIns="0" tIns="0" rIns="0" bIns="0" rtlCol="0" anchor="ctr"/>
          <a:lstStyle/>
          <a:p>
            <a:pPr marL="0" indent="0" algn="l">
              <a:buNone/>
            </a:pPr>
            <a:r>
              <a:rPr lang="en-US" sz="2700" b="1" dirty="0">
                <a:solidFill>
                  <a:srgbClr val="091044"/>
                </a:solidFill>
                <a:latin typeface="Oswald" pitchFamily="34" charset="0"/>
                <a:ea typeface="Oswald" pitchFamily="34" charset="-122"/>
                <a:cs typeface="Oswald" pitchFamily="34" charset="-120"/>
              </a:rPr>
              <a:t>60%</a:t>
            </a:r>
            <a:endParaRPr lang="en-US" sz="2700" dirty="0">
              <a:solidFill>
                <a:srgbClr val="091044"/>
              </a:solidFill>
            </a:endParaRPr>
          </a:p>
        </p:txBody>
      </p:sp>
      <p:sp>
        <p:nvSpPr>
          <p:cNvPr id="103" name="Text 24">
            <a:extLst>
              <a:ext uri="{FF2B5EF4-FFF2-40B4-BE49-F238E27FC236}">
                <a16:creationId xmlns:a16="http://schemas.microsoft.com/office/drawing/2014/main" id="{C740896F-1FDC-4562-2F0C-FF136C40AC0D}"/>
              </a:ext>
            </a:extLst>
          </p:cNvPr>
          <p:cNvSpPr txBox="1"/>
          <p:nvPr/>
        </p:nvSpPr>
        <p:spPr>
          <a:xfrm>
            <a:off x="7477964" y="4721047"/>
            <a:ext cx="771754" cy="381305"/>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Faster</a:t>
            </a:r>
            <a:endParaRPr lang="en-US" sz="1000" dirty="0">
              <a:solidFill>
                <a:srgbClr val="091044"/>
              </a:solidFill>
            </a:endParaRPr>
          </a:p>
          <a:p>
            <a:pPr marL="0" indent="0" algn="l">
              <a:buNone/>
            </a:pPr>
            <a:r>
              <a:rPr lang="en-US" sz="1000" dirty="0">
                <a:solidFill>
                  <a:srgbClr val="091044"/>
                </a:solidFill>
                <a:latin typeface="Raleway" pitchFamily="34" charset="0"/>
                <a:ea typeface="Raleway" pitchFamily="34" charset="-122"/>
                <a:cs typeface="Raleway" pitchFamily="34" charset="-120"/>
              </a:rPr>
              <a:t>onboarding</a:t>
            </a:r>
            <a:endParaRPr lang="en-US" sz="1000" dirty="0">
              <a:solidFill>
                <a:srgbClr val="091044"/>
              </a:solidFill>
            </a:endParaRPr>
          </a:p>
        </p:txBody>
      </p:sp>
      <p:sp>
        <p:nvSpPr>
          <p:cNvPr id="104" name="Text 25">
            <a:extLst>
              <a:ext uri="{FF2B5EF4-FFF2-40B4-BE49-F238E27FC236}">
                <a16:creationId xmlns:a16="http://schemas.microsoft.com/office/drawing/2014/main" id="{1C527128-D511-8754-BF7D-58895A9381CE}"/>
              </a:ext>
            </a:extLst>
          </p:cNvPr>
          <p:cNvSpPr txBox="1"/>
          <p:nvPr/>
        </p:nvSpPr>
        <p:spPr>
          <a:xfrm>
            <a:off x="9407347" y="4721047"/>
            <a:ext cx="452628" cy="381305"/>
          </a:xfrm>
          <a:prstGeom prst="rect">
            <a:avLst/>
          </a:prstGeom>
          <a:noFill/>
          <a:ln/>
        </p:spPr>
        <p:txBody>
          <a:bodyPr wrap="square" lIns="0" tIns="0" rIns="0" bIns="0" rtlCol="0" anchor="ctr"/>
          <a:lstStyle/>
          <a:p>
            <a:pPr marL="0" indent="0" algn="l">
              <a:buNone/>
            </a:pPr>
            <a:r>
              <a:rPr lang="en-US" sz="2700" b="1" dirty="0">
                <a:solidFill>
                  <a:srgbClr val="091044"/>
                </a:solidFill>
                <a:latin typeface="Oswald" pitchFamily="34" charset="0"/>
                <a:ea typeface="Oswald" pitchFamily="34" charset="-122"/>
                <a:cs typeface="Oswald" pitchFamily="34" charset="-120"/>
              </a:rPr>
              <a:t>2x</a:t>
            </a:r>
            <a:endParaRPr lang="en-US" sz="2700" dirty="0">
              <a:solidFill>
                <a:srgbClr val="091044"/>
              </a:solidFill>
            </a:endParaRPr>
          </a:p>
        </p:txBody>
      </p:sp>
      <p:sp>
        <p:nvSpPr>
          <p:cNvPr id="105" name="Text 26">
            <a:extLst>
              <a:ext uri="{FF2B5EF4-FFF2-40B4-BE49-F238E27FC236}">
                <a16:creationId xmlns:a16="http://schemas.microsoft.com/office/drawing/2014/main" id="{E1A7501F-789E-FB65-682C-C91F8930573D}"/>
              </a:ext>
            </a:extLst>
          </p:cNvPr>
          <p:cNvSpPr txBox="1"/>
          <p:nvPr/>
        </p:nvSpPr>
        <p:spPr>
          <a:xfrm>
            <a:off x="9811512" y="4721047"/>
            <a:ext cx="905256" cy="381305"/>
          </a:xfrm>
          <a:prstGeom prst="rect">
            <a:avLst/>
          </a:prstGeom>
          <a:noFill/>
          <a:ln/>
        </p:spPr>
        <p:txBody>
          <a:bodyPr wrap="square" lIns="0" tIns="0" rIns="0" bIns="0" rtlCol="0" anchor="ctr"/>
          <a:lstStyle/>
          <a:p>
            <a:pPr marL="0" indent="0" algn="l">
              <a:buNone/>
            </a:pPr>
            <a:r>
              <a:rPr lang="en-US" sz="1000" dirty="0">
                <a:solidFill>
                  <a:srgbClr val="091044"/>
                </a:solidFill>
                <a:latin typeface="Raleway" pitchFamily="34" charset="0"/>
                <a:ea typeface="Raleway" pitchFamily="34" charset="-122"/>
                <a:cs typeface="Raleway" pitchFamily="34" charset="-120"/>
              </a:rPr>
              <a:t>Development</a:t>
            </a:r>
            <a:endParaRPr lang="en-US" sz="1000" dirty="0">
              <a:solidFill>
                <a:srgbClr val="091044"/>
              </a:solidFill>
            </a:endParaRPr>
          </a:p>
          <a:p>
            <a:pPr marL="0" indent="0" algn="l">
              <a:buNone/>
            </a:pPr>
            <a:r>
              <a:rPr lang="en-US" sz="1000" dirty="0">
                <a:solidFill>
                  <a:srgbClr val="091044"/>
                </a:solidFill>
                <a:latin typeface="Raleway" pitchFamily="34" charset="0"/>
                <a:ea typeface="Raleway" pitchFamily="34" charset="-122"/>
                <a:cs typeface="Raleway" pitchFamily="34" charset="-120"/>
              </a:rPr>
              <a:t>velocity</a:t>
            </a:r>
            <a:endParaRPr lang="en-US" sz="1000" dirty="0">
              <a:solidFill>
                <a:srgbClr val="091044"/>
              </a:solidFill>
            </a:endParaRPr>
          </a:p>
        </p:txBody>
      </p:sp>
    </p:spTree>
    <p:extLst>
      <p:ext uri="{BB962C8B-B14F-4D97-AF65-F5344CB8AC3E}">
        <p14:creationId xmlns:p14="http://schemas.microsoft.com/office/powerpoint/2010/main" val="277380862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BB2D0-5666-19A2-6E55-306C7D5415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3D96C7-EDE4-D85E-24FF-CE36426F261D}"/>
              </a:ext>
            </a:extLst>
          </p:cNvPr>
          <p:cNvSpPr>
            <a:spLocks noGrp="1"/>
          </p:cNvSpPr>
          <p:nvPr>
            <p:ph type="sldNum" sz="quarter" idx="12"/>
          </p:nvPr>
        </p:nvSpPr>
        <p:spPr/>
        <p:txBody>
          <a:bodyPr/>
          <a:lstStyle/>
          <a:p>
            <a:fld id="{F01A0BEF-C76D-43A2-874C-09A8674B0D74}" type="slidenum">
              <a:rPr lang="en-GB" smtClean="0"/>
              <a:t>20</a:t>
            </a:fld>
            <a:endParaRPr lang="en-GB"/>
          </a:p>
        </p:txBody>
      </p:sp>
      <p:sp>
        <p:nvSpPr>
          <p:cNvPr id="2" name="Text 4">
            <a:extLst>
              <a:ext uri="{FF2B5EF4-FFF2-40B4-BE49-F238E27FC236}">
                <a16:creationId xmlns:a16="http://schemas.microsoft.com/office/drawing/2014/main" id="{5199B982-2892-F0D4-377B-3271686AC462}"/>
              </a:ext>
            </a:extLst>
          </p:cNvPr>
          <p:cNvSpPr txBox="1"/>
          <p:nvPr/>
        </p:nvSpPr>
        <p:spPr>
          <a:xfrm>
            <a:off x="609905" y="914400"/>
            <a:ext cx="11163910" cy="685800"/>
          </a:xfrm>
          <a:prstGeom prst="rect">
            <a:avLst/>
          </a:prstGeom>
          <a:noFill/>
          <a:ln/>
        </p:spPr>
        <p:txBody>
          <a:bodyPr wrap="square" lIns="0" tIns="0" rIns="0" bIns="0" rtlCol="0" anchor="ctr"/>
          <a:lstStyle/>
          <a:p>
            <a:pPr marL="0" indent="0" algn="l">
              <a:buNone/>
            </a:pPr>
            <a:r>
              <a:rPr lang="en-US" sz="5400" b="1" kern="0" spc="75" dirty="0">
                <a:solidFill>
                  <a:srgbClr val="091044"/>
                </a:solidFill>
                <a:latin typeface="Roboto Condensed" pitchFamily="34" charset="0"/>
                <a:ea typeface="Roboto Condensed" pitchFamily="34" charset="-122"/>
                <a:cs typeface="Roboto Condensed" pitchFamily="34" charset="-120"/>
              </a:rPr>
              <a:t>ANTI-PATTERNS TO AVOID</a:t>
            </a:r>
            <a:endParaRPr lang="en-US" sz="5400" dirty="0">
              <a:solidFill>
                <a:srgbClr val="091044"/>
              </a:solidFill>
            </a:endParaRPr>
          </a:p>
        </p:txBody>
      </p:sp>
      <p:sp>
        <p:nvSpPr>
          <p:cNvPr id="3" name="Text 5">
            <a:extLst>
              <a:ext uri="{FF2B5EF4-FFF2-40B4-BE49-F238E27FC236}">
                <a16:creationId xmlns:a16="http://schemas.microsoft.com/office/drawing/2014/main" id="{D4C81F21-D18D-8761-DAD5-1B647F56F00E}"/>
              </a:ext>
            </a:extLst>
          </p:cNvPr>
          <p:cNvSpPr txBox="1"/>
          <p:nvPr/>
        </p:nvSpPr>
        <p:spPr>
          <a:xfrm>
            <a:off x="609905" y="1752905"/>
            <a:ext cx="8001000" cy="277063"/>
          </a:xfrm>
          <a:prstGeom prst="rect">
            <a:avLst/>
          </a:prstGeom>
          <a:noFill/>
          <a:ln/>
        </p:spPr>
        <p:txBody>
          <a:bodyPr wrap="square" lIns="0" tIns="0" rIns="0" bIns="0" rtlCol="0" anchor="ctr"/>
          <a:lstStyle/>
          <a:p>
            <a:pPr marL="0" indent="0" algn="l">
              <a:buNone/>
            </a:pPr>
            <a:r>
              <a:rPr lang="en-US" sz="1300" dirty="0">
                <a:solidFill>
                  <a:srgbClr val="4A5568"/>
                </a:solidFill>
                <a:latin typeface="Raleway" pitchFamily="34" charset="0"/>
                <a:ea typeface="Raleway" pitchFamily="34" charset="-122"/>
                <a:cs typeface="Raleway" pitchFamily="34" charset="-120"/>
              </a:rPr>
              <a:t>Common mistakes that can undermine your MSW implementation and development workflow.</a:t>
            </a:r>
            <a:endParaRPr lang="en-US" sz="1300" dirty="0"/>
          </a:p>
        </p:txBody>
      </p:sp>
      <p:sp>
        <p:nvSpPr>
          <p:cNvPr id="5" name="Shape 6">
            <a:extLst>
              <a:ext uri="{FF2B5EF4-FFF2-40B4-BE49-F238E27FC236}">
                <a16:creationId xmlns:a16="http://schemas.microsoft.com/office/drawing/2014/main" id="{4005BC3E-99FE-4EB8-1060-0B3613664306}"/>
              </a:ext>
            </a:extLst>
          </p:cNvPr>
          <p:cNvSpPr/>
          <p:nvPr/>
        </p:nvSpPr>
        <p:spPr>
          <a:xfrm>
            <a:off x="609905" y="2249424"/>
            <a:ext cx="5410505" cy="1438351"/>
          </a:xfrm>
          <a:prstGeom prst="roundRect">
            <a:avLst>
              <a:gd name="adj" fmla="val 10104"/>
            </a:avLst>
          </a:prstGeom>
          <a:solidFill>
            <a:srgbClr val="FFFFFF"/>
          </a:solidFill>
          <a:ln w="12700">
            <a:solidFill>
              <a:srgbClr val="E2E8F0"/>
            </a:solidFill>
            <a:prstDash val="solid"/>
          </a:ln>
        </p:spPr>
        <p:txBody>
          <a:bodyPr/>
          <a:lstStyle/>
          <a:p>
            <a:endParaRPr lang="en-US"/>
          </a:p>
        </p:txBody>
      </p:sp>
      <p:sp>
        <p:nvSpPr>
          <p:cNvPr id="6" name="Shape 7">
            <a:extLst>
              <a:ext uri="{FF2B5EF4-FFF2-40B4-BE49-F238E27FC236}">
                <a16:creationId xmlns:a16="http://schemas.microsoft.com/office/drawing/2014/main" id="{493CCD8A-2097-2BD9-CB7A-059CC1E44218}"/>
              </a:ext>
            </a:extLst>
          </p:cNvPr>
          <p:cNvSpPr/>
          <p:nvPr/>
        </p:nvSpPr>
        <p:spPr>
          <a:xfrm>
            <a:off x="809244" y="2449678"/>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7" name="Image 1" descr="preencoded.png">
            <a:extLst>
              <a:ext uri="{FF2B5EF4-FFF2-40B4-BE49-F238E27FC236}">
                <a16:creationId xmlns:a16="http://schemas.microsoft.com/office/drawing/2014/main" id="{0F2B8D4C-9DE5-FCB1-FBDE-A9816C8D01E8}"/>
              </a:ext>
            </a:extLst>
          </p:cNvPr>
          <p:cNvPicPr>
            <a:picLocks noChangeAspect="1"/>
          </p:cNvPicPr>
          <p:nvPr/>
        </p:nvPicPr>
        <p:blipFill>
          <a:blip r:embed="rId3"/>
          <a:srcRect/>
          <a:stretch/>
        </p:blipFill>
        <p:spPr>
          <a:xfrm>
            <a:off x="942746" y="2583180"/>
            <a:ext cx="190195" cy="190195"/>
          </a:xfrm>
          <a:prstGeom prst="rect">
            <a:avLst/>
          </a:prstGeom>
        </p:spPr>
      </p:pic>
      <p:sp>
        <p:nvSpPr>
          <p:cNvPr id="8" name="Text 8">
            <a:extLst>
              <a:ext uri="{FF2B5EF4-FFF2-40B4-BE49-F238E27FC236}">
                <a16:creationId xmlns:a16="http://schemas.microsoft.com/office/drawing/2014/main" id="{D7FCC543-4B8B-AE01-D9CF-2FF6688184C4}"/>
              </a:ext>
            </a:extLst>
          </p:cNvPr>
          <p:cNvSpPr txBox="1"/>
          <p:nvPr/>
        </p:nvSpPr>
        <p:spPr>
          <a:xfrm>
            <a:off x="1419149" y="2449678"/>
            <a:ext cx="4515307" cy="228600"/>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Only Mocked Mode, Never Validating Real Mode</a:t>
            </a:r>
            <a:endParaRPr lang="en-US" sz="1200" dirty="0"/>
          </a:p>
        </p:txBody>
      </p:sp>
      <p:sp>
        <p:nvSpPr>
          <p:cNvPr id="9" name="Text 9">
            <a:extLst>
              <a:ext uri="{FF2B5EF4-FFF2-40B4-BE49-F238E27FC236}">
                <a16:creationId xmlns:a16="http://schemas.microsoft.com/office/drawing/2014/main" id="{F5DB8561-F040-F399-6C70-A6FD0ABC99E0}"/>
              </a:ext>
            </a:extLst>
          </p:cNvPr>
          <p:cNvSpPr txBox="1"/>
          <p:nvPr/>
        </p:nvSpPr>
        <p:spPr>
          <a:xfrm>
            <a:off x="1419149" y="2715768"/>
            <a:ext cx="4476902" cy="419710"/>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Relying solely on mocked responses without testing against real APIs can lead to integration failures.</a:t>
            </a:r>
            <a:endParaRPr lang="en-US" sz="1000" dirty="0"/>
          </a:p>
        </p:txBody>
      </p:sp>
      <p:sp>
        <p:nvSpPr>
          <p:cNvPr id="10" name="Shape 10">
            <a:extLst>
              <a:ext uri="{FF2B5EF4-FFF2-40B4-BE49-F238E27FC236}">
                <a16:creationId xmlns:a16="http://schemas.microsoft.com/office/drawing/2014/main" id="{0656EB84-5E45-9175-B6FB-B0E8C256DB6A}"/>
              </a:ext>
            </a:extLst>
          </p:cNvPr>
          <p:cNvSpPr/>
          <p:nvPr/>
        </p:nvSpPr>
        <p:spPr>
          <a:xfrm>
            <a:off x="1419149" y="3204058"/>
            <a:ext cx="1019556" cy="276149"/>
          </a:xfrm>
          <a:prstGeom prst="roundRect">
            <a:avLst>
              <a:gd name="adj" fmla="val 331126"/>
            </a:avLst>
          </a:prstGeom>
          <a:solidFill>
            <a:srgbClr val="FEE2E2"/>
          </a:solidFill>
          <a:ln w="12700">
            <a:solidFill>
              <a:srgbClr val="FFFFFF">
                <a:alpha val="0"/>
              </a:srgbClr>
            </a:solidFill>
            <a:prstDash val="solid"/>
          </a:ln>
        </p:spPr>
        <p:txBody>
          <a:bodyPr/>
          <a:lstStyle/>
          <a:p>
            <a:endParaRPr lang="en-US"/>
          </a:p>
        </p:txBody>
      </p:sp>
      <p:sp>
        <p:nvSpPr>
          <p:cNvPr id="11" name="Text 11">
            <a:extLst>
              <a:ext uri="{FF2B5EF4-FFF2-40B4-BE49-F238E27FC236}">
                <a16:creationId xmlns:a16="http://schemas.microsoft.com/office/drawing/2014/main" id="{8E220E29-3930-6170-E510-C05493003446}"/>
              </a:ext>
            </a:extLst>
          </p:cNvPr>
          <p:cNvSpPr/>
          <p:nvPr/>
        </p:nvSpPr>
        <p:spPr>
          <a:xfrm>
            <a:off x="1619402" y="3204058"/>
            <a:ext cx="1019555" cy="276149"/>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991B1B"/>
                </a:solidFill>
                <a:latin typeface="Raleway" pitchFamily="34" charset="0"/>
                <a:ea typeface="Raleway" pitchFamily="34" charset="-122"/>
                <a:cs typeface="Raleway" pitchFamily="34" charset="-120"/>
              </a:rPr>
              <a:t> High Risk </a:t>
            </a:r>
            <a:endParaRPr lang="en-US" sz="1000" dirty="0"/>
          </a:p>
        </p:txBody>
      </p:sp>
      <p:pic>
        <p:nvPicPr>
          <p:cNvPr id="12" name="Image 2" descr="preencoded.png">
            <a:extLst>
              <a:ext uri="{FF2B5EF4-FFF2-40B4-BE49-F238E27FC236}">
                <a16:creationId xmlns:a16="http://schemas.microsoft.com/office/drawing/2014/main" id="{54721CE1-365A-1E2A-924B-126B2422C24C}"/>
              </a:ext>
            </a:extLst>
          </p:cNvPr>
          <p:cNvPicPr>
            <a:picLocks noChangeAspect="1"/>
          </p:cNvPicPr>
          <p:nvPr/>
        </p:nvPicPr>
        <p:blipFill>
          <a:blip r:embed="rId4"/>
          <a:srcRect/>
          <a:stretch/>
        </p:blipFill>
        <p:spPr>
          <a:xfrm>
            <a:off x="1533449" y="3268066"/>
            <a:ext cx="133502" cy="133502"/>
          </a:xfrm>
          <a:prstGeom prst="rect">
            <a:avLst/>
          </a:prstGeom>
        </p:spPr>
      </p:pic>
      <p:sp>
        <p:nvSpPr>
          <p:cNvPr id="13" name="Shape 12">
            <a:extLst>
              <a:ext uri="{FF2B5EF4-FFF2-40B4-BE49-F238E27FC236}">
                <a16:creationId xmlns:a16="http://schemas.microsoft.com/office/drawing/2014/main" id="{B2FE4B5D-54AB-E085-0A88-0E1BB342838D}"/>
              </a:ext>
            </a:extLst>
          </p:cNvPr>
          <p:cNvSpPr/>
          <p:nvPr/>
        </p:nvSpPr>
        <p:spPr>
          <a:xfrm>
            <a:off x="6172200" y="2249424"/>
            <a:ext cx="5410505" cy="1438351"/>
          </a:xfrm>
          <a:prstGeom prst="roundRect">
            <a:avLst>
              <a:gd name="adj" fmla="val 10104"/>
            </a:avLst>
          </a:prstGeom>
          <a:solidFill>
            <a:srgbClr val="FFFFFF"/>
          </a:solidFill>
          <a:ln w="12700">
            <a:solidFill>
              <a:srgbClr val="E2E8F0"/>
            </a:solidFill>
            <a:prstDash val="solid"/>
          </a:ln>
        </p:spPr>
        <p:txBody>
          <a:bodyPr/>
          <a:lstStyle/>
          <a:p>
            <a:endParaRPr lang="en-US"/>
          </a:p>
        </p:txBody>
      </p:sp>
      <p:sp>
        <p:nvSpPr>
          <p:cNvPr id="14" name="Shape 13">
            <a:extLst>
              <a:ext uri="{FF2B5EF4-FFF2-40B4-BE49-F238E27FC236}">
                <a16:creationId xmlns:a16="http://schemas.microsoft.com/office/drawing/2014/main" id="{5787D786-930F-E49E-1226-E809A34ADC4E}"/>
              </a:ext>
            </a:extLst>
          </p:cNvPr>
          <p:cNvSpPr/>
          <p:nvPr/>
        </p:nvSpPr>
        <p:spPr>
          <a:xfrm>
            <a:off x="6372454" y="2449678"/>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15" name="Image 3" descr="preencoded.png">
            <a:extLst>
              <a:ext uri="{FF2B5EF4-FFF2-40B4-BE49-F238E27FC236}">
                <a16:creationId xmlns:a16="http://schemas.microsoft.com/office/drawing/2014/main" id="{20C3E714-862A-4F43-3B4C-70DA6D98AD5C}"/>
              </a:ext>
            </a:extLst>
          </p:cNvPr>
          <p:cNvPicPr>
            <a:picLocks noChangeAspect="1"/>
          </p:cNvPicPr>
          <p:nvPr/>
        </p:nvPicPr>
        <p:blipFill>
          <a:blip r:embed="rId5"/>
          <a:srcRect/>
          <a:stretch/>
        </p:blipFill>
        <p:spPr>
          <a:xfrm>
            <a:off x="6505956" y="2583180"/>
            <a:ext cx="190195" cy="190195"/>
          </a:xfrm>
          <a:prstGeom prst="rect">
            <a:avLst/>
          </a:prstGeom>
        </p:spPr>
      </p:pic>
      <p:sp>
        <p:nvSpPr>
          <p:cNvPr id="16" name="Text 14">
            <a:extLst>
              <a:ext uri="{FF2B5EF4-FFF2-40B4-BE49-F238E27FC236}">
                <a16:creationId xmlns:a16="http://schemas.microsoft.com/office/drawing/2014/main" id="{928E9363-435F-E876-5F23-6A9C7BB2A377}"/>
              </a:ext>
            </a:extLst>
          </p:cNvPr>
          <p:cNvSpPr txBox="1"/>
          <p:nvPr/>
        </p:nvSpPr>
        <p:spPr>
          <a:xfrm>
            <a:off x="6981444" y="2449678"/>
            <a:ext cx="4515307" cy="228600"/>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Unmaintained Scenario Catalog</a:t>
            </a:r>
            <a:endParaRPr lang="en-US" sz="1200" dirty="0"/>
          </a:p>
        </p:txBody>
      </p:sp>
      <p:sp>
        <p:nvSpPr>
          <p:cNvPr id="17" name="Text 15">
            <a:extLst>
              <a:ext uri="{FF2B5EF4-FFF2-40B4-BE49-F238E27FC236}">
                <a16:creationId xmlns:a16="http://schemas.microsoft.com/office/drawing/2014/main" id="{BE11A8FD-F627-239A-5838-D8F9504BECFC}"/>
              </a:ext>
            </a:extLst>
          </p:cNvPr>
          <p:cNvSpPr txBox="1"/>
          <p:nvPr/>
        </p:nvSpPr>
        <p:spPr>
          <a:xfrm>
            <a:off x="6981444" y="2715768"/>
            <a:ext cx="4476902" cy="419710"/>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Letting test scenarios become outdated can cause false positives and missed edge cases.</a:t>
            </a:r>
            <a:endParaRPr lang="en-US" sz="1000" dirty="0"/>
          </a:p>
        </p:txBody>
      </p:sp>
      <p:sp>
        <p:nvSpPr>
          <p:cNvPr id="18" name="Shape 16">
            <a:extLst>
              <a:ext uri="{FF2B5EF4-FFF2-40B4-BE49-F238E27FC236}">
                <a16:creationId xmlns:a16="http://schemas.microsoft.com/office/drawing/2014/main" id="{5A5A2311-E389-172A-ABAE-B67D327F5A10}"/>
              </a:ext>
            </a:extLst>
          </p:cNvPr>
          <p:cNvSpPr/>
          <p:nvPr/>
        </p:nvSpPr>
        <p:spPr>
          <a:xfrm>
            <a:off x="6981444" y="3204058"/>
            <a:ext cx="1867205"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sp>
        <p:nvSpPr>
          <p:cNvPr id="19" name="Text 17">
            <a:extLst>
              <a:ext uri="{FF2B5EF4-FFF2-40B4-BE49-F238E27FC236}">
                <a16:creationId xmlns:a16="http://schemas.microsoft.com/office/drawing/2014/main" id="{3B6ED77C-5A4A-4659-5937-F522A55ADE31}"/>
              </a:ext>
            </a:extLst>
          </p:cNvPr>
          <p:cNvSpPr/>
          <p:nvPr/>
        </p:nvSpPr>
        <p:spPr>
          <a:xfrm>
            <a:off x="7162495" y="3204058"/>
            <a:ext cx="2100377" cy="276149"/>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92400E"/>
                </a:solidFill>
                <a:latin typeface="Raleway" pitchFamily="34" charset="0"/>
                <a:ea typeface="Raleway" pitchFamily="34" charset="-122"/>
                <a:cs typeface="Raleway" pitchFamily="34" charset="-120"/>
              </a:rPr>
              <a:t> Maintenance Required </a:t>
            </a:r>
            <a:endParaRPr lang="en-US" sz="1000" dirty="0"/>
          </a:p>
        </p:txBody>
      </p:sp>
      <p:pic>
        <p:nvPicPr>
          <p:cNvPr id="20" name="Image 4" descr="preencoded.png">
            <a:extLst>
              <a:ext uri="{FF2B5EF4-FFF2-40B4-BE49-F238E27FC236}">
                <a16:creationId xmlns:a16="http://schemas.microsoft.com/office/drawing/2014/main" id="{117368C0-95BC-C4E2-BE1F-8E7027AB7D69}"/>
              </a:ext>
            </a:extLst>
          </p:cNvPr>
          <p:cNvPicPr>
            <a:picLocks noChangeAspect="1"/>
          </p:cNvPicPr>
          <p:nvPr/>
        </p:nvPicPr>
        <p:blipFill>
          <a:blip r:embed="rId6"/>
          <a:srcRect/>
          <a:stretch/>
        </p:blipFill>
        <p:spPr>
          <a:xfrm>
            <a:off x="7095744" y="3268066"/>
            <a:ext cx="133502" cy="133502"/>
          </a:xfrm>
          <a:prstGeom prst="rect">
            <a:avLst/>
          </a:prstGeom>
        </p:spPr>
      </p:pic>
      <p:sp>
        <p:nvSpPr>
          <p:cNvPr id="21" name="Shape 18">
            <a:extLst>
              <a:ext uri="{FF2B5EF4-FFF2-40B4-BE49-F238E27FC236}">
                <a16:creationId xmlns:a16="http://schemas.microsoft.com/office/drawing/2014/main" id="{DABF95B7-0873-095E-314F-DC1F19ECD695}"/>
              </a:ext>
            </a:extLst>
          </p:cNvPr>
          <p:cNvSpPr/>
          <p:nvPr/>
        </p:nvSpPr>
        <p:spPr>
          <a:xfrm>
            <a:off x="609905" y="3832250"/>
            <a:ext cx="5410505" cy="1438351"/>
          </a:xfrm>
          <a:prstGeom prst="roundRect">
            <a:avLst>
              <a:gd name="adj" fmla="val 10104"/>
            </a:avLst>
          </a:prstGeom>
          <a:solidFill>
            <a:srgbClr val="FFFFFF"/>
          </a:solidFill>
          <a:ln w="12700">
            <a:solidFill>
              <a:srgbClr val="E2E8F0"/>
            </a:solidFill>
            <a:prstDash val="solid"/>
          </a:ln>
        </p:spPr>
        <p:txBody>
          <a:bodyPr/>
          <a:lstStyle/>
          <a:p>
            <a:endParaRPr lang="en-US"/>
          </a:p>
        </p:txBody>
      </p:sp>
      <p:sp>
        <p:nvSpPr>
          <p:cNvPr id="22" name="Shape 19">
            <a:extLst>
              <a:ext uri="{FF2B5EF4-FFF2-40B4-BE49-F238E27FC236}">
                <a16:creationId xmlns:a16="http://schemas.microsoft.com/office/drawing/2014/main" id="{3B12F11F-70DF-CE71-66ED-DA22FA6AB5B6}"/>
              </a:ext>
            </a:extLst>
          </p:cNvPr>
          <p:cNvSpPr/>
          <p:nvPr/>
        </p:nvSpPr>
        <p:spPr>
          <a:xfrm>
            <a:off x="809244" y="4032504"/>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23" name="Image 5" descr="preencoded.png">
            <a:extLst>
              <a:ext uri="{FF2B5EF4-FFF2-40B4-BE49-F238E27FC236}">
                <a16:creationId xmlns:a16="http://schemas.microsoft.com/office/drawing/2014/main" id="{A63577A9-6E22-D3C6-0571-D06BE9525DF6}"/>
              </a:ext>
            </a:extLst>
          </p:cNvPr>
          <p:cNvPicPr>
            <a:picLocks noChangeAspect="1"/>
          </p:cNvPicPr>
          <p:nvPr/>
        </p:nvPicPr>
        <p:blipFill>
          <a:blip r:embed="rId7"/>
          <a:srcRect/>
          <a:stretch/>
        </p:blipFill>
        <p:spPr>
          <a:xfrm>
            <a:off x="918972" y="4166006"/>
            <a:ext cx="237744" cy="190195"/>
          </a:xfrm>
          <a:prstGeom prst="rect">
            <a:avLst/>
          </a:prstGeom>
        </p:spPr>
      </p:pic>
      <p:sp>
        <p:nvSpPr>
          <p:cNvPr id="24" name="Text 20">
            <a:extLst>
              <a:ext uri="{FF2B5EF4-FFF2-40B4-BE49-F238E27FC236}">
                <a16:creationId xmlns:a16="http://schemas.microsoft.com/office/drawing/2014/main" id="{9CF19BDF-6351-BF0A-7CDA-5B637EB224FC}"/>
              </a:ext>
            </a:extLst>
          </p:cNvPr>
          <p:cNvSpPr txBox="1"/>
          <p:nvPr/>
        </p:nvSpPr>
        <p:spPr>
          <a:xfrm>
            <a:off x="1419149" y="4032504"/>
            <a:ext cx="4515307" cy="228600"/>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Hidden Environment Switches</a:t>
            </a:r>
            <a:endParaRPr lang="en-US" sz="1200" dirty="0"/>
          </a:p>
        </p:txBody>
      </p:sp>
      <p:sp>
        <p:nvSpPr>
          <p:cNvPr id="25" name="Text 21">
            <a:extLst>
              <a:ext uri="{FF2B5EF4-FFF2-40B4-BE49-F238E27FC236}">
                <a16:creationId xmlns:a16="http://schemas.microsoft.com/office/drawing/2014/main" id="{51A62403-3656-4560-1E4A-E38A8E66DFAC}"/>
              </a:ext>
            </a:extLst>
          </p:cNvPr>
          <p:cNvSpPr txBox="1"/>
          <p:nvPr/>
        </p:nvSpPr>
        <p:spPr>
          <a:xfrm>
            <a:off x="1419149" y="4299509"/>
            <a:ext cx="4476902" cy="419710"/>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Concealing mock/real mode toggles makes debugging difficult and confuses team members.</a:t>
            </a:r>
            <a:endParaRPr lang="en-US" sz="1000" dirty="0"/>
          </a:p>
        </p:txBody>
      </p:sp>
      <p:sp>
        <p:nvSpPr>
          <p:cNvPr id="26" name="Shape 22">
            <a:extLst>
              <a:ext uri="{FF2B5EF4-FFF2-40B4-BE49-F238E27FC236}">
                <a16:creationId xmlns:a16="http://schemas.microsoft.com/office/drawing/2014/main" id="{FF4DB051-C337-29B0-8CA2-6ACCE588CE06}"/>
              </a:ext>
            </a:extLst>
          </p:cNvPr>
          <p:cNvSpPr/>
          <p:nvPr/>
        </p:nvSpPr>
        <p:spPr>
          <a:xfrm>
            <a:off x="1419149" y="4786884"/>
            <a:ext cx="1362456" cy="276149"/>
          </a:xfrm>
          <a:prstGeom prst="roundRect">
            <a:avLst>
              <a:gd name="adj" fmla="val 331126"/>
            </a:avLst>
          </a:prstGeom>
          <a:solidFill>
            <a:srgbClr val="FEE2E2"/>
          </a:solidFill>
          <a:ln w="12700">
            <a:solidFill>
              <a:srgbClr val="FFFFFF">
                <a:alpha val="0"/>
              </a:srgbClr>
            </a:solidFill>
            <a:prstDash val="solid"/>
          </a:ln>
        </p:spPr>
        <p:txBody>
          <a:bodyPr/>
          <a:lstStyle/>
          <a:p>
            <a:endParaRPr lang="en-US"/>
          </a:p>
        </p:txBody>
      </p:sp>
      <p:sp>
        <p:nvSpPr>
          <p:cNvPr id="27" name="Text 23">
            <a:extLst>
              <a:ext uri="{FF2B5EF4-FFF2-40B4-BE49-F238E27FC236}">
                <a16:creationId xmlns:a16="http://schemas.microsoft.com/office/drawing/2014/main" id="{667D534A-1671-945A-3860-C5ECE38CDEDC}"/>
              </a:ext>
            </a:extLst>
          </p:cNvPr>
          <p:cNvSpPr/>
          <p:nvPr/>
        </p:nvSpPr>
        <p:spPr>
          <a:xfrm>
            <a:off x="1662380" y="4786884"/>
            <a:ext cx="1162202" cy="275234"/>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991B1B"/>
                </a:solidFill>
                <a:latin typeface="Raleway" pitchFamily="34" charset="0"/>
                <a:ea typeface="Raleway" pitchFamily="34" charset="-122"/>
                <a:cs typeface="Raleway" pitchFamily="34" charset="-120"/>
              </a:rPr>
              <a:t> Visibility Issue </a:t>
            </a:r>
            <a:endParaRPr lang="en-US" sz="1000" dirty="0"/>
          </a:p>
        </p:txBody>
      </p:sp>
      <p:pic>
        <p:nvPicPr>
          <p:cNvPr id="28" name="Image 6" descr="preencoded.png">
            <a:extLst>
              <a:ext uri="{FF2B5EF4-FFF2-40B4-BE49-F238E27FC236}">
                <a16:creationId xmlns:a16="http://schemas.microsoft.com/office/drawing/2014/main" id="{AC5F4519-618A-4D7C-4BD5-6134DD15896E}"/>
              </a:ext>
            </a:extLst>
          </p:cNvPr>
          <p:cNvPicPr>
            <a:picLocks noChangeAspect="1"/>
          </p:cNvPicPr>
          <p:nvPr/>
        </p:nvPicPr>
        <p:blipFill>
          <a:blip r:embed="rId8"/>
          <a:srcRect l="-1507" r="-1507"/>
          <a:stretch/>
        </p:blipFill>
        <p:spPr>
          <a:xfrm>
            <a:off x="1533449" y="4851806"/>
            <a:ext cx="171907" cy="133502"/>
          </a:xfrm>
          <a:prstGeom prst="rect">
            <a:avLst/>
          </a:prstGeom>
        </p:spPr>
      </p:pic>
      <p:sp>
        <p:nvSpPr>
          <p:cNvPr id="29" name="Shape 24">
            <a:extLst>
              <a:ext uri="{FF2B5EF4-FFF2-40B4-BE49-F238E27FC236}">
                <a16:creationId xmlns:a16="http://schemas.microsoft.com/office/drawing/2014/main" id="{85D97543-0DCC-A9C7-CEB7-B43FD7568992}"/>
              </a:ext>
            </a:extLst>
          </p:cNvPr>
          <p:cNvSpPr/>
          <p:nvPr/>
        </p:nvSpPr>
        <p:spPr>
          <a:xfrm>
            <a:off x="6172200" y="3832250"/>
            <a:ext cx="5410505" cy="1438351"/>
          </a:xfrm>
          <a:prstGeom prst="roundRect">
            <a:avLst>
              <a:gd name="adj" fmla="val 10104"/>
            </a:avLst>
          </a:prstGeom>
          <a:solidFill>
            <a:srgbClr val="FFFFFF"/>
          </a:solidFill>
          <a:ln w="12700">
            <a:solidFill>
              <a:srgbClr val="E2E8F0"/>
            </a:solidFill>
            <a:prstDash val="solid"/>
          </a:ln>
        </p:spPr>
        <p:txBody>
          <a:bodyPr/>
          <a:lstStyle/>
          <a:p>
            <a:endParaRPr lang="en-US"/>
          </a:p>
        </p:txBody>
      </p:sp>
      <p:sp>
        <p:nvSpPr>
          <p:cNvPr id="30" name="Shape 25">
            <a:extLst>
              <a:ext uri="{FF2B5EF4-FFF2-40B4-BE49-F238E27FC236}">
                <a16:creationId xmlns:a16="http://schemas.microsoft.com/office/drawing/2014/main" id="{D218A810-EEFB-7054-1877-2B19BDDBDF0F}"/>
              </a:ext>
            </a:extLst>
          </p:cNvPr>
          <p:cNvSpPr/>
          <p:nvPr/>
        </p:nvSpPr>
        <p:spPr>
          <a:xfrm>
            <a:off x="6372454" y="4032504"/>
            <a:ext cx="457200" cy="457200"/>
          </a:xfrm>
          <a:prstGeom prst="roundRect">
            <a:avLst>
              <a:gd name="adj" fmla="val 66667"/>
            </a:avLst>
          </a:prstGeom>
          <a:solidFill>
            <a:srgbClr val="FEF3C7"/>
          </a:solidFill>
          <a:ln w="12700">
            <a:solidFill>
              <a:srgbClr val="FFFFFF">
                <a:alpha val="0"/>
              </a:srgbClr>
            </a:solidFill>
            <a:prstDash val="solid"/>
          </a:ln>
        </p:spPr>
        <p:txBody>
          <a:bodyPr/>
          <a:lstStyle/>
          <a:p>
            <a:endParaRPr lang="en-US"/>
          </a:p>
        </p:txBody>
      </p:sp>
      <p:pic>
        <p:nvPicPr>
          <p:cNvPr id="31" name="Image 7" descr="preencoded.png">
            <a:extLst>
              <a:ext uri="{FF2B5EF4-FFF2-40B4-BE49-F238E27FC236}">
                <a16:creationId xmlns:a16="http://schemas.microsoft.com/office/drawing/2014/main" id="{1C25CDE5-09BE-FCDE-AC24-E2EA06B3A0A0}"/>
              </a:ext>
            </a:extLst>
          </p:cNvPr>
          <p:cNvPicPr>
            <a:picLocks noChangeAspect="1"/>
          </p:cNvPicPr>
          <p:nvPr/>
        </p:nvPicPr>
        <p:blipFill>
          <a:blip r:embed="rId9"/>
          <a:srcRect l="-1648" r="-1648"/>
          <a:stretch/>
        </p:blipFill>
        <p:spPr>
          <a:xfrm>
            <a:off x="6515100" y="4166006"/>
            <a:ext cx="171907" cy="190195"/>
          </a:xfrm>
          <a:prstGeom prst="rect">
            <a:avLst/>
          </a:prstGeom>
        </p:spPr>
      </p:pic>
      <p:sp>
        <p:nvSpPr>
          <p:cNvPr id="32" name="Text 26">
            <a:extLst>
              <a:ext uri="{FF2B5EF4-FFF2-40B4-BE49-F238E27FC236}">
                <a16:creationId xmlns:a16="http://schemas.microsoft.com/office/drawing/2014/main" id="{6E26AD68-677B-B2DD-6BFE-FD80DD0FDFC7}"/>
              </a:ext>
            </a:extLst>
          </p:cNvPr>
          <p:cNvSpPr txBox="1"/>
          <p:nvPr/>
        </p:nvSpPr>
        <p:spPr>
          <a:xfrm>
            <a:off x="6981444" y="4032504"/>
            <a:ext cx="4515307" cy="228600"/>
          </a:xfrm>
          <a:prstGeom prst="rect">
            <a:avLst/>
          </a:prstGeom>
          <a:noFill/>
          <a:ln/>
        </p:spPr>
        <p:txBody>
          <a:bodyPr wrap="square" lIns="0" tIns="0" rIns="0" bIns="0" rtlCol="0" anchor="ctr"/>
          <a:lstStyle/>
          <a:p>
            <a:pPr marL="0" indent="0" algn="l">
              <a:buNone/>
            </a:pPr>
            <a:r>
              <a:rPr lang="en-US" sz="1200" b="1" dirty="0">
                <a:solidFill>
                  <a:srgbClr val="1A202C"/>
                </a:solidFill>
                <a:latin typeface="Roboto Condensed" pitchFamily="34" charset="0"/>
                <a:ea typeface="Roboto Condensed" pitchFamily="34" charset="-122"/>
                <a:cs typeface="Roboto Condensed" pitchFamily="34" charset="-120"/>
              </a:rPr>
              <a:t>Multiple Unaligned Data Sources</a:t>
            </a:r>
            <a:endParaRPr lang="en-US" sz="1200" dirty="0"/>
          </a:p>
        </p:txBody>
      </p:sp>
      <p:sp>
        <p:nvSpPr>
          <p:cNvPr id="33" name="Text 27">
            <a:extLst>
              <a:ext uri="{FF2B5EF4-FFF2-40B4-BE49-F238E27FC236}">
                <a16:creationId xmlns:a16="http://schemas.microsoft.com/office/drawing/2014/main" id="{80FE644C-9077-3B88-736A-D2BF1632D89F}"/>
              </a:ext>
            </a:extLst>
          </p:cNvPr>
          <p:cNvSpPr txBox="1"/>
          <p:nvPr/>
        </p:nvSpPr>
        <p:spPr>
          <a:xfrm>
            <a:off x="6981444" y="4299509"/>
            <a:ext cx="4476902" cy="419710"/>
          </a:xfrm>
          <a:prstGeom prst="rect">
            <a:avLst/>
          </a:prstGeom>
          <a:noFill/>
          <a:ln/>
        </p:spPr>
        <p:txBody>
          <a:bodyPr wrap="square" lIns="0" tIns="0" rIns="0" bIns="0" rtlCol="0" anchor="ctr"/>
          <a:lstStyle/>
          <a:p>
            <a:pPr marL="0" indent="0" algn="l">
              <a:buNone/>
            </a:pPr>
            <a:r>
              <a:rPr lang="en-US" sz="1000" dirty="0">
                <a:solidFill>
                  <a:srgbClr val="4A5568"/>
                </a:solidFill>
                <a:latin typeface="Raleway" pitchFamily="34" charset="0"/>
                <a:ea typeface="Raleway" pitchFamily="34" charset="-122"/>
                <a:cs typeface="Raleway" pitchFamily="34" charset="-120"/>
              </a:rPr>
              <a:t>Using different data sources in dev/test/storybook creates inconsistency and integration issues.</a:t>
            </a:r>
            <a:endParaRPr lang="en-US" sz="1000" dirty="0"/>
          </a:p>
        </p:txBody>
      </p:sp>
      <p:sp>
        <p:nvSpPr>
          <p:cNvPr id="34" name="Shape 28">
            <a:extLst>
              <a:ext uri="{FF2B5EF4-FFF2-40B4-BE49-F238E27FC236}">
                <a16:creationId xmlns:a16="http://schemas.microsoft.com/office/drawing/2014/main" id="{60945344-67E3-F2A5-0654-17E0A19CB8D9}"/>
              </a:ext>
            </a:extLst>
          </p:cNvPr>
          <p:cNvSpPr/>
          <p:nvPr/>
        </p:nvSpPr>
        <p:spPr>
          <a:xfrm>
            <a:off x="6981444" y="4786884"/>
            <a:ext cx="1037844" cy="276149"/>
          </a:xfrm>
          <a:prstGeom prst="roundRect">
            <a:avLst>
              <a:gd name="adj" fmla="val 331126"/>
            </a:avLst>
          </a:prstGeom>
          <a:solidFill>
            <a:srgbClr val="FEF3C7"/>
          </a:solidFill>
          <a:ln w="12700">
            <a:solidFill>
              <a:srgbClr val="FFFFFF">
                <a:alpha val="0"/>
              </a:srgbClr>
            </a:solidFill>
            <a:prstDash val="solid"/>
          </a:ln>
        </p:spPr>
        <p:txBody>
          <a:bodyPr/>
          <a:lstStyle/>
          <a:p>
            <a:endParaRPr lang="en-US"/>
          </a:p>
        </p:txBody>
      </p:sp>
      <p:sp>
        <p:nvSpPr>
          <p:cNvPr id="35" name="Text 29">
            <a:extLst>
              <a:ext uri="{FF2B5EF4-FFF2-40B4-BE49-F238E27FC236}">
                <a16:creationId xmlns:a16="http://schemas.microsoft.com/office/drawing/2014/main" id="{6E5D555E-27AA-D431-0B39-B3289A9935C5}"/>
              </a:ext>
            </a:extLst>
          </p:cNvPr>
          <p:cNvSpPr/>
          <p:nvPr/>
        </p:nvSpPr>
        <p:spPr>
          <a:xfrm>
            <a:off x="7174840" y="4786884"/>
            <a:ext cx="1037843" cy="275234"/>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92400E"/>
                </a:solidFill>
                <a:latin typeface="Raleway" pitchFamily="34" charset="0"/>
                <a:ea typeface="Raleway" pitchFamily="34" charset="-122"/>
                <a:cs typeface="Raleway" pitchFamily="34" charset="-120"/>
              </a:rPr>
              <a:t> Data Drift </a:t>
            </a:r>
            <a:endParaRPr lang="en-US" sz="1000" dirty="0"/>
          </a:p>
        </p:txBody>
      </p:sp>
      <p:pic>
        <p:nvPicPr>
          <p:cNvPr id="36" name="Image 8" descr="preencoded.png">
            <a:extLst>
              <a:ext uri="{FF2B5EF4-FFF2-40B4-BE49-F238E27FC236}">
                <a16:creationId xmlns:a16="http://schemas.microsoft.com/office/drawing/2014/main" id="{9FCBB9AB-B6F4-A887-7F97-08234F184C38}"/>
              </a:ext>
            </a:extLst>
          </p:cNvPr>
          <p:cNvPicPr>
            <a:picLocks noChangeAspect="1"/>
          </p:cNvPicPr>
          <p:nvPr/>
        </p:nvPicPr>
        <p:blipFill>
          <a:blip r:embed="rId10"/>
          <a:srcRect/>
          <a:stretch/>
        </p:blipFill>
        <p:spPr>
          <a:xfrm>
            <a:off x="7095744" y="4851806"/>
            <a:ext cx="133502" cy="133502"/>
          </a:xfrm>
          <a:prstGeom prst="rect">
            <a:avLst/>
          </a:prstGeom>
        </p:spPr>
      </p:pic>
      <p:sp>
        <p:nvSpPr>
          <p:cNvPr id="37" name="Shape 30">
            <a:extLst>
              <a:ext uri="{FF2B5EF4-FFF2-40B4-BE49-F238E27FC236}">
                <a16:creationId xmlns:a16="http://schemas.microsoft.com/office/drawing/2014/main" id="{2D455EA5-B0E9-CAF0-3AE5-4A9E102E2B07}"/>
              </a:ext>
            </a:extLst>
          </p:cNvPr>
          <p:cNvSpPr/>
          <p:nvPr/>
        </p:nvSpPr>
        <p:spPr>
          <a:xfrm>
            <a:off x="609905" y="5491886"/>
            <a:ext cx="10972800" cy="495605"/>
          </a:xfrm>
          <a:prstGeom prst="roundRect">
            <a:avLst>
              <a:gd name="adj" fmla="val 56770"/>
            </a:avLst>
          </a:prstGeom>
          <a:solidFill>
            <a:srgbClr val="F9FAFB"/>
          </a:solidFill>
          <a:ln w="12700">
            <a:solidFill>
              <a:srgbClr val="FFFFFF">
                <a:alpha val="0"/>
              </a:srgbClr>
            </a:solidFill>
            <a:prstDash val="solid"/>
          </a:ln>
        </p:spPr>
        <p:txBody>
          <a:bodyPr/>
          <a:lstStyle/>
          <a:p>
            <a:endParaRPr lang="en-US"/>
          </a:p>
        </p:txBody>
      </p:sp>
      <p:sp>
        <p:nvSpPr>
          <p:cNvPr id="38" name="Text 31">
            <a:extLst>
              <a:ext uri="{FF2B5EF4-FFF2-40B4-BE49-F238E27FC236}">
                <a16:creationId xmlns:a16="http://schemas.microsoft.com/office/drawing/2014/main" id="{2B202F90-6D35-7E56-843D-8479FD3C62E5}"/>
              </a:ext>
            </a:extLst>
          </p:cNvPr>
          <p:cNvSpPr txBox="1"/>
          <p:nvPr/>
        </p:nvSpPr>
        <p:spPr>
          <a:xfrm>
            <a:off x="1004926" y="5644591"/>
            <a:ext cx="185440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 4 Anti-patterns identified </a:t>
            </a:r>
            <a:endParaRPr lang="en-US" sz="1000" dirty="0"/>
          </a:p>
        </p:txBody>
      </p:sp>
      <p:pic>
        <p:nvPicPr>
          <p:cNvPr id="39" name="Image 9" descr="preencoded.png">
            <a:extLst>
              <a:ext uri="{FF2B5EF4-FFF2-40B4-BE49-F238E27FC236}">
                <a16:creationId xmlns:a16="http://schemas.microsoft.com/office/drawing/2014/main" id="{A8BA346F-8D7D-DC31-CA87-95930581B67B}"/>
              </a:ext>
            </a:extLst>
          </p:cNvPr>
          <p:cNvPicPr>
            <a:picLocks noChangeAspect="1"/>
          </p:cNvPicPr>
          <p:nvPr/>
        </p:nvPicPr>
        <p:blipFill>
          <a:blip r:embed="rId11"/>
          <a:srcRect/>
          <a:stretch/>
        </p:blipFill>
        <p:spPr>
          <a:xfrm>
            <a:off x="761695" y="5670194"/>
            <a:ext cx="133502" cy="133502"/>
          </a:xfrm>
          <a:prstGeom prst="rect">
            <a:avLst/>
          </a:prstGeom>
        </p:spPr>
      </p:pic>
      <p:sp>
        <p:nvSpPr>
          <p:cNvPr id="40" name="Text 32">
            <a:extLst>
              <a:ext uri="{FF2B5EF4-FFF2-40B4-BE49-F238E27FC236}">
                <a16:creationId xmlns:a16="http://schemas.microsoft.com/office/drawing/2014/main" id="{FDD1BF3C-9D45-C485-022B-BCC4B400C99D}"/>
              </a:ext>
            </a:extLst>
          </p:cNvPr>
          <p:cNvSpPr txBox="1"/>
          <p:nvPr/>
        </p:nvSpPr>
        <p:spPr>
          <a:xfrm>
            <a:off x="10455250" y="5644591"/>
            <a:ext cx="544068"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Impact:</a:t>
            </a:r>
            <a:endParaRPr lang="en-US" sz="1000" dirty="0"/>
          </a:p>
        </p:txBody>
      </p:sp>
      <p:sp>
        <p:nvSpPr>
          <p:cNvPr id="41" name="Text 33">
            <a:extLst>
              <a:ext uri="{FF2B5EF4-FFF2-40B4-BE49-F238E27FC236}">
                <a16:creationId xmlns:a16="http://schemas.microsoft.com/office/drawing/2014/main" id="{AB41ECE5-86FB-0B5C-3421-F6D5276CED64}"/>
              </a:ext>
            </a:extLst>
          </p:cNvPr>
          <p:cNvSpPr txBox="1"/>
          <p:nvPr/>
        </p:nvSpPr>
        <p:spPr>
          <a:xfrm>
            <a:off x="10985602" y="5644591"/>
            <a:ext cx="533095" cy="191110"/>
          </a:xfrm>
          <a:prstGeom prst="rect">
            <a:avLst/>
          </a:prstGeom>
          <a:noFill/>
          <a:ln/>
        </p:spPr>
        <p:txBody>
          <a:bodyPr wrap="square" lIns="0" tIns="0" rIns="0" bIns="0" rtlCol="0" anchor="ctr"/>
          <a:lstStyle/>
          <a:p>
            <a:pPr marL="0" indent="0" algn="l">
              <a:buNone/>
            </a:pPr>
            <a:r>
              <a:rPr lang="en-US" sz="1000" b="1" dirty="0">
                <a:solidFill>
                  <a:srgbClr val="DC2626"/>
                </a:solidFill>
                <a:latin typeface="Raleway" pitchFamily="34" charset="0"/>
                <a:ea typeface="Raleway" pitchFamily="34" charset="-122"/>
                <a:cs typeface="Raleway" pitchFamily="34" charset="-120"/>
              </a:rPr>
              <a:t>Critical</a:t>
            </a:r>
            <a:endParaRPr lang="en-US" sz="1000" dirty="0"/>
          </a:p>
        </p:txBody>
      </p:sp>
    </p:spTree>
    <p:extLst>
      <p:ext uri="{BB962C8B-B14F-4D97-AF65-F5344CB8AC3E}">
        <p14:creationId xmlns:p14="http://schemas.microsoft.com/office/powerpoint/2010/main" val="154123675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3FDF-3D08-18EB-8A06-DA281C491D0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E30672-3D25-BF84-C4EA-32063D005F84}"/>
              </a:ext>
            </a:extLst>
          </p:cNvPr>
          <p:cNvSpPr>
            <a:spLocks noGrp="1"/>
          </p:cNvSpPr>
          <p:nvPr>
            <p:ph type="sldNum" sz="quarter" idx="12"/>
          </p:nvPr>
        </p:nvSpPr>
        <p:spPr/>
        <p:txBody>
          <a:bodyPr/>
          <a:lstStyle/>
          <a:p>
            <a:fld id="{F01A0BEF-C76D-43A2-874C-09A8674B0D74}" type="slidenum">
              <a:rPr lang="en-GB" smtClean="0"/>
              <a:t>21</a:t>
            </a:fld>
            <a:endParaRPr lang="en-GB"/>
          </a:p>
        </p:txBody>
      </p:sp>
      <p:sp>
        <p:nvSpPr>
          <p:cNvPr id="7" name="Text 3">
            <a:extLst>
              <a:ext uri="{FF2B5EF4-FFF2-40B4-BE49-F238E27FC236}">
                <a16:creationId xmlns:a16="http://schemas.microsoft.com/office/drawing/2014/main" id="{E0AA5BC2-FD2E-BDAF-D5B5-BCB604A26C43}"/>
              </a:ext>
            </a:extLst>
          </p:cNvPr>
          <p:cNvSpPr txBox="1"/>
          <p:nvPr/>
        </p:nvSpPr>
        <p:spPr>
          <a:xfrm>
            <a:off x="500953" y="942414"/>
            <a:ext cx="11163910" cy="609905"/>
          </a:xfrm>
          <a:prstGeom prst="rect">
            <a:avLst/>
          </a:prstGeom>
          <a:noFill/>
          <a:ln/>
        </p:spPr>
        <p:txBody>
          <a:bodyPr wrap="square" lIns="0" tIns="0" rIns="0" bIns="0" rtlCol="0" anchor="ctr"/>
          <a:lstStyle/>
          <a:p>
            <a:pPr marL="0" indent="0" algn="ctr">
              <a:buNone/>
            </a:pPr>
            <a:r>
              <a:rPr lang="en-US" sz="4800" b="1" kern="0" spc="75" dirty="0">
                <a:solidFill>
                  <a:srgbClr val="091044"/>
                </a:solidFill>
                <a:latin typeface="Roboto Condensed" pitchFamily="34" charset="0"/>
                <a:ea typeface="Roboto Condensed" pitchFamily="34" charset="-122"/>
                <a:cs typeface="Roboto Condensed" pitchFamily="34" charset="-120"/>
              </a:rPr>
              <a:t>KEY TAKEAWAYS</a:t>
            </a:r>
            <a:endParaRPr lang="en-US" sz="4800" dirty="0">
              <a:solidFill>
                <a:srgbClr val="091044"/>
              </a:solidFill>
            </a:endParaRPr>
          </a:p>
        </p:txBody>
      </p:sp>
      <p:sp>
        <p:nvSpPr>
          <p:cNvPr id="8" name="Text 4">
            <a:extLst>
              <a:ext uri="{FF2B5EF4-FFF2-40B4-BE49-F238E27FC236}">
                <a16:creationId xmlns:a16="http://schemas.microsoft.com/office/drawing/2014/main" id="{2AC89D6B-CB31-E46A-1292-50BC57E759FE}"/>
              </a:ext>
            </a:extLst>
          </p:cNvPr>
          <p:cNvSpPr txBox="1"/>
          <p:nvPr/>
        </p:nvSpPr>
        <p:spPr>
          <a:xfrm>
            <a:off x="2386446" y="1704109"/>
            <a:ext cx="7392010" cy="467258"/>
          </a:xfrm>
          <a:prstGeom prst="rect">
            <a:avLst/>
          </a:prstGeom>
          <a:noFill/>
          <a:ln/>
        </p:spPr>
        <p:txBody>
          <a:bodyPr wrap="square" lIns="0" tIns="0" rIns="0" bIns="0" rtlCol="0" anchor="ctr"/>
          <a:lstStyle/>
          <a:p>
            <a:pPr marL="0" indent="0" algn="ctr">
              <a:buNone/>
            </a:pPr>
            <a:r>
              <a:rPr lang="en-US" sz="1300" dirty="0">
                <a:solidFill>
                  <a:srgbClr val="4B5563"/>
                </a:solidFill>
                <a:latin typeface="Raleway" pitchFamily="34" charset="0"/>
                <a:ea typeface="Raleway" pitchFamily="34" charset="-122"/>
                <a:cs typeface="Raleway" pitchFamily="34" charset="-120"/>
              </a:rPr>
              <a:t>MSW is more than just a test utility - it's a developer productivity layer that enables frontend development without backend dependencies.</a:t>
            </a:r>
            <a:endParaRPr lang="en-US" sz="1300" dirty="0"/>
          </a:p>
        </p:txBody>
      </p:sp>
      <p:sp>
        <p:nvSpPr>
          <p:cNvPr id="9" name="Shape 5">
            <a:extLst>
              <a:ext uri="{FF2B5EF4-FFF2-40B4-BE49-F238E27FC236}">
                <a16:creationId xmlns:a16="http://schemas.microsoft.com/office/drawing/2014/main" id="{7D37B550-8671-EAFC-4D8E-BF040B2B3100}"/>
              </a:ext>
            </a:extLst>
          </p:cNvPr>
          <p:cNvSpPr/>
          <p:nvPr/>
        </p:nvSpPr>
        <p:spPr>
          <a:xfrm>
            <a:off x="596051" y="2472204"/>
            <a:ext cx="2572207" cy="2307613"/>
          </a:xfrm>
          <a:prstGeom prst="roundRect">
            <a:avLst>
              <a:gd name="adj" fmla="val 3160"/>
            </a:avLst>
          </a:prstGeom>
          <a:solidFill>
            <a:srgbClr val="FFFFFF"/>
          </a:solidFill>
          <a:ln w="12700">
            <a:solidFill>
              <a:srgbClr val="E2E8F0"/>
            </a:solidFill>
            <a:prstDash val="solid"/>
          </a:ln>
        </p:spPr>
        <p:txBody>
          <a:bodyPr/>
          <a:lstStyle/>
          <a:p>
            <a:endParaRPr lang="en-US"/>
          </a:p>
        </p:txBody>
      </p:sp>
      <p:sp>
        <p:nvSpPr>
          <p:cNvPr id="10" name="Shape 6">
            <a:extLst>
              <a:ext uri="{FF2B5EF4-FFF2-40B4-BE49-F238E27FC236}">
                <a16:creationId xmlns:a16="http://schemas.microsoft.com/office/drawing/2014/main" id="{5EA6F559-9699-1AC9-9126-DF2A256CBF18}"/>
              </a:ext>
            </a:extLst>
          </p:cNvPr>
          <p:cNvSpPr/>
          <p:nvPr/>
        </p:nvSpPr>
        <p:spPr>
          <a:xfrm>
            <a:off x="1577202" y="2709949"/>
            <a:ext cx="609905" cy="609905"/>
          </a:xfrm>
          <a:prstGeom prst="ellipse">
            <a:avLst/>
          </a:prstGeom>
          <a:solidFill>
            <a:srgbClr val="3B82F6"/>
          </a:solidFill>
          <a:ln w="12700">
            <a:solidFill>
              <a:srgbClr val="FFFFFF">
                <a:alpha val="0"/>
              </a:srgbClr>
            </a:solidFill>
            <a:prstDash val="solid"/>
          </a:ln>
        </p:spPr>
        <p:txBody>
          <a:bodyPr/>
          <a:lstStyle/>
          <a:p>
            <a:endParaRPr lang="en-US"/>
          </a:p>
        </p:txBody>
      </p:sp>
      <p:pic>
        <p:nvPicPr>
          <p:cNvPr id="11" name="Image 1" descr="preencoded.png">
            <a:extLst>
              <a:ext uri="{FF2B5EF4-FFF2-40B4-BE49-F238E27FC236}">
                <a16:creationId xmlns:a16="http://schemas.microsoft.com/office/drawing/2014/main" id="{323802A1-F282-BBF1-7F8E-C2414F6F067B}"/>
              </a:ext>
            </a:extLst>
          </p:cNvPr>
          <p:cNvPicPr>
            <a:picLocks noChangeAspect="1"/>
          </p:cNvPicPr>
          <p:nvPr/>
        </p:nvPicPr>
        <p:blipFill>
          <a:blip r:embed="rId3"/>
          <a:srcRect/>
          <a:stretch/>
        </p:blipFill>
        <p:spPr>
          <a:xfrm>
            <a:off x="1767397" y="2900144"/>
            <a:ext cx="228600" cy="228600"/>
          </a:xfrm>
          <a:prstGeom prst="rect">
            <a:avLst/>
          </a:prstGeom>
        </p:spPr>
      </p:pic>
      <p:sp>
        <p:nvSpPr>
          <p:cNvPr id="12" name="Text 7">
            <a:extLst>
              <a:ext uri="{FF2B5EF4-FFF2-40B4-BE49-F238E27FC236}">
                <a16:creationId xmlns:a16="http://schemas.microsoft.com/office/drawing/2014/main" id="{A5B5FADB-051A-1644-51FD-F33982419CAF}"/>
              </a:ext>
            </a:extLst>
          </p:cNvPr>
          <p:cNvSpPr txBox="1"/>
          <p:nvPr/>
        </p:nvSpPr>
        <p:spPr>
          <a:xfrm>
            <a:off x="814592" y="3471644"/>
            <a:ext cx="2142439" cy="257861"/>
          </a:xfrm>
          <a:prstGeom prst="rect">
            <a:avLst/>
          </a:prstGeom>
          <a:noFill/>
          <a:ln/>
        </p:spPr>
        <p:txBody>
          <a:bodyPr wrap="square" lIns="0" tIns="0" rIns="0" bIns="0" rtlCol="0" anchor="ctr"/>
          <a:lstStyle/>
          <a:p>
            <a:pPr marL="0" indent="0" algn="ctr">
              <a:buNone/>
            </a:pPr>
            <a:r>
              <a:rPr lang="en-US" sz="1300" b="1" dirty="0">
                <a:solidFill>
                  <a:srgbClr val="2D3748"/>
                </a:solidFill>
                <a:latin typeface="Roboto Condensed" pitchFamily="34" charset="0"/>
                <a:ea typeface="Roboto Condensed" pitchFamily="34" charset="-122"/>
                <a:cs typeface="Roboto Condensed" pitchFamily="34" charset="-120"/>
              </a:rPr>
              <a:t>MSW as Productivity Layer</a:t>
            </a:r>
            <a:endParaRPr lang="en-US" sz="1300" dirty="0"/>
          </a:p>
        </p:txBody>
      </p:sp>
      <p:sp>
        <p:nvSpPr>
          <p:cNvPr id="13" name="Text 8">
            <a:extLst>
              <a:ext uri="{FF2B5EF4-FFF2-40B4-BE49-F238E27FC236}">
                <a16:creationId xmlns:a16="http://schemas.microsoft.com/office/drawing/2014/main" id="{EAFF7345-848A-C86D-1AF7-A22488F6B5B7}"/>
              </a:ext>
            </a:extLst>
          </p:cNvPr>
          <p:cNvSpPr txBox="1"/>
          <p:nvPr/>
        </p:nvSpPr>
        <p:spPr>
          <a:xfrm>
            <a:off x="795390" y="3799914"/>
            <a:ext cx="2171700" cy="752551"/>
          </a:xfrm>
          <a:prstGeom prst="rect">
            <a:avLst/>
          </a:prstGeom>
          <a:noFill/>
          <a:ln/>
        </p:spPr>
        <p:txBody>
          <a:bodyPr wrap="square" lIns="0" tIns="0" rIns="0" bIns="0" rtlCol="0" anchor="ctr"/>
          <a:lstStyle/>
          <a:p>
            <a:pPr marL="0" indent="0" algn="ctr">
              <a:buNone/>
            </a:pPr>
            <a:r>
              <a:rPr lang="en-US" sz="1000" dirty="0">
                <a:solidFill>
                  <a:srgbClr val="4A5568"/>
                </a:solidFill>
                <a:latin typeface="Raleway" pitchFamily="34" charset="0"/>
                <a:ea typeface="Raleway" pitchFamily="34" charset="-122"/>
                <a:cs typeface="Raleway" pitchFamily="34" charset="-120"/>
              </a:rPr>
              <a:t> MSW is a </a:t>
            </a:r>
            <a:r>
              <a:rPr lang="en-US" sz="1000" b="1" dirty="0">
                <a:solidFill>
                  <a:srgbClr val="3B82F6"/>
                </a:solidFill>
                <a:latin typeface="Raleway" pitchFamily="34" charset="0"/>
                <a:ea typeface="Raleway" pitchFamily="34" charset="-122"/>
                <a:cs typeface="Raleway" pitchFamily="34" charset="-120"/>
              </a:rPr>
              <a:t>developer productivity layer</a:t>
            </a:r>
            <a:r>
              <a:rPr lang="en-US" sz="1000" dirty="0">
                <a:solidFill>
                  <a:srgbClr val="4A5568"/>
                </a:solidFill>
                <a:latin typeface="Raleway" pitchFamily="34" charset="0"/>
                <a:ea typeface="Raleway" pitchFamily="34" charset="-122"/>
                <a:cs typeface="Raleway" pitchFamily="34" charset="-120"/>
              </a:rPr>
              <a:t>, not just a test utility. It enables parallel development and faster iteration cycles. </a:t>
            </a:r>
            <a:endParaRPr lang="en-US" sz="1000" dirty="0"/>
          </a:p>
        </p:txBody>
      </p:sp>
      <p:sp>
        <p:nvSpPr>
          <p:cNvPr id="14" name="Shape 10">
            <a:extLst>
              <a:ext uri="{FF2B5EF4-FFF2-40B4-BE49-F238E27FC236}">
                <a16:creationId xmlns:a16="http://schemas.microsoft.com/office/drawing/2014/main" id="{50D995E6-4D1C-6657-CA31-87C08021AAB3}"/>
              </a:ext>
            </a:extLst>
          </p:cNvPr>
          <p:cNvSpPr/>
          <p:nvPr/>
        </p:nvSpPr>
        <p:spPr>
          <a:xfrm>
            <a:off x="3395944" y="2472204"/>
            <a:ext cx="2572207" cy="2307613"/>
          </a:xfrm>
          <a:prstGeom prst="roundRect">
            <a:avLst>
              <a:gd name="adj" fmla="val 3160"/>
            </a:avLst>
          </a:prstGeom>
          <a:solidFill>
            <a:srgbClr val="FFFFFF"/>
          </a:solidFill>
          <a:ln w="12700">
            <a:solidFill>
              <a:srgbClr val="E2E8F0"/>
            </a:solidFill>
            <a:prstDash val="solid"/>
          </a:ln>
        </p:spPr>
        <p:txBody>
          <a:bodyPr/>
          <a:lstStyle/>
          <a:p>
            <a:endParaRPr lang="en-US"/>
          </a:p>
        </p:txBody>
      </p:sp>
      <p:sp>
        <p:nvSpPr>
          <p:cNvPr id="15" name="Shape 11">
            <a:extLst>
              <a:ext uri="{FF2B5EF4-FFF2-40B4-BE49-F238E27FC236}">
                <a16:creationId xmlns:a16="http://schemas.microsoft.com/office/drawing/2014/main" id="{93F1AB17-5D71-727A-39A7-0EF55919B3AF}"/>
              </a:ext>
            </a:extLst>
          </p:cNvPr>
          <p:cNvSpPr/>
          <p:nvPr/>
        </p:nvSpPr>
        <p:spPr>
          <a:xfrm>
            <a:off x="4377095" y="2709949"/>
            <a:ext cx="609905" cy="609905"/>
          </a:xfrm>
          <a:prstGeom prst="ellipse">
            <a:avLst/>
          </a:prstGeom>
          <a:solidFill>
            <a:srgbClr val="22C55E"/>
          </a:solidFill>
          <a:ln w="12700">
            <a:solidFill>
              <a:srgbClr val="FFFFFF">
                <a:alpha val="0"/>
              </a:srgbClr>
            </a:solidFill>
            <a:prstDash val="solid"/>
          </a:ln>
        </p:spPr>
        <p:txBody>
          <a:bodyPr/>
          <a:lstStyle/>
          <a:p>
            <a:endParaRPr lang="en-US"/>
          </a:p>
        </p:txBody>
      </p:sp>
      <p:pic>
        <p:nvPicPr>
          <p:cNvPr id="16" name="Image 2" descr="preencoded.png">
            <a:extLst>
              <a:ext uri="{FF2B5EF4-FFF2-40B4-BE49-F238E27FC236}">
                <a16:creationId xmlns:a16="http://schemas.microsoft.com/office/drawing/2014/main" id="{EDCBC8A3-9ADF-B109-3555-038E20AEACC5}"/>
              </a:ext>
            </a:extLst>
          </p:cNvPr>
          <p:cNvPicPr>
            <a:picLocks noChangeAspect="1"/>
          </p:cNvPicPr>
          <p:nvPr/>
        </p:nvPicPr>
        <p:blipFill>
          <a:blip r:embed="rId4"/>
          <a:srcRect/>
          <a:stretch/>
        </p:blipFill>
        <p:spPr>
          <a:xfrm>
            <a:off x="4567290" y="2900144"/>
            <a:ext cx="228600" cy="228600"/>
          </a:xfrm>
          <a:prstGeom prst="rect">
            <a:avLst/>
          </a:prstGeom>
        </p:spPr>
      </p:pic>
      <p:sp>
        <p:nvSpPr>
          <p:cNvPr id="17" name="Text 12">
            <a:extLst>
              <a:ext uri="{FF2B5EF4-FFF2-40B4-BE49-F238E27FC236}">
                <a16:creationId xmlns:a16="http://schemas.microsoft.com/office/drawing/2014/main" id="{54BE787A-33CA-A9DF-CB53-128E190BDDFE}"/>
              </a:ext>
            </a:extLst>
          </p:cNvPr>
          <p:cNvSpPr txBox="1"/>
          <p:nvPr/>
        </p:nvSpPr>
        <p:spPr>
          <a:xfrm>
            <a:off x="3854972" y="3471644"/>
            <a:ext cx="1655064" cy="257861"/>
          </a:xfrm>
          <a:prstGeom prst="rect">
            <a:avLst/>
          </a:prstGeom>
          <a:noFill/>
          <a:ln/>
        </p:spPr>
        <p:txBody>
          <a:bodyPr wrap="square" lIns="0" tIns="0" rIns="0" bIns="0" rtlCol="0" anchor="ctr"/>
          <a:lstStyle/>
          <a:p>
            <a:pPr marL="0" indent="0" algn="ctr">
              <a:buNone/>
            </a:pPr>
            <a:r>
              <a:rPr lang="en-US" sz="1300" b="1" dirty="0">
                <a:solidFill>
                  <a:srgbClr val="2D3748"/>
                </a:solidFill>
                <a:latin typeface="Roboto Condensed" pitchFamily="34" charset="0"/>
                <a:ea typeface="Roboto Condensed" pitchFamily="34" charset="-122"/>
                <a:cs typeface="Roboto Condensed" pitchFamily="34" charset="-120"/>
              </a:rPr>
              <a:t>Keep Real Path Alive</a:t>
            </a:r>
            <a:endParaRPr lang="en-US" sz="1300" dirty="0"/>
          </a:p>
        </p:txBody>
      </p:sp>
      <p:sp>
        <p:nvSpPr>
          <p:cNvPr id="18" name="Text 13">
            <a:extLst>
              <a:ext uri="{FF2B5EF4-FFF2-40B4-BE49-F238E27FC236}">
                <a16:creationId xmlns:a16="http://schemas.microsoft.com/office/drawing/2014/main" id="{F5299579-2686-12DE-666A-2E0496C1EEE2}"/>
              </a:ext>
            </a:extLst>
          </p:cNvPr>
          <p:cNvSpPr txBox="1"/>
          <p:nvPr/>
        </p:nvSpPr>
        <p:spPr>
          <a:xfrm>
            <a:off x="3596197" y="3799914"/>
            <a:ext cx="2171700" cy="562356"/>
          </a:xfrm>
          <a:prstGeom prst="rect">
            <a:avLst/>
          </a:prstGeom>
          <a:noFill/>
          <a:ln/>
        </p:spPr>
        <p:txBody>
          <a:bodyPr wrap="square" lIns="0" tIns="0" rIns="0" bIns="0" rtlCol="0" anchor="ctr"/>
          <a:lstStyle/>
          <a:p>
            <a:pPr marL="0" indent="0" algn="ctr">
              <a:buNone/>
            </a:pPr>
            <a:r>
              <a:rPr lang="en-US" sz="1000" dirty="0">
                <a:solidFill>
                  <a:srgbClr val="4A5568"/>
                </a:solidFill>
                <a:latin typeface="Raleway" pitchFamily="34" charset="0"/>
                <a:ea typeface="Raleway" pitchFamily="34" charset="-122"/>
                <a:cs typeface="Raleway" pitchFamily="34" charset="-120"/>
              </a:rPr>
              <a:t> Always maintain </a:t>
            </a:r>
            <a:r>
              <a:rPr lang="en-US" sz="1000" b="1" dirty="0">
                <a:solidFill>
                  <a:srgbClr val="3B82F6"/>
                </a:solidFill>
                <a:latin typeface="Raleway" pitchFamily="34" charset="0"/>
                <a:ea typeface="Raleway" pitchFamily="34" charset="-122"/>
                <a:cs typeface="Raleway" pitchFamily="34" charset="-120"/>
              </a:rPr>
              <a:t>one real integration path</a:t>
            </a:r>
            <a:r>
              <a:rPr lang="en-US" sz="1000" dirty="0">
                <a:solidFill>
                  <a:srgbClr val="4A5568"/>
                </a:solidFill>
                <a:latin typeface="Raleway" pitchFamily="34" charset="0"/>
                <a:ea typeface="Raleway" pitchFamily="34" charset="-122"/>
                <a:cs typeface="Raleway" pitchFamily="34" charset="-120"/>
              </a:rPr>
              <a:t> available for validation and testing purposes. </a:t>
            </a:r>
            <a:endParaRPr lang="en-US" sz="1000" dirty="0"/>
          </a:p>
        </p:txBody>
      </p:sp>
      <p:sp>
        <p:nvSpPr>
          <p:cNvPr id="19" name="Shape 15">
            <a:extLst>
              <a:ext uri="{FF2B5EF4-FFF2-40B4-BE49-F238E27FC236}">
                <a16:creationId xmlns:a16="http://schemas.microsoft.com/office/drawing/2014/main" id="{19C5D89E-F6A7-2185-0AE7-22D4C9E2BA77}"/>
              </a:ext>
            </a:extLst>
          </p:cNvPr>
          <p:cNvSpPr/>
          <p:nvPr/>
        </p:nvSpPr>
        <p:spPr>
          <a:xfrm>
            <a:off x="6196751" y="2472204"/>
            <a:ext cx="2572207" cy="2307613"/>
          </a:xfrm>
          <a:prstGeom prst="roundRect">
            <a:avLst>
              <a:gd name="adj" fmla="val 3160"/>
            </a:avLst>
          </a:prstGeom>
          <a:solidFill>
            <a:srgbClr val="FFFFFF"/>
          </a:solidFill>
          <a:ln w="12700">
            <a:solidFill>
              <a:srgbClr val="E2E8F0"/>
            </a:solidFill>
            <a:prstDash val="solid"/>
          </a:ln>
        </p:spPr>
        <p:txBody>
          <a:bodyPr/>
          <a:lstStyle/>
          <a:p>
            <a:endParaRPr lang="en-US"/>
          </a:p>
        </p:txBody>
      </p:sp>
      <p:sp>
        <p:nvSpPr>
          <p:cNvPr id="20" name="Shape 16">
            <a:extLst>
              <a:ext uri="{FF2B5EF4-FFF2-40B4-BE49-F238E27FC236}">
                <a16:creationId xmlns:a16="http://schemas.microsoft.com/office/drawing/2014/main" id="{A60D9DF8-65AA-C819-93AE-22A96BFD6C22}"/>
              </a:ext>
            </a:extLst>
          </p:cNvPr>
          <p:cNvSpPr/>
          <p:nvPr/>
        </p:nvSpPr>
        <p:spPr>
          <a:xfrm>
            <a:off x="7177902" y="2709949"/>
            <a:ext cx="609905" cy="609905"/>
          </a:xfrm>
          <a:prstGeom prst="ellipse">
            <a:avLst/>
          </a:prstGeom>
          <a:solidFill>
            <a:srgbClr val="8B5CF6"/>
          </a:solidFill>
          <a:ln w="12700">
            <a:solidFill>
              <a:srgbClr val="FFFFFF">
                <a:alpha val="0"/>
              </a:srgbClr>
            </a:solidFill>
            <a:prstDash val="solid"/>
          </a:ln>
        </p:spPr>
        <p:txBody>
          <a:bodyPr/>
          <a:lstStyle/>
          <a:p>
            <a:endParaRPr lang="en-US"/>
          </a:p>
        </p:txBody>
      </p:sp>
      <p:pic>
        <p:nvPicPr>
          <p:cNvPr id="21" name="Image 3" descr="preencoded.png">
            <a:extLst>
              <a:ext uri="{FF2B5EF4-FFF2-40B4-BE49-F238E27FC236}">
                <a16:creationId xmlns:a16="http://schemas.microsoft.com/office/drawing/2014/main" id="{CBE0C1D7-3364-3FC5-3778-DA7608D7F727}"/>
              </a:ext>
            </a:extLst>
          </p:cNvPr>
          <p:cNvPicPr>
            <a:picLocks noChangeAspect="1"/>
          </p:cNvPicPr>
          <p:nvPr/>
        </p:nvPicPr>
        <p:blipFill>
          <a:blip r:embed="rId5"/>
          <a:srcRect t="-45" b="-45"/>
          <a:stretch/>
        </p:blipFill>
        <p:spPr>
          <a:xfrm>
            <a:off x="7353467" y="2900144"/>
            <a:ext cx="256946" cy="228600"/>
          </a:xfrm>
          <a:prstGeom prst="rect">
            <a:avLst/>
          </a:prstGeom>
        </p:spPr>
      </p:pic>
      <p:sp>
        <p:nvSpPr>
          <p:cNvPr id="22" name="Text 17">
            <a:extLst>
              <a:ext uri="{FF2B5EF4-FFF2-40B4-BE49-F238E27FC236}">
                <a16:creationId xmlns:a16="http://schemas.microsoft.com/office/drawing/2014/main" id="{EADDDC1F-3E47-BC75-2BA4-048C85199DC1}"/>
              </a:ext>
            </a:extLst>
          </p:cNvPr>
          <p:cNvSpPr txBox="1"/>
          <p:nvPr/>
        </p:nvSpPr>
        <p:spPr>
          <a:xfrm>
            <a:off x="6685955" y="3471644"/>
            <a:ext cx="1598371" cy="257861"/>
          </a:xfrm>
          <a:prstGeom prst="rect">
            <a:avLst/>
          </a:prstGeom>
          <a:noFill/>
          <a:ln/>
        </p:spPr>
        <p:txBody>
          <a:bodyPr wrap="square" lIns="0" tIns="0" rIns="0" bIns="0" rtlCol="0" anchor="ctr"/>
          <a:lstStyle/>
          <a:p>
            <a:pPr marL="0" indent="0" algn="ctr">
              <a:buNone/>
            </a:pPr>
            <a:r>
              <a:rPr lang="en-US" sz="1300" b="1" dirty="0">
                <a:solidFill>
                  <a:srgbClr val="2D3748"/>
                </a:solidFill>
                <a:latin typeface="Roboto Condensed" pitchFamily="34" charset="0"/>
                <a:ea typeface="Roboto Condensed" pitchFamily="34" charset="-122"/>
                <a:cs typeface="Roboto Condensed" pitchFamily="34" charset="-120"/>
              </a:rPr>
              <a:t>Make State Obvious</a:t>
            </a:r>
            <a:endParaRPr lang="en-US" sz="1300" dirty="0"/>
          </a:p>
        </p:txBody>
      </p:sp>
      <p:sp>
        <p:nvSpPr>
          <p:cNvPr id="23" name="Text 18">
            <a:extLst>
              <a:ext uri="{FF2B5EF4-FFF2-40B4-BE49-F238E27FC236}">
                <a16:creationId xmlns:a16="http://schemas.microsoft.com/office/drawing/2014/main" id="{865392A7-3AA9-7EE3-F2F2-0F34385EDC36}"/>
              </a:ext>
            </a:extLst>
          </p:cNvPr>
          <p:cNvSpPr txBox="1"/>
          <p:nvPr/>
        </p:nvSpPr>
        <p:spPr>
          <a:xfrm>
            <a:off x="6396090" y="3761509"/>
            <a:ext cx="2171700" cy="590702"/>
          </a:xfrm>
          <a:prstGeom prst="rect">
            <a:avLst/>
          </a:prstGeom>
          <a:noFill/>
          <a:ln/>
        </p:spPr>
        <p:txBody>
          <a:bodyPr wrap="square" lIns="0" tIns="0" rIns="0" bIns="0" rtlCol="0" anchor="ctr"/>
          <a:lstStyle/>
          <a:p>
            <a:pPr marL="0" indent="0" algn="ctr">
              <a:buNone/>
            </a:pPr>
            <a:r>
              <a:rPr lang="en-US" sz="1000" b="1" dirty="0">
                <a:solidFill>
                  <a:srgbClr val="3B82F6"/>
                </a:solidFill>
                <a:latin typeface="Raleway" pitchFamily="34" charset="0"/>
                <a:ea typeface="Raleway" pitchFamily="34" charset="-122"/>
                <a:cs typeface="Raleway" pitchFamily="34" charset="-120"/>
              </a:rPr>
              <a:t>Clear UI warnings</a:t>
            </a:r>
            <a:r>
              <a:rPr lang="en-US" sz="1000" dirty="0">
                <a:solidFill>
                  <a:srgbClr val="4A5568"/>
                </a:solidFill>
                <a:latin typeface="Raleway" pitchFamily="34" charset="0"/>
                <a:ea typeface="Raleway" pitchFamily="34" charset="-122"/>
                <a:cs typeface="Raleway" pitchFamily="34" charset="-120"/>
              </a:rPr>
              <a:t> for system state help developers understand when they're using mocked vs real data. </a:t>
            </a:r>
            <a:endParaRPr lang="en-US" sz="1000" dirty="0"/>
          </a:p>
        </p:txBody>
      </p:sp>
      <p:sp>
        <p:nvSpPr>
          <p:cNvPr id="24" name="Shape 20">
            <a:extLst>
              <a:ext uri="{FF2B5EF4-FFF2-40B4-BE49-F238E27FC236}">
                <a16:creationId xmlns:a16="http://schemas.microsoft.com/office/drawing/2014/main" id="{1B4E24F1-C76A-512E-F4EE-3E92C8A79FCD}"/>
              </a:ext>
            </a:extLst>
          </p:cNvPr>
          <p:cNvSpPr/>
          <p:nvPr/>
        </p:nvSpPr>
        <p:spPr>
          <a:xfrm>
            <a:off x="8996644" y="2472204"/>
            <a:ext cx="2572207" cy="2307613"/>
          </a:xfrm>
          <a:prstGeom prst="roundRect">
            <a:avLst>
              <a:gd name="adj" fmla="val 3160"/>
            </a:avLst>
          </a:prstGeom>
          <a:solidFill>
            <a:srgbClr val="FFFFFF"/>
          </a:solidFill>
          <a:ln w="12700">
            <a:solidFill>
              <a:srgbClr val="E2E8F0"/>
            </a:solidFill>
            <a:prstDash val="solid"/>
          </a:ln>
        </p:spPr>
        <p:txBody>
          <a:bodyPr/>
          <a:lstStyle/>
          <a:p>
            <a:endParaRPr lang="en-US"/>
          </a:p>
        </p:txBody>
      </p:sp>
      <p:sp>
        <p:nvSpPr>
          <p:cNvPr id="25" name="Shape 21">
            <a:extLst>
              <a:ext uri="{FF2B5EF4-FFF2-40B4-BE49-F238E27FC236}">
                <a16:creationId xmlns:a16="http://schemas.microsoft.com/office/drawing/2014/main" id="{E610F7CB-3CDA-CBEF-1FB4-CCC6ECE1C298}"/>
              </a:ext>
            </a:extLst>
          </p:cNvPr>
          <p:cNvSpPr/>
          <p:nvPr/>
        </p:nvSpPr>
        <p:spPr>
          <a:xfrm>
            <a:off x="9977795" y="2709949"/>
            <a:ext cx="609905" cy="609905"/>
          </a:xfrm>
          <a:prstGeom prst="ellipse">
            <a:avLst/>
          </a:prstGeom>
          <a:solidFill>
            <a:srgbClr val="F97316"/>
          </a:solidFill>
          <a:ln w="12700">
            <a:solidFill>
              <a:srgbClr val="FFFFFF">
                <a:alpha val="0"/>
              </a:srgbClr>
            </a:solidFill>
            <a:prstDash val="solid"/>
          </a:ln>
        </p:spPr>
        <p:txBody>
          <a:bodyPr/>
          <a:lstStyle/>
          <a:p>
            <a:endParaRPr lang="en-US"/>
          </a:p>
        </p:txBody>
      </p:sp>
      <p:pic>
        <p:nvPicPr>
          <p:cNvPr id="26" name="Image 4" descr="preencoded.png">
            <a:extLst>
              <a:ext uri="{FF2B5EF4-FFF2-40B4-BE49-F238E27FC236}">
                <a16:creationId xmlns:a16="http://schemas.microsoft.com/office/drawing/2014/main" id="{6B446B20-6351-65D5-8837-92AD7350FAF9}"/>
              </a:ext>
            </a:extLst>
          </p:cNvPr>
          <p:cNvPicPr>
            <a:picLocks noChangeAspect="1"/>
          </p:cNvPicPr>
          <p:nvPr/>
        </p:nvPicPr>
        <p:blipFill>
          <a:blip r:embed="rId6"/>
          <a:srcRect l="-57" r="-57"/>
          <a:stretch/>
        </p:blipFill>
        <p:spPr>
          <a:xfrm>
            <a:off x="10182620" y="2900144"/>
            <a:ext cx="200254" cy="228600"/>
          </a:xfrm>
          <a:prstGeom prst="rect">
            <a:avLst/>
          </a:prstGeom>
        </p:spPr>
      </p:pic>
      <p:sp>
        <p:nvSpPr>
          <p:cNvPr id="27" name="Text 22">
            <a:extLst>
              <a:ext uri="{FF2B5EF4-FFF2-40B4-BE49-F238E27FC236}">
                <a16:creationId xmlns:a16="http://schemas.microsoft.com/office/drawing/2014/main" id="{2B415ED5-102A-2070-157D-67617603B519}"/>
              </a:ext>
            </a:extLst>
          </p:cNvPr>
          <p:cNvSpPr txBox="1"/>
          <p:nvPr/>
        </p:nvSpPr>
        <p:spPr>
          <a:xfrm>
            <a:off x="9626665" y="3471644"/>
            <a:ext cx="1314907" cy="257861"/>
          </a:xfrm>
          <a:prstGeom prst="rect">
            <a:avLst/>
          </a:prstGeom>
          <a:noFill/>
          <a:ln/>
        </p:spPr>
        <p:txBody>
          <a:bodyPr wrap="square" lIns="0" tIns="0" rIns="0" bIns="0" rtlCol="0" anchor="ctr"/>
          <a:lstStyle/>
          <a:p>
            <a:pPr marL="0" indent="0" algn="ctr">
              <a:buNone/>
            </a:pPr>
            <a:r>
              <a:rPr lang="en-US" sz="1300" b="1" dirty="0">
                <a:solidFill>
                  <a:srgbClr val="2D3748"/>
                </a:solidFill>
                <a:latin typeface="Roboto Condensed" pitchFamily="34" charset="0"/>
                <a:ea typeface="Roboto Condensed" pitchFamily="34" charset="-122"/>
                <a:cs typeface="Roboto Condensed" pitchFamily="34" charset="-120"/>
              </a:rPr>
              <a:t>Use Shared Data</a:t>
            </a:r>
            <a:endParaRPr lang="en-US" sz="1300" dirty="0"/>
          </a:p>
        </p:txBody>
      </p:sp>
      <p:sp>
        <p:nvSpPr>
          <p:cNvPr id="28" name="Text 23">
            <a:extLst>
              <a:ext uri="{FF2B5EF4-FFF2-40B4-BE49-F238E27FC236}">
                <a16:creationId xmlns:a16="http://schemas.microsoft.com/office/drawing/2014/main" id="{37383228-1F1E-C919-7709-23EE9FF3A91B}"/>
              </a:ext>
            </a:extLst>
          </p:cNvPr>
          <p:cNvSpPr txBox="1"/>
          <p:nvPr/>
        </p:nvSpPr>
        <p:spPr>
          <a:xfrm>
            <a:off x="9196897" y="3799914"/>
            <a:ext cx="2171700" cy="562356"/>
          </a:xfrm>
          <a:prstGeom prst="rect">
            <a:avLst/>
          </a:prstGeom>
          <a:noFill/>
          <a:ln/>
        </p:spPr>
        <p:txBody>
          <a:bodyPr wrap="square" lIns="0" tIns="0" rIns="0" bIns="0" rtlCol="0" anchor="ctr"/>
          <a:lstStyle/>
          <a:p>
            <a:pPr marL="0" indent="0" algn="ctr">
              <a:buNone/>
            </a:pPr>
            <a:r>
              <a:rPr lang="en-US" sz="1000" b="1" dirty="0">
                <a:solidFill>
                  <a:srgbClr val="3B82F6"/>
                </a:solidFill>
                <a:latin typeface="Raleway" pitchFamily="34" charset="0"/>
                <a:ea typeface="Raleway" pitchFamily="34" charset="-122"/>
                <a:cs typeface="Raleway" pitchFamily="34" charset="-120"/>
              </a:rPr>
              <a:t>Shared real data sources</a:t>
            </a:r>
            <a:r>
              <a:rPr lang="en-US" sz="1000" dirty="0">
                <a:solidFill>
                  <a:srgbClr val="4A5568"/>
                </a:solidFill>
                <a:latin typeface="Raleway" pitchFamily="34" charset="0"/>
                <a:ea typeface="Raleway" pitchFamily="34" charset="-122"/>
                <a:cs typeface="Raleway" pitchFamily="34" charset="-120"/>
              </a:rPr>
              <a:t> prevent drift between local and production environments. </a:t>
            </a:r>
            <a:endParaRPr lang="en-US" sz="1000" dirty="0"/>
          </a:p>
        </p:txBody>
      </p:sp>
      <p:sp>
        <p:nvSpPr>
          <p:cNvPr id="29" name="Shape 25">
            <a:extLst>
              <a:ext uri="{FF2B5EF4-FFF2-40B4-BE49-F238E27FC236}">
                <a16:creationId xmlns:a16="http://schemas.microsoft.com/office/drawing/2014/main" id="{5F92019F-BEC7-7D9C-7FB6-BE02E0C36C41}"/>
              </a:ext>
            </a:extLst>
          </p:cNvPr>
          <p:cNvSpPr/>
          <p:nvPr/>
        </p:nvSpPr>
        <p:spPr>
          <a:xfrm>
            <a:off x="4005848" y="5080654"/>
            <a:ext cx="4381805" cy="400507"/>
          </a:xfrm>
          <a:prstGeom prst="roundRect">
            <a:avLst>
              <a:gd name="adj" fmla="val 86975"/>
            </a:avLst>
          </a:prstGeom>
          <a:solidFill>
            <a:srgbClr val="EFF6FF"/>
          </a:solidFill>
          <a:ln w="12700">
            <a:solidFill>
              <a:srgbClr val="BFDBFE"/>
            </a:solidFill>
            <a:prstDash val="solid"/>
          </a:ln>
        </p:spPr>
        <p:txBody>
          <a:bodyPr/>
          <a:lstStyle/>
          <a:p>
            <a:endParaRPr lang="en-US"/>
          </a:p>
        </p:txBody>
      </p:sp>
      <p:sp>
        <p:nvSpPr>
          <p:cNvPr id="30" name="Text 26">
            <a:extLst>
              <a:ext uri="{FF2B5EF4-FFF2-40B4-BE49-F238E27FC236}">
                <a16:creationId xmlns:a16="http://schemas.microsoft.com/office/drawing/2014/main" id="{8A56FBFD-4442-F70B-9F07-E8B4AF3F05B3}"/>
              </a:ext>
            </a:extLst>
          </p:cNvPr>
          <p:cNvSpPr txBox="1"/>
          <p:nvPr/>
        </p:nvSpPr>
        <p:spPr>
          <a:xfrm>
            <a:off x="4377094" y="5205012"/>
            <a:ext cx="3732582" cy="139903"/>
          </a:xfrm>
          <a:prstGeom prst="rect">
            <a:avLst/>
          </a:prstGeom>
          <a:noFill/>
          <a:ln/>
        </p:spPr>
        <p:txBody>
          <a:bodyPr wrap="square" lIns="0" tIns="0" rIns="0" bIns="0" rtlCol="0" anchor="ctr"/>
          <a:lstStyle/>
          <a:p>
            <a:pPr marL="0" indent="0" algn="l">
              <a:buNone/>
            </a:pPr>
            <a:r>
              <a:rPr lang="en-US" sz="1000" dirty="0">
                <a:solidFill>
                  <a:srgbClr val="1E40AF"/>
                </a:solidFill>
                <a:latin typeface="Raleway" pitchFamily="34" charset="0"/>
                <a:ea typeface="Raleway" pitchFamily="34" charset="-122"/>
                <a:cs typeface="Raleway" pitchFamily="34" charset="-120"/>
              </a:rPr>
              <a:t>Remember: MSW works at network layer, not component layer</a:t>
            </a:r>
            <a:endParaRPr lang="en-US" sz="1000" dirty="0"/>
          </a:p>
        </p:txBody>
      </p:sp>
      <p:pic>
        <p:nvPicPr>
          <p:cNvPr id="31" name="Image 5" descr="preencoded.png">
            <a:extLst>
              <a:ext uri="{FF2B5EF4-FFF2-40B4-BE49-F238E27FC236}">
                <a16:creationId xmlns:a16="http://schemas.microsoft.com/office/drawing/2014/main" id="{139354B9-6803-524A-964A-8CABC9331A99}"/>
              </a:ext>
            </a:extLst>
          </p:cNvPr>
          <p:cNvPicPr>
            <a:picLocks noChangeAspect="1"/>
          </p:cNvPicPr>
          <p:nvPr/>
        </p:nvPicPr>
        <p:blipFill>
          <a:blip r:embed="rId7"/>
          <a:srcRect/>
          <a:stretch/>
        </p:blipFill>
        <p:spPr>
          <a:xfrm>
            <a:off x="4167697" y="5211413"/>
            <a:ext cx="133502" cy="133502"/>
          </a:xfrm>
          <a:prstGeom prst="rect">
            <a:avLst/>
          </a:prstGeom>
        </p:spPr>
      </p:pic>
      <p:pic>
        <p:nvPicPr>
          <p:cNvPr id="33" name="Image 6" descr="preencoded.png">
            <a:extLst>
              <a:ext uri="{FF2B5EF4-FFF2-40B4-BE49-F238E27FC236}">
                <a16:creationId xmlns:a16="http://schemas.microsoft.com/office/drawing/2014/main" id="{EA3AF131-16DD-267A-0051-A05E216307AC}"/>
              </a:ext>
            </a:extLst>
          </p:cNvPr>
          <p:cNvPicPr>
            <a:picLocks noChangeAspect="1"/>
          </p:cNvPicPr>
          <p:nvPr/>
        </p:nvPicPr>
        <p:blipFill>
          <a:blip r:embed="rId8"/>
          <a:srcRect/>
          <a:stretch/>
        </p:blipFill>
        <p:spPr>
          <a:xfrm>
            <a:off x="11354105" y="6096305"/>
            <a:ext cx="457200" cy="457200"/>
          </a:xfrm>
          <a:prstGeom prst="rect">
            <a:avLst/>
          </a:prstGeom>
        </p:spPr>
      </p:pic>
    </p:spTree>
    <p:extLst>
      <p:ext uri="{BB962C8B-B14F-4D97-AF65-F5344CB8AC3E}">
        <p14:creationId xmlns:p14="http://schemas.microsoft.com/office/powerpoint/2010/main" val="428489521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65605-6170-F04E-9633-C88D6F12E222}"/>
              </a:ext>
            </a:extLst>
          </p:cNvPr>
          <p:cNvSpPr>
            <a:spLocks noGrp="1"/>
          </p:cNvSpPr>
          <p:nvPr>
            <p:ph type="title"/>
          </p:nvPr>
        </p:nvSpPr>
        <p:spPr>
          <a:xfrm>
            <a:off x="1382183" y="1627742"/>
            <a:ext cx="5052484" cy="1801258"/>
          </a:xfrm>
        </p:spPr>
        <p:txBody>
          <a:bodyPr/>
          <a:lstStyle/>
          <a:p>
            <a:r>
              <a:rPr lang="en-GB" sz="11500" dirty="0"/>
              <a:t>Thanks!</a:t>
            </a:r>
            <a:endParaRPr lang="en-US" sz="16600" dirty="0"/>
          </a:p>
        </p:txBody>
      </p:sp>
    </p:spTree>
    <p:extLst>
      <p:ext uri="{BB962C8B-B14F-4D97-AF65-F5344CB8AC3E}">
        <p14:creationId xmlns:p14="http://schemas.microsoft.com/office/powerpoint/2010/main" val="34725251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292C-2162-BA0D-9547-5CFE60E2A1D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F8B97A-2FD9-457E-532B-B1DE92E5189C}"/>
              </a:ext>
            </a:extLst>
          </p:cNvPr>
          <p:cNvSpPr>
            <a:spLocks noGrp="1"/>
          </p:cNvSpPr>
          <p:nvPr>
            <p:ph type="sldNum" sz="quarter" idx="12"/>
          </p:nvPr>
        </p:nvSpPr>
        <p:spPr/>
        <p:txBody>
          <a:bodyPr/>
          <a:lstStyle/>
          <a:p>
            <a:fld id="{F01A0BEF-C76D-43A2-874C-09A8674B0D74}" type="slidenum">
              <a:rPr lang="en-GB" smtClean="0"/>
              <a:t>23</a:t>
            </a:fld>
            <a:endParaRPr lang="en-GB"/>
          </a:p>
        </p:txBody>
      </p:sp>
      <p:sp>
        <p:nvSpPr>
          <p:cNvPr id="2" name="Text 4">
            <a:extLst>
              <a:ext uri="{FF2B5EF4-FFF2-40B4-BE49-F238E27FC236}">
                <a16:creationId xmlns:a16="http://schemas.microsoft.com/office/drawing/2014/main" id="{DADE843B-C27C-7703-D909-B8DB7FDB1B18}"/>
              </a:ext>
            </a:extLst>
          </p:cNvPr>
          <p:cNvSpPr txBox="1"/>
          <p:nvPr/>
        </p:nvSpPr>
        <p:spPr>
          <a:xfrm>
            <a:off x="609905" y="761695"/>
            <a:ext cx="11163910" cy="609905"/>
          </a:xfrm>
          <a:prstGeom prst="rect">
            <a:avLst/>
          </a:prstGeom>
          <a:noFill/>
          <a:ln/>
        </p:spPr>
        <p:txBody>
          <a:bodyPr wrap="square" lIns="0" tIns="0" rIns="0" bIns="0" rtlCol="0" anchor="ctr"/>
          <a:lstStyle/>
          <a:p>
            <a:pPr marL="0" indent="0" algn="l">
              <a:buNone/>
            </a:pPr>
            <a:r>
              <a:rPr lang="en-US" sz="4800" b="1" kern="0" spc="75" dirty="0">
                <a:solidFill>
                  <a:srgbClr val="091044"/>
                </a:solidFill>
                <a:latin typeface="Roboto Condensed" pitchFamily="34" charset="0"/>
                <a:ea typeface="Roboto Condensed" pitchFamily="34" charset="-122"/>
                <a:cs typeface="Roboto Condensed" pitchFamily="34" charset="-120"/>
              </a:rPr>
              <a:t>Q&amp;A</a:t>
            </a:r>
            <a:endParaRPr lang="en-US" sz="4800" dirty="0">
              <a:solidFill>
                <a:srgbClr val="091044"/>
              </a:solidFill>
            </a:endParaRPr>
          </a:p>
        </p:txBody>
      </p:sp>
      <p:sp>
        <p:nvSpPr>
          <p:cNvPr id="3" name="Text 5">
            <a:extLst>
              <a:ext uri="{FF2B5EF4-FFF2-40B4-BE49-F238E27FC236}">
                <a16:creationId xmlns:a16="http://schemas.microsoft.com/office/drawing/2014/main" id="{E7EB12CE-DF0A-0ADE-7A29-AF78D12313CF}"/>
              </a:ext>
            </a:extLst>
          </p:cNvPr>
          <p:cNvSpPr txBox="1"/>
          <p:nvPr/>
        </p:nvSpPr>
        <p:spPr>
          <a:xfrm>
            <a:off x="609905" y="1447495"/>
            <a:ext cx="11087100" cy="267005"/>
          </a:xfrm>
          <a:prstGeom prst="rect">
            <a:avLst/>
          </a:prstGeom>
          <a:noFill/>
          <a:ln/>
        </p:spPr>
        <p:txBody>
          <a:bodyPr wrap="square" lIns="0" tIns="0" rIns="0" bIns="0" rtlCol="0" anchor="ctr"/>
          <a:lstStyle/>
          <a:p>
            <a:pPr marL="0" indent="0" algn="l">
              <a:buNone/>
            </a:pPr>
            <a:r>
              <a:rPr lang="en-US" sz="1300" dirty="0">
                <a:solidFill>
                  <a:srgbClr val="4B5563"/>
                </a:solidFill>
                <a:latin typeface="Raleway" pitchFamily="34" charset="0"/>
                <a:ea typeface="Raleway" pitchFamily="34" charset="-122"/>
                <a:cs typeface="Raleway" pitchFamily="34" charset="-120"/>
              </a:rPr>
              <a:t>Questions? Here are some resources to help you get started with MSW.</a:t>
            </a:r>
            <a:endParaRPr lang="en-US" sz="1300" dirty="0"/>
          </a:p>
        </p:txBody>
      </p:sp>
      <p:sp>
        <p:nvSpPr>
          <p:cNvPr id="5" name="Shape 6">
            <a:extLst>
              <a:ext uri="{FF2B5EF4-FFF2-40B4-BE49-F238E27FC236}">
                <a16:creationId xmlns:a16="http://schemas.microsoft.com/office/drawing/2014/main" id="{7717D7E8-DA94-CCD2-A2D7-930C980E2130}"/>
              </a:ext>
            </a:extLst>
          </p:cNvPr>
          <p:cNvSpPr/>
          <p:nvPr/>
        </p:nvSpPr>
        <p:spPr>
          <a:xfrm>
            <a:off x="609905" y="1943100"/>
            <a:ext cx="5372100" cy="1086307"/>
          </a:xfrm>
          <a:prstGeom prst="roundRect">
            <a:avLst>
              <a:gd name="adj" fmla="val 17721"/>
            </a:avLst>
          </a:prstGeom>
          <a:solidFill>
            <a:srgbClr val="FFFFFF"/>
          </a:solidFill>
          <a:ln w="12700">
            <a:solidFill>
              <a:srgbClr val="E2E8F0"/>
            </a:solidFill>
            <a:prstDash val="solid"/>
          </a:ln>
        </p:spPr>
        <p:txBody>
          <a:bodyPr/>
          <a:lstStyle/>
          <a:p>
            <a:endParaRPr lang="en-US"/>
          </a:p>
        </p:txBody>
      </p:sp>
      <p:sp>
        <p:nvSpPr>
          <p:cNvPr id="6" name="Shape 7">
            <a:extLst>
              <a:ext uri="{FF2B5EF4-FFF2-40B4-BE49-F238E27FC236}">
                <a16:creationId xmlns:a16="http://schemas.microsoft.com/office/drawing/2014/main" id="{39BC95A9-10F7-FC37-1660-5E05A4716F21}"/>
              </a:ext>
            </a:extLst>
          </p:cNvPr>
          <p:cNvSpPr/>
          <p:nvPr/>
        </p:nvSpPr>
        <p:spPr>
          <a:xfrm>
            <a:off x="809244" y="2143354"/>
            <a:ext cx="381305" cy="381305"/>
          </a:xfrm>
          <a:prstGeom prst="ellipse">
            <a:avLst/>
          </a:prstGeom>
          <a:solidFill>
            <a:srgbClr val="DBEAFE"/>
          </a:solidFill>
          <a:ln w="12700">
            <a:solidFill>
              <a:srgbClr val="FFFFFF">
                <a:alpha val="0"/>
              </a:srgbClr>
            </a:solidFill>
            <a:prstDash val="solid"/>
          </a:ln>
        </p:spPr>
        <p:txBody>
          <a:bodyPr/>
          <a:lstStyle/>
          <a:p>
            <a:endParaRPr lang="en-US"/>
          </a:p>
        </p:txBody>
      </p:sp>
      <p:pic>
        <p:nvPicPr>
          <p:cNvPr id="7" name="Image 1" descr="preencoded.png">
            <a:extLst>
              <a:ext uri="{FF2B5EF4-FFF2-40B4-BE49-F238E27FC236}">
                <a16:creationId xmlns:a16="http://schemas.microsoft.com/office/drawing/2014/main" id="{610CCB6D-9D5E-F9CD-751A-8603764FD0B4}"/>
              </a:ext>
            </a:extLst>
          </p:cNvPr>
          <p:cNvPicPr>
            <a:picLocks noChangeAspect="1"/>
          </p:cNvPicPr>
          <p:nvPr/>
        </p:nvPicPr>
        <p:blipFill>
          <a:blip r:embed="rId3"/>
          <a:srcRect t="-1087" b="-1087"/>
          <a:stretch/>
        </p:blipFill>
        <p:spPr>
          <a:xfrm>
            <a:off x="947318" y="2247595"/>
            <a:ext cx="105156" cy="171907"/>
          </a:xfrm>
          <a:prstGeom prst="rect">
            <a:avLst/>
          </a:prstGeom>
        </p:spPr>
      </p:pic>
      <p:sp>
        <p:nvSpPr>
          <p:cNvPr id="8" name="Text 8">
            <a:extLst>
              <a:ext uri="{FF2B5EF4-FFF2-40B4-BE49-F238E27FC236}">
                <a16:creationId xmlns:a16="http://schemas.microsoft.com/office/drawing/2014/main" id="{1923A876-C15C-675D-F1A2-CA4D646058BA}"/>
              </a:ext>
            </a:extLst>
          </p:cNvPr>
          <p:cNvSpPr txBox="1"/>
          <p:nvPr/>
        </p:nvSpPr>
        <p:spPr>
          <a:xfrm>
            <a:off x="1304849" y="2143354"/>
            <a:ext cx="31720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Common Questions</a:t>
            </a:r>
            <a:endParaRPr lang="en-US" sz="1200" dirty="0"/>
          </a:p>
        </p:txBody>
      </p:sp>
      <p:sp>
        <p:nvSpPr>
          <p:cNvPr id="9" name="Text 9">
            <a:extLst>
              <a:ext uri="{FF2B5EF4-FFF2-40B4-BE49-F238E27FC236}">
                <a16:creationId xmlns:a16="http://schemas.microsoft.com/office/drawing/2014/main" id="{5F5DE4F3-39BB-FFE3-4DC9-9A7A152739D1}"/>
              </a:ext>
            </a:extLst>
          </p:cNvPr>
          <p:cNvSpPr txBox="1"/>
          <p:nvPr/>
        </p:nvSpPr>
        <p:spPr>
          <a:xfrm>
            <a:off x="1304849" y="2409444"/>
            <a:ext cx="3631082"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How does MSW compare to other mocking tools?</a:t>
            </a:r>
            <a:endParaRPr lang="en-US" sz="1000" dirty="0"/>
          </a:p>
        </p:txBody>
      </p:sp>
      <p:sp>
        <p:nvSpPr>
          <p:cNvPr id="10" name="Text 10">
            <a:extLst>
              <a:ext uri="{FF2B5EF4-FFF2-40B4-BE49-F238E27FC236}">
                <a16:creationId xmlns:a16="http://schemas.microsoft.com/office/drawing/2014/main" id="{1F8D0FF5-7D84-26EF-1F54-61DAD0322153}"/>
              </a:ext>
            </a:extLst>
          </p:cNvPr>
          <p:cNvSpPr txBox="1"/>
          <p:nvPr/>
        </p:nvSpPr>
        <p:spPr>
          <a:xfrm>
            <a:off x="1485900" y="2676449"/>
            <a:ext cx="81930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Network layer</a:t>
            </a:r>
            <a:endParaRPr lang="en-US" sz="900" dirty="0"/>
          </a:p>
        </p:txBody>
      </p:sp>
      <p:pic>
        <p:nvPicPr>
          <p:cNvPr id="11" name="Image 2" descr="preencoded.png">
            <a:extLst>
              <a:ext uri="{FF2B5EF4-FFF2-40B4-BE49-F238E27FC236}">
                <a16:creationId xmlns:a16="http://schemas.microsoft.com/office/drawing/2014/main" id="{51A0D1F1-82C0-996E-953D-D83D124BF376}"/>
              </a:ext>
            </a:extLst>
          </p:cNvPr>
          <p:cNvPicPr>
            <a:picLocks noChangeAspect="1"/>
          </p:cNvPicPr>
          <p:nvPr/>
        </p:nvPicPr>
        <p:blipFill>
          <a:blip r:embed="rId4"/>
          <a:srcRect/>
          <a:stretch/>
        </p:blipFill>
        <p:spPr>
          <a:xfrm>
            <a:off x="1304849" y="2691079"/>
            <a:ext cx="114300" cy="114300"/>
          </a:xfrm>
          <a:prstGeom prst="rect">
            <a:avLst/>
          </a:prstGeom>
        </p:spPr>
      </p:pic>
      <p:sp>
        <p:nvSpPr>
          <p:cNvPr id="12" name="Text 11">
            <a:extLst>
              <a:ext uri="{FF2B5EF4-FFF2-40B4-BE49-F238E27FC236}">
                <a16:creationId xmlns:a16="http://schemas.microsoft.com/office/drawing/2014/main" id="{0F71711A-BC44-964D-34B0-73BB575394F9}"/>
              </a:ext>
            </a:extLst>
          </p:cNvPr>
          <p:cNvSpPr txBox="1"/>
          <p:nvPr/>
        </p:nvSpPr>
        <p:spPr>
          <a:xfrm>
            <a:off x="2559406" y="2676449"/>
            <a:ext cx="943661"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Browser &amp; Node</a:t>
            </a:r>
            <a:endParaRPr lang="en-US" sz="900" dirty="0"/>
          </a:p>
        </p:txBody>
      </p:sp>
      <p:pic>
        <p:nvPicPr>
          <p:cNvPr id="13" name="Image 3" descr="preencoded.png">
            <a:extLst>
              <a:ext uri="{FF2B5EF4-FFF2-40B4-BE49-F238E27FC236}">
                <a16:creationId xmlns:a16="http://schemas.microsoft.com/office/drawing/2014/main" id="{8942CFBB-2C5F-5FAA-E4F5-B3416ABF311D}"/>
              </a:ext>
            </a:extLst>
          </p:cNvPr>
          <p:cNvPicPr>
            <a:picLocks noChangeAspect="1"/>
          </p:cNvPicPr>
          <p:nvPr/>
        </p:nvPicPr>
        <p:blipFill>
          <a:blip r:embed="rId4"/>
          <a:srcRect/>
          <a:stretch/>
        </p:blipFill>
        <p:spPr>
          <a:xfrm>
            <a:off x="2378354" y="2691079"/>
            <a:ext cx="114300" cy="114300"/>
          </a:xfrm>
          <a:prstGeom prst="rect">
            <a:avLst/>
          </a:prstGeom>
        </p:spPr>
      </p:pic>
      <p:sp>
        <p:nvSpPr>
          <p:cNvPr id="14" name="Shape 12">
            <a:extLst>
              <a:ext uri="{FF2B5EF4-FFF2-40B4-BE49-F238E27FC236}">
                <a16:creationId xmlns:a16="http://schemas.microsoft.com/office/drawing/2014/main" id="{2FA24E12-2F59-6B19-4630-82C18768DA3A}"/>
              </a:ext>
            </a:extLst>
          </p:cNvPr>
          <p:cNvSpPr/>
          <p:nvPr/>
        </p:nvSpPr>
        <p:spPr>
          <a:xfrm>
            <a:off x="609905" y="3181198"/>
            <a:ext cx="5372100" cy="1086307"/>
          </a:xfrm>
          <a:prstGeom prst="roundRect">
            <a:avLst>
              <a:gd name="adj" fmla="val 17721"/>
            </a:avLst>
          </a:prstGeom>
          <a:solidFill>
            <a:srgbClr val="FFFFFF"/>
          </a:solidFill>
          <a:ln w="12700">
            <a:solidFill>
              <a:srgbClr val="E2E8F0"/>
            </a:solidFill>
            <a:prstDash val="solid"/>
          </a:ln>
        </p:spPr>
        <p:txBody>
          <a:bodyPr/>
          <a:lstStyle/>
          <a:p>
            <a:endParaRPr lang="en-US"/>
          </a:p>
        </p:txBody>
      </p:sp>
      <p:sp>
        <p:nvSpPr>
          <p:cNvPr id="15" name="Shape 13">
            <a:extLst>
              <a:ext uri="{FF2B5EF4-FFF2-40B4-BE49-F238E27FC236}">
                <a16:creationId xmlns:a16="http://schemas.microsoft.com/office/drawing/2014/main" id="{11939496-5D48-2E90-DB4C-99CFC8F989DB}"/>
              </a:ext>
            </a:extLst>
          </p:cNvPr>
          <p:cNvSpPr/>
          <p:nvPr/>
        </p:nvSpPr>
        <p:spPr>
          <a:xfrm>
            <a:off x="809244" y="3381451"/>
            <a:ext cx="381305" cy="381305"/>
          </a:xfrm>
          <a:prstGeom prst="ellipse">
            <a:avLst/>
          </a:prstGeom>
          <a:solidFill>
            <a:srgbClr val="DCFCE7"/>
          </a:solidFill>
          <a:ln w="12700">
            <a:solidFill>
              <a:srgbClr val="FFFFFF">
                <a:alpha val="0"/>
              </a:srgbClr>
            </a:solidFill>
            <a:prstDash val="solid"/>
          </a:ln>
        </p:spPr>
        <p:txBody>
          <a:bodyPr/>
          <a:lstStyle/>
          <a:p>
            <a:endParaRPr lang="en-US"/>
          </a:p>
        </p:txBody>
      </p:sp>
      <p:pic>
        <p:nvPicPr>
          <p:cNvPr id="16" name="Image 4" descr="preencoded.png">
            <a:extLst>
              <a:ext uri="{FF2B5EF4-FFF2-40B4-BE49-F238E27FC236}">
                <a16:creationId xmlns:a16="http://schemas.microsoft.com/office/drawing/2014/main" id="{FBE3FF39-6E50-6304-451C-FA758FB960E4}"/>
              </a:ext>
            </a:extLst>
          </p:cNvPr>
          <p:cNvPicPr>
            <a:picLocks noChangeAspect="1"/>
          </p:cNvPicPr>
          <p:nvPr/>
        </p:nvPicPr>
        <p:blipFill>
          <a:blip r:embed="rId5"/>
          <a:srcRect l="-1773" r="-1773"/>
          <a:stretch/>
        </p:blipFill>
        <p:spPr>
          <a:xfrm>
            <a:off x="933602" y="3486607"/>
            <a:ext cx="133502" cy="171907"/>
          </a:xfrm>
          <a:prstGeom prst="rect">
            <a:avLst/>
          </a:prstGeom>
        </p:spPr>
      </p:pic>
      <p:sp>
        <p:nvSpPr>
          <p:cNvPr id="17" name="Text 14">
            <a:extLst>
              <a:ext uri="{FF2B5EF4-FFF2-40B4-BE49-F238E27FC236}">
                <a16:creationId xmlns:a16="http://schemas.microsoft.com/office/drawing/2014/main" id="{863C20C4-E03A-AAC8-C316-6CD22656AE4C}"/>
              </a:ext>
            </a:extLst>
          </p:cNvPr>
          <p:cNvSpPr txBox="1"/>
          <p:nvPr/>
        </p:nvSpPr>
        <p:spPr>
          <a:xfrm>
            <a:off x="1304849" y="3381451"/>
            <a:ext cx="21497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Best Practices</a:t>
            </a:r>
            <a:endParaRPr lang="en-US" sz="1200" dirty="0"/>
          </a:p>
        </p:txBody>
      </p:sp>
      <p:sp>
        <p:nvSpPr>
          <p:cNvPr id="18" name="Text 15">
            <a:extLst>
              <a:ext uri="{FF2B5EF4-FFF2-40B4-BE49-F238E27FC236}">
                <a16:creationId xmlns:a16="http://schemas.microsoft.com/office/drawing/2014/main" id="{B28CAD15-7739-594C-8D13-B27FE9990D09}"/>
              </a:ext>
            </a:extLst>
          </p:cNvPr>
          <p:cNvSpPr txBox="1"/>
          <p:nvPr/>
        </p:nvSpPr>
        <p:spPr>
          <a:xfrm>
            <a:off x="1304849" y="3648456"/>
            <a:ext cx="2459736"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How to maintain scenario quality?</a:t>
            </a:r>
            <a:endParaRPr lang="en-US" sz="1000" dirty="0"/>
          </a:p>
        </p:txBody>
      </p:sp>
      <p:sp>
        <p:nvSpPr>
          <p:cNvPr id="19" name="Text 16">
            <a:extLst>
              <a:ext uri="{FF2B5EF4-FFF2-40B4-BE49-F238E27FC236}">
                <a16:creationId xmlns:a16="http://schemas.microsoft.com/office/drawing/2014/main" id="{061FC873-3A2A-E803-1D19-808B37CB0C61}"/>
              </a:ext>
            </a:extLst>
          </p:cNvPr>
          <p:cNvSpPr txBox="1"/>
          <p:nvPr/>
        </p:nvSpPr>
        <p:spPr>
          <a:xfrm>
            <a:off x="1485900" y="3914546"/>
            <a:ext cx="952805"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Regular updates</a:t>
            </a:r>
            <a:endParaRPr lang="en-US" sz="900" dirty="0"/>
          </a:p>
        </p:txBody>
      </p:sp>
      <p:pic>
        <p:nvPicPr>
          <p:cNvPr id="20" name="Image 5" descr="preencoded.png">
            <a:extLst>
              <a:ext uri="{FF2B5EF4-FFF2-40B4-BE49-F238E27FC236}">
                <a16:creationId xmlns:a16="http://schemas.microsoft.com/office/drawing/2014/main" id="{951ABFF6-A3D0-CF3B-B87F-2982A67B6FAE}"/>
              </a:ext>
            </a:extLst>
          </p:cNvPr>
          <p:cNvPicPr>
            <a:picLocks noChangeAspect="1"/>
          </p:cNvPicPr>
          <p:nvPr/>
        </p:nvPicPr>
        <p:blipFill>
          <a:blip r:embed="rId4"/>
          <a:srcRect/>
          <a:stretch/>
        </p:blipFill>
        <p:spPr>
          <a:xfrm>
            <a:off x="1304849" y="3929177"/>
            <a:ext cx="114300" cy="114300"/>
          </a:xfrm>
          <a:prstGeom prst="rect">
            <a:avLst/>
          </a:prstGeom>
        </p:spPr>
      </p:pic>
      <p:sp>
        <p:nvSpPr>
          <p:cNvPr id="21" name="Text 17">
            <a:extLst>
              <a:ext uri="{FF2B5EF4-FFF2-40B4-BE49-F238E27FC236}">
                <a16:creationId xmlns:a16="http://schemas.microsoft.com/office/drawing/2014/main" id="{3DE973CD-BA56-82C5-8F8A-DE02658231E3}"/>
              </a:ext>
            </a:extLst>
          </p:cNvPr>
          <p:cNvSpPr txBox="1"/>
          <p:nvPr/>
        </p:nvSpPr>
        <p:spPr>
          <a:xfrm>
            <a:off x="2686507" y="3914546"/>
            <a:ext cx="746150"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Team review</a:t>
            </a:r>
            <a:endParaRPr lang="en-US" sz="900" dirty="0"/>
          </a:p>
        </p:txBody>
      </p:sp>
      <p:pic>
        <p:nvPicPr>
          <p:cNvPr id="22" name="Image 6" descr="preencoded.png">
            <a:extLst>
              <a:ext uri="{FF2B5EF4-FFF2-40B4-BE49-F238E27FC236}">
                <a16:creationId xmlns:a16="http://schemas.microsoft.com/office/drawing/2014/main" id="{86ADB843-779F-C5E8-950D-6CD181636512}"/>
              </a:ext>
            </a:extLst>
          </p:cNvPr>
          <p:cNvPicPr>
            <a:picLocks noChangeAspect="1"/>
          </p:cNvPicPr>
          <p:nvPr/>
        </p:nvPicPr>
        <p:blipFill>
          <a:blip r:embed="rId4"/>
          <a:srcRect/>
          <a:stretch/>
        </p:blipFill>
        <p:spPr>
          <a:xfrm>
            <a:off x="2508199" y="3929177"/>
            <a:ext cx="114300" cy="114300"/>
          </a:xfrm>
          <a:prstGeom prst="rect">
            <a:avLst/>
          </a:prstGeom>
        </p:spPr>
      </p:pic>
      <p:sp>
        <p:nvSpPr>
          <p:cNvPr id="23" name="Shape 18">
            <a:extLst>
              <a:ext uri="{FF2B5EF4-FFF2-40B4-BE49-F238E27FC236}">
                <a16:creationId xmlns:a16="http://schemas.microsoft.com/office/drawing/2014/main" id="{34132DA4-BDB1-FAC2-9E04-2C464BC4F702}"/>
              </a:ext>
            </a:extLst>
          </p:cNvPr>
          <p:cNvSpPr/>
          <p:nvPr/>
        </p:nvSpPr>
        <p:spPr>
          <a:xfrm>
            <a:off x="609905" y="4419295"/>
            <a:ext cx="5372100" cy="1086307"/>
          </a:xfrm>
          <a:prstGeom prst="roundRect">
            <a:avLst>
              <a:gd name="adj" fmla="val 17721"/>
            </a:avLst>
          </a:prstGeom>
          <a:solidFill>
            <a:srgbClr val="FFFFFF"/>
          </a:solidFill>
          <a:ln w="12700">
            <a:solidFill>
              <a:srgbClr val="E2E8F0"/>
            </a:solidFill>
            <a:prstDash val="solid"/>
          </a:ln>
        </p:spPr>
        <p:txBody>
          <a:bodyPr/>
          <a:lstStyle/>
          <a:p>
            <a:endParaRPr lang="en-US"/>
          </a:p>
        </p:txBody>
      </p:sp>
      <p:sp>
        <p:nvSpPr>
          <p:cNvPr id="24" name="Shape 19">
            <a:extLst>
              <a:ext uri="{FF2B5EF4-FFF2-40B4-BE49-F238E27FC236}">
                <a16:creationId xmlns:a16="http://schemas.microsoft.com/office/drawing/2014/main" id="{E0E33538-7FFA-87C6-6D99-6D9777555324}"/>
              </a:ext>
            </a:extLst>
          </p:cNvPr>
          <p:cNvSpPr/>
          <p:nvPr/>
        </p:nvSpPr>
        <p:spPr>
          <a:xfrm>
            <a:off x="809244" y="4619549"/>
            <a:ext cx="381305" cy="381305"/>
          </a:xfrm>
          <a:prstGeom prst="ellipse">
            <a:avLst/>
          </a:prstGeom>
          <a:solidFill>
            <a:srgbClr val="F3E8FF"/>
          </a:solidFill>
          <a:ln w="12700">
            <a:solidFill>
              <a:srgbClr val="FFFFFF">
                <a:alpha val="0"/>
              </a:srgbClr>
            </a:solidFill>
            <a:prstDash val="solid"/>
          </a:ln>
        </p:spPr>
        <p:txBody>
          <a:bodyPr/>
          <a:lstStyle/>
          <a:p>
            <a:endParaRPr lang="en-US"/>
          </a:p>
        </p:txBody>
      </p:sp>
      <p:pic>
        <p:nvPicPr>
          <p:cNvPr id="25" name="Image 7" descr="preencoded.png">
            <a:extLst>
              <a:ext uri="{FF2B5EF4-FFF2-40B4-BE49-F238E27FC236}">
                <a16:creationId xmlns:a16="http://schemas.microsoft.com/office/drawing/2014/main" id="{3C848D7D-4C20-4B19-89BE-9C9085BFFFED}"/>
              </a:ext>
            </a:extLst>
          </p:cNvPr>
          <p:cNvPicPr>
            <a:picLocks noChangeAspect="1"/>
          </p:cNvPicPr>
          <p:nvPr/>
        </p:nvPicPr>
        <p:blipFill>
          <a:blip r:embed="rId6"/>
          <a:srcRect l="-1064" r="-1064"/>
          <a:stretch/>
        </p:blipFill>
        <p:spPr>
          <a:xfrm>
            <a:off x="890626" y="4724705"/>
            <a:ext cx="219456" cy="171907"/>
          </a:xfrm>
          <a:prstGeom prst="rect">
            <a:avLst/>
          </a:prstGeom>
        </p:spPr>
      </p:pic>
      <p:sp>
        <p:nvSpPr>
          <p:cNvPr id="26" name="Text 20">
            <a:extLst>
              <a:ext uri="{FF2B5EF4-FFF2-40B4-BE49-F238E27FC236}">
                <a16:creationId xmlns:a16="http://schemas.microsoft.com/office/drawing/2014/main" id="{1067F6D3-4933-0F5F-C529-6C488F5E6F56}"/>
              </a:ext>
            </a:extLst>
          </p:cNvPr>
          <p:cNvSpPr txBox="1"/>
          <p:nvPr/>
        </p:nvSpPr>
        <p:spPr>
          <a:xfrm>
            <a:off x="1304849" y="4619549"/>
            <a:ext cx="250637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Implementation</a:t>
            </a:r>
            <a:endParaRPr lang="en-US" sz="1200" dirty="0"/>
          </a:p>
        </p:txBody>
      </p:sp>
      <p:sp>
        <p:nvSpPr>
          <p:cNvPr id="27" name="Text 21">
            <a:extLst>
              <a:ext uri="{FF2B5EF4-FFF2-40B4-BE49-F238E27FC236}">
                <a16:creationId xmlns:a16="http://schemas.microsoft.com/office/drawing/2014/main" id="{8E3D49C6-A644-66A1-54DD-96593E590976}"/>
              </a:ext>
            </a:extLst>
          </p:cNvPr>
          <p:cNvSpPr txBox="1"/>
          <p:nvPr/>
        </p:nvSpPr>
        <p:spPr>
          <a:xfrm>
            <a:off x="1304849" y="4886554"/>
            <a:ext cx="2868473" cy="191110"/>
          </a:xfrm>
          <a:prstGeom prst="rect">
            <a:avLst/>
          </a:prstGeom>
          <a:noFill/>
          <a:ln/>
        </p:spPr>
        <p:txBody>
          <a:bodyPr wrap="square" lIns="0" tIns="0" rIns="0" bIns="0" rtlCol="0" anchor="ctr"/>
          <a:lstStyle/>
          <a:p>
            <a:pPr marL="0" indent="0" algn="l">
              <a:buNone/>
            </a:pPr>
            <a:r>
              <a:rPr lang="en-US" sz="1000" dirty="0">
                <a:solidFill>
                  <a:srgbClr val="4B5563"/>
                </a:solidFill>
                <a:latin typeface="Raleway" pitchFamily="34" charset="0"/>
                <a:ea typeface="Raleway" pitchFamily="34" charset="-122"/>
                <a:cs typeface="Raleway" pitchFamily="34" charset="-120"/>
              </a:rPr>
              <a:t>How to integrate with existing projects?</a:t>
            </a:r>
            <a:endParaRPr lang="en-US" sz="1000" dirty="0"/>
          </a:p>
        </p:txBody>
      </p:sp>
      <p:sp>
        <p:nvSpPr>
          <p:cNvPr id="28" name="Text 22">
            <a:extLst>
              <a:ext uri="{FF2B5EF4-FFF2-40B4-BE49-F238E27FC236}">
                <a16:creationId xmlns:a16="http://schemas.microsoft.com/office/drawing/2014/main" id="{7E7AAC01-090D-55CD-041C-AA65F54825DC}"/>
              </a:ext>
            </a:extLst>
          </p:cNvPr>
          <p:cNvSpPr txBox="1"/>
          <p:nvPr/>
        </p:nvSpPr>
        <p:spPr>
          <a:xfrm>
            <a:off x="1485900" y="5152644"/>
            <a:ext cx="991210"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Gradual adoption</a:t>
            </a:r>
            <a:endParaRPr lang="en-US" sz="900" dirty="0"/>
          </a:p>
        </p:txBody>
      </p:sp>
      <p:pic>
        <p:nvPicPr>
          <p:cNvPr id="29" name="Image 8" descr="preencoded.png">
            <a:extLst>
              <a:ext uri="{FF2B5EF4-FFF2-40B4-BE49-F238E27FC236}">
                <a16:creationId xmlns:a16="http://schemas.microsoft.com/office/drawing/2014/main" id="{0AE3D758-C8AC-5503-4751-AC43B9378813}"/>
              </a:ext>
            </a:extLst>
          </p:cNvPr>
          <p:cNvPicPr>
            <a:picLocks noChangeAspect="1"/>
          </p:cNvPicPr>
          <p:nvPr/>
        </p:nvPicPr>
        <p:blipFill>
          <a:blip r:embed="rId4"/>
          <a:srcRect/>
          <a:stretch/>
        </p:blipFill>
        <p:spPr>
          <a:xfrm>
            <a:off x="1304849" y="5167274"/>
            <a:ext cx="114300" cy="114300"/>
          </a:xfrm>
          <a:prstGeom prst="rect">
            <a:avLst/>
          </a:prstGeom>
        </p:spPr>
      </p:pic>
      <p:sp>
        <p:nvSpPr>
          <p:cNvPr id="30" name="Text 23">
            <a:extLst>
              <a:ext uri="{FF2B5EF4-FFF2-40B4-BE49-F238E27FC236}">
                <a16:creationId xmlns:a16="http://schemas.microsoft.com/office/drawing/2014/main" id="{F432B3E1-C0D9-3321-F1ED-8FDC3AA8D0F9}"/>
              </a:ext>
            </a:extLst>
          </p:cNvPr>
          <p:cNvSpPr txBox="1"/>
          <p:nvPr/>
        </p:nvSpPr>
        <p:spPr>
          <a:xfrm>
            <a:off x="2728570" y="5152644"/>
            <a:ext cx="822046"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 Test coverage</a:t>
            </a:r>
            <a:endParaRPr lang="en-US" sz="900" dirty="0"/>
          </a:p>
        </p:txBody>
      </p:sp>
      <p:pic>
        <p:nvPicPr>
          <p:cNvPr id="31" name="Image 9" descr="preencoded.png">
            <a:extLst>
              <a:ext uri="{FF2B5EF4-FFF2-40B4-BE49-F238E27FC236}">
                <a16:creationId xmlns:a16="http://schemas.microsoft.com/office/drawing/2014/main" id="{84410054-6EDB-BF00-3CB1-174880A2485E}"/>
              </a:ext>
            </a:extLst>
          </p:cNvPr>
          <p:cNvPicPr>
            <a:picLocks noChangeAspect="1"/>
          </p:cNvPicPr>
          <p:nvPr/>
        </p:nvPicPr>
        <p:blipFill>
          <a:blip r:embed="rId4"/>
          <a:srcRect/>
          <a:stretch/>
        </p:blipFill>
        <p:spPr>
          <a:xfrm>
            <a:off x="2550262" y="5167274"/>
            <a:ext cx="114300" cy="114300"/>
          </a:xfrm>
          <a:prstGeom prst="rect">
            <a:avLst/>
          </a:prstGeom>
        </p:spPr>
      </p:pic>
      <p:sp>
        <p:nvSpPr>
          <p:cNvPr id="32" name="Shape 24">
            <a:extLst>
              <a:ext uri="{FF2B5EF4-FFF2-40B4-BE49-F238E27FC236}">
                <a16:creationId xmlns:a16="http://schemas.microsoft.com/office/drawing/2014/main" id="{AF8138CC-3963-785F-B64A-B16F45EB6946}"/>
              </a:ext>
            </a:extLst>
          </p:cNvPr>
          <p:cNvSpPr/>
          <p:nvPr/>
        </p:nvSpPr>
        <p:spPr>
          <a:xfrm>
            <a:off x="6210605" y="1943100"/>
            <a:ext cx="5372100" cy="2514600"/>
          </a:xfrm>
          <a:prstGeom prst="roundRect">
            <a:avLst>
              <a:gd name="adj" fmla="val 3306"/>
            </a:avLst>
          </a:prstGeom>
          <a:solidFill>
            <a:srgbClr val="FFFFFF"/>
          </a:solidFill>
          <a:ln w="12700">
            <a:solidFill>
              <a:srgbClr val="E2E8F0"/>
            </a:solidFill>
            <a:prstDash val="solid"/>
          </a:ln>
        </p:spPr>
        <p:txBody>
          <a:bodyPr/>
          <a:lstStyle/>
          <a:p>
            <a:endParaRPr lang="en-US"/>
          </a:p>
        </p:txBody>
      </p:sp>
      <p:sp>
        <p:nvSpPr>
          <p:cNvPr id="33" name="Text 25">
            <a:extLst>
              <a:ext uri="{FF2B5EF4-FFF2-40B4-BE49-F238E27FC236}">
                <a16:creationId xmlns:a16="http://schemas.microsoft.com/office/drawing/2014/main" id="{170278DD-8595-4CAD-AB82-A0DFC2B8ED23}"/>
              </a:ext>
            </a:extLst>
          </p:cNvPr>
          <p:cNvSpPr txBox="1"/>
          <p:nvPr/>
        </p:nvSpPr>
        <p:spPr>
          <a:xfrm>
            <a:off x="6409944" y="2143354"/>
            <a:ext cx="1633118"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Raleway" pitchFamily="34" charset="0"/>
                <a:ea typeface="Raleway" pitchFamily="34" charset="-122"/>
                <a:cs typeface="Raleway" pitchFamily="34" charset="-120"/>
              </a:rPr>
              <a:t>Optional Handouts</a:t>
            </a:r>
            <a:endParaRPr lang="en-US" sz="1200" dirty="0"/>
          </a:p>
        </p:txBody>
      </p:sp>
      <p:sp>
        <p:nvSpPr>
          <p:cNvPr id="34" name="Text 26">
            <a:extLst>
              <a:ext uri="{FF2B5EF4-FFF2-40B4-BE49-F238E27FC236}">
                <a16:creationId xmlns:a16="http://schemas.microsoft.com/office/drawing/2014/main" id="{3AE418E6-F855-B7D5-E322-5EDABC64660A}"/>
              </a:ext>
            </a:extLst>
          </p:cNvPr>
          <p:cNvSpPr txBox="1"/>
          <p:nvPr/>
        </p:nvSpPr>
        <p:spPr>
          <a:xfrm>
            <a:off x="11002975" y="2180844"/>
            <a:ext cx="457200"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3 items</a:t>
            </a:r>
            <a:endParaRPr lang="en-US" sz="900" dirty="0"/>
          </a:p>
        </p:txBody>
      </p:sp>
      <p:sp>
        <p:nvSpPr>
          <p:cNvPr id="35" name="Shape 27">
            <a:extLst>
              <a:ext uri="{FF2B5EF4-FFF2-40B4-BE49-F238E27FC236}">
                <a16:creationId xmlns:a16="http://schemas.microsoft.com/office/drawing/2014/main" id="{ABFF51DA-F95C-8886-21C2-EB6572F226C7}"/>
              </a:ext>
            </a:extLst>
          </p:cNvPr>
          <p:cNvSpPr/>
          <p:nvPr/>
        </p:nvSpPr>
        <p:spPr>
          <a:xfrm>
            <a:off x="6409944" y="3020263"/>
            <a:ext cx="4972507" cy="9144"/>
          </a:xfrm>
          <a:prstGeom prst="rect">
            <a:avLst/>
          </a:prstGeom>
          <a:solidFill>
            <a:srgbClr val="F0F0F0"/>
          </a:solidFill>
          <a:ln w="12700">
            <a:solidFill>
              <a:srgbClr val="F0F0F0">
                <a:alpha val="0"/>
              </a:srgbClr>
            </a:solidFill>
            <a:prstDash val="solid"/>
          </a:ln>
        </p:spPr>
        <p:txBody>
          <a:bodyPr/>
          <a:lstStyle/>
          <a:p>
            <a:endParaRPr lang="en-US"/>
          </a:p>
        </p:txBody>
      </p:sp>
      <p:sp>
        <p:nvSpPr>
          <p:cNvPr id="36" name="Shape 28">
            <a:extLst>
              <a:ext uri="{FF2B5EF4-FFF2-40B4-BE49-F238E27FC236}">
                <a16:creationId xmlns:a16="http://schemas.microsoft.com/office/drawing/2014/main" id="{8AA40039-C100-2CB5-F941-6DDEB1E1F7EE}"/>
              </a:ext>
            </a:extLst>
          </p:cNvPr>
          <p:cNvSpPr/>
          <p:nvPr/>
        </p:nvSpPr>
        <p:spPr>
          <a:xfrm>
            <a:off x="6409944" y="2562149"/>
            <a:ext cx="381305" cy="381305"/>
          </a:xfrm>
          <a:prstGeom prst="ellipse">
            <a:avLst/>
          </a:prstGeom>
          <a:solidFill>
            <a:srgbClr val="DBEAFE"/>
          </a:solidFill>
          <a:ln w="12700">
            <a:solidFill>
              <a:srgbClr val="FFFFFF">
                <a:alpha val="0"/>
              </a:srgbClr>
            </a:solidFill>
            <a:prstDash val="solid"/>
          </a:ln>
        </p:spPr>
        <p:txBody>
          <a:bodyPr/>
          <a:lstStyle/>
          <a:p>
            <a:endParaRPr lang="en-US"/>
          </a:p>
        </p:txBody>
      </p:sp>
      <p:pic>
        <p:nvPicPr>
          <p:cNvPr id="37" name="Image 10" descr="preencoded.png">
            <a:extLst>
              <a:ext uri="{FF2B5EF4-FFF2-40B4-BE49-F238E27FC236}">
                <a16:creationId xmlns:a16="http://schemas.microsoft.com/office/drawing/2014/main" id="{99A236A2-4607-39FD-7269-03D695E34CC4}"/>
              </a:ext>
            </a:extLst>
          </p:cNvPr>
          <p:cNvPicPr>
            <a:picLocks noChangeAspect="1"/>
          </p:cNvPicPr>
          <p:nvPr/>
        </p:nvPicPr>
        <p:blipFill>
          <a:blip r:embed="rId7"/>
          <a:srcRect/>
          <a:stretch/>
        </p:blipFill>
        <p:spPr>
          <a:xfrm>
            <a:off x="6534302" y="2686507"/>
            <a:ext cx="133502" cy="133502"/>
          </a:xfrm>
          <a:prstGeom prst="rect">
            <a:avLst/>
          </a:prstGeom>
        </p:spPr>
      </p:pic>
      <p:sp>
        <p:nvSpPr>
          <p:cNvPr id="38" name="Text 29">
            <a:extLst>
              <a:ext uri="{FF2B5EF4-FFF2-40B4-BE49-F238E27FC236}">
                <a16:creationId xmlns:a16="http://schemas.microsoft.com/office/drawing/2014/main" id="{7594A2CE-7136-CD39-38A8-F8C164839A73}"/>
              </a:ext>
            </a:extLst>
          </p:cNvPr>
          <p:cNvSpPr txBox="1"/>
          <p:nvPr/>
        </p:nvSpPr>
        <p:spPr>
          <a:xfrm>
            <a:off x="6905549" y="2581351"/>
            <a:ext cx="1938528"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Runtime Control Checklist</a:t>
            </a:r>
            <a:endParaRPr lang="en-US" sz="1000" dirty="0"/>
          </a:p>
        </p:txBody>
      </p:sp>
      <p:sp>
        <p:nvSpPr>
          <p:cNvPr id="39" name="Text 30">
            <a:extLst>
              <a:ext uri="{FF2B5EF4-FFF2-40B4-BE49-F238E27FC236}">
                <a16:creationId xmlns:a16="http://schemas.microsoft.com/office/drawing/2014/main" id="{A8220EBA-4B14-21AF-9119-9CE660DADF92}"/>
              </a:ext>
            </a:extLst>
          </p:cNvPr>
          <p:cNvSpPr txBox="1"/>
          <p:nvPr/>
        </p:nvSpPr>
        <p:spPr>
          <a:xfrm>
            <a:off x="10899648" y="2600554"/>
            <a:ext cx="578815"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Available</a:t>
            </a:r>
            <a:endParaRPr lang="en-US" sz="900" dirty="0"/>
          </a:p>
        </p:txBody>
      </p:sp>
      <p:sp>
        <p:nvSpPr>
          <p:cNvPr id="40" name="Text 31">
            <a:extLst>
              <a:ext uri="{FF2B5EF4-FFF2-40B4-BE49-F238E27FC236}">
                <a16:creationId xmlns:a16="http://schemas.microsoft.com/office/drawing/2014/main" id="{487907B3-95AD-51E0-46CA-62A51EE156DD}"/>
              </a:ext>
            </a:extLst>
          </p:cNvPr>
          <p:cNvSpPr txBox="1"/>
          <p:nvPr/>
        </p:nvSpPr>
        <p:spPr>
          <a:xfrm>
            <a:off x="6905549" y="2771546"/>
            <a:ext cx="459120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Step-by-step guide for setup</a:t>
            </a:r>
            <a:endParaRPr lang="en-US" sz="900" dirty="0"/>
          </a:p>
        </p:txBody>
      </p:sp>
      <p:sp>
        <p:nvSpPr>
          <p:cNvPr id="41" name="Shape 32">
            <a:extLst>
              <a:ext uri="{FF2B5EF4-FFF2-40B4-BE49-F238E27FC236}">
                <a16:creationId xmlns:a16="http://schemas.microsoft.com/office/drawing/2014/main" id="{BE42830C-754C-4DA3-ADF6-EC53E4D49016}"/>
              </a:ext>
            </a:extLst>
          </p:cNvPr>
          <p:cNvSpPr/>
          <p:nvPr/>
        </p:nvSpPr>
        <p:spPr>
          <a:xfrm>
            <a:off x="6409944" y="3639312"/>
            <a:ext cx="4972507" cy="9144"/>
          </a:xfrm>
          <a:prstGeom prst="rect">
            <a:avLst/>
          </a:prstGeom>
          <a:solidFill>
            <a:srgbClr val="F0F0F0"/>
          </a:solidFill>
          <a:ln w="12700">
            <a:solidFill>
              <a:srgbClr val="F0F0F0">
                <a:alpha val="0"/>
              </a:srgbClr>
            </a:solidFill>
            <a:prstDash val="solid"/>
          </a:ln>
        </p:spPr>
        <p:txBody>
          <a:bodyPr/>
          <a:lstStyle/>
          <a:p>
            <a:endParaRPr lang="en-US"/>
          </a:p>
        </p:txBody>
      </p:sp>
      <p:sp>
        <p:nvSpPr>
          <p:cNvPr id="42" name="Shape 33">
            <a:extLst>
              <a:ext uri="{FF2B5EF4-FFF2-40B4-BE49-F238E27FC236}">
                <a16:creationId xmlns:a16="http://schemas.microsoft.com/office/drawing/2014/main" id="{D07A1508-1A19-3BA2-C7EB-7F66967A3DF2}"/>
              </a:ext>
            </a:extLst>
          </p:cNvPr>
          <p:cNvSpPr/>
          <p:nvPr/>
        </p:nvSpPr>
        <p:spPr>
          <a:xfrm>
            <a:off x="6409944" y="3181198"/>
            <a:ext cx="381305" cy="381305"/>
          </a:xfrm>
          <a:prstGeom prst="ellipse">
            <a:avLst/>
          </a:prstGeom>
          <a:solidFill>
            <a:srgbClr val="DCFCE7"/>
          </a:solidFill>
          <a:ln w="12700">
            <a:solidFill>
              <a:srgbClr val="FFFFFF">
                <a:alpha val="0"/>
              </a:srgbClr>
            </a:solidFill>
            <a:prstDash val="solid"/>
          </a:ln>
        </p:spPr>
        <p:txBody>
          <a:bodyPr/>
          <a:lstStyle/>
          <a:p>
            <a:endParaRPr lang="en-US"/>
          </a:p>
        </p:txBody>
      </p:sp>
      <p:pic>
        <p:nvPicPr>
          <p:cNvPr id="43" name="Image 11" descr="preencoded.png">
            <a:extLst>
              <a:ext uri="{FF2B5EF4-FFF2-40B4-BE49-F238E27FC236}">
                <a16:creationId xmlns:a16="http://schemas.microsoft.com/office/drawing/2014/main" id="{142C54A3-CE67-6B10-E43C-AE61BCED3BBC}"/>
              </a:ext>
            </a:extLst>
          </p:cNvPr>
          <p:cNvPicPr>
            <a:picLocks noChangeAspect="1"/>
          </p:cNvPicPr>
          <p:nvPr/>
        </p:nvPicPr>
        <p:blipFill>
          <a:blip r:embed="rId8"/>
          <a:srcRect l="-2512" r="-2512"/>
          <a:stretch/>
        </p:blipFill>
        <p:spPr>
          <a:xfrm>
            <a:off x="6548018" y="3305556"/>
            <a:ext cx="105156" cy="133502"/>
          </a:xfrm>
          <a:prstGeom prst="rect">
            <a:avLst/>
          </a:prstGeom>
        </p:spPr>
      </p:pic>
      <p:sp>
        <p:nvSpPr>
          <p:cNvPr id="44" name="Text 34">
            <a:extLst>
              <a:ext uri="{FF2B5EF4-FFF2-40B4-BE49-F238E27FC236}">
                <a16:creationId xmlns:a16="http://schemas.microsoft.com/office/drawing/2014/main" id="{33270179-D6F3-2591-1974-4626D9A338F4}"/>
              </a:ext>
            </a:extLst>
          </p:cNvPr>
          <p:cNvSpPr txBox="1"/>
          <p:nvPr/>
        </p:nvSpPr>
        <p:spPr>
          <a:xfrm>
            <a:off x="6905549" y="3200400"/>
            <a:ext cx="1938528"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Scenario Design Template</a:t>
            </a:r>
            <a:endParaRPr lang="en-US" sz="1000" dirty="0"/>
          </a:p>
        </p:txBody>
      </p:sp>
      <p:sp>
        <p:nvSpPr>
          <p:cNvPr id="45" name="Text 35">
            <a:extLst>
              <a:ext uri="{FF2B5EF4-FFF2-40B4-BE49-F238E27FC236}">
                <a16:creationId xmlns:a16="http://schemas.microsoft.com/office/drawing/2014/main" id="{47029C79-FC70-C3EE-7644-E4DA30B4DD84}"/>
              </a:ext>
            </a:extLst>
          </p:cNvPr>
          <p:cNvSpPr txBox="1"/>
          <p:nvPr/>
        </p:nvSpPr>
        <p:spPr>
          <a:xfrm>
            <a:off x="10899648" y="3219602"/>
            <a:ext cx="578815"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Available</a:t>
            </a:r>
            <a:endParaRPr lang="en-US" sz="900" dirty="0"/>
          </a:p>
        </p:txBody>
      </p:sp>
      <p:sp>
        <p:nvSpPr>
          <p:cNvPr id="46" name="Text 36">
            <a:extLst>
              <a:ext uri="{FF2B5EF4-FFF2-40B4-BE49-F238E27FC236}">
                <a16:creationId xmlns:a16="http://schemas.microsoft.com/office/drawing/2014/main" id="{4CE0637B-6469-8A81-E169-F0D72A729F36}"/>
              </a:ext>
            </a:extLst>
          </p:cNvPr>
          <p:cNvSpPr txBox="1"/>
          <p:nvPr/>
        </p:nvSpPr>
        <p:spPr>
          <a:xfrm>
            <a:off x="6905549" y="3390595"/>
            <a:ext cx="459120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Template for creating test scenarios</a:t>
            </a:r>
            <a:endParaRPr lang="en-US" sz="900" dirty="0"/>
          </a:p>
        </p:txBody>
      </p:sp>
      <p:sp>
        <p:nvSpPr>
          <p:cNvPr id="47" name="Shape 37">
            <a:extLst>
              <a:ext uri="{FF2B5EF4-FFF2-40B4-BE49-F238E27FC236}">
                <a16:creationId xmlns:a16="http://schemas.microsoft.com/office/drawing/2014/main" id="{C3883379-4086-7587-DB0F-8CFEBCC0D6A1}"/>
              </a:ext>
            </a:extLst>
          </p:cNvPr>
          <p:cNvSpPr/>
          <p:nvPr/>
        </p:nvSpPr>
        <p:spPr>
          <a:xfrm>
            <a:off x="6409944" y="3800246"/>
            <a:ext cx="381305" cy="381305"/>
          </a:xfrm>
          <a:prstGeom prst="ellipse">
            <a:avLst/>
          </a:prstGeom>
          <a:solidFill>
            <a:srgbClr val="F3E8FF"/>
          </a:solidFill>
          <a:ln w="12700">
            <a:solidFill>
              <a:srgbClr val="FFFFFF">
                <a:alpha val="0"/>
              </a:srgbClr>
            </a:solidFill>
            <a:prstDash val="solid"/>
          </a:ln>
        </p:spPr>
        <p:txBody>
          <a:bodyPr/>
          <a:lstStyle/>
          <a:p>
            <a:endParaRPr lang="en-US"/>
          </a:p>
        </p:txBody>
      </p:sp>
      <p:pic>
        <p:nvPicPr>
          <p:cNvPr id="48" name="Image 12" descr="preencoded.png">
            <a:extLst>
              <a:ext uri="{FF2B5EF4-FFF2-40B4-BE49-F238E27FC236}">
                <a16:creationId xmlns:a16="http://schemas.microsoft.com/office/drawing/2014/main" id="{4C7D8737-339D-48C2-6686-0F9D16881F42}"/>
              </a:ext>
            </a:extLst>
          </p:cNvPr>
          <p:cNvPicPr>
            <a:picLocks noChangeAspect="1"/>
          </p:cNvPicPr>
          <p:nvPr/>
        </p:nvPicPr>
        <p:blipFill>
          <a:blip r:embed="rId9"/>
          <a:srcRect l="-1507" r="-1507"/>
          <a:stretch/>
        </p:blipFill>
        <p:spPr>
          <a:xfrm>
            <a:off x="6515100" y="3924605"/>
            <a:ext cx="171907" cy="133502"/>
          </a:xfrm>
          <a:prstGeom prst="rect">
            <a:avLst/>
          </a:prstGeom>
        </p:spPr>
      </p:pic>
      <p:sp>
        <p:nvSpPr>
          <p:cNvPr id="49" name="Text 38">
            <a:extLst>
              <a:ext uri="{FF2B5EF4-FFF2-40B4-BE49-F238E27FC236}">
                <a16:creationId xmlns:a16="http://schemas.microsoft.com/office/drawing/2014/main" id="{403469FB-BEE1-8D3F-2053-9B5DDBA2FF4D}"/>
              </a:ext>
            </a:extLst>
          </p:cNvPr>
          <p:cNvSpPr txBox="1"/>
          <p:nvPr/>
        </p:nvSpPr>
        <p:spPr>
          <a:xfrm>
            <a:off x="6905549" y="3819449"/>
            <a:ext cx="1666951" cy="191110"/>
          </a:xfrm>
          <a:prstGeom prst="rect">
            <a:avLst/>
          </a:prstGeom>
          <a:noFill/>
          <a:ln/>
        </p:spPr>
        <p:txBody>
          <a:bodyPr wrap="square" lIns="0" tIns="0" rIns="0" bIns="0" rtlCol="0" anchor="ctr"/>
          <a:lstStyle/>
          <a:p>
            <a:pPr marL="0" indent="0" algn="l">
              <a:buNone/>
            </a:pPr>
            <a:r>
              <a:rPr lang="en-US" sz="1000" dirty="0">
                <a:solidFill>
                  <a:srgbClr val="1F2937"/>
                </a:solidFill>
                <a:latin typeface="Raleway" pitchFamily="34" charset="0"/>
                <a:ea typeface="Raleway" pitchFamily="34" charset="-122"/>
                <a:cs typeface="Raleway" pitchFamily="34" charset="-120"/>
              </a:rPr>
              <a:t>Rollout Plan for Teams</a:t>
            </a:r>
            <a:endParaRPr lang="en-US" sz="1000" dirty="0"/>
          </a:p>
        </p:txBody>
      </p:sp>
      <p:sp>
        <p:nvSpPr>
          <p:cNvPr id="50" name="Text 39">
            <a:extLst>
              <a:ext uri="{FF2B5EF4-FFF2-40B4-BE49-F238E27FC236}">
                <a16:creationId xmlns:a16="http://schemas.microsoft.com/office/drawing/2014/main" id="{8CCFA077-AD66-11C5-97DC-1878BE725F5E}"/>
              </a:ext>
            </a:extLst>
          </p:cNvPr>
          <p:cNvSpPr txBox="1"/>
          <p:nvPr/>
        </p:nvSpPr>
        <p:spPr>
          <a:xfrm>
            <a:off x="10899648" y="3838651"/>
            <a:ext cx="578815" cy="152705"/>
          </a:xfrm>
          <a:prstGeom prst="rect">
            <a:avLst/>
          </a:prstGeom>
          <a:noFill/>
          <a:ln/>
        </p:spPr>
        <p:txBody>
          <a:bodyPr wrap="square" lIns="0" tIns="0" rIns="0" bIns="0" rtlCol="0" anchor="ctr"/>
          <a:lstStyle/>
          <a:p>
            <a:pPr marL="0" indent="0" algn="l">
              <a:buNone/>
            </a:pPr>
            <a:r>
              <a:rPr lang="en-US" sz="900" dirty="0">
                <a:solidFill>
                  <a:srgbClr val="059669"/>
                </a:solidFill>
                <a:latin typeface="Raleway" pitchFamily="34" charset="0"/>
                <a:ea typeface="Raleway" pitchFamily="34" charset="-122"/>
                <a:cs typeface="Raleway" pitchFamily="34" charset="-120"/>
              </a:rPr>
              <a:t>Available</a:t>
            </a:r>
            <a:endParaRPr lang="en-US" sz="900" dirty="0"/>
          </a:p>
        </p:txBody>
      </p:sp>
      <p:sp>
        <p:nvSpPr>
          <p:cNvPr id="51" name="Text 40">
            <a:extLst>
              <a:ext uri="{FF2B5EF4-FFF2-40B4-BE49-F238E27FC236}">
                <a16:creationId xmlns:a16="http://schemas.microsoft.com/office/drawing/2014/main" id="{23A44045-9460-5252-D32D-E54555161D4A}"/>
              </a:ext>
            </a:extLst>
          </p:cNvPr>
          <p:cNvSpPr txBox="1"/>
          <p:nvPr/>
        </p:nvSpPr>
        <p:spPr>
          <a:xfrm>
            <a:off x="6905549" y="4009644"/>
            <a:ext cx="4591202" cy="152705"/>
          </a:xfrm>
          <a:prstGeom prst="rect">
            <a:avLst/>
          </a:prstGeom>
          <a:noFill/>
          <a:ln/>
        </p:spPr>
        <p:txBody>
          <a:bodyPr wrap="squar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Adoption strategy for your team</a:t>
            </a:r>
            <a:endParaRPr lang="en-US" sz="900" dirty="0"/>
          </a:p>
        </p:txBody>
      </p:sp>
    </p:spTree>
    <p:extLst>
      <p:ext uri="{BB962C8B-B14F-4D97-AF65-F5344CB8AC3E}">
        <p14:creationId xmlns:p14="http://schemas.microsoft.com/office/powerpoint/2010/main" val="2995433448"/>
      </p:ext>
    </p:extLst>
  </p:cSld>
  <p:clrMapOvr>
    <a:masterClrMapping/>
  </p:clrMapOvr>
  <p:transition>
    <p:fade/>
  </p:transition>
</p:sld>
</file>

<file path=ppt/theme/theme1.xml><?xml version="1.0" encoding="utf-8"?>
<a:theme xmlns:a="http://schemas.openxmlformats.org/drawingml/2006/main" name="William Hill PowerPoint template">
  <a:themeElements>
    <a:clrScheme name="GPxWH">
      <a:dk1>
        <a:srgbClr val="000000"/>
      </a:dk1>
      <a:lt1>
        <a:srgbClr val="FFFFFF"/>
      </a:lt1>
      <a:dk2>
        <a:srgbClr val="060A2A"/>
      </a:dk2>
      <a:lt2>
        <a:srgbClr val="BCA979"/>
      </a:lt2>
      <a:accent1>
        <a:srgbClr val="BEF0FF"/>
      </a:accent1>
      <a:accent2>
        <a:srgbClr val="5EC2FF"/>
      </a:accent2>
      <a:accent3>
        <a:srgbClr val="00C5FF"/>
      </a:accent3>
      <a:accent4>
        <a:srgbClr val="0D1559"/>
      </a:accent4>
      <a:accent5>
        <a:srgbClr val="1C2EC2"/>
      </a:accent5>
      <a:accent6>
        <a:srgbClr val="BCA979"/>
      </a:accent6>
      <a:hlink>
        <a:srgbClr val="00ADFF"/>
      </a:hlink>
      <a:folHlink>
        <a:srgbClr val="1C2EC2"/>
      </a:folHlink>
    </a:clrScheme>
    <a:fontScheme name="WH Fonts">
      <a:majorFont>
        <a:latin typeface="WH Hoxton"/>
        <a:ea typeface=""/>
        <a:cs typeface=""/>
      </a:majorFont>
      <a:minorFont>
        <a:latin typeface="WH Hoxto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solidFill>
            <a:schemeClr val="tx2"/>
          </a:solidFill>
        </a:ln>
      </a:spPr>
      <a:bodyPr rtlCol="0" anchor="t" anchorCtr="0"/>
      <a:lstStyle>
        <a:defPPr>
          <a:defRPr sz="170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5"/>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sz="1700" dirty="0" err="1" smtClean="0">
            <a:solidFill>
              <a:schemeClr val="tx2"/>
            </a:solidFill>
          </a:defRPr>
        </a:defPPr>
      </a:lstStyle>
    </a:txDef>
  </a:objectDefaults>
  <a:extraClrSchemeLst/>
  <a:custClrLst>
    <a:custClr name="Midnight Blue 100%">
      <a:srgbClr val="00133C"/>
    </a:custClr>
    <a:custClr name="Midnight Blue 90%">
      <a:srgbClr val="001E5A"/>
    </a:custClr>
    <a:custClr name="Midnight Blue 80%">
      <a:srgbClr val="002878"/>
    </a:custClr>
    <a:custClr name="Midnight Blue 70%">
      <a:srgbClr val="003796"/>
    </a:custClr>
    <a:custClr name="Midnight Blue 60%">
      <a:srgbClr val="0046AF"/>
    </a:custClr>
    <a:custClr name="Midnight Blue 50%">
      <a:srgbClr val="005AC3"/>
    </a:custClr>
    <a:custClr name="Midnight Blue 40%">
      <a:srgbClr val="0073D7"/>
    </a:custClr>
    <a:custClr name="Midnight Blue 30%">
      <a:srgbClr val="008CE6"/>
    </a:custClr>
    <a:custClr name="Midnight Blue 20%">
      <a:srgbClr val="00A0F5"/>
    </a:custClr>
    <a:custClr name="White">
      <a:srgbClr val="FFFFFF"/>
    </a:custClr>
    <a:custClr name="Electric Blue 100%">
      <a:srgbClr val="00AFFF"/>
    </a:custClr>
    <a:custClr name="Electric Blue 90%">
      <a:srgbClr val="46B9FF"/>
    </a:custClr>
    <a:custClr name="Electric Blue 80%">
      <a:srgbClr val="5FC3FF"/>
    </a:custClr>
    <a:custClr name="Electric Blue 70%">
      <a:srgbClr val="73CDFF"/>
    </a:custClr>
    <a:custClr name="Electric Blue 60%">
      <a:srgbClr val="8CD7FF"/>
    </a:custClr>
    <a:custClr name="Electric Blue 50%">
      <a:srgbClr val="A0DCFF"/>
    </a:custClr>
    <a:custClr name="Electric Blue 40%">
      <a:srgbClr val="B9E6FF"/>
    </a:custClr>
    <a:custClr name="Electric Blue 30%">
      <a:srgbClr val="D2F0FF"/>
    </a:custClr>
    <a:custClr name="Electric Blue 20%">
      <a:srgbClr val="E6F5FF"/>
    </a:custClr>
    <a:custClr name="White">
      <a:srgbClr val="FFFFFF"/>
    </a:custClr>
    <a:custClr name="Dark Grey 100%">
      <a:srgbClr val="69737D"/>
    </a:custClr>
    <a:custClr name="Dark Grey 90%">
      <a:srgbClr val="737D87"/>
    </a:custClr>
    <a:custClr name="Dark Grey 80%">
      <a:srgbClr val="828C96"/>
    </a:custClr>
    <a:custClr name="Dark Grey 70%">
      <a:srgbClr val="9BA0AA"/>
    </a:custClr>
    <a:custClr name="Dark Grey 60%">
      <a:srgbClr val="B4B9BE"/>
    </a:custClr>
    <a:custClr name="Dark Grey 50%">
      <a:srgbClr val="CDD2D2"/>
    </a:custClr>
    <a:custClr name="Dark Grey 40%">
      <a:srgbClr val="DCE1E1"/>
    </a:custClr>
    <a:custClr name="Dark Grey 30%">
      <a:srgbClr val="E6E6E6"/>
    </a:custClr>
    <a:custClr name="Dark Grey 20%">
      <a:srgbClr val="F0F0F0"/>
    </a:custClr>
    <a:custClr name="Dark Grey 10%">
      <a:srgbClr val="F5F5F5"/>
    </a:custClr>
    <a:custClr name="Green">
      <a:srgbClr val="00D77D"/>
    </a:custClr>
    <a:custClr name="Red">
      <a:srgbClr val="FF0A28"/>
    </a:custClr>
    <a:custClr name="Orange">
      <a:srgbClr val="FF3C00"/>
    </a:custClr>
  </a:custClrLst>
  <a:extLst>
    <a:ext uri="{05A4C25C-085E-4340-85A3-A5531E510DB2}">
      <thm15:themeFamily xmlns:thm15="http://schemas.microsoft.com/office/thememl/2012/main" name="GP only template" id="{D8E56119-E348-1748-AF94-B06B8F0BC40A}" vid="{5B7D183C-5EF6-F74D-9215-3F5C5A3372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57B437F356A14E8B99FEE91DB6123E" ma:contentTypeVersion="13" ma:contentTypeDescription="Create a new document." ma:contentTypeScope="" ma:versionID="431100bffc0209099c5fb7390217e600">
  <xsd:schema xmlns:xsd="http://www.w3.org/2001/XMLSchema" xmlns:xs="http://www.w3.org/2001/XMLSchema" xmlns:p="http://schemas.microsoft.com/office/2006/metadata/properties" xmlns:ns2="b7e687fa-9b94-4daf-9f90-aad3f79f6b35" xmlns:ns3="adef6c42-5b93-44e3-94c1-e72398701c3a" targetNamespace="http://schemas.microsoft.com/office/2006/metadata/properties" ma:root="true" ma:fieldsID="334553d5e63c17288340d0956a50a544" ns2:_="" ns3:_="">
    <xsd:import namespace="b7e687fa-9b94-4daf-9f90-aad3f79f6b35"/>
    <xsd:import namespace="adef6c42-5b93-44e3-94c1-e72398701c3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e687fa-9b94-4daf-9f90-aad3f79f6b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def6c42-5b93-44e3-94c1-e72398701c3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adef6c42-5b93-44e3-94c1-e72398701c3a">
      <UserInfo>
        <DisplayName/>
        <AccountId xsi:nil="true"/>
        <AccountType/>
      </UserInfo>
    </SharedWithUsers>
  </documentManagement>
</p:properties>
</file>

<file path=customXml/itemProps1.xml><?xml version="1.0" encoding="utf-8"?>
<ds:datastoreItem xmlns:ds="http://schemas.openxmlformats.org/officeDocument/2006/customXml" ds:itemID="{5AD2ECE9-F4FA-43BB-8277-481602F57D29}">
  <ds:schemaRefs>
    <ds:schemaRef ds:uri="http://schemas.microsoft.com/sharepoint/v3/contenttype/forms"/>
  </ds:schemaRefs>
</ds:datastoreItem>
</file>

<file path=customXml/itemProps2.xml><?xml version="1.0" encoding="utf-8"?>
<ds:datastoreItem xmlns:ds="http://schemas.openxmlformats.org/officeDocument/2006/customXml" ds:itemID="{3D4EDB1C-AC57-439A-9801-7A3B2DAFE4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e687fa-9b94-4daf-9f90-aad3f79f6b35"/>
    <ds:schemaRef ds:uri="adef6c42-5b93-44e3-94c1-e72398701c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062838-89C0-4DB9-A629-A8004AC444BE}">
  <ds:schemaRefs>
    <ds:schemaRef ds:uri="http://schemas.microsoft.com/office/2006/metadata/properties"/>
    <ds:schemaRef ds:uri="http://schemas.microsoft.com/office/infopath/2007/PartnerControls"/>
    <ds:schemaRef ds:uri="adef6c42-5b93-44e3-94c1-e72398701c3a"/>
  </ds:schemaRefs>
</ds:datastoreItem>
</file>

<file path=docProps/app.xml><?xml version="1.0" encoding="utf-8"?>
<Properties xmlns="http://schemas.openxmlformats.org/officeDocument/2006/extended-properties" xmlns:vt="http://schemas.openxmlformats.org/officeDocument/2006/docPropsVTypes">
  <Template>William Hill PowerPoint template</Template>
  <TotalTime>1184</TotalTime>
  <Words>3488</Words>
  <Application>Microsoft Macintosh PowerPoint</Application>
  <PresentationFormat>Widescreen</PresentationFormat>
  <Paragraphs>587</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Oswald</vt:lpstr>
      <vt:lpstr>Raleway</vt:lpstr>
      <vt:lpstr>Roboto Condensed</vt:lpstr>
      <vt:lpstr>Saira Condensed</vt:lpstr>
      <vt:lpstr>ui-monospace</vt:lpstr>
      <vt:lpstr>WH Hoxton</vt:lpstr>
      <vt:lpstr>William Hill PowerPoint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Davit Hunanyan</dc:creator>
  <cp:lastModifiedBy>Davit Hunanyan</cp:lastModifiedBy>
  <cp:revision>99</cp:revision>
  <dcterms:created xsi:type="dcterms:W3CDTF">2026-04-15T11:59:29Z</dcterms:created>
  <dcterms:modified xsi:type="dcterms:W3CDTF">2026-04-22T15:47:10Z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0x0101000D57B437F356A14E8B99FEE91DB6123E</vt:lpwstr>
  </property>
  <property fmtid="{D5CDD505-2E9C-101B-9397-08002B2CF9AE}" pid="3" name="Order">
    <vt:r8>1539000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MSIP_Label_9f21dbd3-4283-44b2-88d5-78cf713da369_Enabled">
    <vt:lpwstr>true</vt:lpwstr>
  </property>
  <property fmtid="{D5CDD505-2E9C-101B-9397-08002B2CF9AE}" pid="10" name="MSIP_Label_9f21dbd3-4283-44b2-88d5-78cf713da369_SetDate">
    <vt:lpwstr>2025-03-28T18:45:06Z</vt:lpwstr>
  </property>
  <property fmtid="{D5CDD505-2E9C-101B-9397-08002B2CF9AE}" pid="11" name="MSIP_Label_9f21dbd3-4283-44b2-88d5-78cf713da369_Method">
    <vt:lpwstr>Standard</vt:lpwstr>
  </property>
  <property fmtid="{D5CDD505-2E9C-101B-9397-08002B2CF9AE}" pid="12" name="MSIP_Label_9f21dbd3-4283-44b2-88d5-78cf713da369_Name">
    <vt:lpwstr>9f21dbd3-4283-44b2-88d5-78cf713da369</vt:lpwstr>
  </property>
  <property fmtid="{D5CDD505-2E9C-101B-9397-08002B2CF9AE}" pid="13" name="MSIP_Label_9f21dbd3-4283-44b2-88d5-78cf713da369_SiteId">
    <vt:lpwstr>1ac04339-8417-4387-b32c-9a9526779033</vt:lpwstr>
  </property>
  <property fmtid="{D5CDD505-2E9C-101B-9397-08002B2CF9AE}" pid="14" name="MSIP_Label_9f21dbd3-4283-44b2-88d5-78cf713da369_ActionId">
    <vt:lpwstr>c02748f4-4a32-41ae-b9bc-2cb24e3e933c</vt:lpwstr>
  </property>
  <property fmtid="{D5CDD505-2E9C-101B-9397-08002B2CF9AE}" pid="15" name="MSIP_Label_9f21dbd3-4283-44b2-88d5-78cf713da369_ContentBits">
    <vt:lpwstr>0</vt:lpwstr>
  </property>
  <property fmtid="{D5CDD505-2E9C-101B-9397-08002B2CF9AE}" pid="16" name="MSIP_Label_9f21dbd3-4283-44b2-88d5-78cf713da369_Tag">
    <vt:lpwstr>50, 3, 0, 1</vt:lpwstr>
  </property>
</Properties>
</file>